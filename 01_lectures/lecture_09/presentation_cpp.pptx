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475" r:id="rId3"/>
    <p:sldId id="476" r:id="rId4"/>
    <p:sldId id="477" r:id="rId5"/>
    <p:sldId id="478" r:id="rId6"/>
    <p:sldId id="479" r:id="rId7"/>
    <p:sldId id="480" r:id="rId8"/>
    <p:sldId id="486" r:id="rId9"/>
    <p:sldId id="427" r:id="rId10"/>
    <p:sldId id="433" r:id="rId11"/>
    <p:sldId id="434" r:id="rId12"/>
    <p:sldId id="425" r:id="rId13"/>
    <p:sldId id="436" r:id="rId14"/>
    <p:sldId id="437" r:id="rId15"/>
    <p:sldId id="438" r:id="rId16"/>
    <p:sldId id="439" r:id="rId17"/>
    <p:sldId id="481" r:id="rId18"/>
    <p:sldId id="428" r:id="rId19"/>
    <p:sldId id="429" r:id="rId20"/>
    <p:sldId id="462" r:id="rId21"/>
    <p:sldId id="463" r:id="rId22"/>
    <p:sldId id="464" r:id="rId23"/>
    <p:sldId id="419" r:id="rId24"/>
    <p:sldId id="440" r:id="rId25"/>
    <p:sldId id="441" r:id="rId26"/>
    <p:sldId id="445" r:id="rId27"/>
    <p:sldId id="446" r:id="rId28"/>
    <p:sldId id="447" r:id="rId29"/>
    <p:sldId id="448" r:id="rId30"/>
    <p:sldId id="449" r:id="rId31"/>
    <p:sldId id="450" r:id="rId32"/>
    <p:sldId id="455" r:id="rId33"/>
    <p:sldId id="456" r:id="rId34"/>
    <p:sldId id="452" r:id="rId35"/>
    <p:sldId id="489" r:id="rId36"/>
    <p:sldId id="490" r:id="rId37"/>
    <p:sldId id="491" r:id="rId38"/>
    <p:sldId id="459" r:id="rId39"/>
    <p:sldId id="484" r:id="rId40"/>
    <p:sldId id="458" r:id="rId41"/>
    <p:sldId id="487" r:id="rId42"/>
    <p:sldId id="461" r:id="rId43"/>
    <p:sldId id="493" r:id="rId44"/>
    <p:sldId id="495" r:id="rId45"/>
    <p:sldId id="492" r:id="rId46"/>
    <p:sldId id="488" r:id="rId47"/>
    <p:sldId id="494" r:id="rId48"/>
    <p:sldId id="482" r:id="rId49"/>
    <p:sldId id="430" r:id="rId50"/>
    <p:sldId id="431" r:id="rId51"/>
    <p:sldId id="432" r:id="rId52"/>
    <p:sldId id="435" r:id="rId53"/>
    <p:sldId id="454" r:id="rId54"/>
    <p:sldId id="465" r:id="rId55"/>
    <p:sldId id="483" r:id="rId56"/>
    <p:sldId id="496" r:id="rId57"/>
    <p:sldId id="497" r:id="rId58"/>
    <p:sldId id="498" r:id="rId59"/>
    <p:sldId id="467" r:id="rId60"/>
    <p:sldId id="468" r:id="rId61"/>
    <p:sldId id="469" r:id="rId62"/>
    <p:sldId id="499" r:id="rId63"/>
    <p:sldId id="500" r:id="rId64"/>
    <p:sldId id="501" r:id="rId65"/>
    <p:sldId id="502" r:id="rId66"/>
    <p:sldId id="474" r:id="rId67"/>
    <p:sldId id="503" r:id="rId68"/>
    <p:sldId id="504" r:id="rId69"/>
    <p:sldId id="505" r:id="rId70"/>
    <p:sldId id="506" r:id="rId71"/>
    <p:sldId id="508" r:id="rId72"/>
    <p:sldId id="509" r:id="rId73"/>
    <p:sldId id="511" r:id="rId74"/>
    <p:sldId id="563" r:id="rId75"/>
    <p:sldId id="513" r:id="rId76"/>
    <p:sldId id="514" r:id="rId77"/>
    <p:sldId id="516" r:id="rId78"/>
    <p:sldId id="517" r:id="rId79"/>
    <p:sldId id="519" r:id="rId80"/>
    <p:sldId id="520" r:id="rId81"/>
    <p:sldId id="522" r:id="rId82"/>
    <p:sldId id="523" r:id="rId83"/>
    <p:sldId id="530" r:id="rId84"/>
    <p:sldId id="537" r:id="rId85"/>
    <p:sldId id="538" r:id="rId86"/>
    <p:sldId id="539" r:id="rId87"/>
    <p:sldId id="541" r:id="rId88"/>
    <p:sldId id="542" r:id="rId89"/>
    <p:sldId id="543" r:id="rId90"/>
    <p:sldId id="544" r:id="rId91"/>
    <p:sldId id="545" r:id="rId92"/>
    <p:sldId id="550" r:id="rId93"/>
    <p:sldId id="551" r:id="rId94"/>
    <p:sldId id="552" r:id="rId95"/>
    <p:sldId id="555" r:id="rId96"/>
    <p:sldId id="558" r:id="rId97"/>
    <p:sldId id="559" r:id="rId98"/>
    <p:sldId id="560" r:id="rId99"/>
    <p:sldId id="561" r:id="rId100"/>
    <p:sldId id="562" r:id="rId10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DF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60" autoAdjust="0"/>
    <p:restoredTop sz="94660"/>
  </p:normalViewPr>
  <p:slideViewPr>
    <p:cSldViewPr snapToGrid="0">
      <p:cViewPr varScale="1">
        <p:scale>
          <a:sx n="90" d="100"/>
          <a:sy n="90" d="100"/>
        </p:scale>
        <p:origin x="186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A8DA07-F16D-B69B-14A0-7418829B71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4B3408F-C035-7F86-E532-B954222B04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9C57AC3-650B-F8BF-09C8-C2B4DCF5D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25080A7-D173-D34E-D987-E2C0D226D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89F0AEA-F271-E44D-94AC-243C2E0D3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057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0891F9-3476-AFE5-6F5E-3F6F34953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018E34-1152-017B-392E-EC5AF886F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E6B264-13E2-2D5F-75D0-68AB7CE59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F410B0-1B06-0F94-EF8F-6FA03AC97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2BC443-9DF8-7811-4F50-DA0939A2C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809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BB0E42-F26B-36E2-773A-5304DE8E2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70D50AC-8755-6F61-DE6D-718C5790F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19F538-368E-46C8-6A0B-73E271187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E3814CB-16AC-34F1-BD55-C50011C47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2C7843-79DC-CD5D-6D5F-64D2C2E8A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7258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42D8AA-77C9-6CF3-B23C-060CF9A58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0AA2B99-F80E-BA07-D1F9-3C064028AB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52856C9-4F89-DF11-6470-C211857335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7DFBB0F-B9D7-A90B-517E-16E12B228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3C37F6E-1F4C-532F-0447-20BD32FC4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EC7790-8BEB-A53E-96DA-59A20A26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4065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49CB15-C3CC-FC8F-4267-77F81CB56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0EB9DDC-5705-3392-3A7F-B93CB61E51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0E84CF1-DE2E-70BA-ACCD-77EF4A52F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C525FDA-E12E-5810-A164-BD0B3009F0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3155AC6-2DE0-9644-8874-5C573FD637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030CBA1-E9C4-65D8-3F54-9C4327D31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F279D99-E15E-B520-A991-2EC66A292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72153C6-95A4-8AB3-96F5-7545958C5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526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813BC6-745F-95A9-F0A9-5D3F0117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CD8FD2A-5A7C-06F8-BA11-FEEC2B2AE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D2B2300-90F1-8EE1-7A1B-9E065770B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D84C6DD-ED50-4B35-179E-27063A1D5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817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AEB7D92-DC5A-0240-10C9-26EA015DC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DC8479B-E009-4084-DC5E-8C0C58FD0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A1C52AC-6679-DDE2-EAB6-B90CA53E1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443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ED1796-E9D7-5349-C5F0-0F6219031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4F04D9-CF54-2F53-1E1D-513D11518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466DECA-58B4-D9CA-A32D-E551C29501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3B75B1-5F06-22C7-2744-E67592E6A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A59913B-8E29-FDEA-AD42-E6C129E28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A6341C7-ACF3-27A9-D41E-A81E34A26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5692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12B9E6-90A4-8F78-CEE1-18AC161EB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634F4B9-4857-D367-1A7E-378A1261D3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15942A2-88A4-A456-BA8F-817EB03F4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8534529-81F3-E5CC-F7D5-302D2CBE1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3B7EC93-E8EE-A4C6-C2D9-F55147722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51F8081-862B-8E61-8D8F-DB05F660C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1343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D43101-E793-1814-4501-14D47ED3D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8BDF28E-053E-8207-289B-815750ED36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10BEA8-5DA4-8A74-2DB9-E89C620D9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F44EB9A-EC5F-78B3-1922-55441952E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BA7CAC-00E8-85DE-A274-DF1FD1A60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7149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3CE06E1-A559-DC12-8662-7F99C8E103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48BA418-DCB5-B785-79A6-5998ED0DE4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C71EC3E-DBBD-CD2F-8DC1-BB7902D3C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BBC658-E40F-8E05-ABE2-042431F36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F6B605-74F8-AA8D-86C6-78196C1EE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2128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3CBF59-2F6E-7D92-8A20-0252AACE2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9722C2E-80F7-9376-442A-D3077DAF06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64D304D-BEEF-15F0-D934-036B464557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A991E7-4DC9-4E0A-97D8-D75A75B67893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CDAF6ED-B9AA-6C8C-C90F-3CCDC274B8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2593123-3CF9-7A37-5654-90498C0463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535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types/ptrdiff_t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Variable-length_array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cdecl.org/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rsdn.org/article/cpp/fastdelegate.xml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7BC063-3831-522D-21D8-6B1239819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8774" y="944237"/>
            <a:ext cx="10434452" cy="2387600"/>
          </a:xfrm>
        </p:spPr>
        <p:txBody>
          <a:bodyPr>
            <a:normAutofit/>
          </a:bodyPr>
          <a:lstStyle/>
          <a:p>
            <a:r>
              <a:rPr lang="ru-RU" sz="4800" b="1" dirty="0"/>
              <a:t>Алгоритмизация и программирование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A5FC3D9-C83F-5AC8-94FD-3ED4616559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30788"/>
            <a:ext cx="9144000" cy="1655762"/>
          </a:xfrm>
        </p:spPr>
        <p:txBody>
          <a:bodyPr>
            <a:normAutofit/>
          </a:bodyPr>
          <a:lstStyle/>
          <a:p>
            <a:r>
              <a:rPr lang="ru-RU" sz="3200"/>
              <a:t>Лекция 9</a:t>
            </a:r>
            <a:r>
              <a:rPr lang="en-US" sz="3200"/>
              <a:t> </a:t>
            </a:r>
            <a:r>
              <a:rPr lang="en-US" sz="3200" dirty="0"/>
              <a:t>(</a:t>
            </a:r>
            <a:r>
              <a:rPr lang="ru-RU" sz="3200" dirty="0"/>
              <a:t>С++</a:t>
            </a:r>
            <a:r>
              <a:rPr lang="en-US" sz="3200" dirty="0"/>
              <a:t>)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3653757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памяти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8AA9400-BB26-B88C-DC7D-CC0DAFCB83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9024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r>
                  <a:rPr lang="ru-RU" sz="1600" dirty="0">
                    <a:solidFill>
                      <a:srgbClr val="24292F"/>
                    </a:solidFill>
                  </a:rPr>
                  <a:t>С точки зрения работающей программы память представляется как последовательность байт.</a:t>
                </a:r>
                <a:endParaRPr lang="en-US" sz="1600" dirty="0">
                  <a:solidFill>
                    <a:srgbClr val="24292F"/>
                  </a:solidFill>
                </a:endParaRP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endParaRPr lang="en-US" sz="1600" dirty="0">
                  <a:solidFill>
                    <a:srgbClr val="24292F"/>
                  </a:solidFill>
                </a:endParaRPr>
              </a:p>
              <a:p>
                <a:pPr marL="0" indent="0" algn="just">
                  <a:lnSpc>
                    <a:spcPct val="110000"/>
                  </a:lnSpc>
                  <a:spcBef>
                    <a:spcPts val="0"/>
                  </a:spcBef>
                  <a:buNone/>
                </a:pPr>
                <a:r>
                  <a:rPr lang="ru-RU" sz="1600" dirty="0">
                    <a:solidFill>
                      <a:srgbClr val="24292F"/>
                    </a:solidFill>
                  </a:rPr>
                  <a:t>Все байты пронумерованы от 0 и до некоторого максимального значения зависящего от разрядности шины адреса процессора. Для 32-битной шины последний байт будет иметь номер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solidFill>
                              <a:srgbClr val="24292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b="0" i="1" smtClean="0">
                            <a:solidFill>
                              <a:srgbClr val="24292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b="0" i="1" smtClean="0">
                            <a:solidFill>
                              <a:srgbClr val="24292F"/>
                            </a:solidFill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ru-RU" sz="1600" b="0" i="1" smtClean="0">
                        <a:solidFill>
                          <a:srgbClr val="24292F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ru-RU" sz="1600" dirty="0">
                    <a:solidFill>
                      <a:srgbClr val="24292F"/>
                    </a:solidFill>
                  </a:rPr>
                  <a:t> (т.е. максимум 4</a:t>
                </a:r>
                <a:r>
                  <a:rPr lang="en-US" sz="1600" dirty="0">
                    <a:solidFill>
                      <a:srgbClr val="24292F"/>
                    </a:solidFill>
                  </a:rPr>
                  <a:t> </a:t>
                </a:r>
                <a:r>
                  <a:rPr lang="ru-RU" sz="1600" dirty="0">
                    <a:solidFill>
                      <a:srgbClr val="24292F"/>
                    </a:solidFill>
                  </a:rPr>
                  <a:t>ГБ), для 64-битной шины последний байт будет иметь номер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>
                            <a:solidFill>
                              <a:srgbClr val="24292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solidFill>
                              <a:srgbClr val="24292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b="0" i="1" smtClean="0">
                            <a:solidFill>
                              <a:srgbClr val="24292F"/>
                            </a:solidFill>
                            <a:latin typeface="Cambria Math" panose="02040503050406030204" pitchFamily="18" charset="0"/>
                          </a:rPr>
                          <m:t>64</m:t>
                        </m:r>
                      </m:sup>
                    </m:sSup>
                    <m:r>
                      <a:rPr lang="ru-RU" sz="1600" i="1">
                        <a:solidFill>
                          <a:srgbClr val="24292F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ru-RU" sz="1600" dirty="0">
                    <a:solidFill>
                      <a:srgbClr val="24292F"/>
                    </a:solidFill>
                  </a:rPr>
                  <a:t> (т.е. максимум 16</a:t>
                </a:r>
                <a:r>
                  <a:rPr lang="en-US" sz="1600" dirty="0">
                    <a:solidFill>
                      <a:srgbClr val="24292F"/>
                    </a:solidFill>
                  </a:rPr>
                  <a:t> </a:t>
                </a:r>
                <a:r>
                  <a:rPr lang="ru-RU" sz="1600" dirty="0">
                    <a:solidFill>
                      <a:srgbClr val="24292F"/>
                    </a:solidFill>
                  </a:rPr>
                  <a:t>ЭБ)</a:t>
                </a:r>
                <a:r>
                  <a:rPr lang="en-US" sz="1600" dirty="0">
                    <a:solidFill>
                      <a:srgbClr val="24292F"/>
                    </a:solidFill>
                  </a:rPr>
                  <a:t>.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endParaRPr lang="en-US" sz="1600" dirty="0">
                  <a:solidFill>
                    <a:srgbClr val="24292F"/>
                  </a:solidFill>
                </a:endParaRP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endParaRPr lang="en-US" sz="1600" dirty="0">
                  <a:solidFill>
                    <a:srgbClr val="24292F"/>
                  </a:solidFill>
                </a:endParaRP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endParaRPr lang="en-US" sz="1600" dirty="0">
                  <a:solidFill>
                    <a:srgbClr val="24292F"/>
                  </a:solidFill>
                </a:endParaRP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endParaRPr lang="en-US" sz="1600" dirty="0">
                  <a:solidFill>
                    <a:srgbClr val="24292F"/>
                  </a:solidFill>
                </a:endParaRP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endParaRPr lang="en-US" sz="1600" dirty="0">
                  <a:solidFill>
                    <a:srgbClr val="24292F"/>
                  </a:solidFill>
                </a:endParaRP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r>
                  <a:rPr lang="ru-RU" sz="1600" dirty="0">
                    <a:solidFill>
                      <a:srgbClr val="24292F"/>
                    </a:solidFill>
                  </a:rPr>
                  <a:t>Минимальная адресуемая ячейка памяти – байт.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endParaRPr lang="ru-RU" sz="1600" dirty="0">
                  <a:solidFill>
                    <a:srgbClr val="24292F"/>
                  </a:solidFill>
                </a:endParaRPr>
              </a:p>
              <a:p>
                <a:pPr marL="0" indent="0" algn="just">
                  <a:lnSpc>
                    <a:spcPct val="110000"/>
                  </a:lnSpc>
                  <a:spcBef>
                    <a:spcPts val="0"/>
                  </a:spcBef>
                  <a:buNone/>
                </a:pPr>
                <a:r>
                  <a:rPr lang="ru-RU" sz="1600" dirty="0">
                    <a:solidFill>
                      <a:srgbClr val="24292F"/>
                    </a:solidFill>
                  </a:rPr>
                  <a:t>Если программа запускается под управлением операционной системы, то любые обращения к памяти контролируются ОС. В этом случае, максимально допустимый адрес определяется не только процессором, но и операционной системой. Т.е. если сама ОС 32-битная, то и программы под её управлением не смогут получить больше 4</a:t>
                </a:r>
                <a:r>
                  <a:rPr lang="en-US" sz="1600" dirty="0">
                    <a:solidFill>
                      <a:srgbClr val="24292F"/>
                    </a:solidFill>
                  </a:rPr>
                  <a:t> </a:t>
                </a:r>
                <a:r>
                  <a:rPr lang="ru-RU" sz="1600" dirty="0">
                    <a:solidFill>
                      <a:srgbClr val="24292F"/>
                    </a:solidFill>
                  </a:rPr>
                  <a:t>ГБ памяти, не зависимо от того, какой у вас процессор и сколько у вас физической памяти.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8AA9400-BB26-B88C-DC7D-CC0DAFCB83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90240"/>
              </a:xfrm>
              <a:blipFill>
                <a:blip r:embed="rId2"/>
                <a:stretch>
                  <a:fillRect l="-348" t="-139" r="-290" b="-12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Таблица 4">
                <a:extLst>
                  <a:ext uri="{FF2B5EF4-FFF2-40B4-BE49-F238E27FC236}">
                    <a16:creationId xmlns:a16="http://schemas.microsoft.com/office/drawing/2014/main" id="{DDA9B751-87B5-9CCF-8ADE-E8F3ECE758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14306667"/>
                  </p:ext>
                </p:extLst>
              </p:nvPr>
            </p:nvGraphicFramePr>
            <p:xfrm>
              <a:off x="1128000" y="3326259"/>
              <a:ext cx="9936000" cy="864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28000">
                      <a:extLst>
                        <a:ext uri="{9D8B030D-6E8A-4147-A177-3AD203B41FA5}">
                          <a16:colId xmlns:a16="http://schemas.microsoft.com/office/drawing/2014/main" val="1045538476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328910549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3624487365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929492068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773845438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843729225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774303207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845324327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372966238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221289629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448455014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747381513"/>
                        </a:ext>
                      </a:extLst>
                    </a:gridCol>
                  </a:tblGrid>
                  <a:tr h="432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0</a:t>
                          </a:r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1</a:t>
                          </a:r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2"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sup>
                                </m:sSup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52689792"/>
                      </a:ext>
                    </a:extLst>
                  </a:tr>
                  <a:tr h="432000"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348574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Таблица 4">
                <a:extLst>
                  <a:ext uri="{FF2B5EF4-FFF2-40B4-BE49-F238E27FC236}">
                    <a16:creationId xmlns:a16="http://schemas.microsoft.com/office/drawing/2014/main" id="{DDA9B751-87B5-9CCF-8ADE-E8F3ECE758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14306667"/>
                  </p:ext>
                </p:extLst>
              </p:nvPr>
            </p:nvGraphicFramePr>
            <p:xfrm>
              <a:off x="1128000" y="3326259"/>
              <a:ext cx="9936000" cy="864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28000">
                      <a:extLst>
                        <a:ext uri="{9D8B030D-6E8A-4147-A177-3AD203B41FA5}">
                          <a16:colId xmlns:a16="http://schemas.microsoft.com/office/drawing/2014/main" val="1045538476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328910549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3624487365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929492068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773845438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843729225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774303207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845324327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372966238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221289629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448455014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747381513"/>
                        </a:ext>
                      </a:extLst>
                    </a:gridCol>
                  </a:tblGrid>
                  <a:tr h="432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0</a:t>
                          </a:r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1</a:t>
                          </a:r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0000" t="-2778" r="-1103" b="-10138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52689792"/>
                      </a:ext>
                    </a:extLst>
                  </a:tr>
                  <a:tr h="432000"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3485740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343724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памяти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90240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Перед запуском</a:t>
            </a:r>
            <a:r>
              <a:rPr lang="en-US" sz="1600" dirty="0">
                <a:solidFill>
                  <a:srgbClr val="24292F"/>
                </a:solidFill>
              </a:rPr>
              <a:t>,</a:t>
            </a:r>
            <a:r>
              <a:rPr lang="ru-RU" sz="1600" dirty="0">
                <a:solidFill>
                  <a:srgbClr val="24292F"/>
                </a:solidFill>
              </a:rPr>
              <a:t> исполняемый файл загружается (если большой, то просто </a:t>
            </a:r>
            <a:r>
              <a:rPr lang="ru-RU" sz="1600" dirty="0" err="1">
                <a:solidFill>
                  <a:srgbClr val="24292F"/>
                </a:solidFill>
              </a:rPr>
              <a:t>маппится</a:t>
            </a:r>
            <a:r>
              <a:rPr lang="ru-RU" sz="1600" dirty="0">
                <a:solidFill>
                  <a:srgbClr val="24292F"/>
                </a:solidFill>
              </a:rPr>
              <a:t>) в оперативную память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Чтобы программы не мешали друг другу работать операционная система изолирует их друг от друга при помощи механизма виртуальной памяти. Т.е. если два процесс обратятся к одной и той же (с их точки зрения) ячейке памяти, то в реальности они обратятся к разным ячейкам физической памяти (кроме специальных случаев). 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B9C805C9-0267-C9A5-57E0-AAE2EE8CAB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0790272"/>
              </p:ext>
            </p:extLst>
          </p:nvPr>
        </p:nvGraphicFramePr>
        <p:xfrm>
          <a:off x="2586930" y="3685190"/>
          <a:ext cx="648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37296623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22128962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105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107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109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solidFill>
                            <a:srgbClr val="FF0000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accent6"/>
                          </a:solidFill>
                          <a:latin typeface="+mn-lt"/>
                        </a:rPr>
                        <a:t>30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</a:tbl>
          </a:graphicData>
        </a:graphic>
      </p:graphicFrame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1E4AF8E1-8A4E-2E70-29F7-13BA04AE34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0868708"/>
              </p:ext>
            </p:extLst>
          </p:nvPr>
        </p:nvGraphicFramePr>
        <p:xfrm>
          <a:off x="1166974" y="5031711"/>
          <a:ext cx="432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142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solidFill>
                            <a:srgbClr val="FF0000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F94228BC-4692-8CC5-E3A7-8B094F022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4539055"/>
              </p:ext>
            </p:extLst>
          </p:nvPr>
        </p:nvGraphicFramePr>
        <p:xfrm>
          <a:off x="5973977" y="5391711"/>
          <a:ext cx="432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37296623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142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solidFill>
                            <a:schemeClr val="accent6"/>
                          </a:solidFill>
                          <a:latin typeface="+mn-lt"/>
                        </a:rPr>
                        <a:t>30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</a:tbl>
          </a:graphicData>
        </a:graphic>
      </p:graphicFrame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A8504317-E7E0-0562-1856-DDD62214F737}"/>
              </a:ext>
            </a:extLst>
          </p:cNvPr>
          <p:cNvCxnSpPr/>
          <p:nvPr/>
        </p:nvCxnSpPr>
        <p:spPr>
          <a:xfrm flipV="1">
            <a:off x="2518186" y="4767294"/>
            <a:ext cx="0" cy="306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0CA71077-3C91-53A3-CE61-D19322931AEC}"/>
              </a:ext>
            </a:extLst>
          </p:cNvPr>
          <p:cNvCxnSpPr>
            <a:cxnSpLocks/>
          </p:cNvCxnSpPr>
          <p:nvPr/>
        </p:nvCxnSpPr>
        <p:spPr>
          <a:xfrm flipH="1">
            <a:off x="2515011" y="4776819"/>
            <a:ext cx="19439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62DA280B-AF54-0EE6-6DB1-6C82355FE12D}"/>
              </a:ext>
            </a:extLst>
          </p:cNvPr>
          <p:cNvCxnSpPr/>
          <p:nvPr/>
        </p:nvCxnSpPr>
        <p:spPr>
          <a:xfrm flipV="1">
            <a:off x="4458984" y="4497265"/>
            <a:ext cx="0" cy="288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0035DA3E-DFEA-C062-17EA-19AD491B78A6}"/>
              </a:ext>
            </a:extLst>
          </p:cNvPr>
          <p:cNvCxnSpPr>
            <a:cxnSpLocks/>
          </p:cNvCxnSpPr>
          <p:nvPr/>
        </p:nvCxnSpPr>
        <p:spPr>
          <a:xfrm flipV="1">
            <a:off x="7304803" y="4774437"/>
            <a:ext cx="0" cy="6701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B9DE8829-174A-DAB8-E894-10BBF0D9ACE7}"/>
              </a:ext>
            </a:extLst>
          </p:cNvPr>
          <p:cNvCxnSpPr>
            <a:cxnSpLocks/>
          </p:cNvCxnSpPr>
          <p:nvPr/>
        </p:nvCxnSpPr>
        <p:spPr>
          <a:xfrm flipH="1">
            <a:off x="6090635" y="4785265"/>
            <a:ext cx="1206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E85FBCB9-DCD5-50B9-66B0-BE717C9CDB73}"/>
              </a:ext>
            </a:extLst>
          </p:cNvPr>
          <p:cNvCxnSpPr/>
          <p:nvPr/>
        </p:nvCxnSpPr>
        <p:spPr>
          <a:xfrm flipV="1">
            <a:off x="6091508" y="4505711"/>
            <a:ext cx="0" cy="288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009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памяти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90240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Каждая программа (игра, калькулятор, </a:t>
            </a:r>
            <a:r>
              <a:rPr lang="en-US" sz="1600" dirty="0" err="1">
                <a:solidFill>
                  <a:srgbClr val="24292F"/>
                </a:solidFill>
              </a:rPr>
              <a:t>hello_world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приложение и т.д.) считает, что ей доступны все ячейки памяти (вплоть до 16 ЭБ), но в реальности физической памяти может быть меньше, поэтому программа не сама определяет куда размещать данные, а "спрашивать" у ОС. При этом ОС резервирует память для программы и сообщает ей место, где эта память расположена (естественно сначала физ. адрес транслируется в виртуальный).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Физическая память разделяется ОС на сегменты </a:t>
            </a:r>
            <a:r>
              <a:rPr lang="en-US" sz="1600" dirty="0">
                <a:solidFill>
                  <a:srgbClr val="24292F"/>
                </a:solidFill>
              </a:rPr>
              <a:t>(</a:t>
            </a:r>
            <a:r>
              <a:rPr lang="ru-RU" sz="1600" dirty="0">
                <a:solidFill>
                  <a:srgbClr val="24292F"/>
                </a:solidFill>
              </a:rPr>
              <a:t>типичный размер 4 КБ</a:t>
            </a:r>
            <a:r>
              <a:rPr lang="en-US" sz="1600" dirty="0">
                <a:solidFill>
                  <a:srgbClr val="24292F"/>
                </a:solidFill>
              </a:rPr>
              <a:t>)</a:t>
            </a:r>
            <a:r>
              <a:rPr lang="ru-RU" sz="1600" dirty="0">
                <a:solidFill>
                  <a:srgbClr val="24292F"/>
                </a:solidFill>
              </a:rPr>
              <a:t> и по мере необходимости программе передаётся некоторое количество таких страниц. При этом ОС фиксирует, какой программе какие страницы были отданы и после завершения программы эти страницы отмечаются как свободные.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в программе обратиться по случайному адресу, то ОС попробует получить соответствующий адрес в физической памяти и если этот адрес находится в пределах страницы которая не принадлежит этой программе, то она будет завершена с ошибкой сегментации (</a:t>
            </a:r>
            <a:r>
              <a:rPr lang="en-US" sz="1600" dirty="0">
                <a:solidFill>
                  <a:srgbClr val="24292F"/>
                </a:solidFill>
              </a:rPr>
              <a:t>segmentation fault)</a:t>
            </a:r>
            <a:r>
              <a:rPr lang="ru-RU" sz="1600" dirty="0">
                <a:solidFill>
                  <a:srgbClr val="24292F"/>
                </a:solidFill>
              </a:rPr>
              <a:t>. Такое может произойти, например если вылезти за границы массива или обратиться к переменной, которая была уничтожена (через висячий указатель).</a:t>
            </a:r>
          </a:p>
        </p:txBody>
      </p:sp>
    </p:spTree>
    <p:extLst>
      <p:ext uri="{BB962C8B-B14F-4D97-AF65-F5344CB8AC3E}">
        <p14:creationId xmlns:p14="http://schemas.microsoft.com/office/powerpoint/2010/main" val="2771502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памяти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90240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Каждой программе при старте выделяется область памяти которая называется стек (размер определяется ОС </a:t>
            </a:r>
            <a:r>
              <a:rPr lang="en-US" sz="1600" dirty="0">
                <a:solidFill>
                  <a:srgbClr val="24292F"/>
                </a:solidFill>
              </a:rPr>
              <a:t>~ 8 </a:t>
            </a:r>
            <a:r>
              <a:rPr lang="ru-RU" sz="1600" dirty="0">
                <a:solidFill>
                  <a:srgbClr val="24292F"/>
                </a:solidFill>
              </a:rPr>
              <a:t>МБ, но можно настроить).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Каждый раз, когда в программе создаётся локальная переменная, вызывается функция, в функцию передаются параметры и из функции возвращается значение – используется память стека.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Таким образом вся стековая память может быть израсходована, например при большом количестве рекурсивных</a:t>
            </a:r>
            <a:r>
              <a:rPr lang="en-US" sz="1600" dirty="0">
                <a:solidFill>
                  <a:srgbClr val="24292F"/>
                </a:solidFill>
              </a:rPr>
              <a:t> (</a:t>
            </a:r>
            <a:r>
              <a:rPr lang="ru-RU" sz="1600" dirty="0">
                <a:solidFill>
                  <a:srgbClr val="24292F"/>
                </a:solidFill>
              </a:rPr>
              <a:t>не обязательно</a:t>
            </a:r>
            <a:r>
              <a:rPr lang="en-US" sz="1600" dirty="0">
                <a:solidFill>
                  <a:srgbClr val="24292F"/>
                </a:solidFill>
              </a:rPr>
              <a:t>)</a:t>
            </a:r>
            <a:r>
              <a:rPr lang="ru-RU" sz="1600" dirty="0">
                <a:solidFill>
                  <a:srgbClr val="24292F"/>
                </a:solidFill>
              </a:rPr>
              <a:t> вызовов или, если создать достаточно большой статический массив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ru-RU" sz="1600" dirty="0">
                <a:solidFill>
                  <a:srgbClr val="24292F"/>
                </a:solidFill>
              </a:rPr>
              <a:t>). Переполнение стека, как правило, сопровождается ошибкой </a:t>
            </a:r>
            <a:r>
              <a:rPr lang="en-US" sz="1600" dirty="0">
                <a:solidFill>
                  <a:srgbClr val="24292F"/>
                </a:solidFill>
              </a:rPr>
              <a:t>stack overflow</a:t>
            </a:r>
            <a:r>
              <a:rPr lang="ru-RU" sz="1600" dirty="0">
                <a:solidFill>
                  <a:srgbClr val="24292F"/>
                </a:solidFill>
              </a:rPr>
              <a:t>. Память выделенная под локальные переменные или параметры </a:t>
            </a:r>
            <a:r>
              <a:rPr lang="ru-RU" sz="1600" b="1" dirty="0">
                <a:solidFill>
                  <a:srgbClr val="24292F"/>
                </a:solidFill>
              </a:rPr>
              <a:t>автоматически</a:t>
            </a:r>
            <a:r>
              <a:rPr lang="ru-RU" sz="1600" dirty="0">
                <a:solidFill>
                  <a:srgbClr val="24292F"/>
                </a:solidFill>
              </a:rPr>
              <a:t> освобождается при выходе из функции и в дальнейшем используется повторно.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Вся оставшаяся свободная память называется кучей (</a:t>
            </a:r>
            <a:r>
              <a:rPr lang="en-US" sz="1600" dirty="0">
                <a:solidFill>
                  <a:srgbClr val="24292F"/>
                </a:solidFill>
              </a:rPr>
              <a:t>Heap</a:t>
            </a:r>
            <a:r>
              <a:rPr lang="ru-RU" sz="1600" dirty="0">
                <a:solidFill>
                  <a:srgbClr val="24292F"/>
                </a:solidFill>
              </a:rPr>
              <a:t>)</a:t>
            </a:r>
            <a:r>
              <a:rPr lang="en-US" sz="1600" dirty="0">
                <a:solidFill>
                  <a:srgbClr val="24292F"/>
                </a:solidFill>
              </a:rPr>
              <a:t>. </a:t>
            </a:r>
            <a:r>
              <a:rPr lang="ru-RU" sz="1600" dirty="0">
                <a:solidFill>
                  <a:srgbClr val="24292F"/>
                </a:solidFill>
              </a:rPr>
              <a:t>Если требуется разместить в памяти что-то большое, то можно попросить у ОС выделить фрагмент памяти требуемого размера из кучи и, если такой есть (непрерывный), он будет динамически выделен. Как только программа больше не нуждается в этой памяти её нужно вернуть операционной системе </a:t>
            </a:r>
            <a:r>
              <a:rPr lang="ru-RU" sz="1600" b="1" dirty="0">
                <a:solidFill>
                  <a:srgbClr val="24292F"/>
                </a:solidFill>
              </a:rPr>
              <a:t>вручную</a:t>
            </a:r>
            <a:r>
              <a:rPr lang="ru-RU" sz="1600" dirty="0">
                <a:solidFill>
                  <a:srgbClr val="24292F"/>
                </a:solidFill>
              </a:rPr>
              <a:t> иначе она так и будет числиться как занятая программой, пока программа не завершится. Такой случай называется утечкой памяти.</a:t>
            </a:r>
          </a:p>
        </p:txBody>
      </p:sp>
    </p:spTree>
    <p:extLst>
      <p:ext uri="{BB962C8B-B14F-4D97-AF65-F5344CB8AC3E}">
        <p14:creationId xmlns:p14="http://schemas.microsoft.com/office/powerpoint/2010/main" val="1386152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5DFB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E02AA8D6-877E-C5FA-EF2C-B07CEB7B1D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000" y="160099"/>
            <a:ext cx="11340000" cy="6537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785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Указатель</a:t>
            </a:r>
          </a:p>
        </p:txBody>
      </p:sp>
    </p:spTree>
    <p:extLst>
      <p:ext uri="{BB962C8B-B14F-4D97-AF65-F5344CB8AC3E}">
        <p14:creationId xmlns:p14="http://schemas.microsoft.com/office/powerpoint/2010/main" val="139813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указатель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27691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большинстве случаев мы взаимодействуем с памятью при помощи </a:t>
            </a:r>
            <a:r>
              <a:rPr lang="ru-RU" sz="1600" b="1" dirty="0">
                <a:solidFill>
                  <a:srgbClr val="24292F"/>
                </a:solidFill>
              </a:rPr>
              <a:t>имён</a:t>
            </a:r>
            <a:r>
              <a:rPr lang="ru-RU" sz="1600" dirty="0">
                <a:solidFill>
                  <a:srgbClr val="24292F"/>
                </a:solidFill>
              </a:rPr>
              <a:t> (переменных/констант/функций), но иногда приходится работать с ячейками памяти и их содержимым напрямую.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этой цели существует специальный тип данных, который называется </a:t>
            </a:r>
            <a:r>
              <a:rPr lang="ru-RU" sz="1600" b="1" dirty="0">
                <a:solidFill>
                  <a:srgbClr val="24292F"/>
                </a:solidFill>
              </a:rPr>
              <a:t>указателем</a:t>
            </a:r>
            <a:r>
              <a:rPr lang="en-US" sz="1600" b="1" dirty="0">
                <a:solidFill>
                  <a:srgbClr val="24292F"/>
                </a:solidFill>
              </a:rPr>
              <a:t> (pointer)</a:t>
            </a:r>
            <a:r>
              <a:rPr lang="ru-RU" sz="1600" dirty="0">
                <a:solidFill>
                  <a:srgbClr val="24292F"/>
                </a:solidFill>
              </a:rPr>
              <a:t>. Переменная-указатель может хранить </a:t>
            </a:r>
            <a:r>
              <a:rPr lang="ru-RU" sz="1600" b="1" dirty="0">
                <a:solidFill>
                  <a:srgbClr val="24292F"/>
                </a:solidFill>
              </a:rPr>
              <a:t>адрес</a:t>
            </a:r>
            <a:r>
              <a:rPr lang="ru-RU" sz="1600" dirty="0">
                <a:solidFill>
                  <a:srgbClr val="24292F"/>
                </a:solidFill>
              </a:rPr>
              <a:t> любого байта доступного программе, а зная адрес мы можем прочитать или изменить данные которые там находятся.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Адрес можно воспринимать, как номер байта, и его можно вывести на экран как обычное десятичное число, но традиционно адреса записывают в шестнадцатеричной форме, для краткости.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7" name="Прямоугольник: скругленные углы 3">
            <a:extLst>
              <a:ext uri="{FF2B5EF4-FFF2-40B4-BE49-F238E27FC236}">
                <a16:creationId xmlns:a16="http://schemas.microsoft.com/office/drawing/2014/main" id="{3F61FDD2-80FC-821D-86E2-9B32C4D71722}"/>
              </a:ext>
            </a:extLst>
          </p:cNvPr>
          <p:cNvSpPr/>
          <p:nvPr/>
        </p:nvSpPr>
        <p:spPr>
          <a:xfrm>
            <a:off x="1181992" y="5554684"/>
            <a:ext cx="4366081" cy="455435"/>
          </a:xfrm>
          <a:prstGeom prst="roundRect">
            <a:avLst>
              <a:gd name="adj" fmla="val 11332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0x7fff2c01a3e4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E8792BB-F85E-AABD-3AE6-AFA2F82CB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31" y="4684555"/>
            <a:ext cx="4070090" cy="1325564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AB10C5BB-5B45-0239-277A-F1C2E7723359}"/>
              </a:ext>
            </a:extLst>
          </p:cNvPr>
          <p:cNvSpPr/>
          <p:nvPr/>
        </p:nvSpPr>
        <p:spPr>
          <a:xfrm>
            <a:off x="1181993" y="4193441"/>
            <a:ext cx="4366081" cy="132556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Сохраняем адрес в указатель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p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82183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Переменная-указатель объявляется как: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 err="1">
                <a:solidFill>
                  <a:srgbClr val="24292F"/>
                </a:solidFill>
              </a:rPr>
              <a:t>Тип_данных</a:t>
            </a:r>
            <a:r>
              <a:rPr lang="ru-RU" sz="1600" dirty="0">
                <a:solidFill>
                  <a:srgbClr val="24292F"/>
                </a:solidFill>
              </a:rPr>
              <a:t> * </a:t>
            </a:r>
            <a:r>
              <a:rPr lang="ru-RU" sz="1600" dirty="0" err="1">
                <a:solidFill>
                  <a:srgbClr val="24292F"/>
                </a:solidFill>
              </a:rPr>
              <a:t>Имя_указателя</a:t>
            </a:r>
            <a:r>
              <a:rPr lang="ru-RU" sz="1600" dirty="0">
                <a:solidFill>
                  <a:srgbClr val="24292F"/>
                </a:solidFill>
              </a:rPr>
              <a:t>: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Количество пробелов слева и справа от звёздочки значения не имеет: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24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При объявлении нескольких переменных-указателей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одновременно, звёздочка должна находится у каждой,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иначе переменная воспринимается как переменная-значение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8111613" y="1730017"/>
            <a:ext cx="3242187" cy="93081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string *k;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vector&lt;string&gt; *m;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A648D8D7-262E-941C-BFE9-F08E3AA4AB6D}"/>
              </a:ext>
            </a:extLst>
          </p:cNvPr>
          <p:cNvSpPr/>
          <p:nvPr/>
        </p:nvSpPr>
        <p:spPr>
          <a:xfrm>
            <a:off x="8111613" y="3176368"/>
            <a:ext cx="3242187" cy="93081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 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*  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93CC58F2-738E-227E-DFCB-3C0D0FEB19FF}"/>
              </a:ext>
            </a:extLst>
          </p:cNvPr>
          <p:cNvSpPr/>
          <p:nvPr/>
        </p:nvSpPr>
        <p:spPr>
          <a:xfrm>
            <a:off x="6673645" y="4622718"/>
            <a:ext cx="4680155" cy="93081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a - указатель, b и c – просто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-ы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 и k - указатели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3566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и для переменных других типов, не инициализированная локальная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переменная-указатель получит мусорное значение.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указатель хранит мусорный адрес или адрес уничтоженной переменной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такой указатель называют </a:t>
            </a:r>
            <a:r>
              <a:rPr lang="ru-RU" sz="1600" b="1" dirty="0">
                <a:solidFill>
                  <a:srgbClr val="24292F"/>
                </a:solidFill>
              </a:rPr>
              <a:t>висячим</a:t>
            </a:r>
            <a:r>
              <a:rPr lang="ru-RU" sz="1600" dirty="0">
                <a:solidFill>
                  <a:srgbClr val="24292F"/>
                </a:solidFill>
              </a:rPr>
              <a:t>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того, чтобы явно показать, что указатель пока не хранит какой-то полезный адрес его инициализируют специальным значением</a:t>
            </a:r>
            <a:r>
              <a:rPr lang="en-US" sz="1600" dirty="0">
                <a:solidFill>
                  <a:srgbClr val="24292F"/>
                </a:solidFill>
              </a:rPr>
              <a:t>. </a:t>
            </a:r>
            <a:r>
              <a:rPr lang="ru-RU" sz="1600" dirty="0">
                <a:solidFill>
                  <a:srgbClr val="24292F"/>
                </a:solidFill>
              </a:rPr>
              <a:t>Такой указатель часто называют нулевым </a:t>
            </a:r>
            <a:r>
              <a:rPr lang="en-US" sz="1600" dirty="0">
                <a:solidFill>
                  <a:srgbClr val="24292F"/>
                </a:solidFill>
              </a:rPr>
              <a:t>(null pointer):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С++ предпочтительно использовать </a:t>
            </a:r>
            <a:r>
              <a:rPr lang="en-US" sz="1400" dirty="0" err="1">
                <a:solidFill>
                  <a:srgbClr val="24292F"/>
                </a:solidFill>
                <a:latin typeface="Consolas" panose="020B0609020204030204" pitchFamily="49" charset="0"/>
              </a:rPr>
              <a:t>nullptr</a:t>
            </a:r>
            <a:r>
              <a:rPr lang="ru-RU" sz="1600" dirty="0">
                <a:solidFill>
                  <a:srgbClr val="24292F"/>
                </a:solidFill>
              </a:rPr>
              <a:t>. Это единственное значение специального типа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nullptr_t</a:t>
            </a:r>
            <a:r>
              <a:rPr lang="en-US" sz="1600" b="0" i="0" dirty="0">
                <a:solidFill>
                  <a:srgbClr val="24292F"/>
                </a:solidFill>
                <a:effectLst/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специально добавленного в язык для этой цели.</a:t>
            </a:r>
            <a:endParaRPr lang="en-US" sz="1400" b="0" i="0" dirty="0">
              <a:solidFill>
                <a:srgbClr val="000000"/>
              </a:solidFill>
              <a:effectLst/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927737" y="3873909"/>
            <a:ext cx="8336526" cy="87507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Спец. значение, говорит о том, что указателю не присвоен конкретный адрес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Аналогично, но в стиле С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  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   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Так тоже можно. По смыслу, то же, что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и предыдущие два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// Если переменная глобальная или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то гарантируется значение 0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   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A648D8D7-262E-941C-BFE9-F08E3AA4AB6D}"/>
              </a:ext>
            </a:extLst>
          </p:cNvPr>
          <p:cNvSpPr/>
          <p:nvPr/>
        </p:nvSpPr>
        <p:spPr>
          <a:xfrm>
            <a:off x="1927736" y="5485001"/>
            <a:ext cx="8336525" cy="636998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Пытаемся выделить блок памяти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"Ошибка, память не выделена"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AB55D48E-B0EB-BBB1-EF64-DC04F05F9505}"/>
              </a:ext>
            </a:extLst>
          </p:cNvPr>
          <p:cNvSpPr/>
          <p:nvPr/>
        </p:nvSpPr>
        <p:spPr>
          <a:xfrm>
            <a:off x="8406367" y="1825625"/>
            <a:ext cx="2947433" cy="99376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Мусорный адрес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Мусорный адрес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7880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Способы получения адреса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Указатели хранят адреса. В норме, адрес не записывают в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коде вручную, а получают у существующего объекта или как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результат функции.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Адрес можно получить у любого объекта, который имеет своё постоянное место в памяти. У временных объектов получить адрес нельзя.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получения адреса существует оператор взятия адреса - </a:t>
            </a:r>
            <a:r>
              <a:rPr lang="ru-RU" sz="1600" b="1" dirty="0">
                <a:solidFill>
                  <a:srgbClr val="24292F"/>
                </a:solidFill>
              </a:rPr>
              <a:t>&amp;</a:t>
            </a:r>
            <a:r>
              <a:rPr lang="ru-RU" sz="1600" dirty="0">
                <a:solidFill>
                  <a:srgbClr val="24292F"/>
                </a:solidFill>
              </a:rPr>
              <a:t> </a:t>
            </a:r>
            <a:r>
              <a:rPr lang="en-US" sz="1600" dirty="0">
                <a:solidFill>
                  <a:srgbClr val="24292F"/>
                </a:solidFill>
              </a:rPr>
              <a:t>(</a:t>
            </a:r>
            <a:r>
              <a:rPr lang="ru-RU" sz="1600" dirty="0">
                <a:solidFill>
                  <a:srgbClr val="24292F"/>
                </a:solidFill>
              </a:rPr>
              <a:t>символ называется амперсанд</a:t>
            </a:r>
            <a:r>
              <a:rPr lang="en-US" sz="1600" dirty="0">
                <a:solidFill>
                  <a:srgbClr val="24292F"/>
                </a:solidFill>
              </a:rPr>
              <a:t>)</a:t>
            </a:r>
            <a:r>
              <a:rPr lang="ru-RU" sz="1600" dirty="0">
                <a:solidFill>
                  <a:srgbClr val="24292F"/>
                </a:solidFill>
              </a:rPr>
              <a:t>. Чтобы получить адрес он располагается слева (перед) от переменной адрес которой хотим получить</a:t>
            </a:r>
            <a:r>
              <a:rPr lang="en-US" sz="1600" dirty="0">
                <a:solidFill>
                  <a:srgbClr val="24292F"/>
                </a:solidFill>
              </a:rPr>
              <a:t>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того, чтобы адрес можно было сохранить в переменную, тип указателя должен совпадать с типом адресуемого объекта.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6329516" y="1901273"/>
            <a:ext cx="5025024" cy="99376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У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адрес есть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// У 2 адреса нет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У результата адреса нет. Временный объект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){}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У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адрес есть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A648D8D7-262E-941C-BFE9-F08E3AA4AB6D}"/>
              </a:ext>
            </a:extLst>
          </p:cNvPr>
          <p:cNvSpPr/>
          <p:nvPr/>
        </p:nvSpPr>
        <p:spPr>
          <a:xfrm>
            <a:off x="3188414" y="4332305"/>
            <a:ext cx="5815173" cy="153394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Адрес переменной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</a:t>
            </a:r>
          </a:p>
          <a:p>
            <a:endParaRPr lang="en-US" sz="12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[10]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[2]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Адрес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элемента массива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arr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 с индексом 2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Адрес переменной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2536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Виды указателей</a:t>
            </a:r>
          </a:p>
        </p:txBody>
      </p:sp>
    </p:spTree>
    <p:extLst>
      <p:ext uri="{BB962C8B-B14F-4D97-AF65-F5344CB8AC3E}">
        <p14:creationId xmlns:p14="http://schemas.microsoft.com/office/powerpoint/2010/main" val="13432515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 типизированный указатель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571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Хранит адрес чего угодно, не обладает никакой дополнительной информацией о том, на что указывает: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Т.к. не типизированный указатель не обладает информацией от типе данных на которые указывает, то его невозможно использовать для доступа к данным в памяти.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Типичный сценарий использования – передача адреса в функцию или возврат адреса из функции в тех случаях, когда сами данные можно воспринимать как простую последовательность байт.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672975" y="2278653"/>
            <a:ext cx="8846049" cy="211636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// Не инициализированный. Указывае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т по мусорному адресу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Спец. значение, говорит о том, что указателю не присвоен конкретный адрес</a:t>
            </a:r>
          </a:p>
          <a:p>
            <a:r>
              <a:rPr lang="fi-FI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fi-FI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i-FI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Аналогично, но в стиле С</a:t>
            </a:r>
            <a:endParaRPr lang="fi-FI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fi-FI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fi-FI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i-FI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// Так тоже можно. По смыслу, то же, что и предыдущие два</a:t>
            </a:r>
            <a:endParaRPr lang="fi-FI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// Просто переменная целого типа (не указатель)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 // Просто переменная вещественного типа (не указатель)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 // Берём адрес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и сохраняем его в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Берём адрес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two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и сохраняем его в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y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y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        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Теперь и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x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и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y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хранят адрес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3123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Нетипизированный</a:t>
            </a:r>
            <a:r>
              <a:rPr lang="ru-RU" dirty="0"/>
              <a:t> указатель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С++ </a:t>
            </a:r>
            <a:r>
              <a:rPr lang="ru-RU" sz="1600" dirty="0" err="1">
                <a:solidFill>
                  <a:srgbClr val="24292F"/>
                </a:solidFill>
              </a:rPr>
              <a:t>нетипизированные</a:t>
            </a:r>
            <a:r>
              <a:rPr lang="ru-RU" sz="1600" dirty="0">
                <a:solidFill>
                  <a:srgbClr val="24292F"/>
                </a:solidFill>
              </a:rPr>
              <a:t> указатели применяются для совместимости с функциями C.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Например функции: </a:t>
            </a:r>
            <a:r>
              <a:rPr lang="ru-RU" sz="1400" dirty="0" err="1">
                <a:solidFill>
                  <a:srgbClr val="24292F"/>
                </a:solidFill>
                <a:latin typeface="Consolas" panose="020B0609020204030204" pitchFamily="49" charset="0"/>
              </a:rPr>
              <a:t>malloc</a:t>
            </a:r>
            <a:r>
              <a:rPr lang="ru-RU" sz="1400" dirty="0">
                <a:solidFill>
                  <a:srgbClr val="24292F"/>
                </a:solidFill>
              </a:rPr>
              <a:t>, </a:t>
            </a:r>
            <a:r>
              <a:rPr lang="ru-RU" sz="1400" dirty="0" err="1">
                <a:solidFill>
                  <a:srgbClr val="24292F"/>
                </a:solidFill>
                <a:latin typeface="Consolas" panose="020B0609020204030204" pitchFamily="49" charset="0"/>
              </a:rPr>
              <a:t>free</a:t>
            </a:r>
            <a:r>
              <a:rPr lang="ru-RU" sz="1400" dirty="0">
                <a:solidFill>
                  <a:srgbClr val="24292F"/>
                </a:solidFill>
              </a:rPr>
              <a:t>, </a:t>
            </a:r>
            <a:r>
              <a:rPr lang="ru-RU" sz="1400" dirty="0" err="1">
                <a:solidFill>
                  <a:srgbClr val="24292F"/>
                </a:solidFill>
                <a:latin typeface="Consolas" panose="020B0609020204030204" pitchFamily="49" charset="0"/>
              </a:rPr>
              <a:t>memcpy</a:t>
            </a:r>
            <a:r>
              <a:rPr lang="ru-RU" sz="1600" dirty="0">
                <a:solidFill>
                  <a:srgbClr val="24292F"/>
                </a:solidFill>
              </a:rPr>
              <a:t> объявлены как: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И могут быть использованы, например так: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672976" y="3710994"/>
            <a:ext cx="8846049" cy="101714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Получили 16 байт "сырой" памяти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Преобразуем "сырую" память в типизированную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      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      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423CE88-8561-7375-B604-8FE1FCC42FAC}"/>
              </a:ext>
            </a:extLst>
          </p:cNvPr>
          <p:cNvSpPr/>
          <p:nvPr/>
        </p:nvSpPr>
        <p:spPr>
          <a:xfrm>
            <a:off x="5997678" y="2191942"/>
            <a:ext cx="5516660" cy="74843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);</a:t>
            </a:r>
          </a:p>
          <a:p>
            <a:pPr marL="0" indent="0"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);</a:t>
            </a:r>
          </a:p>
          <a:p>
            <a:pPr marL="0" indent="0"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memcpy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);</a:t>
            </a:r>
          </a:p>
        </p:txBody>
      </p:sp>
    </p:spTree>
    <p:extLst>
      <p:ext uri="{BB962C8B-B14F-4D97-AF65-F5344CB8AC3E}">
        <p14:creationId xmlns:p14="http://schemas.microsoft.com/office/powerpoint/2010/main" val="3383006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Типизированный указатель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Хранит адрес только объектов определённого типа. Знает тип данных на которые указывает: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качестве типа указателя может быть использован любой тип данных: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672976" y="2290916"/>
            <a:ext cx="8846049" cy="241873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// Не инициализированный. Указывае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т по мусорному адресу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Спец. значение, говорит о том, что указателю не присвоен конкретный адрес</a:t>
            </a:r>
          </a:p>
          <a:p>
            <a:r>
              <a:rPr lang="fi-FI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fi-FI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i-FI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Аналогично, но в стиле С</a:t>
            </a:r>
            <a:endParaRPr lang="fi-FI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fi-FI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fi-FI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i-FI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// Так тоже можно. По смыслу, то же, что и предыдущие два</a:t>
            </a:r>
            <a:endParaRPr lang="fi-FI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12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Получаем адрес и сохраняем в переменную i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Ошибка. Не правильный тип данных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double*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j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ожидает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*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1137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Ошибка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.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У временных объектов нет постоянного адреса в памяти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9CF5E766-148A-B1FC-ADA2-1B3093C3B0DC}"/>
              </a:ext>
            </a:extLst>
          </p:cNvPr>
          <p:cNvSpPr/>
          <p:nvPr/>
        </p:nvSpPr>
        <p:spPr>
          <a:xfrm>
            <a:off x="1675445" y="5188972"/>
            <a:ext cx="3667101" cy="124869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5B575E8-AD9D-0995-FEF4-A77C3A1832BF}"/>
              </a:ext>
            </a:extLst>
          </p:cNvPr>
          <p:cNvSpPr/>
          <p:nvPr/>
        </p:nvSpPr>
        <p:spPr>
          <a:xfrm>
            <a:off x="6610907" y="5188972"/>
            <a:ext cx="3910587" cy="124869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fr-F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**** </a:t>
            </a:r>
            <a:r>
              <a:rPr lang="fr-F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fr-F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fr-F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fr-F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6146984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Типизированный указатель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Типизированный указатель позволяет получить доступ к памяти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 которую указывает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при помощи унарного оператора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разыменования</a:t>
            </a:r>
            <a:r>
              <a:rPr lang="en-US" sz="1600" dirty="0">
                <a:solidFill>
                  <a:srgbClr val="24292F"/>
                </a:solidFill>
              </a:rPr>
              <a:t> (dereference)</a:t>
            </a:r>
            <a:r>
              <a:rPr lang="ru-RU" sz="1600" dirty="0">
                <a:solidFill>
                  <a:srgbClr val="24292F"/>
                </a:solidFill>
              </a:rPr>
              <a:t> </a:t>
            </a:r>
            <a:r>
              <a:rPr lang="ru-RU" sz="1600" b="1" dirty="0">
                <a:solidFill>
                  <a:srgbClr val="24292F"/>
                </a:solidFill>
              </a:rPr>
              <a:t>*</a:t>
            </a:r>
            <a:r>
              <a:rPr lang="ru-RU" sz="1600" dirty="0">
                <a:solidFill>
                  <a:srgbClr val="24292F"/>
                </a:solidFill>
              </a:rPr>
              <a:t> (символ называется звездочка или астериск).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Получить доступ – значит, что дальнейшие операции будут выполняться так,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если бы вместо указателя была переменная того типа с которым работает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указатель.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C6DD6E83-F4F3-F5FA-4491-18B221C3CBDE}"/>
              </a:ext>
            </a:extLst>
          </p:cNvPr>
          <p:cNvSpPr/>
          <p:nvPr/>
        </p:nvSpPr>
        <p:spPr>
          <a:xfrm>
            <a:off x="2012483" y="4115397"/>
            <a:ext cx="7642978" cy="208845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 прежнему указывает на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one.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Значение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five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five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указывает на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five.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Значение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 прежнему 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"2"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Ошибка, т.к. тип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поддерживает операцию сложения с числами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D273594A-2F98-0C32-BE97-7D9DCF571F85}"/>
              </a:ext>
            </a:extLst>
          </p:cNvPr>
          <p:cNvSpPr/>
          <p:nvPr/>
        </p:nvSpPr>
        <p:spPr>
          <a:xfrm>
            <a:off x="8174965" y="1725161"/>
            <a:ext cx="2960992" cy="155836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ru-RU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Прямоугольник: скругленные углы 3">
            <a:extLst>
              <a:ext uri="{FF2B5EF4-FFF2-40B4-BE49-F238E27FC236}">
                <a16:creationId xmlns:a16="http://schemas.microsoft.com/office/drawing/2014/main" id="{F7A1F1F8-0105-6595-3166-13355630A6EC}"/>
              </a:ext>
            </a:extLst>
          </p:cNvPr>
          <p:cNvSpPr/>
          <p:nvPr/>
        </p:nvSpPr>
        <p:spPr>
          <a:xfrm>
            <a:off x="8174965" y="3310414"/>
            <a:ext cx="2960992" cy="455435"/>
          </a:xfrm>
          <a:prstGeom prst="roundRect">
            <a:avLst>
              <a:gd name="adj" fmla="val 11332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7985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Указатели и константность</a:t>
            </a:r>
          </a:p>
        </p:txBody>
      </p:sp>
    </p:spTree>
    <p:extLst>
      <p:ext uri="{BB962C8B-B14F-4D97-AF65-F5344CB8AC3E}">
        <p14:creationId xmlns:p14="http://schemas.microsoft.com/office/powerpoint/2010/main" val="793782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Указатели и константность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Сам указатель – это переменная и мы можем запретить изменять его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значение при помощи </a:t>
            </a:r>
            <a:r>
              <a:rPr lang="en-US" sz="1600" dirty="0">
                <a:solidFill>
                  <a:srgbClr val="24292F"/>
                </a:solidFill>
              </a:rPr>
              <a:t>const</a:t>
            </a:r>
            <a:r>
              <a:rPr lang="ru-RU" sz="1600" dirty="0">
                <a:solidFill>
                  <a:srgbClr val="24292F"/>
                </a:solidFill>
              </a:rPr>
              <a:t>, тем самым превратив его в константный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указатель.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Данные, адрес которых хранит указатель – тоже могут быть константой,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этом случае у нас будет указатель на константу. Такой указатель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может только читать данные, но не изменять.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тоже время мы можем захотеть создать константный указатель на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константные данные.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указатель </a:t>
            </a:r>
            <a:r>
              <a:rPr lang="ru-RU" sz="1600" b="1" dirty="0">
                <a:solidFill>
                  <a:srgbClr val="24292F"/>
                </a:solidFill>
              </a:rPr>
              <a:t>гарантирует</a:t>
            </a:r>
            <a:r>
              <a:rPr lang="ru-RU" sz="1600" dirty="0">
                <a:solidFill>
                  <a:srgbClr val="24292F"/>
                </a:solidFill>
              </a:rPr>
              <a:t> константность данных, то он может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сохранить адрес как константы, так и не константы.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обратном случае, только адрес не константы.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7407086" y="1825625"/>
            <a:ext cx="4253972" cy="103238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Допустимо, т.к. изменяется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Попытка изменить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A648D8D7-262E-941C-BFE9-F08E3AA4AB6D}"/>
              </a:ext>
            </a:extLst>
          </p:cNvPr>
          <p:cNvSpPr/>
          <p:nvPr/>
        </p:nvSpPr>
        <p:spPr>
          <a:xfrm>
            <a:off x="7407086" y="4195747"/>
            <a:ext cx="4253972" cy="108906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2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Попытка изменить константу</a:t>
            </a:r>
            <a:endParaRPr lang="ru-RU" sz="12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Попытка изменить </a:t>
            </a:r>
            <a:r>
              <a:rPr lang="en-US" sz="12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3A7F062A-AFAD-662D-873A-563BA909BFF2}"/>
              </a:ext>
            </a:extLst>
          </p:cNvPr>
          <p:cNvSpPr/>
          <p:nvPr/>
        </p:nvSpPr>
        <p:spPr>
          <a:xfrm>
            <a:off x="7407086" y="2967602"/>
            <a:ext cx="4253972" cy="103238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Попытка изменить константу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Допустимо, т.к. изменяется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 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DB9999B3-8241-D733-36DF-D17FFA607915}"/>
              </a:ext>
            </a:extLst>
          </p:cNvPr>
          <p:cNvSpPr/>
          <p:nvPr/>
        </p:nvSpPr>
        <p:spPr>
          <a:xfrm>
            <a:off x="7407086" y="5403783"/>
            <a:ext cx="4253972" cy="108906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Ошибка! p - не гарантирует</a:t>
            </a:r>
          </a:p>
          <a:p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           //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константности данных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6853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Указатели и константность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Возможны и более сложные комбинации слова </a:t>
            </a:r>
            <a:r>
              <a:rPr lang="en-US" sz="1600" dirty="0">
                <a:solidFill>
                  <a:srgbClr val="24292F"/>
                </a:solidFill>
              </a:rPr>
              <a:t>const </a:t>
            </a:r>
            <a:r>
              <a:rPr lang="ru-RU" sz="1600" dirty="0">
                <a:solidFill>
                  <a:srgbClr val="24292F"/>
                </a:solidFill>
              </a:rPr>
              <a:t>и * при описании типа указателя.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Не нужно пытаться прочитать тип слева на право. Для начала найдите самую ближайшую к имени переменной звёздочку и всё, что справа от неё будет относится к самому указателю, а всё, что слева к типу данных на которые он ссылается: 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790465" y="3270978"/>
            <a:ext cx="7835315" cy="99376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p1 -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указывающая на: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 int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p2 -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указывающая на: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 int*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p3 -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указывающая на: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 int** const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**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p4 -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константа указывающая на: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 int** const *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8032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Размер указателя</a:t>
            </a:r>
          </a:p>
        </p:txBody>
      </p:sp>
    </p:spTree>
    <p:extLst>
      <p:ext uri="{BB962C8B-B14F-4D97-AF65-F5344CB8AC3E}">
        <p14:creationId xmlns:p14="http://schemas.microsoft.com/office/powerpoint/2010/main" val="8796588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указателя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Определим размер, который необходимо выделить в памяти для размещения переменных-указателей разного типа: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видно, для всех трёх случаев мы получили одинаковый результат. На самом деле, в зависимости от разрядности системы результат будет отличаться: на x32 - 4 байта, на x64 - 8 байт и т.д.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5DC7CE5-9857-253B-BE61-4473E5567B1D}"/>
              </a:ext>
            </a:extLst>
          </p:cNvPr>
          <p:cNvSpPr/>
          <p:nvPr/>
        </p:nvSpPr>
        <p:spPr>
          <a:xfrm>
            <a:off x="4044165" y="2291210"/>
            <a:ext cx="4103670" cy="74504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// 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*)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51094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указателя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Переменная </a:t>
            </a:r>
            <a:r>
              <a:rPr lang="ru-RU" sz="1400" dirty="0" err="1">
                <a:solidFill>
                  <a:srgbClr val="24292F"/>
                </a:solidFill>
                <a:latin typeface="Consolas" panose="020B0609020204030204" pitchFamily="49" charset="0"/>
              </a:rPr>
              <a:t>int</a:t>
            </a:r>
            <a:r>
              <a:rPr lang="ru-RU" sz="1600" dirty="0">
                <a:solidFill>
                  <a:srgbClr val="24292F"/>
                </a:solidFill>
              </a:rPr>
              <a:t> и </a:t>
            </a:r>
            <a:r>
              <a:rPr lang="ru-RU" sz="1400" dirty="0" err="1">
                <a:solidFill>
                  <a:srgbClr val="24292F"/>
                </a:solidFill>
                <a:latin typeface="Consolas" panose="020B0609020204030204" pitchFamily="49" charset="0"/>
              </a:rPr>
              <a:t>vector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&lt;</a:t>
            </a:r>
            <a:r>
              <a:rPr lang="ru-RU" sz="1400" dirty="0" err="1">
                <a:solidFill>
                  <a:srgbClr val="24292F"/>
                </a:solidFill>
                <a:latin typeface="Consolas" panose="020B0609020204030204" pitchFamily="49" charset="0"/>
              </a:rPr>
              <a:t>int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&gt;</a:t>
            </a:r>
            <a:r>
              <a:rPr lang="ru-RU" sz="1600" dirty="0">
                <a:solidFill>
                  <a:srgbClr val="24292F"/>
                </a:solidFill>
              </a:rPr>
              <a:t> разного размера, каким образом они "помещается" в указателе, если все указатели одинакового размера?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 самом деле, указатель хранит информацию только об адресе первого байта, но не об адресе каждого байта переменной на которую указывает.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Первый байт - это точка где переменная начинается (адрес байта с минимальным номером). Т.к. указатель знает тип на который указывает, то он знает и размер этого типа. Зная точку начала и размер, можно определить где переменная заканчивается и все промежуточные байты.</a:t>
            </a:r>
            <a:endParaRPr lang="en-US" sz="1600" dirty="0">
              <a:solidFill>
                <a:srgbClr val="24292F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FB640EB-F190-802D-1E2A-A24FC6A798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882" y="4296777"/>
            <a:ext cx="9757025" cy="1739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3686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Преобразование типа указателя</a:t>
            </a:r>
          </a:p>
        </p:txBody>
      </p:sp>
    </p:spTree>
    <p:extLst>
      <p:ext uri="{BB962C8B-B14F-4D97-AF65-F5344CB8AC3E}">
        <p14:creationId xmlns:p14="http://schemas.microsoft.com/office/powerpoint/2010/main" val="15174803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Преобразование типа указателя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Преобразование указателя типа A к указателю типа B </a:t>
            </a:r>
            <a:r>
              <a:rPr lang="en-US" sz="1600" dirty="0">
                <a:solidFill>
                  <a:srgbClr val="24292F"/>
                </a:solidFill>
              </a:rPr>
              <a:t>- </a:t>
            </a:r>
            <a:r>
              <a:rPr lang="ru-RU" sz="1600" dirty="0">
                <a:solidFill>
                  <a:srgbClr val="24292F"/>
                </a:solidFill>
              </a:rPr>
              <a:t>это 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НЕ безопасная операции, поэтому </a:t>
            </a:r>
            <a:r>
              <a:rPr lang="ru-RU" sz="1600" b="1" dirty="0">
                <a:solidFill>
                  <a:srgbClr val="24292F"/>
                </a:solidFill>
              </a:rPr>
              <a:t>неявно</a:t>
            </a:r>
            <a:r>
              <a:rPr lang="ru-RU" sz="1600" dirty="0">
                <a:solidFill>
                  <a:srgbClr val="24292F"/>
                </a:solidFill>
              </a:rPr>
              <a:t> она не выполняется.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Программист должен явно прописать преобразование в коде,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чтобы оно выполнилось.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Можно использовать преобразование в стиле </a:t>
            </a:r>
            <a:r>
              <a:rPr lang="en-US" sz="1600" dirty="0">
                <a:solidFill>
                  <a:srgbClr val="24292F"/>
                </a:solidFill>
              </a:rPr>
              <a:t>C </a:t>
            </a:r>
            <a:r>
              <a:rPr lang="ru-RU" sz="1600" dirty="0">
                <a:solidFill>
                  <a:srgbClr val="24292F"/>
                </a:solidFill>
              </a:rPr>
              <a:t>или в стиле </a:t>
            </a:r>
            <a:r>
              <a:rPr lang="en-US" sz="1600" dirty="0">
                <a:solidFill>
                  <a:srgbClr val="24292F"/>
                </a:solidFill>
              </a:rPr>
              <a:t>C++</a:t>
            </a:r>
            <a:r>
              <a:rPr lang="ru-RU" sz="1600" dirty="0">
                <a:solidFill>
                  <a:srgbClr val="24292F"/>
                </a:solidFill>
              </a:rPr>
              <a:t>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процессе преобразования типа указателя, значение которое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он хранит не изменяется, т.е. он продолжает хранить адрес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той же ячейки в памяти что и раньше.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Разница будет заметна, после применения операции разыменования,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т.к. байты в памяти будут трактоваться согласно новому типу.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7114716" y="1742128"/>
            <a:ext cx="4015400" cy="91396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Ошибка, т.к. указатели разных типов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Ошибка, т.к. указатели разных типов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6064EECF-6EE8-FB3D-F8F7-0EAB5AD5883D}"/>
              </a:ext>
            </a:extLst>
          </p:cNvPr>
          <p:cNvSpPr/>
          <p:nvPr/>
        </p:nvSpPr>
        <p:spPr>
          <a:xfrm>
            <a:off x="7114715" y="2739590"/>
            <a:ext cx="4015400" cy="115051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ОК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BA9B151B-22F8-4525-931C-ABA43A0F432B}"/>
              </a:ext>
            </a:extLst>
          </p:cNvPr>
          <p:cNvSpPr/>
          <p:nvPr/>
        </p:nvSpPr>
        <p:spPr>
          <a:xfrm>
            <a:off x="7114715" y="4045311"/>
            <a:ext cx="4015400" cy="110982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 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0x7ffe5903203c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0x7ffe5903203c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E87ACF58-8394-BE16-BB4E-B70DA06DF714}"/>
              </a:ext>
            </a:extLst>
          </p:cNvPr>
          <p:cNvSpPr/>
          <p:nvPr/>
        </p:nvSpPr>
        <p:spPr>
          <a:xfrm>
            <a:off x="7114715" y="5342401"/>
            <a:ext cx="4015400" cy="110982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 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9.61056e+128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34260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Преобразование типа указателя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не типизированных указателей сделано исключение, 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т.к. их основная задача – быть промежуточным хранилищем адресов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любого типа, то любой адрес неявно может быть преобразован в </a:t>
            </a:r>
            <a:r>
              <a:rPr lang="en-US" sz="1400" dirty="0">
                <a:solidFill>
                  <a:srgbClr val="24292F"/>
                </a:solidFill>
                <a:latin typeface="Consolas" panose="020B0609020204030204" pitchFamily="49" charset="0"/>
              </a:rPr>
              <a:t>void*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.</a:t>
            </a:r>
            <a:endParaRPr lang="en-US" sz="14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обратном направлении </a:t>
            </a:r>
            <a:r>
              <a:rPr lang="ru-RU" sz="1600" b="1" dirty="0">
                <a:solidFill>
                  <a:srgbClr val="24292F"/>
                </a:solidFill>
              </a:rPr>
              <a:t>неявное</a:t>
            </a:r>
            <a:r>
              <a:rPr lang="ru-RU" sz="1600" dirty="0">
                <a:solidFill>
                  <a:srgbClr val="24292F"/>
                </a:solidFill>
              </a:rPr>
              <a:t> преобразование не работает,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но, как и для остальных типов, работает явное.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Всё вышесказанное справедливо для любых типов, кроме классов связанных через иерархию наследования. Для них указатели (и ссылки) преобразуются по другому.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8215487" y="1620667"/>
            <a:ext cx="2517168" cy="135807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pl-PL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pl-PL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pl-PL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pl-PL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pl-PL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pl-PL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l-PL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pl-PL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OK</a:t>
            </a:r>
            <a:endParaRPr lang="pl-PL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pl-PL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l-PL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pl-PL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OK  </a:t>
            </a:r>
            <a:endParaRPr lang="pl-PL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E259AAA5-C8E2-7DFA-4176-467106C46A6E}"/>
              </a:ext>
            </a:extLst>
          </p:cNvPr>
          <p:cNvSpPr/>
          <p:nvPr/>
        </p:nvSpPr>
        <p:spPr>
          <a:xfrm>
            <a:off x="6977368" y="3162858"/>
            <a:ext cx="3755287" cy="1432808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OK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OK 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    // OK 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56892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Логические операции с указателями</a:t>
            </a:r>
          </a:p>
        </p:txBody>
      </p:sp>
    </p:spTree>
    <p:extLst>
      <p:ext uri="{BB962C8B-B14F-4D97-AF65-F5344CB8AC3E}">
        <p14:creationId xmlns:p14="http://schemas.microsoft.com/office/powerpoint/2010/main" val="9802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Логические операции с указателями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Логические операции работают с указателями так, как если бы </a:t>
            </a:r>
            <a:r>
              <a:rPr lang="ru-RU" sz="1600" b="1" dirty="0">
                <a:solidFill>
                  <a:srgbClr val="24292F"/>
                </a:solidFill>
              </a:rPr>
              <a:t>адреса</a:t>
            </a:r>
            <a:r>
              <a:rPr lang="ru-RU" sz="1600" dirty="0">
                <a:solidFill>
                  <a:srgbClr val="24292F"/>
                </a:solidFill>
              </a:rPr>
              <a:t>, которые хранят указатели, были обычными числами, поэтому все логические операции с указателями работают.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Логические операции между указателями разных типов запрещены.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Преобразование адреса в булев тип происходит по правилу: нулевой указатель – </a:t>
            </a:r>
            <a:r>
              <a:rPr lang="en-US" sz="1400" dirty="0">
                <a:solidFill>
                  <a:srgbClr val="24292F"/>
                </a:solidFill>
                <a:latin typeface="Consolas" panose="020B0609020204030204" pitchFamily="49" charset="0"/>
              </a:rPr>
              <a:t>false</a:t>
            </a:r>
            <a:r>
              <a:rPr lang="en-US" sz="1600" dirty="0">
                <a:solidFill>
                  <a:srgbClr val="24292F"/>
                </a:solidFill>
              </a:rPr>
              <a:t>; </a:t>
            </a:r>
            <a:r>
              <a:rPr lang="ru-RU" sz="1600" dirty="0">
                <a:solidFill>
                  <a:srgbClr val="24292F"/>
                </a:solidFill>
              </a:rPr>
              <a:t>не нулевой – </a:t>
            </a:r>
            <a:r>
              <a:rPr lang="en-US" sz="1400" dirty="0">
                <a:solidFill>
                  <a:srgbClr val="24292F"/>
                </a:solidFill>
                <a:latin typeface="Consolas" panose="020B0609020204030204" pitchFamily="49" charset="0"/>
              </a:rPr>
              <a:t>true</a:t>
            </a:r>
            <a:r>
              <a:rPr lang="en-US" sz="1600" dirty="0">
                <a:solidFill>
                  <a:srgbClr val="24292F"/>
                </a:solidFill>
              </a:rPr>
              <a:t>;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FC83B041-91CC-5DDA-2D58-C2799605F7D4}"/>
              </a:ext>
            </a:extLst>
          </p:cNvPr>
          <p:cNvSpPr/>
          <p:nvPr/>
        </p:nvSpPr>
        <p:spPr>
          <a:xfrm>
            <a:off x="3581828" y="2790065"/>
            <a:ext cx="5028344" cy="137619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Локальная переменная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Локальная переменная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false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true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false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true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9C2DDD98-ECD5-EF53-A7C8-BA7BC7D235EA}"/>
              </a:ext>
            </a:extLst>
          </p:cNvPr>
          <p:cNvSpPr/>
          <p:nvPr/>
        </p:nvSpPr>
        <p:spPr>
          <a:xfrm>
            <a:off x="1927736" y="4745809"/>
            <a:ext cx="8336525" cy="108472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Пытаемся выделить блок памяти. Получим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 адрес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Аналогично</a:t>
            </a:r>
          </a:p>
          <a:p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!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Ошибка! Память не выделена"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Массивы созданы"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4537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Арифметика указателей</a:t>
            </a:r>
          </a:p>
        </p:txBody>
      </p:sp>
    </p:spTree>
    <p:extLst>
      <p:ext uri="{BB962C8B-B14F-4D97-AF65-F5344CB8AC3E}">
        <p14:creationId xmlns:p14="http://schemas.microsoft.com/office/powerpoint/2010/main" val="41304834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Арифметика указателей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отличие от логических операторов, арифметические НЕ работают с адресами как с числами. Кроме того, арифметические операторы 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*, /, % </a:t>
            </a:r>
            <a:r>
              <a:rPr lang="ru-RU" sz="1600" dirty="0">
                <a:solidFill>
                  <a:srgbClr val="24292F"/>
                </a:solidFill>
              </a:rPr>
              <a:t>не применимы к указателям в принципе. Разрешены только операторы инкремент/декремент,  увеличивающие/уменьшающие значение указателя на целое число и вычисляющий разность между двумя указателями одного типа. Результат при этом определяется как самими адресами, так и размером типа указателя.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не типизированного указателя, по стандарту, нет разрешённых арифметических операций (т.к. у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нет размера), хотя некоторые компиляторы позволяют применять к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ним операторы инкремент/декремент и  увеличивающие/уменьшающие значение указателя на целое число (при этом размер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принимается за 1 байт).</a:t>
            </a:r>
            <a:endParaRPr lang="en-US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61967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 dirty="0"/>
              <a:t>Операторы ++ и --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Увеличивают или уменьшают </a:t>
            </a:r>
            <a:r>
              <a:rPr lang="ru-RU" sz="1600" b="1" dirty="0">
                <a:solidFill>
                  <a:srgbClr val="24292F"/>
                </a:solidFill>
              </a:rPr>
              <a:t>адрес</a:t>
            </a:r>
            <a:r>
              <a:rPr lang="ru-RU" sz="1600" dirty="0">
                <a:solidFill>
                  <a:srgbClr val="24292F"/>
                </a:solidFill>
              </a:rPr>
              <a:t> хранимый в указателе на: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24292F"/>
                </a:solidFill>
              </a:rPr>
              <a:t>если посмотреть изменение адреса в байтах, то разница будет равна размеру типа указателя в байтах;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24292F"/>
                </a:solidFill>
              </a:rPr>
              <a:t>если представить всю память как массив элементов типа указателя, то разница будет 1 элемент;</a:t>
            </a: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Типичное применение операторов ++ и -- –  это итерирование по элементам массива: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838200" y="3193218"/>
            <a:ext cx="3456397" cy="131856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4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....26b0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....26b4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AA21BD3-976B-E20F-46C9-242947468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215" y="2813416"/>
            <a:ext cx="6923671" cy="1698371"/>
          </a:xfrm>
          <a:prstGeom prst="rect">
            <a:avLst/>
          </a:prstGeom>
        </p:spPr>
      </p:pic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D87FA1C3-21B7-CCD7-F89A-FCC7C3CF8183}"/>
              </a:ext>
            </a:extLst>
          </p:cNvPr>
          <p:cNvSpPr/>
          <p:nvPr/>
        </p:nvSpPr>
        <p:spPr>
          <a:xfrm>
            <a:off x="838199" y="5220095"/>
            <a:ext cx="3456397" cy="132556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F66296E0-E09A-3E06-4FEB-B62042D8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392169"/>
              </p:ext>
            </p:extLst>
          </p:nvPr>
        </p:nvGraphicFramePr>
        <p:xfrm>
          <a:off x="4656050" y="5357896"/>
          <a:ext cx="6876000" cy="7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000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3729662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22128962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curr</a:t>
                      </a:r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end</a:t>
                      </a:r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10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20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30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40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50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43049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Операторы +, -, +=, -=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- Случай сложения/вычитания адреса и целого числа</a:t>
            </a:r>
            <a:r>
              <a:rPr lang="en-US" sz="1500" dirty="0">
                <a:solidFill>
                  <a:srgbClr val="24292F"/>
                </a:solidFill>
              </a:rPr>
              <a:t>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Сложение адреса и целого числа </a:t>
            </a:r>
            <a:r>
              <a:rPr lang="ru-RU" sz="1500" dirty="0">
                <a:solidFill>
                  <a:srgbClr val="24292F"/>
                </a:solidFill>
                <a:latin typeface="Consolas" panose="020B0609020204030204" pitchFamily="49" charset="0"/>
              </a:rPr>
              <a:t>N</a:t>
            </a:r>
            <a:r>
              <a:rPr lang="ru-RU" sz="1500" dirty="0">
                <a:solidFill>
                  <a:srgbClr val="24292F"/>
                </a:solidFill>
              </a:rPr>
              <a:t> смещает адрес вперёд на: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500" dirty="0">
                <a:solidFill>
                  <a:srgbClr val="24292F"/>
                </a:solidFill>
                <a:latin typeface="Consolas" panose="020B0609020204030204" pitchFamily="49" charset="0"/>
              </a:rPr>
              <a:t>N * </a:t>
            </a:r>
            <a:r>
              <a:rPr lang="ru-RU" sz="1500" dirty="0" err="1">
                <a:solidFill>
                  <a:srgbClr val="24292F"/>
                </a:solidFill>
                <a:latin typeface="Consolas" panose="020B0609020204030204" pitchFamily="49" charset="0"/>
              </a:rPr>
              <a:t>sizeof</a:t>
            </a:r>
            <a:r>
              <a:rPr lang="ru-RU" sz="1500" dirty="0">
                <a:solidFill>
                  <a:srgbClr val="24292F"/>
                </a:solidFill>
                <a:latin typeface="Consolas" panose="020B0609020204030204" pitchFamily="49" charset="0"/>
              </a:rPr>
              <a:t>(тип)</a:t>
            </a:r>
            <a:r>
              <a:rPr lang="ru-RU" sz="1500" dirty="0">
                <a:solidFill>
                  <a:srgbClr val="24292F"/>
                </a:solidFill>
              </a:rPr>
              <a:t> байт;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500" dirty="0">
                <a:solidFill>
                  <a:srgbClr val="24292F"/>
                </a:solidFill>
                <a:latin typeface="Consolas" panose="020B0609020204030204" pitchFamily="49" charset="0"/>
              </a:rPr>
              <a:t>N</a:t>
            </a:r>
            <a:r>
              <a:rPr lang="ru-RU" sz="1500" dirty="0">
                <a:solidFill>
                  <a:srgbClr val="24292F"/>
                </a:solidFill>
              </a:rPr>
              <a:t> элементов типа указателя.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Вычитание, соответственно, смещает адрес назад.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- Сложение адресов НЕ работает.</a:t>
            </a:r>
            <a:endParaRPr lang="en-US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- Случай вычитания адреса из адреса.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Существует специальный тип, предназначенные для сохранения результата разности указателей: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  <a:hlinkClick r:id="rId2"/>
              </a:rPr>
              <a:t>std::</a:t>
            </a:r>
            <a:r>
              <a:rPr lang="en-US" sz="1500" dirty="0" err="1">
                <a:solidFill>
                  <a:srgbClr val="24292F"/>
                </a:solidFill>
                <a:latin typeface="Consolas" panose="020B0609020204030204" pitchFamily="49" charset="0"/>
                <a:hlinkClick r:id="rId2"/>
              </a:rPr>
              <a:t>ptrdiff_t</a:t>
            </a:r>
            <a:r>
              <a:rPr lang="ru-RU" sz="1500" dirty="0">
                <a:solidFill>
                  <a:srgbClr val="24292F"/>
                </a:solidFill>
              </a:rPr>
              <a:t>.</a:t>
            </a: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Вычитание адреса из адреса возвращает НЕ количество байт, а количество элементов типа указателя которое помещается между двумя адресами, т.е. разницу в байтах делённую на размер типа в байтах. </a:t>
            </a:r>
            <a:endParaRPr lang="en-US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7380822" y="1825626"/>
            <a:ext cx="3972978" cy="132755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....7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200" b="1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....7f</a:t>
            </a:r>
            <a:r>
              <a:rPr lang="en-US" sz="1200" b="1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DF23E934-2D8B-08B3-D683-3D1CEEC514A0}"/>
              </a:ext>
            </a:extLst>
          </p:cNvPr>
          <p:cNvSpPr/>
          <p:nvPr/>
        </p:nvSpPr>
        <p:spPr>
          <a:xfrm>
            <a:off x="2941074" y="4984351"/>
            <a:ext cx="6309852" cy="132754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2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8 1</a:t>
            </a:r>
            <a:endParaRPr lang="en-US" sz="12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   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(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4 2</a:t>
            </a:r>
            <a:endParaRPr lang="en-US" sz="12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(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 8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04467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/>
              <a:t>[ ]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Т.к. указатели часто используются для работы с массивами, к ним применим оператор квадратные скобки </a:t>
            </a:r>
            <a:r>
              <a:rPr lang="en-US" sz="1600" dirty="0">
                <a:solidFill>
                  <a:srgbClr val="24292F"/>
                </a:solidFill>
              </a:rPr>
              <a:t>[ ].</a:t>
            </a: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 точки зрения C++ выражение: *(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указатель + число)</a:t>
            </a:r>
            <a:endParaRPr lang="ru-RU" sz="16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эквивалентно выражению:             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указатель[число]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4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4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4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4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4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4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При этом само число вполне может быть отрицательным: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2941074" y="2834469"/>
            <a:ext cx="6309852" cy="1163348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n-NO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nn-NO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*(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*(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 20 30</a:t>
            </a:r>
            <a:endParaRPr lang="nn-NO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</a:t>
            </a:r>
            <a:r>
              <a:rPr lang="nn-NO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 20 30</a:t>
            </a:r>
            <a:endParaRPr lang="nn-NO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1C4FE840-9595-EF09-9127-0342D0AB1F54}"/>
              </a:ext>
            </a:extLst>
          </p:cNvPr>
          <p:cNvSpPr/>
          <p:nvPr/>
        </p:nvSpPr>
        <p:spPr>
          <a:xfrm>
            <a:off x="2941074" y="4540516"/>
            <a:ext cx="6309852" cy="93229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n-NO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nn-NO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nn-NO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 20 30</a:t>
            </a:r>
            <a:endParaRPr lang="nn-NO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45789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/>
              <a:t>[ ]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Оператор</a:t>
            </a:r>
            <a:r>
              <a:rPr lang="en-US" sz="1600" dirty="0">
                <a:solidFill>
                  <a:srgbClr val="24292F"/>
                </a:solidFill>
              </a:rPr>
              <a:t> [ ]</a:t>
            </a:r>
            <a:r>
              <a:rPr lang="ru-RU" sz="1600" dirty="0">
                <a:solidFill>
                  <a:srgbClr val="24292F"/>
                </a:solidFill>
              </a:rPr>
              <a:t> позволяет в выражении поменять указатель и число местами. 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 точки зрения C++ выражение: *(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число </a:t>
            </a:r>
            <a:r>
              <a:rPr lang="en-US" sz="1400" dirty="0">
                <a:solidFill>
                  <a:srgbClr val="24292F"/>
                </a:solidFill>
                <a:latin typeface="Consolas" panose="020B0609020204030204" pitchFamily="49" charset="0"/>
              </a:rPr>
              <a:t>+ 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указатель)</a:t>
            </a:r>
            <a:endParaRPr lang="ru-RU" sz="16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эквивалентно выражению:             число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[указатель]</a:t>
            </a:r>
            <a:endParaRPr lang="ru-RU" sz="12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Такая форма записи, как правило, нигде не используется, но с точки зрения языка, конструкция валидная.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2518453" y="3149968"/>
            <a:ext cx="7155093" cy="116639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n-NO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nn-NO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*(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*(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 20 30</a:t>
            </a:r>
            <a:endParaRPr lang="nn-NO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</a:t>
            </a:r>
            <a:r>
              <a:rPr lang="nn-NO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 20 30</a:t>
            </a:r>
            <a:endParaRPr lang="nn-NO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7170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Варианты применения указателей</a:t>
            </a:r>
          </a:p>
        </p:txBody>
      </p:sp>
    </p:spTree>
    <p:extLst>
      <p:ext uri="{BB962C8B-B14F-4D97-AF65-F5344CB8AC3E}">
        <p14:creationId xmlns:p14="http://schemas.microsoft.com/office/powerpoint/2010/main" val="40914895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Динамическое выделение памяти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приложений сложнее "</a:t>
            </a:r>
            <a:r>
              <a:rPr lang="en-US" sz="1600" dirty="0">
                <a:solidFill>
                  <a:srgbClr val="24292F"/>
                </a:solidFill>
              </a:rPr>
              <a:t>Hello, World</a:t>
            </a:r>
            <a:r>
              <a:rPr lang="ru-RU" sz="1600" dirty="0">
                <a:solidFill>
                  <a:srgbClr val="24292F"/>
                </a:solidFill>
              </a:rPr>
              <a:t>" 8 МБ памяти стека, как правило</a:t>
            </a:r>
            <a:r>
              <a:rPr lang="en-US" sz="1600" dirty="0">
                <a:solidFill>
                  <a:srgbClr val="24292F"/>
                </a:solidFill>
              </a:rPr>
              <a:t>,</a:t>
            </a:r>
            <a:r>
              <a:rPr lang="ru-RU" sz="1600" dirty="0">
                <a:solidFill>
                  <a:srgbClr val="24292F"/>
                </a:solidFill>
              </a:rPr>
              <a:t> не достаточно и приходится использовать дополнительную память из кучи (</a:t>
            </a:r>
            <a:r>
              <a:rPr lang="en-US" sz="1600" dirty="0">
                <a:solidFill>
                  <a:srgbClr val="24292F"/>
                </a:solidFill>
              </a:rPr>
              <a:t>Heap</a:t>
            </a:r>
            <a:r>
              <a:rPr lang="ru-RU" sz="1600" dirty="0">
                <a:solidFill>
                  <a:srgbClr val="24292F"/>
                </a:solidFill>
              </a:rPr>
              <a:t>)</a:t>
            </a:r>
            <a:r>
              <a:rPr lang="en-US" sz="1600" dirty="0">
                <a:solidFill>
                  <a:srgbClr val="24292F"/>
                </a:solidFill>
              </a:rPr>
              <a:t>. </a:t>
            </a:r>
            <a:r>
              <a:rPr lang="ru-RU" sz="1600" dirty="0">
                <a:solidFill>
                  <a:srgbClr val="24292F"/>
                </a:solidFill>
              </a:rPr>
              <a:t>Чтобы не занимать память, в те моменты, когда программа в ней не нуждается, память из кучи выделяется и освобождается динамически в процессе работы программы.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Локальные переменные создаются обычным образом позволяют получить доступ к выделенной памяти через имя. К переменной созданной динамически можно получить доступ только через адрес и чтобы его сохранить нужна переменная-указатель: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Локальные переменные (и параметры функции) автоматически уничтожаются после выхода из блока в котором они были созданы и освобождают занимаемую память. Переменная созданная вручную будет существовать, пока не будет освобождена вручную. Если потерять адрес переменной, то удалить её будет не возможно. Такой случай называется утечкой памяти</a:t>
            </a:r>
            <a:r>
              <a:rPr lang="en-US" sz="1600" dirty="0">
                <a:solidFill>
                  <a:srgbClr val="24292F"/>
                </a:solidFill>
              </a:rPr>
              <a:t>:</a:t>
            </a: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BEFAFB6-239E-448C-9B8D-C771C2BEB35D}"/>
              </a:ext>
            </a:extLst>
          </p:cNvPr>
          <p:cNvSpPr/>
          <p:nvPr/>
        </p:nvSpPr>
        <p:spPr>
          <a:xfrm>
            <a:off x="3285871" y="3530276"/>
            <a:ext cx="5620258" cy="91213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Локальная переменная a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(создана на стеке)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Локальная переменная p 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   // переменная созданная в куче (без имени)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ru-RU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Так можно, но обычно не делают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C063708A-F976-9851-E61F-8407CF773763}"/>
              </a:ext>
            </a:extLst>
          </p:cNvPr>
          <p:cNvSpPr/>
          <p:nvPr/>
        </p:nvSpPr>
        <p:spPr>
          <a:xfrm>
            <a:off x="3285871" y="5680656"/>
            <a:ext cx="5620258" cy="49630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Освобождаем память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Освобождаем память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60102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Динамическое выделение памяти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Кроме выделения памяти под одиночную переменную можно выделить блок памяти (массив). 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случае статического массива, его размер должен быть константой времени компиляции, т.е. быть известен до того, как программа будет запущена. Для массивов, созданных динамически такого ограничения нет.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Некоторые компиляторы позволяют задавать размер статического массива в процессе выполнения программы, но это является нестандартным расширением и </a:t>
            </a:r>
            <a:r>
              <a:rPr lang="ru-RU" sz="1600" b="1" dirty="0">
                <a:solidFill>
                  <a:srgbClr val="24292F"/>
                </a:solidFill>
              </a:rPr>
              <a:t>ошибкой</a:t>
            </a:r>
            <a:r>
              <a:rPr lang="ru-RU" sz="1600" dirty="0">
                <a:solidFill>
                  <a:srgbClr val="24292F"/>
                </a:solidFill>
              </a:rPr>
              <a:t> с точки зрения С++. Такая возможность допускается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компиляторами для лучшей совместимости с </a:t>
            </a:r>
            <a:r>
              <a:rPr lang="ru-RU" sz="1600" dirty="0" err="1">
                <a:solidFill>
                  <a:srgbClr val="24292F"/>
                </a:solidFill>
              </a:rPr>
              <a:t>С</a:t>
            </a:r>
            <a:r>
              <a:rPr lang="ru-RU" sz="1600" dirty="0">
                <a:solidFill>
                  <a:srgbClr val="24292F"/>
                </a:solidFill>
              </a:rPr>
              <a:t>, т.к. в С есть такая возможность, которая называется </a:t>
            </a:r>
            <a:r>
              <a:rPr lang="en-US" sz="1600" dirty="0">
                <a:solidFill>
                  <a:srgbClr val="24292F"/>
                </a:solidFill>
                <a:hlinkClick r:id="rId2"/>
              </a:rPr>
              <a:t>VLA (Variable-length array)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Динамически созданные массивы должны быть уничтожены тоже вручную при помощи соответствующей функции</a:t>
            </a:r>
            <a:r>
              <a:rPr lang="en-US" sz="1600" dirty="0">
                <a:solidFill>
                  <a:srgbClr val="24292F"/>
                </a:solidFill>
              </a:rPr>
              <a:t>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Обратите внимание, что в этот раз у </a:t>
            </a:r>
            <a:r>
              <a:rPr lang="en-US" sz="1400" dirty="0">
                <a:solidFill>
                  <a:srgbClr val="24292F"/>
                </a:solidFill>
                <a:latin typeface="Consolas" panose="020B0609020204030204" pitchFamily="49" charset="0"/>
              </a:rPr>
              <a:t>delete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присутствуют пустые квадратные скобки</a:t>
            </a:r>
            <a:r>
              <a:rPr lang="en-US" sz="1600" dirty="0">
                <a:solidFill>
                  <a:srgbClr val="24292F"/>
                </a:solidFill>
              </a:rPr>
              <a:t>. </a:t>
            </a:r>
            <a:r>
              <a:rPr lang="ru-RU" sz="1600" dirty="0">
                <a:solidFill>
                  <a:srgbClr val="24292F"/>
                </a:solidFill>
              </a:rPr>
              <a:t>Кроме того, указатели нельзя смещать иначе удаление произойдет не правильно. Удалять элементы массива по одному тоже нельзя. Блоком создали, блоком удалили. 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BEFAFB6-239E-448C-9B8D-C771C2BEB35D}"/>
              </a:ext>
            </a:extLst>
          </p:cNvPr>
          <p:cNvSpPr/>
          <p:nvPr/>
        </p:nvSpPr>
        <p:spPr>
          <a:xfrm>
            <a:off x="3193272" y="2187613"/>
            <a:ext cx="6529461" cy="87967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массив a (создан на стеке)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Локальная переменная-указатель p 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                  // массив созданный в куче (без имени)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cp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)</a:t>
            </a:r>
            <a:r>
              <a:rPr lang="ru-RU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Аналогично но в стиле С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C063708A-F976-9851-E61F-8407CF773763}"/>
              </a:ext>
            </a:extLst>
          </p:cNvPr>
          <p:cNvSpPr/>
          <p:nvPr/>
        </p:nvSpPr>
        <p:spPr>
          <a:xfrm>
            <a:off x="3285871" y="4789405"/>
            <a:ext cx="5620258" cy="49630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ru-RU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Освобождаем память выделенную через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[]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cp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Освобождаем память выделенную через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malloc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54577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Динамическое выделение памяти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Обратите внимание, что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delete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и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free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не изменяют значение указателей, а только освобождают память. Из за этого можно допустить ошибку обращения к памяти, которая уже освобождена, что в лучшем случае приведет к падению программы. Если вы собираетесь использовать этот же указатель далее по тексту программы, имеет смысл вручную присвоить ему значение </a:t>
            </a:r>
            <a:r>
              <a:rPr lang="en-US" sz="1500" dirty="0" err="1">
                <a:solidFill>
                  <a:srgbClr val="24292F"/>
                </a:solidFill>
                <a:latin typeface="Consolas" panose="020B0609020204030204" pitchFamily="49" charset="0"/>
              </a:rPr>
              <a:t>nullptr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после освобождения памяти.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Вызов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delete</a:t>
            </a:r>
            <a:r>
              <a:rPr lang="en-US" sz="1800" dirty="0">
                <a:solidFill>
                  <a:srgbClr val="24292F"/>
                </a:solidFill>
              </a:rPr>
              <a:t> </a:t>
            </a:r>
            <a:r>
              <a:rPr lang="ru-RU" sz="1800" dirty="0">
                <a:solidFill>
                  <a:srgbClr val="24292F"/>
                </a:solidFill>
              </a:rPr>
              <a:t>или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free</a:t>
            </a:r>
            <a:r>
              <a:rPr lang="en-US" sz="1800" dirty="0">
                <a:solidFill>
                  <a:srgbClr val="24292F"/>
                </a:solidFill>
              </a:rPr>
              <a:t> </a:t>
            </a:r>
            <a:r>
              <a:rPr lang="ru-RU" sz="1800" dirty="0">
                <a:solidFill>
                  <a:srgbClr val="24292F"/>
                </a:solidFill>
              </a:rPr>
              <a:t>для указателей равных </a:t>
            </a:r>
            <a:r>
              <a:rPr lang="en-US" sz="1500" dirty="0" err="1">
                <a:solidFill>
                  <a:srgbClr val="24292F"/>
                </a:solidFill>
                <a:latin typeface="Consolas" panose="020B0609020204030204" pitchFamily="49" charset="0"/>
              </a:rPr>
              <a:t>nullptr</a:t>
            </a:r>
            <a:r>
              <a:rPr lang="ru-RU" sz="1800" dirty="0">
                <a:solidFill>
                  <a:srgbClr val="24292F"/>
                </a:solidFill>
              </a:rPr>
              <a:t> не является ошибкой.</a:t>
            </a:r>
            <a:endParaRPr lang="ru-RU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40737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массивами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По правилам C и C++ первое измерение статического массива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может "деградировать" (распадаться) до указателя (</a:t>
            </a:r>
            <a:r>
              <a:rPr lang="ru-RU" sz="1600" dirty="0" err="1">
                <a:solidFill>
                  <a:srgbClr val="24292F"/>
                </a:solidFill>
              </a:rPr>
              <a:t>Array</a:t>
            </a:r>
            <a:r>
              <a:rPr lang="ru-RU" sz="1600" dirty="0">
                <a:solidFill>
                  <a:srgbClr val="24292F"/>
                </a:solidFill>
              </a:rPr>
              <a:t> </a:t>
            </a:r>
            <a:r>
              <a:rPr lang="ru-RU" sz="1600" dirty="0" err="1">
                <a:solidFill>
                  <a:srgbClr val="24292F"/>
                </a:solidFill>
              </a:rPr>
              <a:t>Decay</a:t>
            </a:r>
            <a:r>
              <a:rPr lang="ru-RU" sz="1600" dirty="0">
                <a:solidFill>
                  <a:srgbClr val="24292F"/>
                </a:solidFill>
              </a:rPr>
              <a:t>).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 err="1">
                <a:solidFill>
                  <a:srgbClr val="24292F"/>
                </a:solidFill>
              </a:rPr>
              <a:t>Decay</a:t>
            </a:r>
            <a:r>
              <a:rPr lang="ru-RU" sz="1600" dirty="0">
                <a:solidFill>
                  <a:srgbClr val="24292F"/>
                </a:solidFill>
              </a:rPr>
              <a:t> - автоматическое преобразование к более простому типу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Например для многомерных статических массивов: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4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 второе и последующие измерения это правило не распространяется 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5DC7CE5-9857-253B-BE61-4473E5567B1D}"/>
              </a:ext>
            </a:extLst>
          </p:cNvPr>
          <p:cNvSpPr/>
          <p:nvPr/>
        </p:nvSpPr>
        <p:spPr>
          <a:xfrm>
            <a:off x="7213121" y="1690688"/>
            <a:ext cx="4103670" cy="159205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ОК.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array decay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ОК.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array decay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Здесь a и b - массивы 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int-ов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 и j - адреса нулевых элементов этих массивов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9026732-D287-8D5A-E21A-D2582FD0B532}"/>
              </a:ext>
            </a:extLst>
          </p:cNvPr>
          <p:cNvSpPr/>
          <p:nvPr/>
        </p:nvSpPr>
        <p:spPr>
          <a:xfrm>
            <a:off x="7213120" y="3417678"/>
            <a:ext cx="4103671" cy="2088388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Здесь a - массив из 10 массивов по 5 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int-ов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 - адрес нулевого массива из 5 элементов</a:t>
            </a:r>
          </a:p>
          <a:p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 - массив из 8-ми матриц 4x2 типа 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 - адрес нулевой матрицы 4x2 типа 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88DC20C7-CFEF-E59C-655B-B3FA4A938A20}"/>
              </a:ext>
            </a:extLst>
          </p:cNvPr>
          <p:cNvSpPr/>
          <p:nvPr/>
        </p:nvSpPr>
        <p:spPr>
          <a:xfrm>
            <a:off x="7213119" y="5633032"/>
            <a:ext cx="4103671" cy="68475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7756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массивами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Для создания динамических массивов (неудачное название), классически используется конструкция с ручным выделением и освобождением блоков памяти: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При этом адрес блока памяти сохраняется в указатель и в дальнейшем он используется для доступа к элементам массива при помощи квадратных скобок.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В данном случае сам массив выделяется из памяти кучи (</a:t>
            </a:r>
            <a:r>
              <a:rPr lang="en-US" sz="1500" dirty="0">
                <a:solidFill>
                  <a:srgbClr val="24292F"/>
                </a:solidFill>
              </a:rPr>
              <a:t>heap</a:t>
            </a:r>
            <a:r>
              <a:rPr lang="ru-RU" sz="1500" dirty="0">
                <a:solidFill>
                  <a:srgbClr val="24292F"/>
                </a:solidFill>
              </a:rPr>
              <a:t>), а память под указатель выделяется на стеке. Память выделенная в куче не будет освобождена, пока мы её руками не почистим. Обратите внимание, что для массивов используется </a:t>
            </a:r>
            <a:r>
              <a:rPr lang="en-US" sz="1500" b="0" dirty="0">
                <a:effectLst/>
                <a:latin typeface="Consolas" panose="020B0609020204030204" pitchFamily="49" charset="0"/>
              </a:rPr>
              <a:t>delete[].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/>
              <a:t>Кроме того, в данном примере указатели нельзя смещать, иначе удаление будет не корректным.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9026732-D287-8D5A-E21A-D2582FD0B532}"/>
              </a:ext>
            </a:extLst>
          </p:cNvPr>
          <p:cNvSpPr/>
          <p:nvPr/>
        </p:nvSpPr>
        <p:spPr>
          <a:xfrm>
            <a:off x="1260052" y="2834490"/>
            <a:ext cx="4610581" cy="188152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Создаём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arr2D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*[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&lt;rows;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arr2D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[cols];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&lt;rows;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delete[]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arr2D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delete[]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arr2D;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83EABC18-471E-07DA-0766-CE71009E6450}"/>
              </a:ext>
            </a:extLst>
          </p:cNvPr>
          <p:cNvSpPr/>
          <p:nvPr/>
        </p:nvSpPr>
        <p:spPr>
          <a:xfrm>
            <a:off x="6096000" y="2834489"/>
            <a:ext cx="4610582" cy="188152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Создаём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arr2D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*[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buff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&lt;rows;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arr2D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buff +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*cols;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delete[]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arr2D;</a:t>
            </a: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delete[]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buff;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2051F156-89B0-CB4E-E3FB-0C9FE9C22974}"/>
              </a:ext>
            </a:extLst>
          </p:cNvPr>
          <p:cNvSpPr/>
          <p:nvPr/>
        </p:nvSpPr>
        <p:spPr>
          <a:xfrm>
            <a:off x="4044165" y="2313749"/>
            <a:ext cx="4103671" cy="40895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Создаём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delete[]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161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массивами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Из за перечисленного выше, у многих складывается ошибочное впечатление, что массив и указатель это одно и тоже. На самом деле это совершенно разные вещи. При создании массива выделяется достаточно памяти, чтобы поместились все его элементы. При создании указателя, выделяется только место достаточное для хранения адреса.</a:t>
            </a:r>
            <a:endParaRPr lang="en-US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13445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С есть только 2 варианта передать данные в функцию: по значению и по указателю. В С++ добавлены ещё ссылки, которые под капотом, как правило сводятся к тем же указателям и являются скорее синтаксическим сахаром.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Передача в функцию адреса вместо значения, позволяет не создавать лишнюю копию и изменять исходное значение.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данном примере, параметр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p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получает копию адреса переменной </a:t>
            </a:r>
            <a:r>
              <a:rPr lang="en-US" sz="1500" dirty="0" err="1">
                <a:solidFill>
                  <a:srgbClr val="24292F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и он используется для изменения значения </a:t>
            </a:r>
            <a:r>
              <a:rPr lang="en-US" sz="1500" dirty="0" err="1">
                <a:solidFill>
                  <a:srgbClr val="24292F"/>
                </a:solidFill>
                <a:latin typeface="Consolas" panose="020B0609020204030204" pitchFamily="49" charset="0"/>
              </a:rPr>
              <a:t>i</a:t>
            </a:r>
            <a:r>
              <a:rPr lang="ru-RU" sz="1600" dirty="0">
                <a:solidFill>
                  <a:srgbClr val="24292F"/>
                </a:solidFill>
              </a:rPr>
              <a:t>.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BEFAFB6-239E-448C-9B8D-C771C2BEB35D}"/>
              </a:ext>
            </a:extLst>
          </p:cNvPr>
          <p:cNvSpPr/>
          <p:nvPr/>
        </p:nvSpPr>
        <p:spPr>
          <a:xfrm>
            <a:off x="4125626" y="2879533"/>
            <a:ext cx="3940747" cy="122829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set_zero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*p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set_zero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0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08933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 - массив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Передать в функцию статический массив по значению в явном виде не возможно, только указатель/ссылку на него.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 Все перечисленные объявления соответствуют этому определению: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попробовать </a:t>
            </a:r>
            <a:r>
              <a:rPr lang="ru-RU" sz="1600" b="1" dirty="0">
                <a:solidFill>
                  <a:srgbClr val="24292F"/>
                </a:solidFill>
              </a:rPr>
              <a:t>дополнительно</a:t>
            </a:r>
            <a:r>
              <a:rPr lang="ru-RU" sz="1600" dirty="0">
                <a:solidFill>
                  <a:srgbClr val="24292F"/>
                </a:solidFill>
              </a:rPr>
              <a:t> определить функцию с любым из перечисленных выше заголовков, мы получим сообщение, о повторном определении, т.к. с точки зрения компилятора они не различимы.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5DC7CE5-9857-253B-BE61-4473E5567B1D}"/>
              </a:ext>
            </a:extLst>
          </p:cNvPr>
          <p:cNvSpPr/>
          <p:nvPr/>
        </p:nvSpPr>
        <p:spPr>
          <a:xfrm>
            <a:off x="4044165" y="3834632"/>
            <a:ext cx="4103670" cy="168377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accum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&lt;size;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accum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accum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(a,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9026732-D287-8D5A-E21A-D2582FD0B532}"/>
              </a:ext>
            </a:extLst>
          </p:cNvPr>
          <p:cNvSpPr/>
          <p:nvPr/>
        </p:nvSpPr>
        <p:spPr>
          <a:xfrm>
            <a:off x="3462136" y="2269050"/>
            <a:ext cx="5267728" cy="104467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Все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эти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объявления - идентичны:</a:t>
            </a: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[],  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Число не имеет значения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7624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 - функция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 точки зрения процессора, фикция – это просто последовательность байт, которая начинается по некоторому адресу. Процессор читает эти байты и последовательно исполняет. Например функция: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Может быть представлена в виде: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Таким образом ничто не мешает нам сохранить адрес этого байта в переменную-указатель (указатель на функцию) и в дальнейшем использовать её вместо имени функции: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9026732-D287-8D5A-E21A-D2582FD0B532}"/>
              </a:ext>
            </a:extLst>
          </p:cNvPr>
          <p:cNvSpPr/>
          <p:nvPr/>
        </p:nvSpPr>
        <p:spPr>
          <a:xfrm>
            <a:off x="3462136" y="2501030"/>
            <a:ext cx="5267728" cy="67504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sqr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D82DE5CF-D920-FD14-AE8F-382108CDC8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0292293"/>
              </p:ext>
            </p:extLst>
          </p:nvPr>
        </p:nvGraphicFramePr>
        <p:xfrm>
          <a:off x="2658000" y="3429000"/>
          <a:ext cx="6876000" cy="7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000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3729662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22128962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 dirty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sqr</a:t>
                      </a:r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xx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xx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ru-RU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0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af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ff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89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f8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c3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xx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xx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</a:tbl>
          </a:graphicData>
        </a:graphic>
      </p:graphicFrame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935308D3-8BD3-EF33-CAE5-6E77853D4F19}"/>
              </a:ext>
            </a:extLst>
          </p:cNvPr>
          <p:cNvSpPr/>
          <p:nvPr/>
        </p:nvSpPr>
        <p:spPr>
          <a:xfrm>
            <a:off x="3462136" y="5187334"/>
            <a:ext cx="5267728" cy="122451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sqr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sqr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25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61201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 - функция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Разумеется, создавать дополнительные имена для функций не очень полезная возможность, поэтому указатели на функцию, как правило применяются для передачи функции как аргумент в другую функцию</a:t>
            </a:r>
            <a:r>
              <a:rPr lang="en-US" sz="1600" dirty="0">
                <a:solidFill>
                  <a:srgbClr val="24292F"/>
                </a:solidFill>
              </a:rPr>
              <a:t> (</a:t>
            </a:r>
            <a:r>
              <a:rPr lang="ru-RU" sz="1600" dirty="0">
                <a:solidFill>
                  <a:srgbClr val="24292F"/>
                </a:solidFill>
              </a:rPr>
              <a:t>функции высшего порядка</a:t>
            </a:r>
            <a:r>
              <a:rPr lang="en-US" sz="1600" dirty="0">
                <a:solidFill>
                  <a:srgbClr val="24292F"/>
                </a:solidFill>
              </a:rPr>
              <a:t>)</a:t>
            </a:r>
            <a:r>
              <a:rPr lang="ru-RU" sz="1600" dirty="0">
                <a:solidFill>
                  <a:srgbClr val="24292F"/>
                </a:solidFill>
              </a:rPr>
              <a:t>. Часто применяется в сортировках, поиске и других стандартных алгоритмах: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935308D3-8BD3-EF33-CAE5-6E77853D4F19}"/>
              </a:ext>
            </a:extLst>
          </p:cNvPr>
          <p:cNvSpPr/>
          <p:nvPr/>
        </p:nvSpPr>
        <p:spPr>
          <a:xfrm>
            <a:off x="3249281" y="2866604"/>
            <a:ext cx="5693439" cy="331035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mult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bin_operation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(*)(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псевдоним в стиле С++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type int(*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bin_operation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)(int, int);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псевдоним в стиле С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bin_operation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mult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500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sum);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60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80759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 - </a:t>
            </a:r>
            <a:r>
              <a:rPr lang="en-US" sz="4400" dirty="0">
                <a:solidFill>
                  <a:srgbClr val="24292F"/>
                </a:solidFill>
              </a:rPr>
              <a:t>aliasing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В случае передачи данных в функцию по указателю (или ссылке) возможен случай, когда два и более параметров-указателей в действительности ссылаются на одну и тоже переменную или просто пересекающуюся область памяти</a:t>
            </a:r>
            <a:r>
              <a:rPr lang="en-US" sz="1500" dirty="0">
                <a:solidFill>
                  <a:srgbClr val="24292F"/>
                </a:solidFill>
              </a:rPr>
              <a:t>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В С++ компилятор по умолчанию предполагает, что для указателей </a:t>
            </a:r>
            <a:r>
              <a:rPr lang="ru-RU" sz="1500" b="1" dirty="0">
                <a:solidFill>
                  <a:srgbClr val="24292F"/>
                </a:solidFill>
              </a:rPr>
              <a:t>разных типов</a:t>
            </a:r>
            <a:r>
              <a:rPr lang="ru-RU" sz="1500" dirty="0">
                <a:solidFill>
                  <a:srgbClr val="24292F"/>
                </a:solidFill>
              </a:rPr>
              <a:t> это не так (</a:t>
            </a:r>
            <a:r>
              <a:rPr lang="en-US" sz="1500" dirty="0">
                <a:solidFill>
                  <a:srgbClr val="24292F"/>
                </a:solidFill>
              </a:rPr>
              <a:t>Strict aliasing</a:t>
            </a:r>
            <a:r>
              <a:rPr lang="ru-RU" sz="1500" dirty="0">
                <a:solidFill>
                  <a:srgbClr val="24292F"/>
                </a:solidFill>
              </a:rPr>
              <a:t>). Нарушение данного правила приводит к неопределённому поведению</a:t>
            </a:r>
            <a:r>
              <a:rPr lang="en-US" sz="1500" dirty="0">
                <a:solidFill>
                  <a:srgbClr val="24292F"/>
                </a:solidFill>
              </a:rPr>
              <a:t>.</a:t>
            </a:r>
            <a:r>
              <a:rPr lang="ru-RU" sz="1500" dirty="0">
                <a:solidFill>
                  <a:srgbClr val="24292F"/>
                </a:solidFill>
              </a:rPr>
              <a:t> </a:t>
            </a: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В С ситуация обратная и из-за этого компилятор не может генерировать эффективный код и добавляет лишние операции работы с памятью. Чтобы дать компилятору гарантии, что объявляемый указатель адресует область памяти, на которую не ссылается никакой другой указатель используется ключевое слово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restrict</a:t>
            </a:r>
            <a:r>
              <a:rPr lang="en-US" sz="1500" dirty="0">
                <a:solidFill>
                  <a:srgbClr val="24292F"/>
                </a:solidFill>
              </a:rPr>
              <a:t> </a:t>
            </a:r>
            <a:r>
              <a:rPr lang="ru-RU" sz="1500" dirty="0">
                <a:solidFill>
                  <a:srgbClr val="24292F"/>
                </a:solidFill>
              </a:rPr>
              <a:t>(в С++ его нет).</a:t>
            </a: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Для указателей одинаковых типов, компилятор С++ не может полагаться на </a:t>
            </a:r>
            <a:r>
              <a:rPr lang="en-US" sz="1500" dirty="0">
                <a:solidFill>
                  <a:srgbClr val="24292F"/>
                </a:solidFill>
              </a:rPr>
              <a:t>strict aliasing </a:t>
            </a:r>
            <a:r>
              <a:rPr lang="ru-RU" sz="1500" dirty="0">
                <a:solidFill>
                  <a:srgbClr val="24292F"/>
                </a:solidFill>
              </a:rPr>
              <a:t>и поэтому может генерировать не очень оптимальны код. Многие компиляторы С++ поддерживают нестандартное расширение, добавляющее ключевое слово </a:t>
            </a:r>
            <a:r>
              <a:rPr lang="ru-RU" sz="1500" dirty="0">
                <a:solidFill>
                  <a:srgbClr val="24292F"/>
                </a:solidFill>
                <a:latin typeface="Consolas" panose="020B0609020204030204" pitchFamily="49" charset="0"/>
              </a:rPr>
              <a:t>__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restrict</a:t>
            </a:r>
            <a:r>
              <a:rPr lang="ru-RU" sz="1500" dirty="0">
                <a:solidFill>
                  <a:srgbClr val="24292F"/>
                </a:solidFill>
              </a:rPr>
              <a:t> (указывается после *), которое позволяет гарантировать компилятору </a:t>
            </a:r>
            <a:r>
              <a:rPr lang="ru-RU" sz="1500" dirty="0" err="1">
                <a:solidFill>
                  <a:srgbClr val="24292F"/>
                </a:solidFill>
              </a:rPr>
              <a:t>непересеченние</a:t>
            </a:r>
            <a:r>
              <a:rPr lang="ru-RU" sz="1500" dirty="0">
                <a:solidFill>
                  <a:srgbClr val="24292F"/>
                </a:solidFill>
              </a:rPr>
              <a:t> памяти.</a:t>
            </a:r>
            <a:endParaRPr lang="en-US" sz="1500" dirty="0">
              <a:solidFill>
                <a:srgbClr val="24292F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BEFAFB6-239E-448C-9B8D-C771C2BEB35D}"/>
              </a:ext>
            </a:extLst>
          </p:cNvPr>
          <p:cNvSpPr/>
          <p:nvPr/>
        </p:nvSpPr>
        <p:spPr>
          <a:xfrm>
            <a:off x="4125626" y="2951545"/>
            <a:ext cx="3940747" cy="162045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 { 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Изменение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не влияет на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?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return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 = 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&amp;x);</a:t>
            </a:r>
          </a:p>
        </p:txBody>
      </p:sp>
    </p:spTree>
    <p:extLst>
      <p:ext uri="{BB962C8B-B14F-4D97-AF65-F5344CB8AC3E}">
        <p14:creationId xmlns:p14="http://schemas.microsoft.com/office/powerpoint/2010/main" val="5266033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Возврат адреса из функции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С++, редко используют возврат сырых указателей или ссылок из функции, т.к. это может приводить к появлению висячих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указателей/ссылок: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Такое можно встретить, когда функция специально предназначена для создания объектов в куче или функции передаётся уже выделенный блок памяти и возвращаемый указатель будет находится где-то внутри этого блока: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BEFAFB6-239E-448C-9B8D-C771C2BEB35D}"/>
              </a:ext>
            </a:extLst>
          </p:cNvPr>
          <p:cNvSpPr/>
          <p:nvPr/>
        </p:nvSpPr>
        <p:spPr>
          <a:xfrm>
            <a:off x="2915482" y="2458326"/>
            <a:ext cx="6361037" cy="125714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ru-RU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Висячий указатель, т.к. переменная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удалена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CD6525D9-EB2A-4AB9-1DB6-55A00C157055}"/>
              </a:ext>
            </a:extLst>
          </p:cNvPr>
          <p:cNvSpPr/>
          <p:nvPr/>
        </p:nvSpPr>
        <p:spPr>
          <a:xfrm>
            <a:off x="2915481" y="4348174"/>
            <a:ext cx="6361037" cy="222624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newArray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7391460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Полиморфизм через наследование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 указателях и ссылках основывается одна из реализаций идеи полиморфизма в С++, а точнее реализация полиморфизма через наследование.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Об этом подробнее будет в блоке про указатели и ООП.</a:t>
            </a:r>
          </a:p>
        </p:txBody>
      </p:sp>
    </p:spTree>
    <p:extLst>
      <p:ext uri="{BB962C8B-B14F-4D97-AF65-F5344CB8AC3E}">
        <p14:creationId xmlns:p14="http://schemas.microsoft.com/office/powerpoint/2010/main" val="21602658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Как читать тип указателя</a:t>
            </a:r>
          </a:p>
        </p:txBody>
      </p:sp>
    </p:spTree>
    <p:extLst>
      <p:ext uri="{BB962C8B-B14F-4D97-AF65-F5344CB8AC3E}">
        <p14:creationId xmlns:p14="http://schemas.microsoft.com/office/powerpoint/2010/main" val="42036592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Декларация типов </a:t>
            </a:r>
            <a:r>
              <a:rPr lang="en-US" dirty="0"/>
              <a:t>C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Когда появляются указатели типы становится очень сложно читать.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Чтобы научится это делать, нужно запомнить специальное правило: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Направо, налево, наружу, повторить.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Это значит, что когда вы читаете тип переменной, то читаете его как бы по спирали начиная от имени: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0) найти имя переменной;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1) Посмотреть что стоит сразу справа от имени и прочитать один элемент: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  - Если ничего, то переходим на (2)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  - Если закрывающая скобочка, то переходим на (2)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  - Если открывающая скобочка, то читаем все до закрывающей скобки.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  - Если после квадратных скобок идут ещё квадратные скобки, продолжаем читать их тоже.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2) Посмотреть что стоит сразу слева от имени и прочитать 1 элемент.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3) Выйти на следующий круг и начать с пункта (1)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Здесь можно получить расшифровку типа указателя: </a:t>
            </a:r>
            <a:r>
              <a:rPr lang="en-US" sz="1600" dirty="0">
                <a:solidFill>
                  <a:srgbClr val="24292F"/>
                </a:solidFill>
                <a:hlinkClick r:id="rId2"/>
              </a:rPr>
              <a:t>https://cdecl.org/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76435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Декларация типов </a:t>
            </a:r>
            <a:r>
              <a:rPr lang="en-US" dirty="0"/>
              <a:t>C</a:t>
            </a:r>
            <a:endParaRPr lang="ru-RU" dirty="0"/>
          </a:p>
        </p:txBody>
      </p:sp>
      <p:pic>
        <p:nvPicPr>
          <p:cNvPr id="10" name="Объект 9">
            <a:extLst>
              <a:ext uri="{FF2B5EF4-FFF2-40B4-BE49-F238E27FC236}">
                <a16:creationId xmlns:a16="http://schemas.microsoft.com/office/drawing/2014/main" id="{271B33C9-51F9-13A8-DDAD-D68341F489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2252" y="4014646"/>
            <a:ext cx="1656242" cy="2478229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FB61F9B-9B74-3CBD-E62A-33EA63C437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880" y="1536417"/>
            <a:ext cx="1804986" cy="2478229"/>
          </a:xfrm>
          <a:prstGeom prst="rect">
            <a:avLst/>
          </a:prstGeom>
        </p:spPr>
      </p:pic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E54FD5BF-647B-C63D-9B4F-9C03633C160A}"/>
              </a:ext>
            </a:extLst>
          </p:cNvPr>
          <p:cNvSpPr/>
          <p:nvPr/>
        </p:nvSpPr>
        <p:spPr>
          <a:xfrm>
            <a:off x="4205826" y="1906210"/>
            <a:ext cx="5844605" cy="173864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это (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массив из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указателей на (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a0, a1, a2, a3, a4, a5, a6;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&amp;a0;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 // Указатель на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&amp;a1;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Указатель на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....</a:t>
            </a:r>
          </a:p>
          <a:p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&amp;a6;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Указатель на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91A7251A-026B-ECB7-BA09-7503ADB40FF1}"/>
              </a:ext>
            </a:extLst>
          </p:cNvPr>
          <p:cNvSpPr/>
          <p:nvPr/>
        </p:nvSpPr>
        <p:spPr>
          <a:xfrm>
            <a:off x="4205826" y="4122009"/>
            <a:ext cx="5844605" cy="114569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это (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указатель на (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массив из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-ов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        // Массив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&amp;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Указатель на массив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5CFF655-16C3-25FF-CD9E-65B608630F77}"/>
              </a:ext>
            </a:extLst>
          </p:cNvPr>
          <p:cNvSpPr/>
          <p:nvPr/>
        </p:nvSpPr>
        <p:spPr>
          <a:xfrm>
            <a:off x="4205825" y="5347184"/>
            <a:ext cx="5844605" cy="114569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Здесь на шаге (1) справа от имени скобочки и через них мы пройти не можем пока не прочитали всё что в них есть, после чего мы выходим из скобочек наружу и читаем дальше</a:t>
            </a:r>
          </a:p>
        </p:txBody>
      </p:sp>
    </p:spTree>
    <p:extLst>
      <p:ext uri="{BB962C8B-B14F-4D97-AF65-F5344CB8AC3E}">
        <p14:creationId xmlns:p14="http://schemas.microsoft.com/office/powerpoint/2010/main" val="35625960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Декларация типов </a:t>
            </a:r>
            <a:r>
              <a:rPr lang="en-US" dirty="0"/>
              <a:t>C</a:t>
            </a:r>
            <a:endParaRPr lang="ru-RU" dirty="0"/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E54FD5BF-647B-C63D-9B4F-9C03633C160A}"/>
              </a:ext>
            </a:extLst>
          </p:cNvPr>
          <p:cNvSpPr/>
          <p:nvPr/>
        </p:nvSpPr>
        <p:spPr>
          <a:xfrm>
            <a:off x="4802611" y="2262653"/>
            <a:ext cx="6849167" cy="173864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foo -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это массив из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указателей на двумерный массив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x3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с элементами типа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mat1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Матрица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mat2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Матрица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{&amp;mat1};</a:t>
            </a: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mat2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370EF9D-FA5C-F66A-E4D1-554E7E873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(*(*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 marL="0" indent="0"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dirty="0"/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41F1EBA8-C541-C903-C64A-FA50EEE2F191}"/>
              </a:ext>
            </a:extLst>
          </p:cNvPr>
          <p:cNvSpPr/>
          <p:nvPr/>
        </p:nvSpPr>
        <p:spPr>
          <a:xfrm>
            <a:off x="6331975" y="4332343"/>
            <a:ext cx="5319803" cy="173864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это указатель на функцию от двух аргументов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и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в возвращающую указатель на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// Код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(*(*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= &amp;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7356022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Декларация типов </a:t>
            </a:r>
            <a:r>
              <a:rPr lang="en-US" dirty="0"/>
              <a:t>C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Чтобы не выписывать сложные типы вручную, можно создать переменную-указатель при помощи ключевого слова </a:t>
            </a:r>
            <a:r>
              <a:rPr lang="en-US" sz="1400" dirty="0">
                <a:solidFill>
                  <a:srgbClr val="24292F"/>
                </a:solidFill>
                <a:latin typeface="Consolas" panose="020B0609020204030204" pitchFamily="49" charset="0"/>
              </a:rPr>
              <a:t>auto</a:t>
            </a:r>
            <a:r>
              <a:rPr lang="en-US" sz="1600" dirty="0">
                <a:solidFill>
                  <a:srgbClr val="24292F"/>
                </a:solidFill>
              </a:rPr>
              <a:t>. </a:t>
            </a:r>
            <a:r>
              <a:rPr lang="ru-RU" sz="1600" dirty="0">
                <a:solidFill>
                  <a:srgbClr val="24292F"/>
                </a:solidFill>
              </a:rPr>
              <a:t>В этом случае, компилятор автоматически выведет тип переменной на основе типа инициализатора: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3581828" y="2630454"/>
            <a:ext cx="5028344" cy="159709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Тип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one: int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Тип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i: int*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Тип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j: int**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// Код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Тип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foo: int *(*foo)(int, double)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29172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Замечания про * и </a:t>
            </a:r>
            <a:r>
              <a:rPr lang="en-US" dirty="0"/>
              <a:t>&amp;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// В таком выражении * - это часть типа. Тип: 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Здесь тоже. Тип: 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// Здесь * - это оператор, который совершает действие с указателем.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// При этом указатель - это 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но не *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// *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это 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ОК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ru-RU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В таком выражении &amp; - это часть типа. Тип: 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&amp;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b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// Здесь &amp; - это оператор, который совершает действие с 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// При этом &amp;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это не ссылка, это адрес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// Ошибка!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71655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Указатель в ООП</a:t>
            </a:r>
          </a:p>
        </p:txBody>
      </p:sp>
    </p:spTree>
    <p:extLst>
      <p:ext uri="{BB962C8B-B14F-4D97-AF65-F5344CB8AC3E}">
        <p14:creationId xmlns:p14="http://schemas.microsoft.com/office/powerpoint/2010/main" val="162518851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Доступ к полю структуры/класса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тип указателя – структура или класс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Можно получить доступ к её полю или </a:t>
            </a:r>
            <a:r>
              <a:rPr lang="ru-RU" sz="1600" b="1" dirty="0">
                <a:solidFill>
                  <a:srgbClr val="24292F"/>
                </a:solidFill>
              </a:rPr>
              <a:t>методу</a:t>
            </a:r>
            <a:r>
              <a:rPr lang="ru-RU" sz="1600" dirty="0">
                <a:solidFill>
                  <a:srgbClr val="24292F"/>
                </a:solidFill>
              </a:rPr>
              <a:t>: 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1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Кроме того, можно напрямую получить указатель на поле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24292F"/>
                </a:solidFill>
              </a:rPr>
              <a:t>(</a:t>
            </a:r>
            <a:r>
              <a:rPr lang="ru-RU" sz="1600" dirty="0">
                <a:solidFill>
                  <a:srgbClr val="24292F"/>
                </a:solidFill>
              </a:rPr>
              <a:t>но не на метод</a:t>
            </a:r>
            <a:r>
              <a:rPr lang="en-US" sz="1600" dirty="0">
                <a:solidFill>
                  <a:srgbClr val="24292F"/>
                </a:solidFill>
              </a:rPr>
              <a:t>)</a:t>
            </a:r>
            <a:r>
              <a:rPr lang="ru-RU" sz="1600" dirty="0">
                <a:solidFill>
                  <a:srgbClr val="24292F"/>
                </a:solidFill>
              </a:rPr>
              <a:t> класса: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5409137" y="1825625"/>
            <a:ext cx="5465341" cy="147801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84C8BCCC-1568-F8E2-B07E-9496ABCAD156}"/>
              </a:ext>
            </a:extLst>
          </p:cNvPr>
          <p:cNvSpPr/>
          <p:nvPr/>
        </p:nvSpPr>
        <p:spPr>
          <a:xfrm>
            <a:off x="5409137" y="3438576"/>
            <a:ext cx="5465341" cy="59802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Эквивалентно предыдущему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0ECAE5AC-9E83-43D4-8EFD-7BE6A09236BE}"/>
              </a:ext>
            </a:extLst>
          </p:cNvPr>
          <p:cNvSpPr/>
          <p:nvPr/>
        </p:nvSpPr>
        <p:spPr>
          <a:xfrm>
            <a:off x="6882581" y="4209742"/>
            <a:ext cx="3991898" cy="59802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fr-F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fr-FR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fr-F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fr-F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fr-FR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r-F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C5618D56-C2D8-190E-9CD0-B988BC1A4A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4232246"/>
              </p:ext>
            </p:extLst>
          </p:nvPr>
        </p:nvGraphicFramePr>
        <p:xfrm>
          <a:off x="2294815" y="4904921"/>
          <a:ext cx="6876000" cy="170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000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3729662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22128962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Point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x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y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/>
                      <a:r>
                        <a:rPr lang="en-US" sz="1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ptr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py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019BC71C-6375-6C9E-F65B-D85084C56DF0}"/>
              </a:ext>
            </a:extLst>
          </p:cNvPr>
          <p:cNvSpPr/>
          <p:nvPr/>
        </p:nvSpPr>
        <p:spPr>
          <a:xfrm rot="5400000">
            <a:off x="3938060" y="5026212"/>
            <a:ext cx="144000" cy="115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Левая фигурная скобка 9">
            <a:extLst>
              <a:ext uri="{FF2B5EF4-FFF2-40B4-BE49-F238E27FC236}">
                <a16:creationId xmlns:a16="http://schemas.microsoft.com/office/drawing/2014/main" id="{0F136F57-3473-C475-F2E1-5411B1F4BD5C}"/>
              </a:ext>
            </a:extLst>
          </p:cNvPr>
          <p:cNvSpPr/>
          <p:nvPr/>
        </p:nvSpPr>
        <p:spPr>
          <a:xfrm rot="5400000">
            <a:off x="6808095" y="4470141"/>
            <a:ext cx="144000" cy="2268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Левая фигурная скобка 10">
            <a:extLst>
              <a:ext uri="{FF2B5EF4-FFF2-40B4-BE49-F238E27FC236}">
                <a16:creationId xmlns:a16="http://schemas.microsoft.com/office/drawing/2014/main" id="{689085EC-DB01-6881-139F-3A8842FCB535}"/>
              </a:ext>
            </a:extLst>
          </p:cNvPr>
          <p:cNvSpPr/>
          <p:nvPr/>
        </p:nvSpPr>
        <p:spPr>
          <a:xfrm rot="5400000">
            <a:off x="5654170" y="3065761"/>
            <a:ext cx="144000" cy="45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833881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Доступ к полю структуры/класса</a:t>
            </a:r>
            <a:r>
              <a:rPr lang="en-US" dirty="0"/>
              <a:t> - static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Указатели на статические поля можно брать как через экземпляр класса, так и без него. Физически статические поля располагаются НЕ рядом с остальными, в той же области памяти, что и глобальные переменные: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3175223" y="2543257"/>
            <a:ext cx="5465341" cy="220236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Прямоугольник: скругленные углы 3">
            <a:extLst>
              <a:ext uri="{FF2B5EF4-FFF2-40B4-BE49-F238E27FC236}">
                <a16:creationId xmlns:a16="http://schemas.microsoft.com/office/drawing/2014/main" id="{AFAA18D2-8597-45FB-F709-857B3E556210}"/>
              </a:ext>
            </a:extLst>
          </p:cNvPr>
          <p:cNvSpPr/>
          <p:nvPr/>
        </p:nvSpPr>
        <p:spPr>
          <a:xfrm>
            <a:off x="3175223" y="4778139"/>
            <a:ext cx="5465341" cy="468000"/>
          </a:xfrm>
          <a:prstGeom prst="roundRect">
            <a:avLst>
              <a:gd name="adj" fmla="val 11332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0x7fff3122eaf0 0x7fff3122eaf4 0x5655f3ed8154</a:t>
            </a: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0x5655f3ed8154</a:t>
            </a:r>
          </a:p>
        </p:txBody>
      </p:sp>
    </p:spTree>
    <p:extLst>
      <p:ext uri="{BB962C8B-B14F-4D97-AF65-F5344CB8AC3E}">
        <p14:creationId xmlns:p14="http://schemas.microsoft.com/office/powerpoint/2010/main" val="88908265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на член класса</a:t>
            </a:r>
            <a:r>
              <a:rPr lang="en-US" dirty="0"/>
              <a:t> - </a:t>
            </a:r>
            <a:r>
              <a:rPr lang="ru-RU" dirty="0"/>
              <a:t>поле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отличие от привычных указателей, которые получают </a:t>
            </a:r>
            <a:r>
              <a:rPr lang="ru-RU" sz="1600" b="1" dirty="0">
                <a:solidFill>
                  <a:srgbClr val="24292F"/>
                </a:solidFill>
              </a:rPr>
              <a:t>абсолютные</a:t>
            </a:r>
            <a:r>
              <a:rPr lang="ru-RU" sz="1600" dirty="0">
                <a:solidFill>
                  <a:srgbClr val="24292F"/>
                </a:solidFill>
              </a:rPr>
              <a:t> адреса ячеек памяти, существуют указатели на член класса</a:t>
            </a:r>
            <a:r>
              <a:rPr lang="en-US" sz="1600" dirty="0">
                <a:solidFill>
                  <a:srgbClr val="24292F"/>
                </a:solidFill>
              </a:rPr>
              <a:t> (</a:t>
            </a:r>
            <a:r>
              <a:rPr lang="ru-RU" sz="1600" dirty="0">
                <a:solidFill>
                  <a:srgbClr val="24292F"/>
                </a:solidFill>
              </a:rPr>
              <a:t>на самом деле только на не статический</a:t>
            </a:r>
            <a:r>
              <a:rPr lang="en-US" sz="1600" dirty="0">
                <a:solidFill>
                  <a:srgbClr val="24292F"/>
                </a:solidFill>
              </a:rPr>
              <a:t>)</a:t>
            </a:r>
            <a:r>
              <a:rPr lang="ru-RU" sz="1600" dirty="0">
                <a:solidFill>
                  <a:srgbClr val="24292F"/>
                </a:solidFill>
              </a:rPr>
              <a:t>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2C4BD878-C527-BE58-A494-03FB7AF1B732}"/>
              </a:ext>
            </a:extLst>
          </p:cNvPr>
          <p:cNvSpPr/>
          <p:nvPr/>
        </p:nvSpPr>
        <p:spPr>
          <a:xfrm>
            <a:off x="2075678" y="2577981"/>
            <a:ext cx="8040645" cy="3822819"/>
          </a:xfrm>
          <a:prstGeom prst="roundRect">
            <a:avLst>
              <a:gd name="adj" fmla="val 1643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Bowl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apples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oranges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count_fruit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Bowl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Bowl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.*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fruit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если бы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не был указателем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Bowl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bowls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 {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}, {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 };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 have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count_fruit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bowls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Bowl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apples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apples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 have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count_fruit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bowls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Bowl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oranges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oranges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0804057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на член класса</a:t>
            </a:r>
            <a:r>
              <a:rPr lang="en-US" dirty="0"/>
              <a:t> - </a:t>
            </a:r>
            <a:r>
              <a:rPr lang="ru-RU" dirty="0"/>
              <a:t>метод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Чтобы получить указатель на нестатический метод класса можно написать так: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нужен указатель на статический метод, то используйте указатель на обычную функцию.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Подробнее про указатели на члены класса можно прочитать </a:t>
            </a:r>
            <a:r>
              <a:rPr lang="ru-RU" sz="1600" dirty="0">
                <a:solidFill>
                  <a:srgbClr val="24292F"/>
                </a:solidFill>
                <a:hlinkClick r:id="rId2"/>
              </a:rPr>
              <a:t>тут</a:t>
            </a:r>
            <a:r>
              <a:rPr lang="ru-RU" sz="1600" dirty="0">
                <a:solidFill>
                  <a:srgbClr val="24292F"/>
                </a:solidFill>
              </a:rPr>
              <a:t>.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2C4BD878-C527-BE58-A494-03FB7AF1B732}"/>
              </a:ext>
            </a:extLst>
          </p:cNvPr>
          <p:cNvSpPr/>
          <p:nvPr/>
        </p:nvSpPr>
        <p:spPr>
          <a:xfrm>
            <a:off x="2075677" y="2257717"/>
            <a:ext cx="8040645" cy="3487153"/>
          </a:xfrm>
          <a:prstGeom prst="roundRect">
            <a:avLst>
              <a:gd name="adj" fmla="val 1643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speak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is go"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work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::*) ();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Invoke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work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)(); 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bowls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"one"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"two"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Invoke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bowls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&amp;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speak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Invoke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bowls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&amp;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579862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в ООП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отличие от других типов данных классы можно связать через наследование.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2 или больше классов связаны через наследование, то между ними возможно преобразование вниз или вверх по иерархии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Преобразование типа указателя вверх по иерархии классов (</a:t>
            </a:r>
            <a:r>
              <a:rPr lang="en-US" sz="1600" dirty="0" err="1">
                <a:solidFill>
                  <a:srgbClr val="24292F"/>
                </a:solidFill>
              </a:rPr>
              <a:t>UpCast</a:t>
            </a:r>
            <a:r>
              <a:rPr lang="ru-RU" sz="1600" dirty="0">
                <a:solidFill>
                  <a:srgbClr val="24292F"/>
                </a:solidFill>
              </a:rPr>
              <a:t>) - безопасно, с точки зрения работы с памятью, поэтому оно выполняется неявно.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Преобразование вниз по иерархии (</a:t>
            </a:r>
            <a:r>
              <a:rPr lang="en-US" sz="1600" dirty="0" err="1">
                <a:solidFill>
                  <a:srgbClr val="24292F"/>
                </a:solidFill>
              </a:rPr>
              <a:t>DownCast</a:t>
            </a:r>
            <a:r>
              <a:rPr lang="ru-RU" sz="1600" dirty="0">
                <a:solidFill>
                  <a:srgbClr val="24292F"/>
                </a:solidFill>
              </a:rPr>
              <a:t>) может быть опасно, поэтому такое преобразование можно выполнить только явным образом (программист берёт ответственность на себя)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5DC7CE5-9857-253B-BE61-4473E5567B1D}"/>
              </a:ext>
            </a:extLst>
          </p:cNvPr>
          <p:cNvSpPr/>
          <p:nvPr/>
        </p:nvSpPr>
        <p:spPr>
          <a:xfrm>
            <a:off x="924945" y="3794841"/>
            <a:ext cx="8087032" cy="251705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 = new 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 = new 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a = b;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Ошибок нет, т.к. преобразование вверх по иерархии (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UpCast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b = a;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Преобразование вниз по иерархии (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DownCast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b = (B*) a;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Ошибок нет, т.к. используется явное преобразование в стиле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b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&lt;B*&gt;(a);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Ошибок нет, т.к. используется явное преобразование в стиле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C++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3295E74-A198-C2C4-5D20-B4A5AF32D275}"/>
              </a:ext>
            </a:extLst>
          </p:cNvPr>
          <p:cNvSpPr/>
          <p:nvPr/>
        </p:nvSpPr>
        <p:spPr>
          <a:xfrm>
            <a:off x="9448802" y="4117375"/>
            <a:ext cx="1327355" cy="796848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3B5592A-17F0-2AFA-CE39-6D546C449929}"/>
              </a:ext>
            </a:extLst>
          </p:cNvPr>
          <p:cNvSpPr/>
          <p:nvPr/>
        </p:nvSpPr>
        <p:spPr>
          <a:xfrm>
            <a:off x="9448802" y="5380115"/>
            <a:ext cx="1327355" cy="796848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FFD9AD8F-9056-8578-0599-A01EF9338D95}"/>
              </a:ext>
            </a:extLst>
          </p:cNvPr>
          <p:cNvCxnSpPr>
            <a:stCxn id="6" idx="0"/>
            <a:endCxn id="5" idx="2"/>
          </p:cNvCxnSpPr>
          <p:nvPr/>
        </p:nvCxnSpPr>
        <p:spPr>
          <a:xfrm flipV="1">
            <a:off x="10112480" y="4914223"/>
            <a:ext cx="0" cy="46589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284308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вверх по иерархии безопасно (с точки зрения памяти)?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 подразумевается под безопасностью с точки зрения памяти?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Опасно это: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- портить данные других переменных, т.к. приведёт к не предсказуемому поведение программы;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- залезать в память не выделенную для программы. Приведёт к падению программы с ошибкой сегментации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84355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вверх по иерархии безопасно (с точки зрения памяти)?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класс C является наследником классов A и B, то в памяти занятой объектом класса C можно выделить фрагмент занимаемый полями A, фрагмент занимаемый полями B и добавочную часть - личные поля C.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Т.е. C как бы собран из полноценных объектов класса A и B и полей класса C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FB844733-0B68-EDD7-8EE2-361666EB9CF9}"/>
              </a:ext>
            </a:extLst>
          </p:cNvPr>
          <p:cNvSpPr/>
          <p:nvPr/>
        </p:nvSpPr>
        <p:spPr>
          <a:xfrm>
            <a:off x="919223" y="3271722"/>
            <a:ext cx="1870276" cy="322115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8713413"/>
              </p:ext>
            </p:extLst>
          </p:nvPr>
        </p:nvGraphicFramePr>
        <p:xfrm>
          <a:off x="3915271" y="4404875"/>
          <a:ext cx="6876002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3729662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22128962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16267729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4820994" y="5008974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6190C56D-AF5F-A1DA-A711-68528817B26B}"/>
              </a:ext>
            </a:extLst>
          </p:cNvPr>
          <p:cNvSpPr/>
          <p:nvPr/>
        </p:nvSpPr>
        <p:spPr>
          <a:xfrm rot="5400000">
            <a:off x="5795192" y="5010899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>
            <a:extLst>
              <a:ext uri="{FF2B5EF4-FFF2-40B4-BE49-F238E27FC236}">
                <a16:creationId xmlns:a16="http://schemas.microsoft.com/office/drawing/2014/main" id="{57D95AFD-1771-A0F3-78BF-C53173AA1747}"/>
              </a:ext>
            </a:extLst>
          </p:cNvPr>
          <p:cNvSpPr/>
          <p:nvPr/>
        </p:nvSpPr>
        <p:spPr>
          <a:xfrm rot="5400000">
            <a:off x="6790615" y="5010902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7762897" y="5010899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Левая фигурная скобка 9">
            <a:extLst>
              <a:ext uri="{FF2B5EF4-FFF2-40B4-BE49-F238E27FC236}">
                <a16:creationId xmlns:a16="http://schemas.microsoft.com/office/drawing/2014/main" id="{3C98433E-A0EB-EB68-F4E7-7C3C30F5131B}"/>
              </a:ext>
            </a:extLst>
          </p:cNvPr>
          <p:cNvSpPr/>
          <p:nvPr/>
        </p:nvSpPr>
        <p:spPr>
          <a:xfrm rot="5400000">
            <a:off x="8737099" y="5012827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Левая фигурная скобка 10">
            <a:extLst>
              <a:ext uri="{FF2B5EF4-FFF2-40B4-BE49-F238E27FC236}">
                <a16:creationId xmlns:a16="http://schemas.microsoft.com/office/drawing/2014/main" id="{8FA4914B-7561-1D91-E316-D74A2B32B33A}"/>
              </a:ext>
            </a:extLst>
          </p:cNvPr>
          <p:cNvSpPr/>
          <p:nvPr/>
        </p:nvSpPr>
        <p:spPr>
          <a:xfrm rot="5400000">
            <a:off x="9720949" y="501282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5307269" y="4254115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99354E05-0540-0EC4-60A9-CB4A83020525}"/>
              </a:ext>
            </a:extLst>
          </p:cNvPr>
          <p:cNvSpPr/>
          <p:nvPr/>
        </p:nvSpPr>
        <p:spPr>
          <a:xfrm rot="5400000">
            <a:off x="7751597" y="3770044"/>
            <a:ext cx="155448" cy="2916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7254295" y="1930073"/>
            <a:ext cx="155448" cy="583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EFEA230-013B-66E0-E001-465C01C9540D}"/>
              </a:ext>
            </a:extLst>
          </p:cNvPr>
          <p:cNvSpPr/>
          <p:nvPr/>
        </p:nvSpPr>
        <p:spPr>
          <a:xfrm>
            <a:off x="3964505" y="3336197"/>
            <a:ext cx="576000" cy="396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D99C8A1-1DA9-726B-7F81-FFEDB4BA740A}"/>
              </a:ext>
            </a:extLst>
          </p:cNvPr>
          <p:cNvSpPr/>
          <p:nvPr/>
        </p:nvSpPr>
        <p:spPr>
          <a:xfrm>
            <a:off x="3089002" y="3320970"/>
            <a:ext cx="576000" cy="396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31072F5-E416-07C0-1E4F-0D0804A8AD7F}"/>
              </a:ext>
            </a:extLst>
          </p:cNvPr>
          <p:cNvSpPr/>
          <p:nvPr/>
        </p:nvSpPr>
        <p:spPr>
          <a:xfrm>
            <a:off x="3545076" y="4134674"/>
            <a:ext cx="576000" cy="396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CAA86E1C-9E4F-E74A-5982-14FBA1F1021D}"/>
              </a:ext>
            </a:extLst>
          </p:cNvPr>
          <p:cNvCxnSpPr>
            <a:stCxn id="17" idx="0"/>
            <a:endCxn id="15" idx="2"/>
          </p:cNvCxnSpPr>
          <p:nvPr/>
        </p:nvCxnSpPr>
        <p:spPr>
          <a:xfrm flipV="1">
            <a:off x="3833076" y="3732197"/>
            <a:ext cx="419429" cy="4024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9D1219B2-1DEE-EAAC-9D10-66249D58CE5C}"/>
              </a:ext>
            </a:extLst>
          </p:cNvPr>
          <p:cNvCxnSpPr>
            <a:cxnSpLocks/>
            <a:stCxn id="17" idx="0"/>
            <a:endCxn id="16" idx="2"/>
          </p:cNvCxnSpPr>
          <p:nvPr/>
        </p:nvCxnSpPr>
        <p:spPr>
          <a:xfrm flipH="1" flipV="1">
            <a:off x="3377002" y="3716970"/>
            <a:ext cx="456074" cy="4177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32491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вверх по иерархии безопасно (с точки зрения памяти)?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3133333"/>
              </p:ext>
            </p:extLst>
          </p:nvPr>
        </p:nvGraphicFramePr>
        <p:xfrm>
          <a:off x="5744071" y="4566921"/>
          <a:ext cx="4911430" cy="2321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16267729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664979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6190C56D-AF5F-A1DA-A711-68528817B26B}"/>
              </a:ext>
            </a:extLst>
          </p:cNvPr>
          <p:cNvSpPr/>
          <p:nvPr/>
        </p:nvSpPr>
        <p:spPr>
          <a:xfrm rot="5400000">
            <a:off x="7623992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>
            <a:extLst>
              <a:ext uri="{FF2B5EF4-FFF2-40B4-BE49-F238E27FC236}">
                <a16:creationId xmlns:a16="http://schemas.microsoft.com/office/drawing/2014/main" id="{57D95AFD-1771-A0F3-78BF-C53173AA1747}"/>
              </a:ext>
            </a:extLst>
          </p:cNvPr>
          <p:cNvSpPr/>
          <p:nvPr/>
        </p:nvSpPr>
        <p:spPr>
          <a:xfrm rot="5400000">
            <a:off x="8619415" y="5172948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9591697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664979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99354E05-0540-0EC4-60A9-CB4A83020525}"/>
              </a:ext>
            </a:extLst>
          </p:cNvPr>
          <p:cNvSpPr/>
          <p:nvPr/>
        </p:nvSpPr>
        <p:spPr>
          <a:xfrm rot="5400000">
            <a:off x="8121854" y="4418090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115693" y="3046119"/>
            <a:ext cx="155448" cy="392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бъект 2">
            <a:extLst>
              <a:ext uri="{FF2B5EF4-FFF2-40B4-BE49-F238E27FC236}">
                <a16:creationId xmlns:a16="http://schemas.microsoft.com/office/drawing/2014/main" id="{DF680E86-EDC3-5CF9-11EB-9FAA38E49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Из за такой структуры размещения в памяти, в наследнике, всегда возможно найти точку начиная с которой размещён каждый из предков и установить на него указатель.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Т.е. в процессе преобразования адреса потомка к адресу предка результирующий адрес может быть сдвинут вперёд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4A0C9030-0515-3D8F-86C9-0C50A7CE1762}"/>
              </a:ext>
            </a:extLst>
          </p:cNvPr>
          <p:cNvSpPr/>
          <p:nvPr/>
        </p:nvSpPr>
        <p:spPr>
          <a:xfrm>
            <a:off x="894213" y="2955810"/>
            <a:ext cx="4103670" cy="322115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7AF7014-149B-AE9E-890D-02D52D1CAFF7}"/>
              </a:ext>
            </a:extLst>
          </p:cNvPr>
          <p:cNvSpPr/>
          <p:nvPr/>
        </p:nvSpPr>
        <p:spPr>
          <a:xfrm>
            <a:off x="5660020" y="2947461"/>
            <a:ext cx="5150734" cy="178362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Такой вывод объясняется тем, что </a:t>
            </a:r>
            <a:r>
              <a:rPr lang="ru-RU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"подобъект"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 внутри C расположен после A и для корректной работы с ним нужно сдвинуть указатель начала на длину объекта A вперёд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8AF499A-1C67-F1A3-BB9F-0B2346E3F9F7}"/>
              </a:ext>
            </a:extLst>
          </p:cNvPr>
          <p:cNvSpPr/>
          <p:nvPr/>
        </p:nvSpPr>
        <p:spPr>
          <a:xfrm>
            <a:off x="3895532" y="336698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834C1073-C41B-646D-4AA4-F47C18AB5193}"/>
              </a:ext>
            </a:extLst>
          </p:cNvPr>
          <p:cNvSpPr/>
          <p:nvPr/>
        </p:nvSpPr>
        <p:spPr>
          <a:xfrm>
            <a:off x="2863457" y="3351756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3336771-F21C-EBC4-4CD7-9995EEFD150D}"/>
              </a:ext>
            </a:extLst>
          </p:cNvPr>
          <p:cNvSpPr/>
          <p:nvPr/>
        </p:nvSpPr>
        <p:spPr>
          <a:xfrm>
            <a:off x="3361493" y="441278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1F47AFCC-EA01-495B-E98A-74733A8BA696}"/>
              </a:ext>
            </a:extLst>
          </p:cNvPr>
          <p:cNvCxnSpPr>
            <a:stCxn id="22" idx="0"/>
            <a:endCxn id="20" idx="2"/>
          </p:cNvCxnSpPr>
          <p:nvPr/>
        </p:nvCxnSpPr>
        <p:spPr>
          <a:xfrm flipV="1">
            <a:off x="3760820" y="4003591"/>
            <a:ext cx="534039" cy="409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F8CD6011-976B-690F-D8FB-BFCFD71AAD45}"/>
              </a:ext>
            </a:extLst>
          </p:cNvPr>
          <p:cNvCxnSpPr>
            <a:stCxn id="22" idx="0"/>
            <a:endCxn id="21" idx="2"/>
          </p:cNvCxnSpPr>
          <p:nvPr/>
        </p:nvCxnSpPr>
        <p:spPr>
          <a:xfrm flipH="1" flipV="1">
            <a:off x="3262784" y="3988363"/>
            <a:ext cx="498036" cy="4244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05408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вниз по иерархии может быть опасно (с точки зрения памяти)?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515732"/>
              </p:ext>
            </p:extLst>
          </p:nvPr>
        </p:nvGraphicFramePr>
        <p:xfrm>
          <a:off x="5744071" y="4566921"/>
          <a:ext cx="4911430" cy="2321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16267729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en-US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664979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6190C56D-AF5F-A1DA-A711-68528817B26B}"/>
              </a:ext>
            </a:extLst>
          </p:cNvPr>
          <p:cNvSpPr/>
          <p:nvPr/>
        </p:nvSpPr>
        <p:spPr>
          <a:xfrm rot="5400000">
            <a:off x="7623992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>
            <a:extLst>
              <a:ext uri="{FF2B5EF4-FFF2-40B4-BE49-F238E27FC236}">
                <a16:creationId xmlns:a16="http://schemas.microsoft.com/office/drawing/2014/main" id="{57D95AFD-1771-A0F3-78BF-C53173AA1747}"/>
              </a:ext>
            </a:extLst>
          </p:cNvPr>
          <p:cNvSpPr/>
          <p:nvPr/>
        </p:nvSpPr>
        <p:spPr>
          <a:xfrm rot="5400000">
            <a:off x="8619415" y="5172948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9591697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664979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99354E05-0540-0EC4-60A9-CB4A83020525}"/>
              </a:ext>
            </a:extLst>
          </p:cNvPr>
          <p:cNvSpPr/>
          <p:nvPr/>
        </p:nvSpPr>
        <p:spPr>
          <a:xfrm rot="5400000">
            <a:off x="8121854" y="4418090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115693" y="3046119"/>
            <a:ext cx="155448" cy="392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847019B1-E902-54C3-C7B8-387560783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упоминалось выше, в процессе преобразования типа указателя с адресом могут происходить различные преобразования из-за которых мы можем не намеренно получить доступ к чужим данным.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6778D780-C4F0-4624-0EE9-15E34483DB11}"/>
              </a:ext>
            </a:extLst>
          </p:cNvPr>
          <p:cNvSpPr/>
          <p:nvPr/>
        </p:nvSpPr>
        <p:spPr>
          <a:xfrm>
            <a:off x="882771" y="2598713"/>
            <a:ext cx="4298451" cy="357825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23EC346C-A178-346D-83A3-9111F3E81557}"/>
              </a:ext>
            </a:extLst>
          </p:cNvPr>
          <p:cNvSpPr/>
          <p:nvPr/>
        </p:nvSpPr>
        <p:spPr>
          <a:xfrm>
            <a:off x="5744071" y="2598713"/>
            <a:ext cx="5127943" cy="210515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.90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.900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.9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06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Как видно, чтобы получить адрес объекта класса C адрес B был сдвинут влево на длину равную размеру первого предка.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Теперь при попытка обратиться к полям a1 и c1 мы попадём в участки памяти реально нам не принадлежащие. Там могут быть например другие переменные или временно сохранённые значения регистров процессора или вообще всё что угодно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A5D1D12-1AFC-166F-6823-A6D2A6F25AA6}"/>
              </a:ext>
            </a:extLst>
          </p:cNvPr>
          <p:cNvSpPr/>
          <p:nvPr/>
        </p:nvSpPr>
        <p:spPr>
          <a:xfrm>
            <a:off x="4109501" y="3202817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7F85FCA-E4D5-F2B5-3D84-00DBD8D8900D}"/>
              </a:ext>
            </a:extLst>
          </p:cNvPr>
          <p:cNvSpPr/>
          <p:nvPr/>
        </p:nvSpPr>
        <p:spPr>
          <a:xfrm>
            <a:off x="3077426" y="3187589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FE2FB60-EFC0-2433-4219-D6DAF6A93373}"/>
              </a:ext>
            </a:extLst>
          </p:cNvPr>
          <p:cNvSpPr/>
          <p:nvPr/>
        </p:nvSpPr>
        <p:spPr>
          <a:xfrm>
            <a:off x="3575462" y="4248617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F4C26760-0938-8906-E747-6EC5BE57E457}"/>
              </a:ext>
            </a:extLst>
          </p:cNvPr>
          <p:cNvCxnSpPr>
            <a:stCxn id="22" idx="0"/>
            <a:endCxn id="20" idx="2"/>
          </p:cNvCxnSpPr>
          <p:nvPr/>
        </p:nvCxnSpPr>
        <p:spPr>
          <a:xfrm flipV="1">
            <a:off x="3974789" y="3839424"/>
            <a:ext cx="534039" cy="409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8090A40C-2D9B-44E9-5A8F-728529F2ECFB}"/>
              </a:ext>
            </a:extLst>
          </p:cNvPr>
          <p:cNvCxnSpPr>
            <a:stCxn id="22" idx="0"/>
            <a:endCxn id="21" idx="2"/>
          </p:cNvCxnSpPr>
          <p:nvPr/>
        </p:nvCxnSpPr>
        <p:spPr>
          <a:xfrm flipH="1" flipV="1">
            <a:off x="3476753" y="3824196"/>
            <a:ext cx="498036" cy="4244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13623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вниз по иерархии может быть опасно (с точки зрения памяти)?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8146625"/>
              </p:ext>
            </p:extLst>
          </p:nvPr>
        </p:nvGraphicFramePr>
        <p:xfrm>
          <a:off x="6832091" y="4566921"/>
          <a:ext cx="2946858" cy="2321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mpd="sng">
                      <a:noFill/>
                    </a:lnL>
                    <a:lnT w="38100" cmpd="sng"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en-US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773781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8715190" y="5175389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773781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210022" y="4047694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5EFAB172-49CF-470E-8564-0729B3462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Даже если преобразований адреса не происходит, то вероятность залезть в чужую память остаётся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54FC25E6-27C7-FF14-3FD8-2F79B4487031}"/>
              </a:ext>
            </a:extLst>
          </p:cNvPr>
          <p:cNvSpPr/>
          <p:nvPr/>
        </p:nvSpPr>
        <p:spPr>
          <a:xfrm>
            <a:off x="838200" y="2416893"/>
            <a:ext cx="4298451" cy="253101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dirty="0">
                <a:solidFill>
                  <a:srgbClr val="267F99"/>
                </a:solidFill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B96DA4DB-1DD2-43C9-3D6F-2EBA3E4F3F00}"/>
              </a:ext>
            </a:extLst>
          </p:cNvPr>
          <p:cNvSpPr/>
          <p:nvPr/>
        </p:nvSpPr>
        <p:spPr>
          <a:xfrm>
            <a:off x="6096000" y="2406556"/>
            <a:ext cx="4243581" cy="194757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Как видно, смешения адреса не произошло, но при попытке получить доступ к c1 мы выходим за пределы реально выделенной памяти и снова попадаем неизвестно куда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A20312B-19CC-90A2-F4A3-3E6001363516}"/>
              </a:ext>
            </a:extLst>
          </p:cNvPr>
          <p:cNvSpPr/>
          <p:nvPr/>
        </p:nvSpPr>
        <p:spPr>
          <a:xfrm>
            <a:off x="3806965" y="2572473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393CA1D-CCEC-3B12-BEC9-C1A3EB8F4586}"/>
              </a:ext>
            </a:extLst>
          </p:cNvPr>
          <p:cNvSpPr/>
          <p:nvPr/>
        </p:nvSpPr>
        <p:spPr>
          <a:xfrm>
            <a:off x="3806964" y="340089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2D2127CC-FFC2-8E07-AE35-B4CFDE241C3F}"/>
              </a:ext>
            </a:extLst>
          </p:cNvPr>
          <p:cNvCxnSpPr>
            <a:stCxn id="20" idx="0"/>
            <a:endCxn id="19" idx="2"/>
          </p:cNvCxnSpPr>
          <p:nvPr/>
        </p:nvCxnSpPr>
        <p:spPr>
          <a:xfrm flipV="1">
            <a:off x="4206291" y="3209080"/>
            <a:ext cx="1" cy="1918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705239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7353210"/>
              </p:ext>
            </p:extLst>
          </p:nvPr>
        </p:nvGraphicFramePr>
        <p:xfrm>
          <a:off x="5744071" y="4566921"/>
          <a:ext cx="4911430" cy="2481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16267729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en-US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664979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6190C56D-AF5F-A1DA-A711-68528817B26B}"/>
              </a:ext>
            </a:extLst>
          </p:cNvPr>
          <p:cNvSpPr/>
          <p:nvPr/>
        </p:nvSpPr>
        <p:spPr>
          <a:xfrm rot="5400000">
            <a:off x="7623992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>
            <a:extLst>
              <a:ext uri="{FF2B5EF4-FFF2-40B4-BE49-F238E27FC236}">
                <a16:creationId xmlns:a16="http://schemas.microsoft.com/office/drawing/2014/main" id="{57D95AFD-1771-A0F3-78BF-C53173AA1747}"/>
              </a:ext>
            </a:extLst>
          </p:cNvPr>
          <p:cNvSpPr/>
          <p:nvPr/>
        </p:nvSpPr>
        <p:spPr>
          <a:xfrm rot="5400000">
            <a:off x="8619415" y="5172948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9591697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664979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115693" y="3046119"/>
            <a:ext cx="155448" cy="392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Заголовок 1">
            <a:extLst>
              <a:ext uri="{FF2B5EF4-FFF2-40B4-BE49-F238E27FC236}">
                <a16:creationId xmlns:a16="http://schemas.microsoft.com/office/drawing/2014/main" id="{D1133D48-8C56-B683-1FE8-3D8FF9C6E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Когда преобразование вниз по иерархии безопасно?</a:t>
            </a:r>
          </a:p>
        </p:txBody>
      </p:sp>
      <p:sp>
        <p:nvSpPr>
          <p:cNvPr id="23" name="Объект 2">
            <a:extLst>
              <a:ext uri="{FF2B5EF4-FFF2-40B4-BE49-F238E27FC236}">
                <a16:creationId xmlns:a16="http://schemas.microsoft.com/office/drawing/2014/main" id="{FE4BCD03-15A6-F737-CB5D-60CDF70E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Чтобы преобразование было безопасно, </a:t>
            </a:r>
            <a:r>
              <a:rPr lang="ru-RU" sz="1600" b="1" dirty="0">
                <a:solidFill>
                  <a:srgbClr val="24292F"/>
                </a:solidFill>
              </a:rPr>
              <a:t>реально</a:t>
            </a:r>
            <a:r>
              <a:rPr lang="ru-RU" sz="1600" dirty="0">
                <a:solidFill>
                  <a:srgbClr val="24292F"/>
                </a:solidFill>
              </a:rPr>
              <a:t> размещённый в памяти объект должен быть ниже или на том же уровне иерархии, что и тип указателя к которому выполняется преобразование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FF8C53D3-27C9-DD17-F8EB-E277249C6024}"/>
              </a:ext>
            </a:extLst>
          </p:cNvPr>
          <p:cNvSpPr/>
          <p:nvPr/>
        </p:nvSpPr>
        <p:spPr>
          <a:xfrm>
            <a:off x="859635" y="2562967"/>
            <a:ext cx="4298451" cy="361399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OK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т.к.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UpCast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B07A9EAC-A6FA-F1DB-2B3F-09CD821FF9FA}"/>
              </a:ext>
            </a:extLst>
          </p:cNvPr>
          <p:cNvSpPr/>
          <p:nvPr/>
        </p:nvSpPr>
        <p:spPr>
          <a:xfrm>
            <a:off x="5744071" y="2562967"/>
            <a:ext cx="5042594" cy="214090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 этом примере класс C наследуется только от B, который наследуется от A.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Т.е. реальный объект на который указывает A принадлежит классу C, то преобразование вниз к B безопасно. т.к. в памяти присутствуют все данные для корректной работы B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93D7A82A-8BA2-AEC6-E601-FB1A075EFF8A}"/>
              </a:ext>
            </a:extLst>
          </p:cNvPr>
          <p:cNvSpPr/>
          <p:nvPr/>
        </p:nvSpPr>
        <p:spPr>
          <a:xfrm>
            <a:off x="3806965" y="2746093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1BE1355-24BC-42A3-4E3A-6C26E28465E3}"/>
              </a:ext>
            </a:extLst>
          </p:cNvPr>
          <p:cNvSpPr/>
          <p:nvPr/>
        </p:nvSpPr>
        <p:spPr>
          <a:xfrm>
            <a:off x="3806964" y="357451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A24AA5A-5C96-0A0D-ACE8-57F153C842A5}"/>
              </a:ext>
            </a:extLst>
          </p:cNvPr>
          <p:cNvSpPr/>
          <p:nvPr/>
        </p:nvSpPr>
        <p:spPr>
          <a:xfrm>
            <a:off x="3806964" y="4402936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425D9A4A-784D-7B2A-46F4-D1D1A1F5D80C}"/>
              </a:ext>
            </a:extLst>
          </p:cNvPr>
          <p:cNvCxnSpPr>
            <a:stCxn id="27" idx="0"/>
            <a:endCxn id="26" idx="2"/>
          </p:cNvCxnSpPr>
          <p:nvPr/>
        </p:nvCxnSpPr>
        <p:spPr>
          <a:xfrm flipV="1">
            <a:off x="4206291" y="3382700"/>
            <a:ext cx="1" cy="1918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418B706B-991D-9CC5-7BE1-AFE25BFDB414}"/>
              </a:ext>
            </a:extLst>
          </p:cNvPr>
          <p:cNvCxnSpPr>
            <a:stCxn id="28" idx="0"/>
            <a:endCxn id="27" idx="2"/>
          </p:cNvCxnSpPr>
          <p:nvPr/>
        </p:nvCxnSpPr>
        <p:spPr>
          <a:xfrm flipV="1">
            <a:off x="4206291" y="4211121"/>
            <a:ext cx="0" cy="191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Левая фигурная скобка 18">
            <a:extLst>
              <a:ext uri="{FF2B5EF4-FFF2-40B4-BE49-F238E27FC236}">
                <a16:creationId xmlns:a16="http://schemas.microsoft.com/office/drawing/2014/main" id="{E320BC14-FEBA-4384-9974-AAA600024BBF}"/>
              </a:ext>
            </a:extLst>
          </p:cNvPr>
          <p:cNvSpPr/>
          <p:nvPr/>
        </p:nvSpPr>
        <p:spPr>
          <a:xfrm rot="5400000">
            <a:off x="7627465" y="3680420"/>
            <a:ext cx="155448" cy="2916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58AA04-8383-4A9D-AF5A-AFFD0559CBF1}"/>
              </a:ext>
            </a:extLst>
          </p:cNvPr>
          <p:cNvSpPr txBox="1"/>
          <p:nvPr/>
        </p:nvSpPr>
        <p:spPr>
          <a:xfrm>
            <a:off x="7561335" y="47793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B</a:t>
            </a:r>
            <a:endParaRPr lang="ru-RU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32669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Указатель на класс виртуальным методом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класс содержит хотя бы один виртуальный метод, то, кроме членов-данных в памяти каждого объекта хранится таблица виртуальных методов, поэтому для преобразования вниз вместо </a:t>
            </a:r>
            <a:r>
              <a:rPr lang="ru-RU" sz="1600" dirty="0" err="1">
                <a:solidFill>
                  <a:srgbClr val="24292F"/>
                </a:solidFill>
              </a:rPr>
              <a:t>static_cast</a:t>
            </a:r>
            <a:r>
              <a:rPr lang="ru-RU" sz="1600" dirty="0">
                <a:solidFill>
                  <a:srgbClr val="24292F"/>
                </a:solidFill>
              </a:rPr>
              <a:t> нужно использовать </a:t>
            </a:r>
            <a:r>
              <a:rPr lang="ru-RU" sz="1600" dirty="0" err="1">
                <a:solidFill>
                  <a:srgbClr val="24292F"/>
                </a:solidFill>
              </a:rPr>
              <a:t>dynamic_cast</a:t>
            </a:r>
            <a:r>
              <a:rPr lang="ru-RU" sz="1600" dirty="0">
                <a:solidFill>
                  <a:srgbClr val="24292F"/>
                </a:solidFill>
              </a:rPr>
              <a:t>, который перед преобразованием сопоставляет таблицу виртуальных методов исходного и конечного классов и в случае их не совместимости возвращает нулевой указатель</a:t>
            </a:r>
            <a:r>
              <a:rPr lang="en-US" sz="1600" dirty="0">
                <a:solidFill>
                  <a:srgbClr val="24292F"/>
                </a:solidFill>
              </a:rPr>
              <a:t>: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9AB8E702-5809-C09B-84CF-917D84970199}"/>
              </a:ext>
            </a:extLst>
          </p:cNvPr>
          <p:cNvSpPr/>
          <p:nvPr/>
        </p:nvSpPr>
        <p:spPr>
          <a:xfrm>
            <a:off x="838201" y="3072862"/>
            <a:ext cx="5649382" cy="342001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(){};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OK, </a:t>
            </a:r>
            <a:r>
              <a:rPr lang="ru-RU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т.е. </a:t>
            </a:r>
            <a:r>
              <a:rPr lang="en-US" sz="10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UpCast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5AF09DB2-03FC-6965-2F97-3E0C9DBAC222}"/>
              </a:ext>
            </a:extLst>
          </p:cNvPr>
          <p:cNvSpPr/>
          <p:nvPr/>
        </p:nvSpPr>
        <p:spPr>
          <a:xfrm>
            <a:off x="6586292" y="3072862"/>
            <a:ext cx="4767508" cy="268155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Результат:</a:t>
            </a:r>
          </a:p>
          <a:p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algn="just"/>
            <a:b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Здесь в классе A присутствует виртуальный деструктор, который наследуется его классами потомками.</a:t>
            </a:r>
          </a:p>
          <a:p>
            <a:pPr algn="just"/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Попытка преобразования из A в B при помощи </a:t>
            </a:r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проходит успешно, хотя это потенциальная ошибка, т.к. реальный объект под указателем это объект класса C.</a:t>
            </a:r>
          </a:p>
          <a:p>
            <a:pPr algn="just"/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Попытка сделать тоже самое, но через </a:t>
            </a:r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проваливается и это правильное поведение.</a:t>
            </a:r>
          </a:p>
          <a:p>
            <a:pPr algn="just"/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Преобразование из A обратно в C через </a:t>
            </a:r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как и ожидалось проходит успешно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A0CCC31-612D-C973-DAC7-10AE2C8425D2}"/>
              </a:ext>
            </a:extLst>
          </p:cNvPr>
          <p:cNvSpPr/>
          <p:nvPr/>
        </p:nvSpPr>
        <p:spPr>
          <a:xfrm>
            <a:off x="3808067" y="4308675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BB69051-1F67-86AC-C881-12B80C3FAF30}"/>
              </a:ext>
            </a:extLst>
          </p:cNvPr>
          <p:cNvSpPr/>
          <p:nvPr/>
        </p:nvSpPr>
        <p:spPr>
          <a:xfrm>
            <a:off x="5401519" y="3444228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26F4B05-AD84-2079-6843-D215B44A5897}"/>
              </a:ext>
            </a:extLst>
          </p:cNvPr>
          <p:cNvSpPr/>
          <p:nvPr/>
        </p:nvSpPr>
        <p:spPr>
          <a:xfrm>
            <a:off x="4369444" y="3429000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FED54B4-8310-B82E-E810-19C9ADF70471}"/>
              </a:ext>
            </a:extLst>
          </p:cNvPr>
          <p:cNvSpPr/>
          <p:nvPr/>
        </p:nvSpPr>
        <p:spPr>
          <a:xfrm>
            <a:off x="4867480" y="4308676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3D0E3227-BE1E-F247-C504-D9D678B27C8A}"/>
              </a:ext>
            </a:extLst>
          </p:cNvPr>
          <p:cNvCxnSpPr>
            <a:cxnSpLocks/>
            <a:stCxn id="10" idx="0"/>
            <a:endCxn id="14" idx="2"/>
          </p:cNvCxnSpPr>
          <p:nvPr/>
        </p:nvCxnSpPr>
        <p:spPr>
          <a:xfrm flipV="1">
            <a:off x="4207394" y="4065607"/>
            <a:ext cx="561377" cy="2430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61802830-40FD-A2DC-DF12-50F6D5A6B2A7}"/>
              </a:ext>
            </a:extLst>
          </p:cNvPr>
          <p:cNvCxnSpPr>
            <a:stCxn id="16" idx="0"/>
            <a:endCxn id="12" idx="2"/>
          </p:cNvCxnSpPr>
          <p:nvPr/>
        </p:nvCxnSpPr>
        <p:spPr>
          <a:xfrm flipV="1">
            <a:off x="5266807" y="4080835"/>
            <a:ext cx="534039" cy="2278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CE69489D-38E3-7FA2-3F92-625E9D39D772}"/>
              </a:ext>
            </a:extLst>
          </p:cNvPr>
          <p:cNvCxnSpPr>
            <a:stCxn id="16" idx="0"/>
            <a:endCxn id="14" idx="2"/>
          </p:cNvCxnSpPr>
          <p:nvPr/>
        </p:nvCxnSpPr>
        <p:spPr>
          <a:xfrm flipH="1" flipV="1">
            <a:off x="4768771" y="4065607"/>
            <a:ext cx="498036" cy="243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334204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Ссылки</a:t>
            </a:r>
          </a:p>
        </p:txBody>
      </p:sp>
    </p:spTree>
    <p:extLst>
      <p:ext uri="{BB962C8B-B14F-4D97-AF65-F5344CB8AC3E}">
        <p14:creationId xmlns:p14="http://schemas.microsoft.com/office/powerpoint/2010/main" val="415981136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ссылка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27691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С++ существует два вида ссылок:</a:t>
            </a:r>
            <a:r>
              <a:rPr lang="en-US" sz="1600" dirty="0">
                <a:solidFill>
                  <a:srgbClr val="24292F"/>
                </a:solidFill>
              </a:rPr>
              <a:t> l-value </a:t>
            </a:r>
            <a:r>
              <a:rPr lang="ru-RU" sz="1600" dirty="0">
                <a:solidFill>
                  <a:srgbClr val="24292F"/>
                </a:solidFill>
              </a:rPr>
              <a:t>ссылки (например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int&amp;</a:t>
            </a:r>
            <a:r>
              <a:rPr lang="ru-RU" sz="1600" dirty="0">
                <a:solidFill>
                  <a:srgbClr val="24292F"/>
                </a:solidFill>
              </a:rPr>
              <a:t>)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и </a:t>
            </a:r>
            <a:r>
              <a:rPr lang="en-US" sz="1600" dirty="0" err="1">
                <a:solidFill>
                  <a:srgbClr val="24292F"/>
                </a:solidFill>
              </a:rPr>
              <a:t>r-value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ссылки (например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int&amp;&amp;</a:t>
            </a:r>
            <a:r>
              <a:rPr lang="ru-RU" sz="1600" dirty="0">
                <a:solidFill>
                  <a:srgbClr val="24292F"/>
                </a:solidFill>
              </a:rPr>
              <a:t>)</a:t>
            </a:r>
            <a:r>
              <a:rPr lang="en-US" sz="1600" dirty="0">
                <a:solidFill>
                  <a:srgbClr val="24292F"/>
                </a:solidFill>
              </a:rPr>
              <a:t>. </a:t>
            </a:r>
            <a:r>
              <a:rPr lang="ru-RU" sz="1600" dirty="0">
                <a:solidFill>
                  <a:srgbClr val="24292F"/>
                </a:solidFill>
              </a:rPr>
              <a:t>Далее под словом ссылка будет подразумеваться </a:t>
            </a:r>
            <a:r>
              <a:rPr lang="en-US" sz="1600" dirty="0">
                <a:solidFill>
                  <a:srgbClr val="24292F"/>
                </a:solidFill>
              </a:rPr>
              <a:t>l-value </a:t>
            </a:r>
            <a:r>
              <a:rPr lang="ru-RU" sz="1600" dirty="0">
                <a:solidFill>
                  <a:srgbClr val="24292F"/>
                </a:solidFill>
              </a:rPr>
              <a:t>ссылка.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Ссылку в C++ — можно воспринимать, как альтернативное имя для существующего объекта. Под капотом ссылка может быть реализована как указатель, поэтому ссылки часто называют </a:t>
            </a:r>
            <a:r>
              <a:rPr lang="ru-RU" sz="1600" dirty="0" err="1">
                <a:solidFill>
                  <a:srgbClr val="24292F"/>
                </a:solidFill>
              </a:rPr>
              <a:t>саморазименовывающимися</a:t>
            </a:r>
            <a:r>
              <a:rPr lang="ru-RU" sz="1600" dirty="0">
                <a:solidFill>
                  <a:srgbClr val="24292F"/>
                </a:solidFill>
              </a:rPr>
              <a:t> указателями.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Основное назначение ссылок – более удобная форма записи по сравнению с указателями.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774080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Переменная-ссылка объявляется как: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 err="1">
                <a:solidFill>
                  <a:srgbClr val="24292F"/>
                </a:solidFill>
              </a:rPr>
              <a:t>Тип_данных</a:t>
            </a:r>
            <a:r>
              <a:rPr lang="ru-RU" sz="1600" dirty="0">
                <a:solidFill>
                  <a:srgbClr val="24292F"/>
                </a:solidFill>
              </a:rPr>
              <a:t> </a:t>
            </a:r>
            <a:r>
              <a:rPr lang="en-US" sz="1600" dirty="0">
                <a:solidFill>
                  <a:srgbClr val="24292F"/>
                </a:solidFill>
              </a:rPr>
              <a:t>&amp;</a:t>
            </a:r>
            <a:r>
              <a:rPr lang="ru-RU" sz="1600" dirty="0">
                <a:solidFill>
                  <a:srgbClr val="24292F"/>
                </a:solidFill>
              </a:rPr>
              <a:t> </a:t>
            </a:r>
            <a:r>
              <a:rPr lang="ru-RU" sz="1600" dirty="0" err="1">
                <a:solidFill>
                  <a:srgbClr val="24292F"/>
                </a:solidFill>
              </a:rPr>
              <a:t>Имя_ссылки</a:t>
            </a:r>
            <a:r>
              <a:rPr lang="ru-RU" sz="1600" dirty="0">
                <a:solidFill>
                  <a:srgbClr val="24292F"/>
                </a:solidFill>
              </a:rPr>
              <a:t>: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Количество пробелов слева и справа от амперсанда значения не имеет: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24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При объявлении нескольких переменных-ссылок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одновременно, амперсанд должна находится у каждой,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иначе переменная воспринимается как переменная-значение: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7778187" y="1730017"/>
            <a:ext cx="3575613" cy="93081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 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string &amp;k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vector&lt;string&gt; &amp;m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A648D8D7-262E-941C-BFE9-F08E3AA4AB6D}"/>
              </a:ext>
            </a:extLst>
          </p:cNvPr>
          <p:cNvSpPr/>
          <p:nvPr/>
        </p:nvSpPr>
        <p:spPr>
          <a:xfrm>
            <a:off x="7778187" y="3176368"/>
            <a:ext cx="3575613" cy="93081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  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&amp;  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  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93CC58F2-738E-227E-DFCB-3C0D0FEB19FF}"/>
              </a:ext>
            </a:extLst>
          </p:cNvPr>
          <p:cNvSpPr/>
          <p:nvPr/>
        </p:nvSpPr>
        <p:spPr>
          <a:xfrm>
            <a:off x="6516547" y="4622718"/>
            <a:ext cx="4837253" cy="93081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v = 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= v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a -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ссылка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b и c – просто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-ы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= v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= v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 и k - ссылки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0362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Создать не инициализированную ссылку нельзя. Синтаксис требует, чтобы 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инициализатор обязательно присутствовал.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После создания, ссылка не может быть привязана к другому объекту, поэтому для ссылок нет никакого аналога </a:t>
            </a:r>
            <a:r>
              <a:rPr lang="en-US" sz="15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ru-RU" sz="15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000000"/>
                </a:solidFill>
              </a:rPr>
              <a:t>Для инициализации ссылки после символа = в объявлении достаточно указать объект походящего типа. Никаких дополнительных действий не требуется.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000000"/>
                </a:solidFill>
              </a:rPr>
              <a:t>Ссылка может быть связана только с объектом у которого есть постоянный адрес в памяти. Обычную ссылку на временный объекта создать нельзя:</a:t>
            </a:r>
            <a:endParaRPr lang="en-US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927737" y="4001294"/>
            <a:ext cx="8336526" cy="87507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 = 10;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value2 = 20;</a:t>
            </a:r>
            <a:endParaRPr lang="ru-RU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ref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Ссылка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ref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связана с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value.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ref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value2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Аналогично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AB55D48E-B0EB-BBB1-EF64-DC04F05F9505}"/>
              </a:ext>
            </a:extLst>
          </p:cNvPr>
          <p:cNvSpPr/>
          <p:nvPr/>
        </p:nvSpPr>
        <p:spPr>
          <a:xfrm>
            <a:off x="8406367" y="1825625"/>
            <a:ext cx="2947433" cy="99376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=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207B1AA9-65BE-ECB4-2345-9FFB413BDA12}"/>
              </a:ext>
            </a:extLst>
          </p:cNvPr>
          <p:cNvSpPr/>
          <p:nvPr/>
        </p:nvSpPr>
        <p:spPr>
          <a:xfrm>
            <a:off x="1927737" y="6071982"/>
            <a:ext cx="8336526" cy="20996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ref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2;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Ошибка!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2 – временный объект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410128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Виды ссылок</a:t>
            </a:r>
          </a:p>
        </p:txBody>
      </p:sp>
    </p:spTree>
    <p:extLst>
      <p:ext uri="{BB962C8B-B14F-4D97-AF65-F5344CB8AC3E}">
        <p14:creationId xmlns:p14="http://schemas.microsoft.com/office/powerpoint/2010/main" val="158830051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 типизированная ссылка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571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Не типизированных ссылок не существует: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672975" y="2278653"/>
            <a:ext cx="8846049" cy="38352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Ошибка! Нельзя объявить ссылку на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void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780410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Типизированная ссылка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качестве типа ссылки может быть использован любой тип данных, кроме массива, т.к. его нельзя инициализировать: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Объектные обёртки над массивами </a:t>
            </a:r>
            <a:r>
              <a:rPr lang="ru-RU" sz="1600" dirty="0" err="1">
                <a:solidFill>
                  <a:srgbClr val="24292F"/>
                </a:solidFill>
              </a:rPr>
              <a:t>типо</a:t>
            </a:r>
            <a:r>
              <a:rPr lang="ru-RU" sz="1600" dirty="0">
                <a:solidFill>
                  <a:srgbClr val="24292F"/>
                </a:solidFill>
              </a:rPr>
              <a:t> </a:t>
            </a:r>
            <a:r>
              <a:rPr lang="en-US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ru-RU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ru-RU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и любые другие также не могут иметь ссылку как параметр шаблона.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9CF5E766-148A-B1FC-ADA2-1B3093C3B0DC}"/>
              </a:ext>
            </a:extLst>
          </p:cNvPr>
          <p:cNvSpPr/>
          <p:nvPr/>
        </p:nvSpPr>
        <p:spPr>
          <a:xfrm>
            <a:off x="1376255" y="2283726"/>
            <a:ext cx="4087960" cy="124869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5B575E8-AD9D-0995-FEF4-A77C3A1832BF}"/>
              </a:ext>
            </a:extLst>
          </p:cNvPr>
          <p:cNvSpPr/>
          <p:nvPr/>
        </p:nvSpPr>
        <p:spPr>
          <a:xfrm>
            <a:off x="5741043" y="2283726"/>
            <a:ext cx="5197033" cy="124869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Ошибка! Массив ссылок</a:t>
            </a:r>
            <a:endParaRPr lang="ru-RU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f)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Ок!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Ссылка на массив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fr-F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(&amp;</a:t>
            </a:r>
            <a:r>
              <a:rPr lang="fr-F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fr-F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87644421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R-value </a:t>
            </a:r>
            <a:r>
              <a:rPr lang="ru-RU" dirty="0"/>
              <a:t>ссылка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571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Ссылки данного типа мы не будем рассматривать в этот раз, хотя они довольно часто встречаются.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отличие от </a:t>
            </a:r>
            <a:r>
              <a:rPr lang="en-US" sz="1600" dirty="0">
                <a:solidFill>
                  <a:srgbClr val="24292F"/>
                </a:solidFill>
              </a:rPr>
              <a:t>l-value </a:t>
            </a:r>
            <a:r>
              <a:rPr lang="ru-RU" sz="1600" dirty="0">
                <a:solidFill>
                  <a:srgbClr val="24292F"/>
                </a:solidFill>
              </a:rPr>
              <a:t>ссылок, они предназначены для объектов время жизни которых подходит к концу и не могут работать с объектами время жизни которых пока не заканчивается: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Ссылки данного типа были добавлены в С++ именно для того, чтобы отличать одни объекты от других.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534079" y="2787936"/>
            <a:ext cx="8846049" cy="89281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ref2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OK!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21435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Ссылки и константность</a:t>
            </a:r>
          </a:p>
        </p:txBody>
      </p:sp>
    </p:spTree>
    <p:extLst>
      <p:ext uri="{BB962C8B-B14F-4D97-AF65-F5344CB8AC3E}">
        <p14:creationId xmlns:p14="http://schemas.microsoft.com/office/powerpoint/2010/main" val="287418383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 и константность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отличие от указателя, ссылка не может быть константой, поэтому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квалификатор </a:t>
            </a:r>
            <a:r>
              <a:rPr lang="en-US" sz="1600" dirty="0">
                <a:solidFill>
                  <a:srgbClr val="24292F"/>
                </a:solidFill>
              </a:rPr>
              <a:t>const</a:t>
            </a:r>
            <a:r>
              <a:rPr lang="ru-RU" sz="1600" dirty="0">
                <a:solidFill>
                  <a:srgbClr val="24292F"/>
                </a:solidFill>
              </a:rPr>
              <a:t> не применим к ссылке: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При этом объект для которого создаётся ссылка – могут быть константой,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этом случае у нас будет ссылка на константу. Такая ссылка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может только читать данные, но не изменять: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ссылка </a:t>
            </a:r>
            <a:r>
              <a:rPr lang="ru-RU" sz="1600" b="1" dirty="0">
                <a:solidFill>
                  <a:srgbClr val="24292F"/>
                </a:solidFill>
              </a:rPr>
              <a:t>гарантирует</a:t>
            </a:r>
            <a:r>
              <a:rPr lang="ru-RU" sz="1600" dirty="0">
                <a:solidFill>
                  <a:srgbClr val="24292F"/>
                </a:solidFill>
              </a:rPr>
              <a:t> константность данных, то она может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сохранить ссылаться как константы, так и не константы.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обратном случае, только на не константы: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отличие от НЕ константной ссылки, константане могут ссылаться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 временные объекты, тем самым продлевая им жизнь, пока живёт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сама ссылка: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7407086" y="1825625"/>
            <a:ext cx="4253972" cy="103238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3A7F062A-AFAD-662D-873A-563BA909BFF2}"/>
              </a:ext>
            </a:extLst>
          </p:cNvPr>
          <p:cNvSpPr/>
          <p:nvPr/>
        </p:nvSpPr>
        <p:spPr>
          <a:xfrm>
            <a:off x="7407086" y="2967602"/>
            <a:ext cx="4253972" cy="103238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Попытка изменить константу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DB9999B3-8241-D733-36DF-D17FFA607915}"/>
              </a:ext>
            </a:extLst>
          </p:cNvPr>
          <p:cNvSpPr/>
          <p:nvPr/>
        </p:nvSpPr>
        <p:spPr>
          <a:xfrm>
            <a:off x="7407086" y="4223165"/>
            <a:ext cx="4253972" cy="108906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OK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! 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Ошибка!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r2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не гарантирует</a:t>
            </a:r>
          </a:p>
          <a:p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          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   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константности данных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F6676ED-353F-4138-0283-6C78C98E2902}"/>
              </a:ext>
            </a:extLst>
          </p:cNvPr>
          <p:cNvSpPr/>
          <p:nvPr/>
        </p:nvSpPr>
        <p:spPr>
          <a:xfrm>
            <a:off x="7407086" y="5403814"/>
            <a:ext cx="4253972" cy="77314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r1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pt-B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// Ошибка!</a:t>
            </a:r>
            <a:endParaRPr lang="pt-B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r2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pt-B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ОК!</a:t>
            </a:r>
            <a:endParaRPr lang="pt-B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238413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Размер ссылки</a:t>
            </a:r>
          </a:p>
        </p:txBody>
      </p:sp>
    </p:spTree>
    <p:extLst>
      <p:ext uri="{BB962C8B-B14F-4D97-AF65-F5344CB8AC3E}">
        <p14:creationId xmlns:p14="http://schemas.microsoft.com/office/powerpoint/2010/main" val="36201820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ссылки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общем случае измерить размер ссылки возможности нет, т.к. ссылка прозрачно преобразуется в объект на который ссылается. Компилятор вправе вообще ничего не создавать когда мы создаём ссылку. В некоторых случаях вместо ссылки будет создан указатель, но это зависит от компилятора, поэтому в общем случае ссылка не имеет размера: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5DC7CE5-9857-253B-BE61-4473E5567B1D}"/>
              </a:ext>
            </a:extLst>
          </p:cNvPr>
          <p:cNvSpPr/>
          <p:nvPr/>
        </p:nvSpPr>
        <p:spPr>
          <a:xfrm>
            <a:off x="4044165" y="2823648"/>
            <a:ext cx="4103670" cy="74504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4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// 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&amp;)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24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32444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Преобразование типа ссылки</a:t>
            </a:r>
          </a:p>
        </p:txBody>
      </p:sp>
    </p:spTree>
    <p:extLst>
      <p:ext uri="{BB962C8B-B14F-4D97-AF65-F5344CB8AC3E}">
        <p14:creationId xmlns:p14="http://schemas.microsoft.com/office/powerpoint/2010/main" val="5107593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Преобразование типа ссылки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правило преобразование типа ссылки является не допустимой (и бессмысленной) операцией, кроме преобразования между объектами связанными иерархией наследования и каста не константной ссылки в константную: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E87ACF58-8394-BE16-BB4E-B70DA06DF714}"/>
              </a:ext>
            </a:extLst>
          </p:cNvPr>
          <p:cNvSpPr/>
          <p:nvPr/>
        </p:nvSpPr>
        <p:spPr>
          <a:xfrm>
            <a:off x="2338087" y="2874087"/>
            <a:ext cx="6713316" cy="110982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dirty="0">
                <a:solidFill>
                  <a:srgbClr val="098658"/>
                </a:solidFill>
                <a:latin typeface="Consolas" panose="020B0609020204030204" pitchFamily="49" charset="0"/>
              </a:rPr>
              <a:t>3.14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&amp;&gt;(d);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Нельзя привести ссылку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(int&amp;)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pi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ОК! Аналог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&lt;int&amp;&gt;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1374389535 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67594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Операции с ссылками</a:t>
            </a:r>
          </a:p>
        </p:txBody>
      </p:sp>
    </p:spTree>
    <p:extLst>
      <p:ext uri="{BB962C8B-B14F-4D97-AF65-F5344CB8AC3E}">
        <p14:creationId xmlns:p14="http://schemas.microsoft.com/office/powerpoint/2010/main" val="7605344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Операции с ссылками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/>
              <a:t>Для ссылок такого понятия нет, т.к. ссылка прозрачно преобразуется в переменную к которой привязана.</a:t>
            </a:r>
          </a:p>
        </p:txBody>
      </p:sp>
    </p:spTree>
    <p:extLst>
      <p:ext uri="{BB962C8B-B14F-4D97-AF65-F5344CB8AC3E}">
        <p14:creationId xmlns:p14="http://schemas.microsoft.com/office/powerpoint/2010/main" val="420132033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Варианты применения ссылок</a:t>
            </a:r>
          </a:p>
        </p:txBody>
      </p:sp>
    </p:spTree>
    <p:extLst>
      <p:ext uri="{BB962C8B-B14F-4D97-AF65-F5344CB8AC3E}">
        <p14:creationId xmlns:p14="http://schemas.microsoft.com/office/powerpoint/2010/main" val="306338264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Основное предназначение ссылок – это сделать код более чистым по сравнению с указателями. Поэтому, как правило ссылки применяются при передаче данных в функцию.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видно, после применения ссылок код избавился от лишних звёздочек и амперсандов, и стал визуально проще.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Нет пользы от передачи по ссылке маленьких типов (только в том случае, если вы хотите их изменить в точке вызова).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Добавление квалификатора </a:t>
            </a:r>
            <a:r>
              <a:rPr lang="en-US" sz="1600" dirty="0">
                <a:solidFill>
                  <a:srgbClr val="24292F"/>
                </a:solidFill>
              </a:rPr>
              <a:t>const</a:t>
            </a:r>
            <a:r>
              <a:rPr lang="ru-RU" sz="1600" dirty="0">
                <a:solidFill>
                  <a:srgbClr val="24292F"/>
                </a:solidFill>
              </a:rPr>
              <a:t> к параметру-ссылке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позволит передавать в функцию не только переменные, но и временные объекты, поэтому часто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в параметрах можно встретить константане ссылки.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BEFAFB6-239E-448C-9B8D-C771C2BEB35D}"/>
              </a:ext>
            </a:extLst>
          </p:cNvPr>
          <p:cNvSpPr/>
          <p:nvPr/>
        </p:nvSpPr>
        <p:spPr>
          <a:xfrm>
            <a:off x="1734970" y="2852490"/>
            <a:ext cx="3878750" cy="1842938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&amp;b);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764971A2-61D0-8951-649F-DB644C5BDC09}"/>
              </a:ext>
            </a:extLst>
          </p:cNvPr>
          <p:cNvSpPr/>
          <p:nvPr/>
        </p:nvSpPr>
        <p:spPr>
          <a:xfrm>
            <a:off x="6376419" y="2852490"/>
            <a:ext cx="3878751" cy="184293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74412854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 - массив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правило ссылки не применяются при передаче в функцию статических массивов, т.к. от этого не особенном много пользы, скорее наоборот, т.к. под каждый размер массива придётся создавать одесную функцию.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Например в этом примере, функция </a:t>
            </a:r>
            <a:r>
              <a:rPr lang="en-US" sz="1600" dirty="0">
                <a:solidFill>
                  <a:srgbClr val="24292F"/>
                </a:solidFill>
              </a:rPr>
              <a:t>sum </a:t>
            </a:r>
            <a:r>
              <a:rPr lang="ru-RU" sz="1600" dirty="0">
                <a:solidFill>
                  <a:srgbClr val="24292F"/>
                </a:solidFill>
              </a:rPr>
              <a:t>будет работать только с массивами размером 4 элемента и никакими другими.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5DC7CE5-9857-253B-BE61-4473E5567B1D}"/>
              </a:ext>
            </a:extLst>
          </p:cNvPr>
          <p:cNvSpPr/>
          <p:nvPr/>
        </p:nvSpPr>
        <p:spPr>
          <a:xfrm>
            <a:off x="4044165" y="2668136"/>
            <a:ext cx="4103670" cy="168377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accum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accum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accum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(a,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528190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 - функция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 функциями таже история, что и с массивами. Пользы от использования ссылок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на функции нет: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9026732-D287-8D5A-E21A-D2582FD0B532}"/>
              </a:ext>
            </a:extLst>
          </p:cNvPr>
          <p:cNvSpPr/>
          <p:nvPr/>
        </p:nvSpPr>
        <p:spPr>
          <a:xfrm>
            <a:off x="3462136" y="2340700"/>
            <a:ext cx="5267728" cy="196508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sqr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pt-BR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sqr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25;</a:t>
            </a:r>
            <a:endParaRPr lang="pt-B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303243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 - </a:t>
            </a:r>
            <a:r>
              <a:rPr lang="en-US" sz="4400" dirty="0">
                <a:solidFill>
                  <a:srgbClr val="24292F"/>
                </a:solidFill>
              </a:rPr>
              <a:t>aliasing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ссылок также как и для указателей актуальна проблема </a:t>
            </a:r>
            <a:r>
              <a:rPr lang="en-US" sz="1600" dirty="0" err="1">
                <a:solidFill>
                  <a:srgbClr val="24292F"/>
                </a:solidFill>
              </a:rPr>
              <a:t>aliasinga</a:t>
            </a:r>
            <a:r>
              <a:rPr lang="ru-RU" sz="1600" dirty="0">
                <a:solidFill>
                  <a:srgbClr val="24292F"/>
                </a:solidFill>
              </a:rPr>
              <a:t>, т.к. диапазоны памяти с которыми связаны ссылки могут пересекаться.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Решение такое же как и для указателей.</a:t>
            </a:r>
            <a:endParaRPr lang="en-US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89937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Возврат ссылки из функции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С++, редко используют возврат ссылок из функции (ещё реже чем указатели):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BEFAFB6-239E-448C-9B8D-C771C2BEB35D}"/>
              </a:ext>
            </a:extLst>
          </p:cNvPr>
          <p:cNvSpPr/>
          <p:nvPr/>
        </p:nvSpPr>
        <p:spPr>
          <a:xfrm>
            <a:off x="2915480" y="2235366"/>
            <a:ext cx="6361037" cy="125714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ru-RU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Висяч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ая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ссылка, т.к. переменная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удалена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CD6525D9-EB2A-4AB9-1DB6-55A00C157055}"/>
              </a:ext>
            </a:extLst>
          </p:cNvPr>
          <p:cNvSpPr/>
          <p:nvPr/>
        </p:nvSpPr>
        <p:spPr>
          <a:xfrm>
            <a:off x="2915481" y="3689858"/>
            <a:ext cx="6361037" cy="103261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newArray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9444190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Полиморфизм через наследование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 указателях и ссылках основывается одна из реализаций идеи полиморфизма в С++, а точнее реализация полиморфизма через наследование.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Об этом подробнее будет в блоке про ссылки и ООП.</a:t>
            </a:r>
          </a:p>
        </p:txBody>
      </p:sp>
    </p:spTree>
    <p:extLst>
      <p:ext uri="{BB962C8B-B14F-4D97-AF65-F5344CB8AC3E}">
        <p14:creationId xmlns:p14="http://schemas.microsoft.com/office/powerpoint/2010/main" val="381359830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Как читать тип ссылок</a:t>
            </a:r>
          </a:p>
        </p:txBody>
      </p:sp>
    </p:spTree>
    <p:extLst>
      <p:ext uri="{BB962C8B-B14F-4D97-AF65-F5344CB8AC3E}">
        <p14:creationId xmlns:p14="http://schemas.microsoft.com/office/powerpoint/2010/main" val="177462687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Декларация типов </a:t>
            </a:r>
            <a:r>
              <a:rPr lang="en-US" dirty="0"/>
              <a:t>C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Т.к. нет возможности создавать что-то </a:t>
            </a:r>
            <a:r>
              <a:rPr lang="ru-RU" sz="1600" dirty="0" err="1">
                <a:solidFill>
                  <a:srgbClr val="24292F"/>
                </a:solidFill>
              </a:rPr>
              <a:t>типо</a:t>
            </a:r>
            <a:r>
              <a:rPr lang="ru-RU" sz="1600" dirty="0">
                <a:solidFill>
                  <a:srgbClr val="24292F"/>
                </a:solidFill>
              </a:rPr>
              <a:t> такого: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то нет необходимости вводить какие-то специальные правила чтения ссылок.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113AD5C1-D678-0385-5733-E877BC78AD43}"/>
              </a:ext>
            </a:extLst>
          </p:cNvPr>
          <p:cNvSpPr/>
          <p:nvPr/>
        </p:nvSpPr>
        <p:spPr>
          <a:xfrm>
            <a:off x="2981632" y="2356578"/>
            <a:ext cx="6228736" cy="34032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62775256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Ссылки в ООП</a:t>
            </a:r>
          </a:p>
        </p:txBody>
      </p:sp>
    </p:spTree>
    <p:extLst>
      <p:ext uri="{BB962C8B-B14F-4D97-AF65-F5344CB8AC3E}">
        <p14:creationId xmlns:p14="http://schemas.microsoft.com/office/powerpoint/2010/main" val="179794261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Доступ к полю структуры/класса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тип ссылки – структура или класс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Можно получить доступ к её полю или </a:t>
            </a:r>
            <a:r>
              <a:rPr lang="ru-RU" sz="1600" b="1" dirty="0">
                <a:solidFill>
                  <a:srgbClr val="24292F"/>
                </a:solidFill>
              </a:rPr>
              <a:t>методу</a:t>
            </a:r>
            <a:r>
              <a:rPr lang="ru-RU" sz="1600" dirty="0">
                <a:solidFill>
                  <a:srgbClr val="24292F"/>
                </a:solidFill>
              </a:rPr>
              <a:t>: 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1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Кроме того, можно напрямую получить ссылку на поле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24292F"/>
                </a:solidFill>
              </a:rPr>
              <a:t>(</a:t>
            </a:r>
            <a:r>
              <a:rPr lang="ru-RU" sz="1600" dirty="0">
                <a:solidFill>
                  <a:srgbClr val="24292F"/>
                </a:solidFill>
              </a:rPr>
              <a:t>но не на метод</a:t>
            </a:r>
            <a:r>
              <a:rPr lang="en-US" sz="1600" dirty="0">
                <a:solidFill>
                  <a:srgbClr val="24292F"/>
                </a:solidFill>
              </a:rPr>
              <a:t>)</a:t>
            </a:r>
            <a:r>
              <a:rPr lang="ru-RU" sz="1600" dirty="0">
                <a:solidFill>
                  <a:srgbClr val="24292F"/>
                </a:solidFill>
              </a:rPr>
              <a:t> класса: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5409137" y="1825625"/>
            <a:ext cx="5465341" cy="147801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ref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84C8BCCC-1568-F8E2-B07E-9496ABCAD156}"/>
              </a:ext>
            </a:extLst>
          </p:cNvPr>
          <p:cNvSpPr/>
          <p:nvPr/>
        </p:nvSpPr>
        <p:spPr>
          <a:xfrm>
            <a:off x="5409137" y="3438576"/>
            <a:ext cx="5465341" cy="59802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ref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0ECAE5AC-9E83-43D4-8EFD-7BE6A09236BE}"/>
              </a:ext>
            </a:extLst>
          </p:cNvPr>
          <p:cNvSpPr/>
          <p:nvPr/>
        </p:nvSpPr>
        <p:spPr>
          <a:xfrm>
            <a:off x="6882581" y="4209742"/>
            <a:ext cx="3991898" cy="59802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r</a:t>
            </a:r>
            <a:r>
              <a:rPr lang="fr-F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r-FR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fr-F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fr-FR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ry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r-F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C5618D56-C2D8-190E-9CD0-B988BC1A4AF5}"/>
              </a:ext>
            </a:extLst>
          </p:cNvPr>
          <p:cNvGraphicFramePr>
            <a:graphicFrameLocks noGrp="1"/>
          </p:cNvGraphicFramePr>
          <p:nvPr/>
        </p:nvGraphicFramePr>
        <p:xfrm>
          <a:off x="2294815" y="4904921"/>
          <a:ext cx="6876000" cy="170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000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3729662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22128962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Point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x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y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/>
                      <a:r>
                        <a:rPr lang="en-US" sz="1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ptr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py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019BC71C-6375-6C9E-F65B-D85084C56DF0}"/>
              </a:ext>
            </a:extLst>
          </p:cNvPr>
          <p:cNvSpPr/>
          <p:nvPr/>
        </p:nvSpPr>
        <p:spPr>
          <a:xfrm rot="5400000">
            <a:off x="3938060" y="5026212"/>
            <a:ext cx="144000" cy="115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Левая фигурная скобка 9">
            <a:extLst>
              <a:ext uri="{FF2B5EF4-FFF2-40B4-BE49-F238E27FC236}">
                <a16:creationId xmlns:a16="http://schemas.microsoft.com/office/drawing/2014/main" id="{0F136F57-3473-C475-F2E1-5411B1F4BD5C}"/>
              </a:ext>
            </a:extLst>
          </p:cNvPr>
          <p:cNvSpPr/>
          <p:nvPr/>
        </p:nvSpPr>
        <p:spPr>
          <a:xfrm rot="5400000">
            <a:off x="6808095" y="4470141"/>
            <a:ext cx="144000" cy="2268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Левая фигурная скобка 10">
            <a:extLst>
              <a:ext uri="{FF2B5EF4-FFF2-40B4-BE49-F238E27FC236}">
                <a16:creationId xmlns:a16="http://schemas.microsoft.com/office/drawing/2014/main" id="{689085EC-DB01-6881-139F-3A8842FCB535}"/>
              </a:ext>
            </a:extLst>
          </p:cNvPr>
          <p:cNvSpPr/>
          <p:nvPr/>
        </p:nvSpPr>
        <p:spPr>
          <a:xfrm rot="5400000">
            <a:off x="5654170" y="3065761"/>
            <a:ext cx="144000" cy="45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944786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Доступ к полю структуры/класса</a:t>
            </a:r>
            <a:r>
              <a:rPr lang="en-US" dirty="0"/>
              <a:t> - static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Ссылку на статические поля можно брать как через экземпляр класса, так и без него. Физически статические поля располагаются НЕ рядом с остальными, в той же области памяти, что и глобальные переменные: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3175223" y="2543257"/>
            <a:ext cx="5465341" cy="220236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1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ref =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ref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Прямоугольник: скругленные углы 3">
            <a:extLst>
              <a:ext uri="{FF2B5EF4-FFF2-40B4-BE49-F238E27FC236}">
                <a16:creationId xmlns:a16="http://schemas.microsoft.com/office/drawing/2014/main" id="{AFAA18D2-8597-45FB-F709-857B3E556210}"/>
              </a:ext>
            </a:extLst>
          </p:cNvPr>
          <p:cNvSpPr/>
          <p:nvPr/>
        </p:nvSpPr>
        <p:spPr>
          <a:xfrm>
            <a:off x="3175223" y="4778139"/>
            <a:ext cx="5465341" cy="468000"/>
          </a:xfrm>
          <a:prstGeom prst="roundRect">
            <a:avLst>
              <a:gd name="adj" fmla="val 11332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9112553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Сслыка</a:t>
            </a:r>
            <a:r>
              <a:rPr lang="ru-RU" dirty="0"/>
              <a:t> в ООП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отличие от других типов данных классы можно связать через наследование.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2 или больше классов связаны через наследование, то между ними возможно преобразование вниз или вверх по иерархии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Преобразование типа ссылки вверх по иерархии классов (</a:t>
            </a:r>
            <a:r>
              <a:rPr lang="en-US" sz="1600" dirty="0" err="1">
                <a:solidFill>
                  <a:srgbClr val="24292F"/>
                </a:solidFill>
              </a:rPr>
              <a:t>UpCast</a:t>
            </a:r>
            <a:r>
              <a:rPr lang="ru-RU" sz="1600" dirty="0">
                <a:solidFill>
                  <a:srgbClr val="24292F"/>
                </a:solidFill>
              </a:rPr>
              <a:t>) - безопасно, с точки зрения работы с памятью, поэтому оно выполняется неявно.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Преобразование вниз по иерархии (</a:t>
            </a:r>
            <a:r>
              <a:rPr lang="en-US" sz="1600" dirty="0" err="1">
                <a:solidFill>
                  <a:srgbClr val="24292F"/>
                </a:solidFill>
              </a:rPr>
              <a:t>DownCast</a:t>
            </a:r>
            <a:r>
              <a:rPr lang="ru-RU" sz="1600" dirty="0">
                <a:solidFill>
                  <a:srgbClr val="24292F"/>
                </a:solidFill>
              </a:rPr>
              <a:t>) может быть опасно, поэтому такое преобразование можно выполнить только явным образом (программист берёт ответственность на себя)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5DC7CE5-9857-253B-BE61-4473E5567B1D}"/>
              </a:ext>
            </a:extLst>
          </p:cNvPr>
          <p:cNvSpPr/>
          <p:nvPr/>
        </p:nvSpPr>
        <p:spPr>
          <a:xfrm>
            <a:off x="924945" y="3794841"/>
            <a:ext cx="8670468" cy="251705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 = *new 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 = *new 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a2 = b;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Ошибок нет, т.к. преобразование вверх по иерархии (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UpCast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b2 = a;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Преобразование вниз по иерархии (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DownCast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b2 = (B&amp;) a;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Ошибок нет, т.к. используется явное преобразование в стиле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b2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&lt;B&amp;&gt;(a);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Ошибок нет, т.к. используется явное преобразование в стиле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C++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3295E74-A198-C2C4-5D20-B4A5AF32D275}"/>
              </a:ext>
            </a:extLst>
          </p:cNvPr>
          <p:cNvSpPr/>
          <p:nvPr/>
        </p:nvSpPr>
        <p:spPr>
          <a:xfrm>
            <a:off x="9749744" y="4117375"/>
            <a:ext cx="1327355" cy="796848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3B5592A-17F0-2AFA-CE39-6D546C449929}"/>
              </a:ext>
            </a:extLst>
          </p:cNvPr>
          <p:cNvSpPr/>
          <p:nvPr/>
        </p:nvSpPr>
        <p:spPr>
          <a:xfrm>
            <a:off x="9749744" y="5380115"/>
            <a:ext cx="1327355" cy="796848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FFD9AD8F-9056-8578-0599-A01EF9338D95}"/>
              </a:ext>
            </a:extLst>
          </p:cNvPr>
          <p:cNvCxnSpPr>
            <a:stCxn id="6" idx="0"/>
            <a:endCxn id="5" idx="2"/>
          </p:cNvCxnSpPr>
          <p:nvPr/>
        </p:nvCxnSpPr>
        <p:spPr>
          <a:xfrm flipV="1">
            <a:off x="10413422" y="4914223"/>
            <a:ext cx="0" cy="46589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228429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вверх по иерархии безопасно (с точки зрения памяти)?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/>
        </p:nvGraphicFramePr>
        <p:xfrm>
          <a:off x="5744071" y="4566921"/>
          <a:ext cx="4911430" cy="2321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16267729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664979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6190C56D-AF5F-A1DA-A711-68528817B26B}"/>
              </a:ext>
            </a:extLst>
          </p:cNvPr>
          <p:cNvSpPr/>
          <p:nvPr/>
        </p:nvSpPr>
        <p:spPr>
          <a:xfrm rot="5400000">
            <a:off x="7623992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>
            <a:extLst>
              <a:ext uri="{FF2B5EF4-FFF2-40B4-BE49-F238E27FC236}">
                <a16:creationId xmlns:a16="http://schemas.microsoft.com/office/drawing/2014/main" id="{57D95AFD-1771-A0F3-78BF-C53173AA1747}"/>
              </a:ext>
            </a:extLst>
          </p:cNvPr>
          <p:cNvSpPr/>
          <p:nvPr/>
        </p:nvSpPr>
        <p:spPr>
          <a:xfrm rot="5400000">
            <a:off x="8619415" y="5172948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9591697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664979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99354E05-0540-0EC4-60A9-CB4A83020525}"/>
              </a:ext>
            </a:extLst>
          </p:cNvPr>
          <p:cNvSpPr/>
          <p:nvPr/>
        </p:nvSpPr>
        <p:spPr>
          <a:xfrm rot="5400000">
            <a:off x="8121854" y="4418090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115693" y="3046119"/>
            <a:ext cx="155448" cy="392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бъект 2">
            <a:extLst>
              <a:ext uri="{FF2B5EF4-FFF2-40B4-BE49-F238E27FC236}">
                <a16:creationId xmlns:a16="http://schemas.microsoft.com/office/drawing/2014/main" id="{DF680E86-EDC3-5CF9-11EB-9FAA38E49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Из за такой структуры размещения в памяти, в наследнике, всегда возможно найти точку начиная с которой размещён каждый из предков и установить на него ссылку.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Т.е. в процессе преобразования адреса потомка к адресу предка результирующий адрес может быть сдвинут вперёд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4A0C9030-0515-3D8F-86C9-0C50A7CE1762}"/>
              </a:ext>
            </a:extLst>
          </p:cNvPr>
          <p:cNvSpPr/>
          <p:nvPr/>
        </p:nvSpPr>
        <p:spPr>
          <a:xfrm>
            <a:off x="894213" y="2955810"/>
            <a:ext cx="4103670" cy="322115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7AF7014-149B-AE9E-890D-02D52D1CAFF7}"/>
              </a:ext>
            </a:extLst>
          </p:cNvPr>
          <p:cNvSpPr/>
          <p:nvPr/>
        </p:nvSpPr>
        <p:spPr>
          <a:xfrm>
            <a:off x="5660020" y="2947461"/>
            <a:ext cx="5150734" cy="178362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Такой вывод объясняется тем, что </a:t>
            </a:r>
            <a:r>
              <a:rPr lang="ru-RU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"подобъект"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 внутри C расположен после A и для корректной работы с ним нужно сдвинуть указатель начала на длину объекта A вперёд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8AF499A-1C67-F1A3-BB9F-0B2346E3F9F7}"/>
              </a:ext>
            </a:extLst>
          </p:cNvPr>
          <p:cNvSpPr/>
          <p:nvPr/>
        </p:nvSpPr>
        <p:spPr>
          <a:xfrm>
            <a:off x="3895532" y="336698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834C1073-C41B-646D-4AA4-F47C18AB5193}"/>
              </a:ext>
            </a:extLst>
          </p:cNvPr>
          <p:cNvSpPr/>
          <p:nvPr/>
        </p:nvSpPr>
        <p:spPr>
          <a:xfrm>
            <a:off x="2863457" y="3351756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3336771-F21C-EBC4-4CD7-9995EEFD150D}"/>
              </a:ext>
            </a:extLst>
          </p:cNvPr>
          <p:cNvSpPr/>
          <p:nvPr/>
        </p:nvSpPr>
        <p:spPr>
          <a:xfrm>
            <a:off x="3361493" y="441278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1F47AFCC-EA01-495B-E98A-74733A8BA696}"/>
              </a:ext>
            </a:extLst>
          </p:cNvPr>
          <p:cNvCxnSpPr>
            <a:stCxn id="22" idx="0"/>
            <a:endCxn id="20" idx="2"/>
          </p:cNvCxnSpPr>
          <p:nvPr/>
        </p:nvCxnSpPr>
        <p:spPr>
          <a:xfrm flipV="1">
            <a:off x="3760820" y="4003591"/>
            <a:ext cx="534039" cy="409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F8CD6011-976B-690F-D8FB-BFCFD71AAD45}"/>
              </a:ext>
            </a:extLst>
          </p:cNvPr>
          <p:cNvCxnSpPr>
            <a:stCxn id="22" idx="0"/>
            <a:endCxn id="21" idx="2"/>
          </p:cNvCxnSpPr>
          <p:nvPr/>
        </p:nvCxnSpPr>
        <p:spPr>
          <a:xfrm flipH="1" flipV="1">
            <a:off x="3262784" y="3988363"/>
            <a:ext cx="498036" cy="4244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103613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вниз по иерархии может быть опасно (с точки зрения памяти)?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/>
        </p:nvGraphicFramePr>
        <p:xfrm>
          <a:off x="5744071" y="4566921"/>
          <a:ext cx="4911430" cy="2321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16267729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en-US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664979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6190C56D-AF5F-A1DA-A711-68528817B26B}"/>
              </a:ext>
            </a:extLst>
          </p:cNvPr>
          <p:cNvSpPr/>
          <p:nvPr/>
        </p:nvSpPr>
        <p:spPr>
          <a:xfrm rot="5400000">
            <a:off x="7623992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>
            <a:extLst>
              <a:ext uri="{FF2B5EF4-FFF2-40B4-BE49-F238E27FC236}">
                <a16:creationId xmlns:a16="http://schemas.microsoft.com/office/drawing/2014/main" id="{57D95AFD-1771-A0F3-78BF-C53173AA1747}"/>
              </a:ext>
            </a:extLst>
          </p:cNvPr>
          <p:cNvSpPr/>
          <p:nvPr/>
        </p:nvSpPr>
        <p:spPr>
          <a:xfrm rot="5400000">
            <a:off x="8619415" y="5172948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9591697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664979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99354E05-0540-0EC4-60A9-CB4A83020525}"/>
              </a:ext>
            </a:extLst>
          </p:cNvPr>
          <p:cNvSpPr/>
          <p:nvPr/>
        </p:nvSpPr>
        <p:spPr>
          <a:xfrm rot="5400000">
            <a:off x="8121854" y="4418090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115693" y="3046119"/>
            <a:ext cx="155448" cy="392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847019B1-E902-54C3-C7B8-387560783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упоминалось выше, в процессе преобразования типа ссылки с адресом могут происходить различные преобразования из-за которых мы можем не намеренно получить доступ к чужим данным.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6778D780-C4F0-4624-0EE9-15E34483DB11}"/>
              </a:ext>
            </a:extLst>
          </p:cNvPr>
          <p:cNvSpPr/>
          <p:nvPr/>
        </p:nvSpPr>
        <p:spPr>
          <a:xfrm>
            <a:off x="882771" y="2598713"/>
            <a:ext cx="4379514" cy="357825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23EC346C-A178-346D-83A3-9111F3E81557}"/>
              </a:ext>
            </a:extLst>
          </p:cNvPr>
          <p:cNvSpPr/>
          <p:nvPr/>
        </p:nvSpPr>
        <p:spPr>
          <a:xfrm>
            <a:off x="5744071" y="2598713"/>
            <a:ext cx="5127943" cy="210515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.90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.900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.9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06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Как видно, чтобы получить адрес объекта класса C адрес B был сдвинут влево на длину равную размеру первого предка.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Теперь при попытка обратиться к полям a1 и c1 мы попадём в участки памяти реально нам не принадлежащие. Там могут быть например другие переменные или временно сохранённые значения регистров процессора или вообще всё что угодно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A5D1D12-1AFC-166F-6823-A6D2A6F25AA6}"/>
              </a:ext>
            </a:extLst>
          </p:cNvPr>
          <p:cNvSpPr/>
          <p:nvPr/>
        </p:nvSpPr>
        <p:spPr>
          <a:xfrm>
            <a:off x="4109501" y="3202817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7F85FCA-E4D5-F2B5-3D84-00DBD8D8900D}"/>
              </a:ext>
            </a:extLst>
          </p:cNvPr>
          <p:cNvSpPr/>
          <p:nvPr/>
        </p:nvSpPr>
        <p:spPr>
          <a:xfrm>
            <a:off x="3077426" y="3187589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FE2FB60-EFC0-2433-4219-D6DAF6A93373}"/>
              </a:ext>
            </a:extLst>
          </p:cNvPr>
          <p:cNvSpPr/>
          <p:nvPr/>
        </p:nvSpPr>
        <p:spPr>
          <a:xfrm>
            <a:off x="3575462" y="4248617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F4C26760-0938-8906-E747-6EC5BE57E457}"/>
              </a:ext>
            </a:extLst>
          </p:cNvPr>
          <p:cNvCxnSpPr>
            <a:stCxn id="22" idx="0"/>
            <a:endCxn id="20" idx="2"/>
          </p:cNvCxnSpPr>
          <p:nvPr/>
        </p:nvCxnSpPr>
        <p:spPr>
          <a:xfrm flipV="1">
            <a:off x="3974789" y="3839424"/>
            <a:ext cx="534039" cy="409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8090A40C-2D9B-44E9-5A8F-728529F2ECFB}"/>
              </a:ext>
            </a:extLst>
          </p:cNvPr>
          <p:cNvCxnSpPr>
            <a:stCxn id="22" idx="0"/>
            <a:endCxn id="21" idx="2"/>
          </p:cNvCxnSpPr>
          <p:nvPr/>
        </p:nvCxnSpPr>
        <p:spPr>
          <a:xfrm flipH="1" flipV="1">
            <a:off x="3476753" y="3824196"/>
            <a:ext cx="498036" cy="4244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20333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вниз по иерархии может быть опасно (с точки зрения памяти)?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/>
        </p:nvGraphicFramePr>
        <p:xfrm>
          <a:off x="6832091" y="4566921"/>
          <a:ext cx="2946858" cy="2321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mpd="sng">
                      <a:noFill/>
                    </a:lnL>
                    <a:lnT w="38100" cmpd="sng"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en-US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773781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8715190" y="5175389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773781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210022" y="4047694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5EFAB172-49CF-470E-8564-0729B3462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Даже если преобразований адреса не происходит, то вероятность залезть в чужую память остаётся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54FC25E6-27C7-FF14-3FD8-2F79B4487031}"/>
              </a:ext>
            </a:extLst>
          </p:cNvPr>
          <p:cNvSpPr/>
          <p:nvPr/>
        </p:nvSpPr>
        <p:spPr>
          <a:xfrm>
            <a:off x="838200" y="2416893"/>
            <a:ext cx="4298451" cy="253101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dirty="0">
                <a:solidFill>
                  <a:srgbClr val="267F99"/>
                </a:solidFill>
                <a:latin typeface="Consolas" panose="020B0609020204030204" pitchFamily="49" charset="0"/>
              </a:rPr>
              <a:t>C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B96DA4DB-1DD2-43C9-3D6F-2EBA3E4F3F00}"/>
              </a:ext>
            </a:extLst>
          </p:cNvPr>
          <p:cNvSpPr/>
          <p:nvPr/>
        </p:nvSpPr>
        <p:spPr>
          <a:xfrm>
            <a:off x="6096000" y="2406556"/>
            <a:ext cx="4243581" cy="194757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Как видно, смешения адреса не произошло, но при попытке получить доступ к c1 мы выходим за пределы реально выделенной памяти и снова попадаем неизвестно куда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A20312B-19CC-90A2-F4A3-3E6001363516}"/>
              </a:ext>
            </a:extLst>
          </p:cNvPr>
          <p:cNvSpPr/>
          <p:nvPr/>
        </p:nvSpPr>
        <p:spPr>
          <a:xfrm>
            <a:off x="3806965" y="2572473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393CA1D-CCEC-3B12-BEC9-C1A3EB8F4586}"/>
              </a:ext>
            </a:extLst>
          </p:cNvPr>
          <p:cNvSpPr/>
          <p:nvPr/>
        </p:nvSpPr>
        <p:spPr>
          <a:xfrm>
            <a:off x="3806964" y="340089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2D2127CC-FFC2-8E07-AE35-B4CFDE241C3F}"/>
              </a:ext>
            </a:extLst>
          </p:cNvPr>
          <p:cNvCxnSpPr>
            <a:stCxn id="20" idx="0"/>
            <a:endCxn id="19" idx="2"/>
          </p:cNvCxnSpPr>
          <p:nvPr/>
        </p:nvCxnSpPr>
        <p:spPr>
          <a:xfrm flipV="1">
            <a:off x="4206291" y="3209080"/>
            <a:ext cx="1" cy="1918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180490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366952"/>
              </p:ext>
            </p:extLst>
          </p:nvPr>
        </p:nvGraphicFramePr>
        <p:xfrm>
          <a:off x="5744071" y="4566921"/>
          <a:ext cx="4911430" cy="2481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16267729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664979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6190C56D-AF5F-A1DA-A711-68528817B26B}"/>
              </a:ext>
            </a:extLst>
          </p:cNvPr>
          <p:cNvSpPr/>
          <p:nvPr/>
        </p:nvSpPr>
        <p:spPr>
          <a:xfrm rot="5400000">
            <a:off x="7623992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>
            <a:extLst>
              <a:ext uri="{FF2B5EF4-FFF2-40B4-BE49-F238E27FC236}">
                <a16:creationId xmlns:a16="http://schemas.microsoft.com/office/drawing/2014/main" id="{57D95AFD-1771-A0F3-78BF-C53173AA1747}"/>
              </a:ext>
            </a:extLst>
          </p:cNvPr>
          <p:cNvSpPr/>
          <p:nvPr/>
        </p:nvSpPr>
        <p:spPr>
          <a:xfrm rot="5400000">
            <a:off x="8619415" y="5172948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9591697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664979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99354E05-0540-0EC4-60A9-CB4A83020525}"/>
              </a:ext>
            </a:extLst>
          </p:cNvPr>
          <p:cNvSpPr/>
          <p:nvPr/>
        </p:nvSpPr>
        <p:spPr>
          <a:xfrm rot="5400000">
            <a:off x="7627465" y="3680420"/>
            <a:ext cx="155448" cy="2916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115693" y="3046119"/>
            <a:ext cx="155448" cy="392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Заголовок 1">
            <a:extLst>
              <a:ext uri="{FF2B5EF4-FFF2-40B4-BE49-F238E27FC236}">
                <a16:creationId xmlns:a16="http://schemas.microsoft.com/office/drawing/2014/main" id="{D1133D48-8C56-B683-1FE8-3D8FF9C6E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Когда преобразование вниз по иерархии безопасно?</a:t>
            </a:r>
          </a:p>
        </p:txBody>
      </p:sp>
      <p:sp>
        <p:nvSpPr>
          <p:cNvPr id="23" name="Объект 2">
            <a:extLst>
              <a:ext uri="{FF2B5EF4-FFF2-40B4-BE49-F238E27FC236}">
                <a16:creationId xmlns:a16="http://schemas.microsoft.com/office/drawing/2014/main" id="{FE4BCD03-15A6-F737-CB5D-60CDF70E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Чтобы преобразование было безопасно, </a:t>
            </a:r>
            <a:r>
              <a:rPr lang="ru-RU" sz="1600" b="1" dirty="0">
                <a:solidFill>
                  <a:srgbClr val="24292F"/>
                </a:solidFill>
              </a:rPr>
              <a:t>реально</a:t>
            </a:r>
            <a:r>
              <a:rPr lang="ru-RU" sz="1600" dirty="0">
                <a:solidFill>
                  <a:srgbClr val="24292F"/>
                </a:solidFill>
              </a:rPr>
              <a:t> размещённый в памяти объект должен быть ниже или на том же уровне иерархии, что и тип ссылки к которой выполняется преобразование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FF8C53D3-27C9-DD17-F8EB-E277249C6024}"/>
              </a:ext>
            </a:extLst>
          </p:cNvPr>
          <p:cNvSpPr/>
          <p:nvPr/>
        </p:nvSpPr>
        <p:spPr>
          <a:xfrm>
            <a:off x="859635" y="2562967"/>
            <a:ext cx="4298451" cy="361399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OK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т.к.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UpCast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B07A9EAC-A6FA-F1DB-2B3F-09CD821FF9FA}"/>
              </a:ext>
            </a:extLst>
          </p:cNvPr>
          <p:cNvSpPr/>
          <p:nvPr/>
        </p:nvSpPr>
        <p:spPr>
          <a:xfrm>
            <a:off x="5744071" y="2562967"/>
            <a:ext cx="5042594" cy="214090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 этом примере класс C наследуется только от B, который наследуется от A.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Т.е. реальный объект на который указывает A принадлежит классу C, то преобразование вниз к B безопасно. т.к. в памяти присутствуют все данные для корректной работы B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93D7A82A-8BA2-AEC6-E601-FB1A075EFF8A}"/>
              </a:ext>
            </a:extLst>
          </p:cNvPr>
          <p:cNvSpPr/>
          <p:nvPr/>
        </p:nvSpPr>
        <p:spPr>
          <a:xfrm>
            <a:off x="3806965" y="2746093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1BE1355-24BC-42A3-4E3A-6C26E28465E3}"/>
              </a:ext>
            </a:extLst>
          </p:cNvPr>
          <p:cNvSpPr/>
          <p:nvPr/>
        </p:nvSpPr>
        <p:spPr>
          <a:xfrm>
            <a:off x="3806964" y="357451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A24AA5A-5C96-0A0D-ACE8-57F153C842A5}"/>
              </a:ext>
            </a:extLst>
          </p:cNvPr>
          <p:cNvSpPr/>
          <p:nvPr/>
        </p:nvSpPr>
        <p:spPr>
          <a:xfrm>
            <a:off x="3806964" y="4402936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425D9A4A-784D-7B2A-46F4-D1D1A1F5D80C}"/>
              </a:ext>
            </a:extLst>
          </p:cNvPr>
          <p:cNvCxnSpPr>
            <a:stCxn id="27" idx="0"/>
            <a:endCxn id="26" idx="2"/>
          </p:cNvCxnSpPr>
          <p:nvPr/>
        </p:nvCxnSpPr>
        <p:spPr>
          <a:xfrm flipV="1">
            <a:off x="4206291" y="3382700"/>
            <a:ext cx="1" cy="1918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418B706B-991D-9CC5-7BE1-AFE25BFDB414}"/>
              </a:ext>
            </a:extLst>
          </p:cNvPr>
          <p:cNvCxnSpPr>
            <a:stCxn id="28" idx="0"/>
            <a:endCxn id="27" idx="2"/>
          </p:cNvCxnSpPr>
          <p:nvPr/>
        </p:nvCxnSpPr>
        <p:spPr>
          <a:xfrm flipV="1">
            <a:off x="4206291" y="4211121"/>
            <a:ext cx="0" cy="191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6FE81D9-E1DD-491F-8A48-21A9BE796028}"/>
              </a:ext>
            </a:extLst>
          </p:cNvPr>
          <p:cNvSpPr txBox="1"/>
          <p:nvPr/>
        </p:nvSpPr>
        <p:spPr>
          <a:xfrm>
            <a:off x="7561335" y="47793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B</a:t>
            </a:r>
            <a:endParaRPr lang="ru-RU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21703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Указатель на класс</a:t>
            </a:r>
            <a:r>
              <a:rPr lang="en-US" dirty="0"/>
              <a:t> </a:t>
            </a:r>
            <a:r>
              <a:rPr lang="ru-RU" dirty="0"/>
              <a:t>с виртуальным методом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класс содержит хотя бы один виртуальный метод, то, кроме членов-данных в памяти каждого объекта хранится таблица виртуальных методов, поэтому для преобразования вниз вместо </a:t>
            </a:r>
            <a:r>
              <a:rPr lang="ru-RU" sz="1600" dirty="0" err="1">
                <a:solidFill>
                  <a:srgbClr val="24292F"/>
                </a:solidFill>
              </a:rPr>
              <a:t>static_cast</a:t>
            </a:r>
            <a:r>
              <a:rPr lang="ru-RU" sz="1600" dirty="0">
                <a:solidFill>
                  <a:srgbClr val="24292F"/>
                </a:solidFill>
              </a:rPr>
              <a:t> нужно использовать </a:t>
            </a:r>
            <a:r>
              <a:rPr lang="ru-RU" sz="1600" dirty="0" err="1">
                <a:solidFill>
                  <a:srgbClr val="24292F"/>
                </a:solidFill>
              </a:rPr>
              <a:t>dynamic_cast</a:t>
            </a:r>
            <a:r>
              <a:rPr lang="ru-RU" sz="1600" dirty="0">
                <a:solidFill>
                  <a:srgbClr val="24292F"/>
                </a:solidFill>
              </a:rPr>
              <a:t>, который перед преобразованием сопоставляет таблицу виртуальных методов исходного и конечного классов и в случае их не совместимости кинет исключение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std::</a:t>
            </a:r>
            <a:r>
              <a:rPr lang="en-US" sz="1500" dirty="0" err="1">
                <a:solidFill>
                  <a:srgbClr val="24292F"/>
                </a:solidFill>
                <a:latin typeface="Consolas" panose="020B0609020204030204" pitchFamily="49" charset="0"/>
              </a:rPr>
              <a:t>bad_cast</a:t>
            </a:r>
            <a:r>
              <a:rPr lang="en-US" sz="1600" dirty="0">
                <a:solidFill>
                  <a:srgbClr val="24292F"/>
                </a:solidFill>
              </a:rPr>
              <a:t>: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9AB8E702-5809-C09B-84CF-917D84970199}"/>
              </a:ext>
            </a:extLst>
          </p:cNvPr>
          <p:cNvSpPr/>
          <p:nvPr/>
        </p:nvSpPr>
        <p:spPr>
          <a:xfrm>
            <a:off x="838201" y="3072862"/>
            <a:ext cx="5649382" cy="342001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(){};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A&amp;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object;</a:t>
            </a:r>
            <a:r>
              <a:rPr lang="en-US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OK, </a:t>
            </a:r>
            <a:r>
              <a:rPr lang="ru-RU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т.е. </a:t>
            </a:r>
            <a:r>
              <a:rPr lang="en-US" sz="10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UpCast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B&amp;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&lt;B&amp;&gt;(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B&amp;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&lt;B&amp;&gt;(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C&amp;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&lt;C&amp;&gt;(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(&amp;b1 ==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(&amp;b2 ==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(&amp;c ==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5AF09DB2-03FC-6965-2F97-3E0C9DBAC222}"/>
              </a:ext>
            </a:extLst>
          </p:cNvPr>
          <p:cNvSpPr/>
          <p:nvPr/>
        </p:nvSpPr>
        <p:spPr>
          <a:xfrm>
            <a:off x="6586292" y="3072862"/>
            <a:ext cx="4767508" cy="268155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Результат:</a:t>
            </a:r>
          </a:p>
          <a:p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100" dirty="0">
                <a:solidFill>
                  <a:srgbClr val="0000FF"/>
                </a:solidFill>
                <a:latin typeface="Consolas" panose="020B0609020204030204" pitchFamily="49" charset="0"/>
              </a:rPr>
              <a:t>Исключение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algn="just"/>
            <a:b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Здесь в классе A присутствует виртуальный деструктор, который наследуется его классами потомками.</a:t>
            </a:r>
          </a:p>
          <a:p>
            <a:pPr algn="just"/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Попытка преобразования из A в B при помощи </a:t>
            </a:r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проходит успешно, хотя это потенциальная ошибка, т.к. реальный объект под указателем это объект класса C.</a:t>
            </a:r>
          </a:p>
          <a:p>
            <a:pPr algn="just"/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Попытка сделать тоже самое, но через </a:t>
            </a:r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проваливается и это правильное поведение.</a:t>
            </a:r>
          </a:p>
          <a:p>
            <a:pPr algn="just"/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Преобразование из A обратно в C через </a:t>
            </a:r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как и ожидалось проходит успешно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1B47A9B-587A-17AE-641B-4320B22D1A8F}"/>
              </a:ext>
            </a:extLst>
          </p:cNvPr>
          <p:cNvSpPr/>
          <p:nvPr/>
        </p:nvSpPr>
        <p:spPr>
          <a:xfrm>
            <a:off x="3808067" y="4308675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AEC0F6-D9EF-6ABA-2A35-54E0B7583518}"/>
              </a:ext>
            </a:extLst>
          </p:cNvPr>
          <p:cNvSpPr/>
          <p:nvPr/>
        </p:nvSpPr>
        <p:spPr>
          <a:xfrm>
            <a:off x="5401519" y="3444228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  <a:endParaRPr lang="ru-RU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2474F10-10FB-5F82-B24E-736AA05DA0EB}"/>
              </a:ext>
            </a:extLst>
          </p:cNvPr>
          <p:cNvSpPr/>
          <p:nvPr/>
        </p:nvSpPr>
        <p:spPr>
          <a:xfrm>
            <a:off x="4369444" y="3429000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6FC522-A20E-4828-2352-A03B71251DBE}"/>
              </a:ext>
            </a:extLst>
          </p:cNvPr>
          <p:cNvSpPr/>
          <p:nvPr/>
        </p:nvSpPr>
        <p:spPr>
          <a:xfrm>
            <a:off x="4867480" y="4308676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B83505A-299E-ACF5-94AA-F1B78F5D2C1D}"/>
              </a:ext>
            </a:extLst>
          </p:cNvPr>
          <p:cNvCxnSpPr>
            <a:cxnSpLocks/>
            <a:stCxn id="5" idx="0"/>
            <a:endCxn id="8" idx="2"/>
          </p:cNvCxnSpPr>
          <p:nvPr/>
        </p:nvCxnSpPr>
        <p:spPr>
          <a:xfrm flipV="1">
            <a:off x="4207394" y="4065607"/>
            <a:ext cx="561377" cy="2430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DD235FBA-2B7A-C2C2-AB9B-462AE4E8AB97}"/>
              </a:ext>
            </a:extLst>
          </p:cNvPr>
          <p:cNvCxnSpPr>
            <a:stCxn id="9" idx="0"/>
            <a:endCxn id="7" idx="2"/>
          </p:cNvCxnSpPr>
          <p:nvPr/>
        </p:nvCxnSpPr>
        <p:spPr>
          <a:xfrm flipV="1">
            <a:off x="5266807" y="4080835"/>
            <a:ext cx="534039" cy="2278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2EF83FB6-785D-F024-C56A-C7AF6AC7BC75}"/>
              </a:ext>
            </a:extLst>
          </p:cNvPr>
          <p:cNvCxnSpPr>
            <a:stCxn id="9" idx="0"/>
            <a:endCxn id="8" idx="2"/>
          </p:cNvCxnSpPr>
          <p:nvPr/>
        </p:nvCxnSpPr>
        <p:spPr>
          <a:xfrm flipH="1" flipV="1">
            <a:off x="4768771" y="4065607"/>
            <a:ext cx="498036" cy="243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4196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5485</TotalTime>
  <Words>12166</Words>
  <Application>Microsoft Office PowerPoint</Application>
  <PresentationFormat>Широкоэкранный</PresentationFormat>
  <Paragraphs>1533</Paragraphs>
  <Slides>100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100</vt:i4>
      </vt:variant>
    </vt:vector>
  </HeadingPairs>
  <TitlesOfParts>
    <vt:vector size="106" baseType="lpstr">
      <vt:lpstr>Arial</vt:lpstr>
      <vt:lpstr>Calibri</vt:lpstr>
      <vt:lpstr>Calibri Light</vt:lpstr>
      <vt:lpstr>Cambria Math</vt:lpstr>
      <vt:lpstr>Consolas</vt:lpstr>
      <vt:lpstr>Тема Office</vt:lpstr>
      <vt:lpstr>Алгоритмизация и программирование</vt:lpstr>
      <vt:lpstr>Модель памяти</vt:lpstr>
      <vt:lpstr>Модель памяти</vt:lpstr>
      <vt:lpstr>Модель памяти</vt:lpstr>
      <vt:lpstr>Модель памяти</vt:lpstr>
      <vt:lpstr>Презентация PowerPoint</vt:lpstr>
      <vt:lpstr>Презентация PowerPoint</vt:lpstr>
      <vt:lpstr>Что такое указатель</vt:lpstr>
      <vt:lpstr>Объявление</vt:lpstr>
      <vt:lpstr>Инициализация</vt:lpstr>
      <vt:lpstr>Способы получения адреса</vt:lpstr>
      <vt:lpstr>Презентация PowerPoint</vt:lpstr>
      <vt:lpstr>Не типизированный указатель</vt:lpstr>
      <vt:lpstr>Нетипизированный указатель</vt:lpstr>
      <vt:lpstr>Типизированный указатель</vt:lpstr>
      <vt:lpstr>Типизированный указатель</vt:lpstr>
      <vt:lpstr>Презентация PowerPoint</vt:lpstr>
      <vt:lpstr>Указатели и константность</vt:lpstr>
      <vt:lpstr>Указатели и константность</vt:lpstr>
      <vt:lpstr>Презентация PowerPoint</vt:lpstr>
      <vt:lpstr>Размер указателя</vt:lpstr>
      <vt:lpstr>Размер указателя</vt:lpstr>
      <vt:lpstr>Презентация PowerPoint</vt:lpstr>
      <vt:lpstr>Преобразование типа указателя</vt:lpstr>
      <vt:lpstr>Преобразование типа указателя</vt:lpstr>
      <vt:lpstr>Презентация PowerPoint</vt:lpstr>
      <vt:lpstr>Логические операции с указателями</vt:lpstr>
      <vt:lpstr>Презентация PowerPoint</vt:lpstr>
      <vt:lpstr>Арифметика указателей</vt:lpstr>
      <vt:lpstr>Операторы ++ и --</vt:lpstr>
      <vt:lpstr>Операторы +, -, +=, -=</vt:lpstr>
      <vt:lpstr>Оператор [ ]</vt:lpstr>
      <vt:lpstr>Оператор [ ]</vt:lpstr>
      <vt:lpstr>Презентация PowerPoint</vt:lpstr>
      <vt:lpstr>Динамическое выделение памяти</vt:lpstr>
      <vt:lpstr>Динамическое выделение памяти</vt:lpstr>
      <vt:lpstr>Динамическое выделение памяти</vt:lpstr>
      <vt:lpstr>Работа с массивами</vt:lpstr>
      <vt:lpstr>Работа с массивами</vt:lpstr>
      <vt:lpstr>Работа с массивами</vt:lpstr>
      <vt:lpstr>Передача аргументов в функцию</vt:lpstr>
      <vt:lpstr>Передача аргументов в функцию - массив</vt:lpstr>
      <vt:lpstr>Передача аргументов в функцию - функция</vt:lpstr>
      <vt:lpstr>Передача аргументов в функцию - функция</vt:lpstr>
      <vt:lpstr>Передача аргументов в функцию - aliasing</vt:lpstr>
      <vt:lpstr>Возврат адреса из функции</vt:lpstr>
      <vt:lpstr>Полиморфизм через наследование</vt:lpstr>
      <vt:lpstr>Презентация PowerPoint</vt:lpstr>
      <vt:lpstr>Декларация типов C</vt:lpstr>
      <vt:lpstr>Декларация типов C</vt:lpstr>
      <vt:lpstr>Декларация типов C</vt:lpstr>
      <vt:lpstr>Декларация типов C</vt:lpstr>
      <vt:lpstr>Замечания про * и &amp;</vt:lpstr>
      <vt:lpstr>Презентация PowerPoint</vt:lpstr>
      <vt:lpstr>Доступ к полю структуры/класса</vt:lpstr>
      <vt:lpstr>Доступ к полю структуры/класса - static</vt:lpstr>
      <vt:lpstr>Указатель на член класса - поле</vt:lpstr>
      <vt:lpstr>Указатель на член класса - метод</vt:lpstr>
      <vt:lpstr>Указатель в ООП</vt:lpstr>
      <vt:lpstr>Почему преобразование вверх по иерархии безопасно (с точки зрения памяти)?</vt:lpstr>
      <vt:lpstr>Почему преобразование вверх по иерархии безопасно (с точки зрения памяти)?</vt:lpstr>
      <vt:lpstr>Почему преобразование вверх по иерархии безопасно (с точки зрения памяти)?</vt:lpstr>
      <vt:lpstr>Почему преобразование вниз по иерархии может быть опасно (с точки зрения памяти)?</vt:lpstr>
      <vt:lpstr>Почему преобразование вниз по иерархии может быть опасно (с точки зрения памяти)?</vt:lpstr>
      <vt:lpstr>Когда преобразование вниз по иерархии безопасно?</vt:lpstr>
      <vt:lpstr>Указатель на класс виртуальным методом</vt:lpstr>
      <vt:lpstr>Презентация PowerPoint</vt:lpstr>
      <vt:lpstr>Что такое ссылка</vt:lpstr>
      <vt:lpstr>Объявление</vt:lpstr>
      <vt:lpstr>Инициализация</vt:lpstr>
      <vt:lpstr>Презентация PowerPoint</vt:lpstr>
      <vt:lpstr>Не типизированная ссылка</vt:lpstr>
      <vt:lpstr>Типизированная ссылка</vt:lpstr>
      <vt:lpstr>R-value ссылка</vt:lpstr>
      <vt:lpstr>Презентация PowerPoint</vt:lpstr>
      <vt:lpstr>Ссылки и константность</vt:lpstr>
      <vt:lpstr>Презентация PowerPoint</vt:lpstr>
      <vt:lpstr>Размер ссылки</vt:lpstr>
      <vt:lpstr>Презентация PowerPoint</vt:lpstr>
      <vt:lpstr>Преобразование типа ссылки</vt:lpstr>
      <vt:lpstr>Презентация PowerPoint</vt:lpstr>
      <vt:lpstr>Операции с ссылками</vt:lpstr>
      <vt:lpstr>Презентация PowerPoint</vt:lpstr>
      <vt:lpstr>Передача аргументов в функцию</vt:lpstr>
      <vt:lpstr>Передача аргументов в функцию - массив</vt:lpstr>
      <vt:lpstr>Передача аргументов в функцию - функция</vt:lpstr>
      <vt:lpstr>Передача аргументов в функцию - aliasing</vt:lpstr>
      <vt:lpstr>Возврат ссылки из функции</vt:lpstr>
      <vt:lpstr>Полиморфизм через наследование</vt:lpstr>
      <vt:lpstr>Презентация PowerPoint</vt:lpstr>
      <vt:lpstr>Декларация типов C</vt:lpstr>
      <vt:lpstr>Презентация PowerPoint</vt:lpstr>
      <vt:lpstr>Доступ к полю структуры/класса</vt:lpstr>
      <vt:lpstr>Доступ к полю структуры/класса - static</vt:lpstr>
      <vt:lpstr>Сслыка в ООП</vt:lpstr>
      <vt:lpstr>Почему преобразование вверх по иерархии безопасно (с точки зрения памяти)?</vt:lpstr>
      <vt:lpstr>Почему преобразование вниз по иерархии может быть опасно (с точки зрения памяти)?</vt:lpstr>
      <vt:lpstr>Почему преобразование вниз по иерархии может быть опасно (с точки зрения памяти)?</vt:lpstr>
      <vt:lpstr>Когда преобразование вниз по иерархии безопасно?</vt:lpstr>
      <vt:lpstr>Указатель на класс с виртуальным методом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Professional</dc:creator>
  <cp:lastModifiedBy>Professional</cp:lastModifiedBy>
  <cp:revision>662</cp:revision>
  <dcterms:created xsi:type="dcterms:W3CDTF">2022-09-17T16:00:43Z</dcterms:created>
  <dcterms:modified xsi:type="dcterms:W3CDTF">2025-12-09T22:35:12Z</dcterms:modified>
</cp:coreProperties>
</file>