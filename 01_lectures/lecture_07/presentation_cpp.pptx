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35" r:id="rId3"/>
    <p:sldId id="436" r:id="rId4"/>
    <p:sldId id="437" r:id="rId5"/>
    <p:sldId id="490" r:id="rId6"/>
    <p:sldId id="487" r:id="rId7"/>
    <p:sldId id="488" r:id="rId8"/>
    <p:sldId id="489" r:id="rId9"/>
    <p:sldId id="307" r:id="rId10"/>
    <p:sldId id="527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5" r:id="rId19"/>
    <p:sldId id="364" r:id="rId20"/>
    <p:sldId id="363" r:id="rId21"/>
    <p:sldId id="366" r:id="rId22"/>
    <p:sldId id="404" r:id="rId23"/>
    <p:sldId id="403" r:id="rId24"/>
    <p:sldId id="345" r:id="rId25"/>
    <p:sldId id="367" r:id="rId26"/>
    <p:sldId id="368" r:id="rId27"/>
    <p:sldId id="369" r:id="rId28"/>
    <p:sldId id="370" r:id="rId29"/>
    <p:sldId id="371" r:id="rId30"/>
    <p:sldId id="325" r:id="rId31"/>
    <p:sldId id="381" r:id="rId32"/>
    <p:sldId id="373" r:id="rId33"/>
    <p:sldId id="374" r:id="rId34"/>
    <p:sldId id="375" r:id="rId35"/>
    <p:sldId id="376" r:id="rId36"/>
    <p:sldId id="377" r:id="rId37"/>
    <p:sldId id="379" r:id="rId38"/>
    <p:sldId id="380" r:id="rId39"/>
    <p:sldId id="382" r:id="rId40"/>
    <p:sldId id="384" r:id="rId41"/>
    <p:sldId id="385" r:id="rId42"/>
    <p:sldId id="416" r:id="rId43"/>
    <p:sldId id="387" r:id="rId44"/>
    <p:sldId id="388" r:id="rId45"/>
    <p:sldId id="389" r:id="rId46"/>
    <p:sldId id="394" r:id="rId47"/>
    <p:sldId id="429" r:id="rId48"/>
    <p:sldId id="430" r:id="rId49"/>
    <p:sldId id="391" r:id="rId50"/>
    <p:sldId id="393" r:id="rId51"/>
    <p:sldId id="392" r:id="rId52"/>
    <p:sldId id="395" r:id="rId53"/>
    <p:sldId id="396" r:id="rId54"/>
    <p:sldId id="397" r:id="rId55"/>
    <p:sldId id="398" r:id="rId56"/>
    <p:sldId id="399" r:id="rId57"/>
    <p:sldId id="400" r:id="rId58"/>
    <p:sldId id="401" r:id="rId59"/>
    <p:sldId id="402" r:id="rId60"/>
    <p:sldId id="405" r:id="rId61"/>
    <p:sldId id="406" r:id="rId62"/>
    <p:sldId id="407" r:id="rId63"/>
    <p:sldId id="408" r:id="rId64"/>
    <p:sldId id="409" r:id="rId65"/>
    <p:sldId id="410" r:id="rId66"/>
    <p:sldId id="411" r:id="rId67"/>
    <p:sldId id="412" r:id="rId68"/>
    <p:sldId id="413" r:id="rId69"/>
    <p:sldId id="414" r:id="rId70"/>
    <p:sldId id="386" r:id="rId71"/>
    <p:sldId id="417" r:id="rId72"/>
    <p:sldId id="418" r:id="rId73"/>
    <p:sldId id="419" r:id="rId74"/>
    <p:sldId id="420" r:id="rId75"/>
    <p:sldId id="421" r:id="rId76"/>
    <p:sldId id="422" r:id="rId77"/>
    <p:sldId id="423" r:id="rId78"/>
    <p:sldId id="427" r:id="rId79"/>
    <p:sldId id="425" r:id="rId80"/>
    <p:sldId id="426" r:id="rId81"/>
    <p:sldId id="428" r:id="rId82"/>
    <p:sldId id="431" r:id="rId83"/>
    <p:sldId id="432" r:id="rId84"/>
    <p:sldId id="434" r:id="rId85"/>
    <p:sldId id="433" r:id="rId86"/>
    <p:sldId id="424" r:id="rId8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DA07-F16D-B69B-14A0-7418829B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B3408F-C035-7F86-E532-B954222B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C57AC3-650B-F8BF-09C8-C2B4DCF5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080A7-D173-D34E-D987-E2C0D226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9F0AEA-F271-E44D-94AC-243C2E0D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891F9-3476-AFE5-6F5E-3F6F3495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18E34-1152-017B-392E-EC5AF886F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6B264-13E2-2D5F-75D0-68AB7CE5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F410B0-1B06-0F94-EF8F-6FA03AC97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BC443-9DF8-7811-4F50-DA0939A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0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B0E42-F26B-36E2-773A-5304DE8E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D50AC-8755-6F61-DE6D-718C5790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9F538-368E-46C8-6A0B-73E27118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814CB-16AC-34F1-BD55-C50011C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C7843-79DC-CD5D-6D5F-64D2C2E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5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2D8AA-77C9-6CF3-B23C-060CF9A5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A2B99-F80E-BA07-D1F9-3C064028A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2856C9-4F89-DF11-6470-C2118573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DFBB0F-B9D7-A90B-517E-16E12B22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37F6E-1F4C-532F-0447-20BD32FC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C7790-8BEB-A53E-96DA-59A20A267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0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CB15-C3CC-FC8F-4267-77F81CB5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EB9DDC-5705-3392-3A7F-B93CB61E5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4CF1-DE2E-70BA-ACCD-77EF4A52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C525FDA-E12E-5810-A164-BD0B3009F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155AC6-2DE0-9644-8874-5C573FD63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30CBA1-E9C4-65D8-3F54-9C4327D3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279D99-E15E-B520-A991-2EC66A29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2153C6-95A4-8AB3-96F5-7545958C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6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13BC6-745F-95A9-F0A9-5D3F01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D8FD2A-5A7C-06F8-BA11-FEEC2B2A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2B2300-90F1-8EE1-7A1B-9E065770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84C6DD-ED50-4B35-179E-27063A1D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1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EB7D92-DC5A-0240-10C9-26EA015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C8479B-E009-4084-DC5E-8C0C58F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1C52AC-6679-DDE2-EAB6-B90CA53E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3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D1796-E9D7-5349-C5F0-0F621903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F04D9-CF54-2F53-1E1D-513D11518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66DECA-58B4-D9CA-A32D-E551C2950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3B75B1-5F06-22C7-2744-E67592E6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59913B-8E29-FDEA-AD42-E6C129E2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6341C7-ACF3-27A9-D41E-A81E34A2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6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B9E6-90A4-8F78-CEE1-18AC161E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34F4B9-4857-D367-1A7E-378A1261D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942A2-88A4-A456-BA8F-817EB03F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534529-81F3-E5CC-F7D5-302D2CBE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B7EC93-E8EE-A4C6-C2D9-F5514772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1F8081-862B-8E61-8D8F-DB05F660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4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3101-E793-1814-4501-14D47ED3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BDF28E-053E-8207-289B-815750ED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0BEA8-5DA4-8A74-2DB9-E89C620D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44EB9A-EC5F-78B3-1922-55441952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A7CAC-00E8-85DE-A274-DF1FD1A6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1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CE06E1-A559-DC12-8662-7F99C8E10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8BA418-DCB5-B785-79A6-5998ED0DE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1EC3E-DBBD-CD2F-8DC1-BB7902D3C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BC658-E40F-8E05-ABE2-042431F3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6B605-74F8-AA8D-86C6-78196C1E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BF59-2F6E-7D92-8A20-0252AACE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722C2E-80F7-9376-442A-D3077DA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D304D-BEEF-15F0-D934-036B46455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91E7-4DC9-4E0A-97D8-D75A75B67893}" type="datetimeFigureOut">
              <a:rPr lang="ru-RU" smtClean="0"/>
              <a:t>30.10.2025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AF6ED-B9AA-6C8C-C90F-3CCDC274B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593123-3CF9-7A37-5654-90498C04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19BD0-409E-409F-B778-C62C72C54D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5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489666/" TargetMode="External"/><Relationship Id="rId2" Type="http://schemas.openxmlformats.org/officeDocument/2006/relationships/hyperlink" Target="https://en.cppreference.com/w/cpp/language/operat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a/32795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BC063-3831-522D-21D8-6B123981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774" y="944237"/>
            <a:ext cx="10434452" cy="2387600"/>
          </a:xfrm>
        </p:spPr>
        <p:txBody>
          <a:bodyPr>
            <a:normAutofit/>
          </a:bodyPr>
          <a:lstStyle/>
          <a:p>
            <a:r>
              <a:rPr lang="ru-RU" sz="4800" b="1" dirty="0"/>
              <a:t>Алгоритмизация и программирование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5FC3D9-C83F-5AC8-94FD-3ED461655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0788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/>
              <a:t>Лекция 7</a:t>
            </a:r>
            <a:r>
              <a:rPr lang="en-US" sz="3200" dirty="0"/>
              <a:t> (</a:t>
            </a:r>
            <a:r>
              <a:rPr lang="ru-RU" sz="3200" dirty="0"/>
              <a:t>С++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537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Язык математиков и инженеров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>
                <a:latin typeface="Consolas" panose="020B0609020204030204" pitchFamily="49" charset="0"/>
              </a:rPr>
              <a:t>Процедурное программирование – последовательность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ru-RU" sz="2000" dirty="0">
                <a:latin typeface="Consolas" panose="020B0609020204030204" pitchFamily="49" charset="0"/>
              </a:rPr>
              <a:t>вызовов процедур</a:t>
            </a:r>
            <a:r>
              <a:rPr lang="en-US" sz="2000" dirty="0">
                <a:latin typeface="Consolas" panose="020B0609020204030204" pitchFamily="49" charset="0"/>
              </a:rPr>
              <a:t>/</a:t>
            </a:r>
            <a:r>
              <a:rPr lang="ru-RU" sz="2000" dirty="0">
                <a:latin typeface="Consolas" panose="020B0609020204030204" pitchFamily="49" charset="0"/>
              </a:rPr>
              <a:t>функций: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0" dirty="0">
                <a:effectLst/>
                <a:latin typeface="Consolas" panose="020B0609020204030204" pitchFamily="49" charset="0"/>
              </a:rPr>
              <a:t>Функциональное программирование – набор утверждений</a:t>
            </a:r>
            <a:r>
              <a:rPr lang="ru-RU" sz="2000" dirty="0">
                <a:latin typeface="Consolas" panose="020B0609020204030204" pitchFamily="49" charset="0"/>
              </a:rPr>
              <a:t>: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2000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Integer</a:t>
            </a:r>
            <a:endParaRPr lang="ru-RU" altLang="ru-RU" sz="20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endParaRPr lang="ru-RU" altLang="ru-RU" sz="20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09815C6-305C-4EB5-AF83-FE61427649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90" b="24601"/>
          <a:stretch/>
        </p:blipFill>
        <p:spPr bwMode="auto">
          <a:xfrm>
            <a:off x="981075" y="1850743"/>
            <a:ext cx="10315575" cy="242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74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Язык бизнеса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Клиент открывает депозитный счёт с начальной суммой 1000 рублей</a:t>
            </a:r>
            <a:r>
              <a:rPr lang="en-US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:</a:t>
            </a:r>
            <a:endParaRPr lang="ru-RU" sz="16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open_deposit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стиль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client.open_deposit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initial_amount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Клиент (</a:t>
            </a:r>
            <a:r>
              <a:rPr lang="en-US" sz="1600" b="1" dirty="0" err="1">
                <a:solidFill>
                  <a:srgbClr val="0F1115"/>
                </a:solidFill>
                <a:latin typeface="Consolas" panose="020B0609020204030204" pitchFamily="49" charset="0"/>
              </a:rPr>
              <a:t>alex</a:t>
            </a: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)</a:t>
            </a:r>
            <a:r>
              <a:rPr lang="en-US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п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ереводит клиенту (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anna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500 </a:t>
            </a:r>
            <a:r>
              <a:rPr lang="ru-RU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рублей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1600" b="1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transfer_money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alex_id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anna_id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стиль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alex.transfer_to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(anna,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F1115"/>
                </a:solidFill>
                <a:latin typeface="Consolas" panose="020B0609020204030204" pitchFamily="49" charset="0"/>
              </a:rPr>
              <a:t>Если клиенту разрешён перевод в размере 1000 рублей, то ...</a:t>
            </a:r>
            <a:r>
              <a:rPr lang="en-US" sz="1600" b="1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1600" b="1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get_transaction_status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(transaction(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client_id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"RUB"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== ALLOWED {...}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процедурный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client.transaction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"RUB"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is_allowed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{...}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ООП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8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ООП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Как видно, теперь вместо данных простых типов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и </a:t>
            </a:r>
            <a:r>
              <a:rPr lang="ru-RU" sz="1800" dirty="0" err="1">
                <a:solidFill>
                  <a:srgbClr val="0F1115"/>
                </a:solidFill>
                <a:latin typeface="Consolas" panose="020B0609020204030204" pitchFamily="49" charset="0"/>
              </a:rPr>
              <a:t>т.д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 и функций оперирующих этими данными мы хотим использовать программные сущности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client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bank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 и т.д. которые</a:t>
            </a:r>
            <a:r>
              <a:rPr lang="en-US" sz="1800" dirty="0">
                <a:solidFill>
                  <a:srgbClr val="0F1115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обладают некоторым собственным набором операций (поведение) и обладают всей необходимой информацией, для осуществления этих операций (состояние).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Такую программную сущность будем называть </a:t>
            </a:r>
            <a:r>
              <a:rPr lang="ru-RU" sz="1800" b="1" dirty="0">
                <a:solidFill>
                  <a:srgbClr val="0F1115"/>
                </a:solidFill>
                <a:latin typeface="Consolas" panose="020B0609020204030204" pitchFamily="49" charset="0"/>
              </a:rPr>
              <a:t>объектом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, а тип данных, который описывает объект будем называть </a:t>
            </a:r>
            <a:r>
              <a:rPr lang="ru-RU" sz="1800" b="1" dirty="0">
                <a:solidFill>
                  <a:srgbClr val="0F1115"/>
                </a:solidFill>
                <a:latin typeface="Consolas" panose="020B0609020204030204" pitchFamily="49" charset="0"/>
              </a:rPr>
              <a:t>классом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Стиль программирования, при котором </a:t>
            </a: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код состоит из взаимодействующих друг с другом объектов будем называть объектно-ориентированным стилем программирования.</a:t>
            </a:r>
            <a:endParaRPr lang="ru-RU" sz="180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1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RON\Desktop\82538408_baca37836799c0f28904a305baab7a7c_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813" y="1196635"/>
            <a:ext cx="7104375" cy="522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E0F068-B1C8-4639-A851-BF375D1F9B0D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Класс</a:t>
            </a:r>
          </a:p>
        </p:txBody>
      </p:sp>
    </p:spTree>
    <p:extLst>
      <p:ext uri="{BB962C8B-B14F-4D97-AF65-F5344CB8AC3E}">
        <p14:creationId xmlns:p14="http://schemas.microsoft.com/office/powerpoint/2010/main" val="411171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RON\Desktop\8838101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097250"/>
            <a:ext cx="864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91941E9-FD0A-4B05-990A-67CC7735C44A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33552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RON\Desktop\KFpm7jJ655ErYIh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69" y="1107427"/>
            <a:ext cx="8403663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D5E36EF-786A-4F89-8683-CC3C4FEB3B97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258640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RON\Desktop\luxfon.com_2875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1126328"/>
            <a:ext cx="8640000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3177B32-3463-46B7-8762-436E40516EB7}"/>
              </a:ext>
            </a:extLst>
          </p:cNvPr>
          <p:cNvSpPr txBox="1">
            <a:spLocks/>
          </p:cNvSpPr>
          <p:nvPr/>
        </p:nvSpPr>
        <p:spPr>
          <a:xfrm>
            <a:off x="838200" y="342823"/>
            <a:ext cx="10515600" cy="72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Объекта класса Кот</a:t>
            </a:r>
          </a:p>
        </p:txBody>
      </p:sp>
    </p:spTree>
    <p:extLst>
      <p:ext uri="{BB962C8B-B14F-4D97-AF65-F5344CB8AC3E}">
        <p14:creationId xmlns:p14="http://schemas.microsoft.com/office/powerpoint/2010/main" val="214851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Объект 18">
            <a:extLst>
              <a:ext uri="{FF2B5EF4-FFF2-40B4-BE49-F238E27FC236}">
                <a16:creationId xmlns:a16="http://schemas.microsoft.com/office/drawing/2014/main" id="{67034ED1-B87B-F9B8-2679-E793E00CE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203" y="3139575"/>
            <a:ext cx="5184876" cy="3359588"/>
          </a:xfr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2272DE2-219D-437E-8C52-39198D38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Основные принципы ООП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9DFF854-074E-4067-B232-0105CC8BDC89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F1115"/>
                </a:solidFill>
                <a:latin typeface="Consolas" panose="020B0609020204030204" pitchFamily="49" charset="0"/>
              </a:rPr>
              <a:t>ООП – это набор идей и реализация этих идей в разных языках программирования отличается в соответствии с идеологией и возможностями самого языка. Несмотря на это, существует набор принципов которые должен поддерживать язык, чтобы называться ООП языком.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600" dirty="0">
                <a:solidFill>
                  <a:srgbClr val="0F1115"/>
                </a:solidFill>
                <a:latin typeface="Consolas" panose="020B0609020204030204" pitchFamily="49" charset="0"/>
              </a:rPr>
              <a:t>В зависимости от источников, основные принципы ООП отличаются как по количеству, так и по составу, но обычно выделяют 3 основных принципа (часто сюда добавляют ещё абстракцию):</a:t>
            </a:r>
          </a:p>
        </p:txBody>
      </p:sp>
    </p:spTree>
    <p:extLst>
      <p:ext uri="{BB962C8B-B14F-4D97-AF65-F5344CB8AC3E}">
        <p14:creationId xmlns:p14="http://schemas.microsoft.com/office/powerpoint/2010/main" val="412053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2272DE2-219D-437E-8C52-39198D38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823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Поддержка ООП в С++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9DFF854-074E-4067-B232-0105CC8BDC89}"/>
              </a:ext>
            </a:extLst>
          </p:cNvPr>
          <p:cNvSpPr txBox="1">
            <a:spLocks/>
          </p:cNvSpPr>
          <p:nvPr/>
        </p:nvSpPr>
        <p:spPr>
          <a:xfrm>
            <a:off x="838200" y="1440000"/>
            <a:ext cx="10800000" cy="4860000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В С++ поддержка классов реализована при помощи структур, т.е. объявляя структуру мы по факту получаем класс: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Cat{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Тоже самое (почти) мы получаем, если объявим класс с использованием ключевого слова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class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Cat{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Состояние объекта при этом описывается при помощи полей структуры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класса, а поведение реализуется при помощи методов, дружественных функций и перегрузки операторов.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1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x1, x2;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Поле-значение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x3;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Константное поле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x4;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Поле-указатель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x5;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Поле-ссылка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x6;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600"/>
              </a:spcBef>
              <a:buNone/>
            </a:pPr>
            <a:endParaRPr lang="ru-RU" sz="24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400" dirty="0">
                <a:solidFill>
                  <a:srgbClr val="000000"/>
                </a:solidFill>
              </a:rPr>
              <a:t>Тип данных может быть любым, не только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342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t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p1{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p2{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"p1: ["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en-US" sz="20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"p2: ["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&lt;&lt;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7408719" y="1825625"/>
            <a:ext cx="3945082" cy="2164484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Каждый </a:t>
            </a:r>
            <a:r>
              <a:rPr lang="ru-RU" b="1" dirty="0"/>
              <a:t>объект</a:t>
            </a:r>
            <a:r>
              <a:rPr lang="ru-RU" dirty="0"/>
              <a:t> имеет собственный, не зависящий от других, набор полей объекта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Доступ к полям объекта происходит через точечную нотацию с указанием нужного </a:t>
            </a:r>
            <a:r>
              <a:rPr lang="ru-RU" b="1" dirty="0"/>
              <a:t>объекта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832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t"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x1;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Поле-значение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x2;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Константное поле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x3;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Поле-указатель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x4;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Поле-ссылка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x5;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БЫВАЕТ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</a:rPr>
              <a:t>Тип данных может быть любым, не только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09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поля</a:t>
            </a:r>
            <a:r>
              <a:rPr lang="en-US" sz="4000" dirty="0"/>
              <a:t> – </a:t>
            </a:r>
            <a:r>
              <a:rPr lang="ru-RU" sz="4000" dirty="0"/>
              <a:t>поля 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7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::count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"Point: 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::count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p1, p2;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"p1: 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"p2: 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7408718" y="1440000"/>
            <a:ext cx="3945082" cy="3868593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/>
              <a:t>Каждый </a:t>
            </a:r>
            <a:r>
              <a:rPr lang="ru-RU" b="1" dirty="0"/>
              <a:t>класс</a:t>
            </a:r>
            <a:r>
              <a:rPr lang="ru-RU" dirty="0"/>
              <a:t> имеет единственный, набор полей класса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Все объекты имеют доступ к полям класса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Доступ к полям класса происходит через точечную нотацию с указанием любого </a:t>
            </a:r>
            <a:r>
              <a:rPr lang="ru-RU" b="1" dirty="0"/>
              <a:t>объекта</a:t>
            </a:r>
            <a:r>
              <a:rPr lang="ru-RU" dirty="0"/>
              <a:t> данного класса или через полное квалифицированное имя поля класса. В последнем случае нет необходимости создавать объект.</a:t>
            </a:r>
          </a:p>
        </p:txBody>
      </p:sp>
    </p:spTree>
    <p:extLst>
      <p:ext uri="{BB962C8B-B14F-4D97-AF65-F5344CB8AC3E}">
        <p14:creationId xmlns:p14="http://schemas.microsoft.com/office/powerpoint/2010/main" val="35531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Поля класса – особенности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515600" cy="4351338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x1;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x2;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x3;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x4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static const double x5 = 10;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НЕ интегральный тип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x5;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Глобальная область видимости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::x1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::x2;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Гарантируется, что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x2 == 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::x3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const int Point::x4 = 10;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не писать,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т.к.определено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классе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::x5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Обязательно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A2EF0BCA-1563-EF9D-4730-AFCFB02C641B}"/>
              </a:ext>
            </a:extLst>
          </p:cNvPr>
          <p:cNvSpPr/>
          <p:nvPr/>
        </p:nvSpPr>
        <p:spPr>
          <a:xfrm>
            <a:off x="8153453" y="1485899"/>
            <a:ext cx="3716326" cy="4842981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400" dirty="0"/>
              <a:t>Статические поля объявляются в теле класса, но </a:t>
            </a:r>
            <a:r>
              <a:rPr lang="ru-RU" sz="1400" b="1" dirty="0"/>
              <a:t>определяются</a:t>
            </a:r>
            <a:r>
              <a:rPr lang="ru-RU" sz="1400" dirty="0"/>
              <a:t> и </a:t>
            </a:r>
            <a:r>
              <a:rPr lang="ru-RU" sz="1400" b="1" dirty="0"/>
              <a:t>инициализируются</a:t>
            </a:r>
            <a:r>
              <a:rPr lang="ru-RU" sz="1400" dirty="0"/>
              <a:t> за его пределами</a:t>
            </a:r>
            <a:r>
              <a:rPr lang="en-US" sz="1400" dirty="0"/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ru-RU" sz="1400" dirty="0"/>
              <a:t>Исключение – константы интегральных (целых) типов</a:t>
            </a:r>
            <a:r>
              <a:rPr lang="en-US" sz="1400" dirty="0"/>
              <a:t>. </a:t>
            </a:r>
            <a:r>
              <a:rPr lang="ru-RU" sz="1400" dirty="0"/>
              <a:t>Их разрешено определять и инициализировать в точке объявления</a:t>
            </a:r>
            <a:r>
              <a:rPr lang="en-US" sz="1400" dirty="0"/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ru-RU" sz="1400" dirty="0"/>
              <a:t>Определение и инициализация статических полей синтаксически похожа на создание глобальной переменной, но имя поля должно быть дополнено квалификатором (именем класса)</a:t>
            </a:r>
            <a:r>
              <a:rPr lang="en-US" sz="1400" dirty="0"/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ru-RU" sz="1400" dirty="0"/>
              <a:t>Ключевое слово </a:t>
            </a:r>
            <a:r>
              <a:rPr lang="en-US" sz="1400" dirty="0"/>
              <a:t>static </a:t>
            </a:r>
            <a:r>
              <a:rPr lang="ru-RU" sz="1400" dirty="0"/>
              <a:t>не указывается</a:t>
            </a:r>
            <a:r>
              <a:rPr lang="en-US" sz="1400" dirty="0"/>
              <a:t>;</a:t>
            </a:r>
            <a:br>
              <a:rPr lang="en-US" sz="1400" dirty="0"/>
            </a:br>
            <a:br>
              <a:rPr lang="en-US" sz="1400" dirty="0"/>
            </a:br>
            <a:r>
              <a:rPr lang="ru-RU" sz="1400" dirty="0"/>
              <a:t>Если не указать значение, то гарантируется, что оно будет нулевым, а не мусорным</a:t>
            </a:r>
            <a:r>
              <a:rPr lang="en-US" sz="1400" dirty="0"/>
              <a:t>;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Статические поля инициализируются при старте программы в том порядке, который указан в коде</a:t>
            </a:r>
            <a:r>
              <a:rPr lang="en-US" sz="1400" dirty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75330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методы</a:t>
            </a:r>
            <a:r>
              <a:rPr lang="en-US" sz="4000" dirty="0"/>
              <a:t> – </a:t>
            </a:r>
            <a:r>
              <a:rPr lang="ru-RU" sz="4000" dirty="0"/>
              <a:t>методы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Обычный метод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константная версия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Константная версия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virtual_method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Виртуальный метод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abstract_method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Чистый виртуальный метод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B8C8CCC2-9959-9B3F-7D32-38DCEF66C6FD}"/>
              </a:ext>
            </a:extLst>
          </p:cNvPr>
          <p:cNvSpPr/>
          <p:nvPr/>
        </p:nvSpPr>
        <p:spPr>
          <a:xfrm>
            <a:off x="1174174" y="4780837"/>
            <a:ext cx="9996054" cy="1569028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b="0" i="0" dirty="0">
                <a:solidFill>
                  <a:srgbClr val="620703"/>
                </a:solidFill>
                <a:effectLst/>
                <a:latin typeface="NeverMind Hand"/>
              </a:rPr>
              <a:t>Класс содержащий хотя бы один абстрактный метод называют абстрактным классом. Экземпляр абстрактного класса создать нельзя; </a:t>
            </a:r>
          </a:p>
          <a:p>
            <a:r>
              <a:rPr lang="ru-RU" sz="1600" dirty="0">
                <a:solidFill>
                  <a:srgbClr val="620703"/>
                </a:solidFill>
                <a:latin typeface="NeverMind Hand"/>
              </a:rPr>
              <a:t>Специального ключевого слова для обозначения таких классов в С++ нет</a:t>
            </a:r>
            <a:r>
              <a:rPr lang="en-US" sz="1600" dirty="0">
                <a:solidFill>
                  <a:srgbClr val="620703"/>
                </a:solidFill>
                <a:latin typeface="NeverMind Hand"/>
              </a:rPr>
              <a:t>;</a:t>
            </a:r>
            <a:endParaRPr lang="ru-RU" sz="1600" b="0" i="0" dirty="0">
              <a:solidFill>
                <a:srgbClr val="620703"/>
              </a:solidFill>
              <a:effectLst/>
              <a:latin typeface="NeverMind Hand"/>
            </a:endParaRPr>
          </a:p>
          <a:p>
            <a:endParaRPr lang="ru-RU" sz="1600" dirty="0">
              <a:solidFill>
                <a:srgbClr val="620703"/>
              </a:solidFill>
              <a:latin typeface="NeverMind Hand"/>
            </a:endParaRPr>
          </a:p>
          <a:p>
            <a:r>
              <a:rPr lang="ru-RU" sz="1600" b="0" i="0" dirty="0">
                <a:solidFill>
                  <a:srgbClr val="620703"/>
                </a:solidFill>
                <a:effectLst/>
                <a:latin typeface="NeverMind Hand"/>
              </a:rPr>
              <a:t>Класс содержащий только абстрактные методы и не содержащий полей называют интерфейсным классом;</a:t>
            </a:r>
            <a:endParaRPr lang="en-US" sz="1600" b="0" i="0" dirty="0">
              <a:solidFill>
                <a:srgbClr val="620703"/>
              </a:solidFill>
              <a:effectLst/>
              <a:latin typeface="NeverMind Hand"/>
            </a:endParaRPr>
          </a:p>
          <a:p>
            <a:r>
              <a:rPr lang="ru-RU" sz="1600" dirty="0">
                <a:solidFill>
                  <a:srgbClr val="620703"/>
                </a:solidFill>
                <a:latin typeface="NeverMind Hand"/>
              </a:rPr>
              <a:t>Специального ключевого слова для обозначения таких классов в С++ нет</a:t>
            </a:r>
            <a:r>
              <a:rPr lang="en-US" sz="1600" dirty="0">
                <a:solidFill>
                  <a:srgbClr val="620703"/>
                </a:solidFill>
                <a:latin typeface="NeverMind Hand"/>
              </a:rPr>
              <a:t>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2354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 объекта </a:t>
            </a:r>
            <a:r>
              <a:rPr lang="en-US" sz="4000" dirty="0"/>
              <a:t>– </a:t>
            </a:r>
            <a:r>
              <a:rPr lang="ru-RU" sz="4000" dirty="0"/>
              <a:t>вызов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08718" y="2693268"/>
            <a:ext cx="3945082" cy="835891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Доступ к любым методам объекта происходит через точечную нотацию с указанием </a:t>
            </a:r>
            <a:r>
              <a:rPr lang="ru-RU" sz="1400" b="1" dirty="0"/>
              <a:t>объекта</a:t>
            </a:r>
            <a:r>
              <a:rPr lang="ru-RU" sz="1400" dirty="0"/>
              <a:t> у которого вызывается метод</a:t>
            </a:r>
            <a:r>
              <a:rPr lang="en-US" sz="1400" dirty="0"/>
              <a:t>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792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Методы объекта </a:t>
            </a:r>
            <a:r>
              <a:rPr lang="en-US" sz="3200" dirty="0"/>
              <a:t>– </a:t>
            </a:r>
            <a:r>
              <a:rPr lang="ru-RU" sz="3200" dirty="0"/>
              <a:t>доступ к другим членам класса</a:t>
            </a:r>
            <a:r>
              <a:rPr lang="en-US" sz="3200" dirty="0"/>
              <a:t> </a:t>
            </a:r>
            <a:r>
              <a:rPr lang="ru-RU" sz="3200" dirty="0"/>
              <a:t>из тела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"x: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"; y: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y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other_method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p1{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p2{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08716" y="1901535"/>
            <a:ext cx="3945082" cy="3844637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теле </a:t>
            </a:r>
            <a:r>
              <a:rPr lang="ru-RU" sz="1400" b="1" dirty="0"/>
              <a:t>метода объекта </a:t>
            </a:r>
            <a:r>
              <a:rPr lang="ru-RU" sz="1400" dirty="0"/>
              <a:t>можно получить доступ к любым полям и метода </a:t>
            </a:r>
            <a:r>
              <a:rPr lang="ru-RU" sz="1400" b="1" dirty="0"/>
              <a:t>объекта</a:t>
            </a:r>
            <a:r>
              <a:rPr lang="ru-RU" sz="1400" dirty="0"/>
              <a:t> </a:t>
            </a:r>
            <a:r>
              <a:rPr lang="ru-RU" sz="1400" b="1" dirty="0"/>
              <a:t>и класса</a:t>
            </a:r>
            <a:r>
              <a:rPr lang="en-US" sz="1400" b="1" dirty="0"/>
              <a:t>;</a:t>
            </a:r>
          </a:p>
          <a:p>
            <a:endParaRPr lang="en-US" sz="1400" b="1" dirty="0"/>
          </a:p>
          <a:p>
            <a:r>
              <a:rPr lang="ru-RU" sz="1400" dirty="0"/>
              <a:t>Доступ к полям и методам осуществляется просто по имени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Метод объекта работает с полями того объекта у которого он вызван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Изменение значения поля в теле метода приводит к изменению значения этого поля в объекте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Область видимости полей и методов – весь класс, поэтому можно обращаться к членам класса объявленным как выше, так и ниже текущего.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71092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Методы объекта </a:t>
            </a:r>
            <a:r>
              <a:rPr lang="en-US" sz="4000" dirty="0"/>
              <a:t>– </a:t>
            </a:r>
            <a:r>
              <a:rPr lang="ru-RU" sz="4000" dirty="0"/>
              <a:t>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x = x;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 - слева от = это параметр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 - слева от = это поле объекта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08716" y="2088573"/>
            <a:ext cx="3945082" cy="3667990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Методы, как и обычные функции, могут принимать и возвращать значения</a:t>
            </a:r>
            <a:r>
              <a:rPr lang="en-US" sz="1400" dirty="0"/>
              <a:t>;</a:t>
            </a:r>
          </a:p>
          <a:p>
            <a:endParaRPr lang="ru-RU" sz="1400" dirty="0"/>
          </a:p>
          <a:p>
            <a:r>
              <a:rPr lang="ru-RU" sz="1400" dirty="0"/>
              <a:t>Методы объекта получают неявный первый параметр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ru-RU" sz="1400" dirty="0"/>
              <a:t>:</a:t>
            </a:r>
          </a:p>
          <a:p>
            <a:br>
              <a:rPr lang="ru-RU" sz="1400" dirty="0"/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Point* this, */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/>
              <a:t>Указатель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ru-RU" sz="1400" dirty="0"/>
              <a:t> получает адрес объекта у которого вызван метод</a:t>
            </a:r>
            <a:r>
              <a:rPr lang="en-US" sz="1400" dirty="0"/>
              <a:t>;</a:t>
            </a:r>
          </a:p>
          <a:p>
            <a:endParaRPr lang="ru-RU" sz="1400" dirty="0"/>
          </a:p>
          <a:p>
            <a:r>
              <a:rPr lang="ru-RU" sz="1400" dirty="0"/>
              <a:t>При помощи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ru-RU" sz="1400" dirty="0"/>
              <a:t> можно получить доступ к полям и методам текущего объекта</a:t>
            </a:r>
            <a:r>
              <a:rPr lang="en-US" sz="1400" dirty="0"/>
              <a:t>;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Как и в случае структур для доступа можно использовать стрелочную нотацию.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0412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Константные методы объекта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52578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3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"const 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only_const_method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only_const_method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82C3EA1-03E1-AB7E-671B-0222FCA0393C}"/>
              </a:ext>
            </a:extLst>
          </p:cNvPr>
          <p:cNvSpPr txBox="1">
            <a:spLocks/>
          </p:cNvSpPr>
          <p:nvPr/>
        </p:nvSpPr>
        <p:spPr>
          <a:xfrm>
            <a:off x="6096000" y="1439999"/>
            <a:ext cx="5257800" cy="4860000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13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Point cp;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simple_method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some_method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only_const_method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300" dirty="0" err="1">
                <a:solidFill>
                  <a:srgbClr val="008000"/>
                </a:solidFill>
                <a:latin typeface="Consolas" panose="020B0609020204030204" pitchFamily="49" charset="0"/>
              </a:rPr>
              <a:t>cp.simple_method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(); //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endParaRPr lang="ru-RU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cp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some_method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cp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only_const_method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6096000" y="4353791"/>
            <a:ext cx="5257800" cy="2139084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300" dirty="0"/>
              <a:t>Для любого метода объекта можно написать константную и не константную версию</a:t>
            </a:r>
            <a:r>
              <a:rPr lang="en-US" sz="1300" dirty="0"/>
              <a:t>. </a:t>
            </a:r>
            <a:r>
              <a:rPr lang="ru-RU" sz="1300" dirty="0"/>
              <a:t>У константной версии в конце прототипа должно быть ключевое слово </a:t>
            </a:r>
            <a:r>
              <a:rPr lang="en-US" sz="1300" dirty="0"/>
              <a:t>const;</a:t>
            </a:r>
            <a:br>
              <a:rPr lang="en-US" sz="1300" dirty="0"/>
            </a:br>
            <a:br>
              <a:rPr lang="en-US" sz="1300" dirty="0"/>
            </a:br>
            <a:r>
              <a:rPr lang="ru-RU" sz="1300" dirty="0"/>
              <a:t>У не константного объекта можно вызывать как константный, так и не константный методы</a:t>
            </a:r>
            <a:r>
              <a:rPr lang="en-US" sz="1300" dirty="0"/>
              <a:t>;</a:t>
            </a:r>
            <a:br>
              <a:rPr lang="ru-RU" sz="1300" dirty="0"/>
            </a:br>
            <a:r>
              <a:rPr lang="ru-RU" sz="1300" dirty="0"/>
              <a:t>Если объявлены оба, то предпочтение отдаётся не константной версии</a:t>
            </a:r>
            <a:r>
              <a:rPr lang="en-US" sz="1300" dirty="0"/>
              <a:t>;</a:t>
            </a:r>
            <a:br>
              <a:rPr lang="en-US" sz="1300" dirty="0"/>
            </a:br>
            <a:br>
              <a:rPr lang="en-US" sz="1300" dirty="0"/>
            </a:br>
            <a:r>
              <a:rPr lang="ru-RU" sz="1300" dirty="0"/>
              <a:t>У константного объекта можно вызывать только константный метод</a:t>
            </a:r>
            <a:r>
              <a:rPr lang="en-US" sz="1300" dirty="0"/>
              <a:t>;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829662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Методы объекта </a:t>
            </a:r>
            <a:r>
              <a:rPr lang="en-US" sz="3200" dirty="0"/>
              <a:t>– </a:t>
            </a:r>
            <a:r>
              <a:rPr lang="ru-RU" sz="3200" dirty="0"/>
              <a:t>доступ к другим членам класса</a:t>
            </a:r>
            <a:r>
              <a:rPr lang="en-US" sz="3200" dirty="0"/>
              <a:t> </a:t>
            </a:r>
            <a:r>
              <a:rPr lang="ru-RU" sz="3200" dirty="0"/>
              <a:t>из тела константного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"x: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"; y: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y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x = 100;            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const_method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not_const_method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();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const_method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const_method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not_const_method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not_const_method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p{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simple_method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6255326" y="1901537"/>
            <a:ext cx="5098471" cy="4591338"/>
          </a:xfrm>
          <a:prstGeom prst="roundRect">
            <a:avLst>
              <a:gd name="adj" fmla="val 282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теле </a:t>
            </a:r>
            <a:r>
              <a:rPr lang="ru-RU" sz="1400" b="1" dirty="0"/>
              <a:t>константного метода объекта </a:t>
            </a:r>
            <a:r>
              <a:rPr lang="ru-RU" sz="1400" dirty="0"/>
              <a:t>можно получить доступ к любым полям объекта, но только на чтение, и к любым </a:t>
            </a:r>
            <a:r>
              <a:rPr lang="ru-RU" sz="1400" b="1" dirty="0"/>
              <a:t>константным</a:t>
            </a:r>
            <a:r>
              <a:rPr lang="ru-RU" sz="1400" dirty="0"/>
              <a:t> метода </a:t>
            </a:r>
            <a:r>
              <a:rPr lang="ru-RU" sz="1400" b="1" dirty="0"/>
              <a:t>объекта</a:t>
            </a:r>
            <a:r>
              <a:rPr lang="en-US" sz="1400" b="1" dirty="0"/>
              <a:t>;</a:t>
            </a:r>
            <a:endParaRPr lang="ru-RU" sz="1400" b="1" dirty="0"/>
          </a:p>
          <a:p>
            <a:r>
              <a:rPr lang="ru-RU" sz="1400" dirty="0"/>
              <a:t>К полям </a:t>
            </a:r>
            <a:r>
              <a:rPr lang="ru-RU" sz="1400" b="1" dirty="0"/>
              <a:t>класса</a:t>
            </a:r>
            <a:r>
              <a:rPr lang="ru-RU" sz="1400" dirty="0"/>
              <a:t> можно получить доступ как на чтение так и на запись</a:t>
            </a:r>
            <a:r>
              <a:rPr lang="en-US" sz="1400" dirty="0"/>
              <a:t>;</a:t>
            </a:r>
          </a:p>
          <a:p>
            <a:r>
              <a:rPr lang="ru-RU" sz="1400" dirty="0"/>
              <a:t>К методам </a:t>
            </a:r>
            <a:r>
              <a:rPr lang="ru-RU" sz="1400" b="1" dirty="0"/>
              <a:t>класса</a:t>
            </a:r>
            <a:r>
              <a:rPr lang="ru-RU" sz="1400" dirty="0"/>
              <a:t> тоже можно получить доступ</a:t>
            </a:r>
            <a:r>
              <a:rPr lang="en-US" sz="1400" dirty="0"/>
              <a:t>;</a:t>
            </a:r>
            <a:endParaRPr lang="ru-RU" sz="1400" dirty="0"/>
          </a:p>
          <a:p>
            <a:endParaRPr lang="en-US" sz="1400" b="1" dirty="0"/>
          </a:p>
          <a:p>
            <a:r>
              <a:rPr lang="ru-RU" sz="1400" dirty="0"/>
              <a:t>В теле </a:t>
            </a:r>
            <a:r>
              <a:rPr lang="ru-RU" sz="1400" b="1" dirty="0"/>
              <a:t>не константного </a:t>
            </a:r>
            <a:r>
              <a:rPr lang="ru-RU" sz="1400" dirty="0"/>
              <a:t>метода объекта можно получить доступ к полям объекта как на чтения, так и на запись, а так же вызывать как константные, так и не константные методы объекта</a:t>
            </a:r>
            <a:r>
              <a:rPr lang="en-US" sz="1400" dirty="0"/>
              <a:t>;</a:t>
            </a:r>
            <a:endParaRPr lang="ru-RU" sz="1400" dirty="0"/>
          </a:p>
          <a:p>
            <a:r>
              <a:rPr lang="ru-RU" sz="1400" dirty="0"/>
              <a:t>К полям </a:t>
            </a:r>
            <a:r>
              <a:rPr lang="ru-RU" sz="1400" b="1" dirty="0"/>
              <a:t>класса</a:t>
            </a:r>
            <a:r>
              <a:rPr lang="ru-RU" sz="1400" dirty="0"/>
              <a:t> можно получить доступ как на чтение так и на запись</a:t>
            </a:r>
            <a:r>
              <a:rPr lang="en-US" sz="1400" dirty="0"/>
              <a:t>;</a:t>
            </a:r>
          </a:p>
          <a:p>
            <a:r>
              <a:rPr lang="ru-RU" sz="1400" dirty="0"/>
              <a:t>К методам </a:t>
            </a:r>
            <a:r>
              <a:rPr lang="ru-RU" sz="1400" b="1" dirty="0"/>
              <a:t>класса</a:t>
            </a:r>
            <a:r>
              <a:rPr lang="ru-RU" sz="1400" dirty="0"/>
              <a:t> тоже можно получить доступ</a:t>
            </a:r>
            <a:r>
              <a:rPr lang="en-US" sz="1400" dirty="0"/>
              <a:t>.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НЕ константные методы объекта получают неявный первый параметр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ru-RU" sz="1400" dirty="0"/>
              <a:t>, а константные методы - константный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dirty="0"/>
          </a:p>
          <a:p>
            <a:br>
              <a:rPr lang="ru-RU" sz="1400" dirty="0"/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const_method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const Point* this */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not_const_method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Point* this */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82252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Константные объекты - Семантическая константность и синтаксическая константность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Состояние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shield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armor;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Статистика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kills;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Кеш не относится к состоянию объекта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cache;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6255326" y="1745422"/>
            <a:ext cx="5098471" cy="1110909"/>
          </a:xfrm>
          <a:prstGeom prst="roundRect">
            <a:avLst>
              <a:gd name="adj" fmla="val 282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Поля класса предназначены для описания состояния объекта в текущий момент времени. Но бывает необходимость в таких полях, которые не относятся к состоянию объекта, а выполняют другую задачу, например наблюдение за объектом или оптимизация</a:t>
            </a:r>
            <a:r>
              <a:rPr lang="en-US" sz="1400" dirty="0"/>
              <a:t>;</a:t>
            </a:r>
            <a:endParaRPr lang="ru-RU" sz="1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62278C-A4D3-6FEE-07FD-6DCECDE4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326" y="2933614"/>
            <a:ext cx="5110150" cy="1316408"/>
          </a:xfrm>
          <a:prstGeom prst="rect">
            <a:avLst/>
          </a:prstGeom>
        </p:spPr>
      </p:pic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8D5A85F4-3B1E-168F-20A9-F7E5857A0458}"/>
              </a:ext>
            </a:extLst>
          </p:cNvPr>
          <p:cNvSpPr/>
          <p:nvPr/>
        </p:nvSpPr>
        <p:spPr>
          <a:xfrm>
            <a:off x="6267005" y="4396434"/>
            <a:ext cx="5098471" cy="2053736"/>
          </a:xfrm>
          <a:prstGeom prst="roundRect">
            <a:avLst>
              <a:gd name="adj" fmla="val 282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400" dirty="0"/>
              <a:t>С точки зрения ООП объект считается константным, если не изменяется его состояние, т.е. то, что можно наблюдать снаружи. Изменение полей, значение которых невозможно получить снаружи допустимо. Это семантическая константность.</a:t>
            </a:r>
          </a:p>
          <a:p>
            <a:endParaRPr lang="ru-RU" sz="1400" dirty="0"/>
          </a:p>
          <a:p>
            <a:r>
              <a:rPr lang="ru-RU" sz="1400" dirty="0"/>
              <a:t>С точки зрения компилятора объект считается константным, если невозможно изменить ни одно из его полей. Это синтаксическая константность.</a:t>
            </a:r>
          </a:p>
          <a:p>
            <a:endParaRPr lang="ru-RU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564893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en-US" sz="4000" dirty="0"/>
              <a:t>mutable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add_kill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kills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add_kill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kills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HP++; 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HP -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kills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add_kill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add_kill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add_HP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6255326" y="1901537"/>
            <a:ext cx="5098471" cy="2033465"/>
          </a:xfrm>
          <a:prstGeom prst="roundRect">
            <a:avLst>
              <a:gd name="adj" fmla="val 282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200" dirty="0"/>
              <a:t>Иногда бывает, что в объекте, который отмечен в коде как константа требуется изменить некоторые поля, т.е. нарушить синтаксическую константность, но при этом сохранив семантическую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ru-RU" sz="1200" dirty="0"/>
              <a:t>Это можно сделать, если отметить поле которое нужно менять как </a:t>
            </a:r>
            <a:r>
              <a:rPr lang="en-US" sz="1200" b="1" dirty="0"/>
              <a:t>mutable</a:t>
            </a:r>
            <a:r>
              <a:rPr lang="ru-RU" sz="1200" b="1" dirty="0"/>
              <a:t>.</a:t>
            </a:r>
            <a:r>
              <a:rPr lang="ru-RU" sz="1200" dirty="0"/>
              <a:t> Такие поля компилятор разрешает изменять даже в константных методах</a:t>
            </a:r>
            <a:r>
              <a:rPr lang="en-US" sz="1200" dirty="0"/>
              <a:t>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8608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Методы объекта – специальные 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000"/>
            <a:ext cx="10800000" cy="48600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/>
              <a:t>Конструктор – отвечает за создание и инициализацию объекта</a:t>
            </a:r>
            <a:r>
              <a:rPr lang="en-US" dirty="0"/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>
                <a:solidFill>
                  <a:srgbClr val="24292F"/>
                </a:solidFill>
              </a:rPr>
              <a:t>Деструктор – отвечает за корректное освобождение ресурсов</a:t>
            </a:r>
            <a:r>
              <a:rPr lang="en-US" dirty="0">
                <a:solidFill>
                  <a:srgbClr val="24292F"/>
                </a:solidFill>
              </a:rPr>
              <a:t> </a:t>
            </a:r>
            <a:r>
              <a:rPr lang="ru-RU" dirty="0">
                <a:solidFill>
                  <a:srgbClr val="24292F"/>
                </a:solidFill>
              </a:rPr>
              <a:t>и уничтожение объектов</a:t>
            </a:r>
            <a:r>
              <a:rPr lang="en-US" dirty="0">
                <a:solidFill>
                  <a:srgbClr val="24292F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>
                <a:solidFill>
                  <a:srgbClr val="24292F"/>
                </a:solidFill>
              </a:rPr>
              <a:t>Конструктор копирования </a:t>
            </a:r>
            <a:r>
              <a:rPr lang="en-US" dirty="0">
                <a:solidFill>
                  <a:srgbClr val="24292F"/>
                </a:solidFill>
              </a:rPr>
              <a:t>– </a:t>
            </a:r>
            <a:r>
              <a:rPr lang="ru-RU" dirty="0">
                <a:solidFill>
                  <a:srgbClr val="24292F"/>
                </a:solidFill>
              </a:rPr>
              <a:t>вызывается во время копирования объекта</a:t>
            </a:r>
            <a:r>
              <a:rPr lang="en-US" dirty="0">
                <a:solidFill>
                  <a:srgbClr val="24292F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>
                <a:solidFill>
                  <a:srgbClr val="24292F"/>
                </a:solidFill>
              </a:rPr>
              <a:t>Конструктор перемещения </a:t>
            </a:r>
            <a:r>
              <a:rPr lang="en-US" dirty="0">
                <a:solidFill>
                  <a:srgbClr val="24292F"/>
                </a:solidFill>
              </a:rPr>
              <a:t>– </a:t>
            </a:r>
            <a:r>
              <a:rPr lang="ru-RU" dirty="0">
                <a:solidFill>
                  <a:srgbClr val="24292F"/>
                </a:solidFill>
              </a:rPr>
              <a:t>вызывается во время копирования временного объекта, чтобы не копировать ресурсы, а забрать их</a:t>
            </a:r>
            <a:r>
              <a:rPr lang="en-US" dirty="0">
                <a:solidFill>
                  <a:srgbClr val="24292F"/>
                </a:solidFill>
              </a:rPr>
              <a:t>;</a:t>
            </a:r>
            <a:endParaRPr lang="ru-RU" dirty="0">
              <a:solidFill>
                <a:srgbClr val="24292F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/>
              <a:t>Оператор присваивания (копированием) – вызывается во время присваивания одного объекта другому</a:t>
            </a:r>
            <a:r>
              <a:rPr lang="en-US" dirty="0"/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/>
              <a:t>Оператор присваивания (перемещением) – вызывается во время присваивания объекту значения временного объекта, чтобы не копировать его ресурсы, а забрать</a:t>
            </a:r>
            <a:r>
              <a:rPr lang="en-US" dirty="0"/>
              <a:t>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928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Какие бывают методы</a:t>
            </a:r>
            <a:r>
              <a:rPr lang="en-US" sz="4000" dirty="0"/>
              <a:t> – </a:t>
            </a:r>
            <a:r>
              <a:rPr lang="ru-RU" sz="4000" dirty="0"/>
              <a:t>методы 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Обычный метод класса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Константных и виртуальных не бывает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89407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Методы класса </a:t>
            </a:r>
            <a:r>
              <a:rPr lang="en-US" sz="4000" dirty="0"/>
              <a:t>– </a:t>
            </a:r>
            <a:r>
              <a:rPr lang="ru-RU" sz="4000" dirty="0"/>
              <a:t>вызов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439999"/>
            <a:ext cx="10800000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325591" y="1901536"/>
            <a:ext cx="4028207" cy="835891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Доступ к методам класс можно получить через точечную нотацию с указанием любого объекта требуемого класса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386596EA-0D6C-E405-CC5F-58B916066C82}"/>
              </a:ext>
            </a:extLst>
          </p:cNvPr>
          <p:cNvSpPr/>
          <p:nvPr/>
        </p:nvSpPr>
        <p:spPr>
          <a:xfrm>
            <a:off x="7325591" y="3882737"/>
            <a:ext cx="4028207" cy="1073728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Но для вызова метода класса нет необходимости создавать объект, его можно вызвать через имя класса, указав полное квалифицированное имя метода.</a:t>
            </a:r>
          </a:p>
        </p:txBody>
      </p:sp>
    </p:spTree>
    <p:extLst>
      <p:ext uri="{BB962C8B-B14F-4D97-AF65-F5344CB8AC3E}">
        <p14:creationId xmlns:p14="http://schemas.microsoft.com/office/powerpoint/2010/main" val="2086732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 anchor="ctr">
            <a:normAutofit/>
          </a:bodyPr>
          <a:lstStyle/>
          <a:p>
            <a:r>
              <a:rPr lang="ru-RU" sz="3200" dirty="0"/>
              <a:t>Доступ к другим членам класса</a:t>
            </a:r>
            <a:r>
              <a:rPr lang="en-US" sz="3200" dirty="0"/>
              <a:t> </a:t>
            </a:r>
            <a:r>
              <a:rPr lang="ru-RU" sz="3200" dirty="0"/>
              <a:t>из тела статического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1999"/>
            <a:ext cx="10515599" cy="504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simple_class_method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std::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x &lt;&lt; std::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y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simple_object_method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();     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other_class_method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other_class_method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other_class_method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simple_object_method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simple_object_method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408716" y="1708891"/>
            <a:ext cx="3945082" cy="3844637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теле </a:t>
            </a:r>
            <a:r>
              <a:rPr lang="ru-RU" sz="1400" b="1" dirty="0"/>
              <a:t>метода класса </a:t>
            </a:r>
            <a:r>
              <a:rPr lang="ru-RU" sz="1400" dirty="0"/>
              <a:t>можно получить доступ только к полям класса и методам класса, но не к полям объекта или методам объекта</a:t>
            </a:r>
            <a:r>
              <a:rPr lang="en-US" sz="1400" b="1" dirty="0"/>
              <a:t>;</a:t>
            </a:r>
          </a:p>
          <a:p>
            <a:endParaRPr lang="en-US" sz="1400" b="1" dirty="0"/>
          </a:p>
          <a:p>
            <a:r>
              <a:rPr lang="ru-RU" sz="1400" dirty="0"/>
              <a:t>Доступ к другим полям и методам класса осуществляется просто по имени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Изменение значения поля класса в теле метода приводит к изменению значения этого поля </a:t>
            </a:r>
            <a:r>
              <a:rPr lang="ru-RU" sz="1400" dirty="0" err="1"/>
              <a:t>всамом</a:t>
            </a:r>
            <a:r>
              <a:rPr lang="ru-RU" sz="1400" dirty="0"/>
              <a:t> классе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Область видимости полей и методов – весь класс, поэтому можно обращаться к членам класса объявленным как выше, так и ниже текущего.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3615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3200" dirty="0"/>
              <a:t>Методы класса </a:t>
            </a:r>
            <a:r>
              <a:rPr lang="en-US" sz="3200" dirty="0"/>
              <a:t>– </a:t>
            </a:r>
            <a:r>
              <a:rPr lang="ru-RU" sz="3200" dirty="0"/>
              <a:t>параметры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89042"/>
            <a:ext cx="10515599" cy="4387921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x = x;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 - слева от = это параметр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 = x;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 - слева от = это поле класса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585364" y="2088573"/>
            <a:ext cx="3768434" cy="1537854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Методы класса, как и обычные функции, могут принимать и возвращать значения</a:t>
            </a:r>
            <a:r>
              <a:rPr lang="en-US" sz="1400" dirty="0"/>
              <a:t>;</a:t>
            </a:r>
          </a:p>
          <a:p>
            <a:endParaRPr lang="ru-RU" sz="1400" dirty="0"/>
          </a:p>
          <a:p>
            <a:r>
              <a:rPr lang="ru-RU" sz="1400" dirty="0"/>
              <a:t>Методы класса, по своей сути – обычные функции, поэтому, они НЕ получают никаких дополнительных параметров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4441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3200" dirty="0"/>
              <a:t>Методы класса </a:t>
            </a:r>
            <a:r>
              <a:rPr lang="en-US" sz="3200" dirty="0"/>
              <a:t>– </a:t>
            </a:r>
            <a:r>
              <a:rPr lang="ru-RU" sz="3200" dirty="0"/>
              <a:t>способы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5791"/>
            <a:ext cx="10515599" cy="440117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Объявление и определение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Определение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585364" y="2088572"/>
            <a:ext cx="3768434" cy="3792683"/>
          </a:xfrm>
          <a:prstGeom prst="roundRect">
            <a:avLst>
              <a:gd name="adj" fmla="val 514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Методы могут быть объявлены и определены в месте объявления класса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Методы могут быть объявлены в месте объявления класса, а определены за пределами объявления, далее по коду</a:t>
            </a:r>
            <a:r>
              <a:rPr lang="en-US" sz="1400" dirty="0"/>
              <a:t>;</a:t>
            </a:r>
          </a:p>
          <a:p>
            <a:r>
              <a:rPr lang="ru-RU" sz="1400" dirty="0"/>
              <a:t>В этом случае имя метода должно быть дополнено квалификатором – именем класса</a:t>
            </a:r>
            <a:r>
              <a:rPr lang="en-US" sz="1400" dirty="0"/>
              <a:t>;</a:t>
            </a:r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Методы определённые внутри класса автоматически назначаются встраиваемыми (</a:t>
            </a:r>
            <a:r>
              <a:rPr lang="en-US" sz="1400" dirty="0"/>
              <a:t>inline</a:t>
            </a:r>
            <a:r>
              <a:rPr lang="ru-RU" sz="1400" dirty="0"/>
              <a:t>)</a:t>
            </a:r>
            <a:r>
              <a:rPr lang="en-US" sz="1400" dirty="0"/>
              <a:t>;</a:t>
            </a:r>
          </a:p>
          <a:p>
            <a:r>
              <a:rPr lang="ru-RU" sz="1400" dirty="0"/>
              <a:t>Если метод только объявлен внутри класса, то можно сделать его встраиваемым добавил ключевое слов </a:t>
            </a:r>
            <a:r>
              <a:rPr lang="en-US" sz="1400" dirty="0"/>
              <a:t>inline </a:t>
            </a:r>
            <a:r>
              <a:rPr lang="ru-RU" sz="1400" dirty="0"/>
              <a:t>к объявлению метода руками.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1397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Специальные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1111083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40015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1862"/>
            <a:ext cx="10515599" cy="445510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Присутствует реализация конструктора от компилятора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 по умолчанию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Dot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Объекта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p0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создаётся. Это объявление функции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 p1;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721861"/>
            <a:ext cx="3654134" cy="4486275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– отвечает за создание и инициализацию объекта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r>
              <a:rPr lang="ru-RU" sz="1400" dirty="0"/>
              <a:t>У класса может быть любое количество конструкторов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ru-RU" sz="1400" dirty="0"/>
              <a:t>Конструктор объявляется как метод с именем совпадающем с названием класса и без возвращаемого значения</a:t>
            </a:r>
            <a:r>
              <a:rPr lang="en-US" sz="1400" dirty="0"/>
              <a:t>;</a:t>
            </a:r>
          </a:p>
          <a:p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автоматически вызывается во время создания объекта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Если в теле класса не объявлен конструктор, то компилятор предоставляет реализацию по умолчанию. Этот конструктор ничего не делает</a:t>
            </a:r>
            <a:r>
              <a:rPr lang="en-US" sz="1400" dirty="0"/>
              <a:t>;</a:t>
            </a:r>
            <a:br>
              <a:rPr lang="ru-RU" sz="1400" dirty="0"/>
            </a:br>
            <a:r>
              <a:rPr lang="ru-RU" sz="1400" dirty="0"/>
              <a:t>Если есть хоть один пользовательский конструктор, то реализация от компилятора не предоставляется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/>
          <a:lstStyle/>
          <a:p>
            <a:r>
              <a:rPr lang="ru-RU" sz="4000" dirty="0"/>
              <a:t>Конструктор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9625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9530"/>
            <a:ext cx="10515599" cy="446743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"Dot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 умолчанию"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 умолчанию"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Dot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901537"/>
            <a:ext cx="3654134" cy="152746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без параметров называется конструктором по умолчанию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который может быть использован без параметров тоже называется конструктором по умолчанию</a:t>
            </a:r>
            <a:r>
              <a:rPr lang="en-US" sz="1400" dirty="0"/>
              <a:t>;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1093148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0000"/>
            <a:ext cx="10515599" cy="4860000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"Dot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 умолчанию"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 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 умолчанию"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dot_func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point_func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Dot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Неявный вызов конструктора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1;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Явный вызов конструктора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dot_func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Неявное создание объекта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point_func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(1);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901536"/>
            <a:ext cx="3654134" cy="427542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 с одним параметром может быть вызван компилятором неявно, если с левой стороны от знака равенства указан тип равный или преобразуемый в тип параметра конструктора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Тоже поведение возможно во время вызова функции которая принимает объект по значению, но вместо объекта ей передают другой тип данных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Чтобы предотвратить такое поведение нужно добавить к конструктору ключевое слово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</a:rPr>
              <a:t>.</a:t>
            </a:r>
            <a:r>
              <a:rPr lang="ru-RU" sz="1400" dirty="0">
                <a:solidFill>
                  <a:srgbClr val="0000FF"/>
                </a:solidFill>
              </a:rPr>
              <a:t> </a:t>
            </a:r>
            <a:r>
              <a:rPr lang="ru-RU" sz="1400" dirty="0"/>
              <a:t>В этом случае вызов конструктора неявно будет запрещено</a:t>
            </a:r>
            <a:r>
              <a:rPr lang="en-US" sz="1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Конструкторы с несколькими параметрами не обладают каким поведением, если только для параметров не установлено значение по умолчанию</a:t>
            </a:r>
            <a:endParaRPr lang="en-US" sz="14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с одним параметром</a:t>
            </a:r>
          </a:p>
        </p:txBody>
      </p:sp>
    </p:spTree>
    <p:extLst>
      <p:ext uri="{BB962C8B-B14F-4D97-AF65-F5344CB8AC3E}">
        <p14:creationId xmlns:p14="http://schemas.microsoft.com/office/powerpoint/2010/main" val="350751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1536"/>
            <a:ext cx="10515599" cy="4275427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Делегирующий конструктор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"Dot </a:t>
            </a:r>
            <a:r>
              <a:rPr lang="ru-RU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 умолчанию"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"Dot </a:t>
            </a:r>
            <a:r>
              <a:rPr lang="ru-RU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 параметрами"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value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838199" y="4775632"/>
            <a:ext cx="4544292" cy="91858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Многие классы имеют несколько конструкторов, которые выполняют аналогичные действия. Делегирование работы другому конструктору позволяет уменьшить дублирование кода.</a:t>
            </a:r>
            <a:endParaRPr lang="en-US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Делегирующий конструктор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09A583A-6878-5F2B-8B06-82FC3F5C5695}"/>
              </a:ext>
            </a:extLst>
          </p:cNvPr>
          <p:cNvSpPr txBox="1">
            <a:spLocks/>
          </p:cNvSpPr>
          <p:nvPr/>
        </p:nvSpPr>
        <p:spPr>
          <a:xfrm>
            <a:off x="5552213" y="1901535"/>
            <a:ext cx="5451760" cy="4275427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sz="1100" dirty="0">
                <a:solidFill>
                  <a:srgbClr val="008000"/>
                </a:solidFill>
                <a:latin typeface="Consolas" panose="020B0609020204030204" pitchFamily="49" charset="0"/>
              </a:rPr>
              <a:t>Создаётся временный объект, не делегирование</a:t>
            </a:r>
            <a:endParaRPr lang="ru-RU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"Point </a:t>
            </a:r>
            <a:r>
              <a:rPr lang="ru-RU" sz="1100" dirty="0">
                <a:solidFill>
                  <a:srgbClr val="A31515"/>
                </a:solidFill>
                <a:latin typeface="Consolas" panose="020B0609020204030204" pitchFamily="49" charset="0"/>
              </a:rPr>
              <a:t>по умолчанию"</a:t>
            </a:r>
            <a:r>
              <a:rPr lang="ru-RU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795E26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"Point </a:t>
            </a:r>
            <a:r>
              <a:rPr lang="ru-RU" sz="1100" dirty="0">
                <a:solidFill>
                  <a:srgbClr val="A31515"/>
                </a:solidFill>
                <a:latin typeface="Consolas" panose="020B0609020204030204" pitchFamily="49" charset="0"/>
              </a:rPr>
              <a:t>с параметрами"</a:t>
            </a:r>
            <a:r>
              <a:rPr lang="ru-RU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value =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Dot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dot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"Dot: 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dot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Point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"Point: 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point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70358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9259"/>
            <a:ext cx="10515599" cy="4275427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не получится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нужно так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Инициализация полей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09A583A-6878-5F2B-8B06-82FC3F5C5695}"/>
              </a:ext>
            </a:extLst>
          </p:cNvPr>
          <p:cNvSpPr txBox="1">
            <a:spLocks/>
          </p:cNvSpPr>
          <p:nvPr/>
        </p:nvSpPr>
        <p:spPr>
          <a:xfrm>
            <a:off x="5579921" y="1729258"/>
            <a:ext cx="5995551" cy="4275427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Список инициализаторов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Тело пустое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C48AFB50-75A7-24B5-F32C-E41943C7A003}"/>
              </a:ext>
            </a:extLst>
          </p:cNvPr>
          <p:cNvSpPr/>
          <p:nvPr/>
        </p:nvSpPr>
        <p:spPr>
          <a:xfrm>
            <a:off x="8368145" y="2909971"/>
            <a:ext cx="3096490" cy="3410628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100" dirty="0"/>
              <a:t>Поля объекта инициализируются в конструкторе, чтобы привести объект к начальному допустимому состоянию</a:t>
            </a:r>
            <a:r>
              <a:rPr lang="en-US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100" dirty="0"/>
              <a:t>Поля можно инициализировать в теле конструктора через обычное присваивание или в списке инициализаторов</a:t>
            </a:r>
            <a:r>
              <a:rPr lang="en-US" sz="11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100" dirty="0"/>
              <a:t>В списке инициализаторов можно использовать одно и тоже имя для поля объекта и параметра конструктора.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100" b="1" dirty="0"/>
              <a:t>Порядок инициализации полей определяется НЕ порядком в котором указаны поля в списке инициализаторов, а порядком их объявления в теле класса</a:t>
            </a:r>
            <a:r>
              <a:rPr lang="en-US" sz="1100" b="1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100" dirty="0"/>
              <a:t>Можно комбинировать инициализацию в теле конструктора и списки инициализаторов, но часто тело оставляю пустым.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48204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16006"/>
            <a:ext cx="10515599" cy="4275427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y = value;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k = value;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Обычное значение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Инициализация полей-констант и ссылок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709A583A-6878-5F2B-8B06-82FC3F5C5695}"/>
              </a:ext>
            </a:extLst>
          </p:cNvPr>
          <p:cNvSpPr txBox="1">
            <a:spLocks/>
          </p:cNvSpPr>
          <p:nvPr/>
        </p:nvSpPr>
        <p:spPr>
          <a:xfrm>
            <a:off x="5112327" y="1716005"/>
            <a:ext cx="5891646" cy="4275427"/>
          </a:xfrm>
          <a:prstGeom prst="rect">
            <a:avLst/>
          </a:prstGeom>
        </p:spPr>
        <p:txBody>
          <a:bodyPr vert="horz" lIns="144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Обычное значение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2AC8AFB5-C34E-3FC1-C484-E2A86E7921B5}"/>
              </a:ext>
            </a:extLst>
          </p:cNvPr>
          <p:cNvSpPr/>
          <p:nvPr/>
        </p:nvSpPr>
        <p:spPr>
          <a:xfrm>
            <a:off x="8368145" y="3492851"/>
            <a:ext cx="3096490" cy="2814493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Тело конструктора исполняется уже после создания объекта, поэтому инициализация поля-константы будет воспринято как попытка его изменить, что недопустимо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Инициализация поля-ссылки также не допускается в теле конструктора, по той же причине что указана выше. Т.е. такое поле в момент выполнения тела конструктора считается неинициализированной ссылкой, что тоже не допустимо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Инициализация полей-констант и ссылок в конструкторе возможна только в списке инициализаторов.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0891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01536"/>
            <a:ext cx="10515599" cy="4275427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global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      = global;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Обычное значение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global;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z      = &amp;global;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k      = global;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Инициализация полей</a:t>
            </a:r>
            <a:r>
              <a:rPr lang="en-US" sz="4000" dirty="0"/>
              <a:t> </a:t>
            </a:r>
            <a:r>
              <a:rPr lang="ru-RU" sz="4000" dirty="0"/>
              <a:t>в точке объявления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2AC8AFB5-C34E-3FC1-C484-E2A86E7921B5}"/>
              </a:ext>
            </a:extLst>
          </p:cNvPr>
          <p:cNvSpPr/>
          <p:nvPr/>
        </p:nvSpPr>
        <p:spPr>
          <a:xfrm>
            <a:off x="7474526" y="1901536"/>
            <a:ext cx="3477492" cy="252499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Поля объекта можно инициализировать в точке объявления, в том числе ссылки и константы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Этот способ пригодится, когда начальное значение поля должно быть одинаковым для всех объектов и известно на этапе компиляции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Код показанный на примере, хоть и работает, но нарушает принцип инкапсуляции, т.к. часть данных о классе находится за пределами самого класса.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99649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Деструктор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970997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6496"/>
            <a:ext cx="10515599" cy="4605278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214439"/>
            <a:ext cx="3654134" cy="525009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Деструктор – отвечает за корректное удаление объекта и освобождения выделенных ресурсов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Деструктор автоматически вызывается в момент удаления объекта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Если в теле класса не объявлен деструктор, то компилятор предоставляет реализацию по умолчанию. Этот деструктор ничего не делает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классе может быть только один деструктор</a:t>
            </a:r>
            <a:r>
              <a:rPr lang="en-US" sz="1300" dirty="0"/>
              <a:t> – </a:t>
            </a:r>
            <a:r>
              <a:rPr lang="ru-RU" sz="1300" dirty="0"/>
              <a:t>деструктор</a:t>
            </a:r>
            <a:r>
              <a:rPr lang="en-US" sz="1300" dirty="0"/>
              <a:t> </a:t>
            </a:r>
            <a:r>
              <a:rPr lang="ru-RU" sz="1300" dirty="0"/>
              <a:t>с пустым списком параметров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Деструктор объявляется таким же образом как конструктор, но перед именем добавляется символ тильда (</a:t>
            </a:r>
            <a:r>
              <a:rPr lang="en-US" sz="1300" dirty="0"/>
              <a:t>~</a:t>
            </a:r>
            <a:r>
              <a:rPr lang="ru-RU" sz="1300" dirty="0"/>
              <a:t>)</a:t>
            </a:r>
            <a:r>
              <a:rPr lang="en-US" sz="1300" dirty="0"/>
              <a:t>;</a:t>
            </a:r>
            <a:br>
              <a:rPr lang="ru-RU" sz="1300" dirty="0"/>
            </a:br>
            <a:r>
              <a:rPr lang="ru-RU" sz="1300" dirty="0"/>
              <a:t>Если есть пользовательский деструктор, то реализация от компилятора не предоставляется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деструкторе нельзя бросать исключения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Перед удалением объекта гарантируется вызов деструкторов (если они есть) для всех его полей.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Деструктор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110433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 копирования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242326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5790"/>
            <a:ext cx="10515599" cy="4401173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Point("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610591"/>
            <a:ext cx="3654134" cy="4882284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– отвечает за корректное копирование объекта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автоматически вызывается в тех местах, где требуется создать копию объекта: при инициализации одного объекта другим, передача в функцию по значению, возврат из функции по значению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Если в теле класса не объявлен конструктор копирования, то компилятор предоставляет реализацию по умолчанию. Этот конструктор копирования выполняет побайтовое копирование для простых типов и вызов конструкторов копирования для классов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классе может быть 2 конструктора копирования </a:t>
            </a:r>
            <a:r>
              <a:rPr lang="en-US" sz="1200" dirty="0"/>
              <a:t> – </a:t>
            </a:r>
            <a:r>
              <a:rPr lang="ru-RU" sz="1200" dirty="0"/>
              <a:t> с константным параметром и с не константным параметром, но обычно объявляют только версию с константным параметром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Конструктор копирования – это обычный конструктор во всех отношениях, но в качестве параметра этот конструктор должен принимать ссылку на объект текущего класса (константную или не константную)</a:t>
            </a:r>
            <a:r>
              <a:rPr lang="en-US" sz="1200" dirty="0"/>
              <a:t>;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копирования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800503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6522"/>
            <a:ext cx="10515599" cy="4520441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Point(const Point&amp; other){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this-&gt;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new int(*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other.i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копии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"Copying Point(" &lt;&lt; *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")" &lt;&lt; std::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*/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699664" y="1901536"/>
            <a:ext cx="3654134" cy="3782291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этом примере без конструктора копирования объекты будут работать не правильно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Как говорилось выше, стандартная реализация конструктора копирования выполняет побайтовое копирование полей простых типов.</a:t>
            </a:r>
            <a:br>
              <a:rPr lang="ru-RU" sz="1200" dirty="0"/>
            </a:br>
            <a:r>
              <a:rPr lang="ru-RU" sz="1200" dirty="0"/>
              <a:t>В данном случае все три копии объекта будут указывать на один и тот же участок памяти выделенный в момент создания первого объекта.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На этапе удаления (в деструкторе), первый удаляемый объект освободит память выделенную под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1200" dirty="0"/>
              <a:t>, а остальные две копии попробуют освободить уже освобождённую память поворотно, что недопустимо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Если </a:t>
            </a:r>
            <a:r>
              <a:rPr lang="ru-RU" sz="1200" dirty="0" err="1"/>
              <a:t>раскомментировать</a:t>
            </a:r>
            <a:r>
              <a:rPr lang="ru-RU" sz="1200" dirty="0"/>
              <a:t> конструктор копирования, то для каждой копии будет выделен свой собственный блок памяти, который затем корректно будет освобождён деструктором.</a:t>
            </a:r>
            <a:endParaRPr lang="en-US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копирования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756821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77008"/>
            <a:ext cx="10515599" cy="459995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value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func_pointer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pointer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func_reference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reference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func_pointer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func_reference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789717" y="1690688"/>
            <a:ext cx="3564081" cy="1859973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Если передать объект в функцию по значению, то перед входом в тело функции будет создана копия оригинального объекта, т.е. вызван конструктор копирования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Передача объекта в функцию по ссылке и указателю, как и ожидалось, не приводит к вызову конструктора копирования, т.к. функция получает доступ к оригинальному объекту.</a:t>
            </a:r>
            <a:endParaRPr lang="en-US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Передача объектов в функцию</a:t>
            </a:r>
          </a:p>
        </p:txBody>
      </p:sp>
    </p:spTree>
    <p:extLst>
      <p:ext uri="{BB962C8B-B14F-4D97-AF65-F5344CB8AC3E}">
        <p14:creationId xmlns:p14="http://schemas.microsoft.com/office/powerpoint/2010/main" val="1796319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7252"/>
            <a:ext cx="10515599" cy="463971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 global;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value ---"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global;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func_pointer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pointer ---"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&amp;global;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func_reference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By reference ---"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global;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func_pointer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func_reference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789717" y="1690688"/>
            <a:ext cx="3564081" cy="211974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Если вернуть объект из функции по значению, то в результате будет создана копия оригинального объекта, т.е. вызван конструктор копирования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Возврат объекта из функции по ссылке или указателю, как и ожидалось, не приводит к вызову конструктора копирования, т.к. возвращается адрес оригинального объекта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Есть особенности, если возвращается локальный объект.</a:t>
            </a:r>
            <a:endParaRPr lang="en-US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Возврат объекта из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863876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3917"/>
            <a:ext cx="10515599" cy="4633047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func_copy_elision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Copy elision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func_copy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"--- Copy ---"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func_copy_elision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func_copy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Скругленный прямоугольник 4">
            <a:extLst>
              <a:ext uri="{FF2B5EF4-FFF2-40B4-BE49-F238E27FC236}">
                <a16:creationId xmlns:a16="http://schemas.microsoft.com/office/drawing/2014/main" id="{1EB007C5-5DA8-B288-A536-40CA04D92FFF}"/>
              </a:ext>
            </a:extLst>
          </p:cNvPr>
          <p:cNvSpPr/>
          <p:nvPr/>
        </p:nvSpPr>
        <p:spPr>
          <a:xfrm>
            <a:off x="7789717" y="1543917"/>
            <a:ext cx="3564081" cy="706582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Возвращать указатель или ссылку на локальный объект нельзя, т.к. он уничтожается перед выходом из функции</a:t>
            </a:r>
            <a:r>
              <a:rPr lang="en-US" sz="1200" dirty="0"/>
              <a:t>;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Возврат локального объекта из функции</a:t>
            </a:r>
          </a:p>
        </p:txBody>
      </p:sp>
      <p:sp>
        <p:nvSpPr>
          <p:cNvPr id="2" name="Скругленный прямоугольник 4">
            <a:extLst>
              <a:ext uri="{FF2B5EF4-FFF2-40B4-BE49-F238E27FC236}">
                <a16:creationId xmlns:a16="http://schemas.microsoft.com/office/drawing/2014/main" id="{3617B615-A4C9-1941-2526-2C8B6250BF37}"/>
              </a:ext>
            </a:extLst>
          </p:cNvPr>
          <p:cNvSpPr/>
          <p:nvPr/>
        </p:nvSpPr>
        <p:spPr>
          <a:xfrm>
            <a:off x="7789717" y="2373889"/>
            <a:ext cx="3564081" cy="394984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случае возврата локального объекта из функции по значению может быть применена оптимизация - пропуск копирования (</a:t>
            </a:r>
            <a:r>
              <a:rPr lang="en-US" sz="1200" dirty="0"/>
              <a:t>copy elision</a:t>
            </a:r>
            <a:r>
              <a:rPr lang="ru-RU" sz="1200" dirty="0"/>
              <a:t>)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 этом случае объект создаётся сразу же за пределами функции и происходит экономия на операциях: копирование локального и удаление локального</a:t>
            </a:r>
            <a:r>
              <a:rPr lang="en-US" sz="1200" dirty="0"/>
              <a:t>;</a:t>
            </a: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endParaRPr lang="ru-RU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Пропуск копирования может быть применён, даже если копирование/перемещение объекта имеет побочные эффекты</a:t>
            </a:r>
            <a:r>
              <a:rPr lang="en-US" sz="1200" dirty="0"/>
              <a:t> (</a:t>
            </a:r>
            <a:r>
              <a:rPr lang="ru-RU" sz="1200" dirty="0"/>
              <a:t>в этом примере побочный эффект это печать сообщения в терминал</a:t>
            </a:r>
            <a:r>
              <a:rPr lang="en-US" sz="120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Применение этой оптимизации зависит от кода и настроек компилятора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Начиная с C++17, пропуск копирования гарантируется, когда объект возвращается напрямую, и в этом случае конструктор копирования или перемещения необязательно должен быть доступен или присутствовать.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47247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Конструктор перемещения</a:t>
            </a:r>
          </a:p>
        </p:txBody>
      </p:sp>
    </p:spTree>
    <p:extLst>
      <p:ext uri="{BB962C8B-B14F-4D97-AF65-F5344CB8AC3E}">
        <p14:creationId xmlns:p14="http://schemas.microsoft.com/office/powerpoint/2010/main" val="245911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Конструктор перемещения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Конструктор перемещения – отвечает за корректное копирование объекта который вот-вот должен быть уничтожен (т.е. временного объекта)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Если в теле класса не объявлен конструктор перемежения, то компилятор предоставляет реализацию по умолчанию. Если объявлен конструктор копирования, то конструктор перемещения компилятором не создаётся.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dirty="0"/>
              <a:t>Подробнее данный конструктор будет рассмотрен на следующих лекциях.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копирующий конструктор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перемещающий конструктор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555780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/>
              <a:t>default</a:t>
            </a:r>
            <a:r>
              <a:rPr lang="ru-RU" sz="4400" dirty="0"/>
              <a:t> и </a:t>
            </a:r>
            <a:r>
              <a:rPr lang="en-US" sz="4400" dirty="0"/>
              <a:t>delete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364384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10592"/>
            <a:ext cx="10515599" cy="4566372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Point() = default;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Нормально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::vector&lt;Point&gt;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en-US" sz="4000" dirty="0"/>
              <a:t>default</a:t>
            </a:r>
            <a:endParaRPr lang="ru-RU" sz="4000" dirty="0"/>
          </a:p>
        </p:txBody>
      </p:sp>
      <p:sp>
        <p:nvSpPr>
          <p:cNvPr id="2" name="Скругленный прямоугольник 4">
            <a:extLst>
              <a:ext uri="{FF2B5EF4-FFF2-40B4-BE49-F238E27FC236}">
                <a16:creationId xmlns:a16="http://schemas.microsoft.com/office/drawing/2014/main" id="{3617B615-A4C9-1941-2526-2C8B6250BF37}"/>
              </a:ext>
            </a:extLst>
          </p:cNvPr>
          <p:cNvSpPr/>
          <p:nvPr/>
        </p:nvSpPr>
        <p:spPr>
          <a:xfrm>
            <a:off x="7789717" y="1690688"/>
            <a:ext cx="3564081" cy="3773066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Если, по каким либо причинам, нужно вернуть стандартную реализацию метода предоставляемую компилятором, то можно воспользоваться ключевым словом </a:t>
            </a:r>
            <a:r>
              <a:rPr lang="en-US" sz="1400" b="1" dirty="0"/>
              <a:t>default</a:t>
            </a:r>
            <a:r>
              <a:rPr lang="ru-RU" sz="1400" b="1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В этом примере добавление конструктора с параметром приводит к тому, что компилятор больше не предоставляет реализацию конструктора по умолчанию.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Но конструктор по умолчанию требуется для создания вектора точек в теле функции </a:t>
            </a:r>
            <a:r>
              <a:rPr lang="en-US" sz="1400" b="1" dirty="0"/>
              <a:t>main</a:t>
            </a:r>
            <a:r>
              <a:rPr lang="ru-RU" sz="1400" dirty="0"/>
              <a:t>, поэтому, чтобы код скомпилировался без ошибок можно добавить свою собственную реализацию конструктора по умолчанию или воспользоваться ключевым словом </a:t>
            </a:r>
            <a:r>
              <a:rPr lang="en-US" sz="1400" dirty="0"/>
              <a:t>default</a:t>
            </a:r>
            <a:r>
              <a:rPr lang="ru-RU" sz="1400" dirty="0"/>
              <a:t>, чтобы попросить компилятор вернуть его реализацию.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792774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8930"/>
            <a:ext cx="10515599" cy="4718034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 Dot"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Dot{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Point(int x, int y);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так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void print();      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вместо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delete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Dot 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p.print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();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en-US" sz="4000" dirty="0"/>
              <a:t>delete</a:t>
            </a:r>
            <a:endParaRPr lang="ru-RU" sz="4000" dirty="0"/>
          </a:p>
        </p:txBody>
      </p:sp>
      <p:sp>
        <p:nvSpPr>
          <p:cNvPr id="2" name="Скругленный прямоугольник 4">
            <a:extLst>
              <a:ext uri="{FF2B5EF4-FFF2-40B4-BE49-F238E27FC236}">
                <a16:creationId xmlns:a16="http://schemas.microsoft.com/office/drawing/2014/main" id="{3617B615-A4C9-1941-2526-2C8B6250BF37}"/>
              </a:ext>
            </a:extLst>
          </p:cNvPr>
          <p:cNvSpPr/>
          <p:nvPr/>
        </p:nvSpPr>
        <p:spPr>
          <a:xfrm>
            <a:off x="7736440" y="1361918"/>
            <a:ext cx="3617357" cy="2716924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Иногда бывает необходимо запретить использование некоторых методов у которых уже существует реализация. Например, реализация предоставляемая компилятором или попавшая в наш класс из класса предка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Раньше в качестве стандартного решения применяли перенос ненужного метода в </a:t>
            </a:r>
            <a:r>
              <a:rPr lang="en-US" sz="1300" b="1" dirty="0"/>
              <a:t>private</a:t>
            </a:r>
            <a:r>
              <a:rPr lang="en-US" sz="1300" dirty="0"/>
              <a:t> </a:t>
            </a:r>
            <a:r>
              <a:rPr lang="ru-RU" sz="1300" dirty="0"/>
              <a:t>секцию класса, что позволяло лишить пользователя доступа к нему. С появлением ключевого слова </a:t>
            </a:r>
            <a:r>
              <a:rPr lang="en-US" sz="1300" b="1" dirty="0"/>
              <a:t>delete</a:t>
            </a:r>
            <a:r>
              <a:rPr lang="en-US" sz="1300" dirty="0"/>
              <a:t> </a:t>
            </a:r>
            <a:r>
              <a:rPr lang="ru-RU" sz="1300" dirty="0"/>
              <a:t>можно просто отметить метод как удалённый. Это касается любого метода класса</a:t>
            </a:r>
            <a:r>
              <a:rPr lang="en-US" sz="1300" dirty="0"/>
              <a:t>;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D47D9C3F-BF6E-8948-60BF-959BFD44BEEF}"/>
              </a:ext>
            </a:extLst>
          </p:cNvPr>
          <p:cNvSpPr/>
          <p:nvPr/>
        </p:nvSpPr>
        <p:spPr>
          <a:xfrm>
            <a:off x="7736441" y="4171308"/>
            <a:ext cx="3617358" cy="2486346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Обратите внимание, что:</a:t>
            </a:r>
          </a:p>
          <a:p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тоже считается реализацией конструктора которую предоставил пользователь, поэтому компилятор больше НЕ будет предоставлять свою и следовательно невозможно будет создать экземпляр такого класса.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Чтобы исправить ситуацию здесь была возвращена реализация конструктора по умолчанию:</a:t>
            </a:r>
          </a:p>
          <a:p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F3B912AF-BA2B-4987-9273-163686F44B0D}"/>
              </a:ext>
            </a:extLst>
          </p:cNvPr>
          <p:cNvSpPr/>
          <p:nvPr/>
        </p:nvSpPr>
        <p:spPr>
          <a:xfrm>
            <a:off x="4019206" y="5582292"/>
            <a:ext cx="3617358" cy="1075362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Ключевое слово </a:t>
            </a:r>
            <a:r>
              <a:rPr lang="en-US" sz="1300" b="1" dirty="0"/>
              <a:t>delete</a:t>
            </a:r>
            <a:r>
              <a:rPr lang="ru-RU" sz="1300" b="1" dirty="0"/>
              <a:t> </a:t>
            </a:r>
            <a:r>
              <a:rPr lang="ru-RU" sz="1300" dirty="0"/>
              <a:t>можно применять не только к методам, но и к обычным функциям. Например, чтобы запретить компилятору создавать из шаблона функцию с конкретным набором аргументов.</a:t>
            </a:r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45697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Доступ к членам класса</a:t>
            </a:r>
          </a:p>
        </p:txBody>
      </p:sp>
    </p:spTree>
    <p:extLst>
      <p:ext uri="{BB962C8B-B14F-4D97-AF65-F5344CB8AC3E}">
        <p14:creationId xmlns:p14="http://schemas.microsoft.com/office/powerpoint/2010/main" val="6412642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Спецификаторы доступа</a:t>
            </a:r>
          </a:p>
        </p:txBody>
      </p:sp>
      <p:sp>
        <p:nvSpPr>
          <p:cNvPr id="2" name="Скругленный прямоугольник 4">
            <a:extLst>
              <a:ext uri="{FF2B5EF4-FFF2-40B4-BE49-F238E27FC236}">
                <a16:creationId xmlns:a16="http://schemas.microsoft.com/office/drawing/2014/main" id="{3617B615-A4C9-1941-2526-2C8B6250BF37}"/>
              </a:ext>
            </a:extLst>
          </p:cNvPr>
          <p:cNvSpPr/>
          <p:nvPr/>
        </p:nvSpPr>
        <p:spPr>
          <a:xfrm>
            <a:off x="7736438" y="1575007"/>
            <a:ext cx="3617357" cy="2706648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С++ существует три спецификатора доступа: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/>
              <a:t>private</a:t>
            </a:r>
            <a:r>
              <a:rPr lang="ru-RU" sz="1300" b="1" dirty="0"/>
              <a:t>:</a:t>
            </a:r>
            <a:endParaRPr lang="en-US" sz="13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Доступ к членам класса есть только у методов этого же класса</a:t>
            </a:r>
            <a:r>
              <a:rPr lang="en-US" sz="1300" dirty="0"/>
              <a:t> </a:t>
            </a:r>
            <a:r>
              <a:rPr lang="ru-RU" sz="1300" dirty="0"/>
              <a:t>и друзей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/>
              <a:t>protected</a:t>
            </a:r>
            <a:r>
              <a:rPr lang="ru-RU" sz="1300" b="1" dirty="0"/>
              <a:t>:</a:t>
            </a:r>
            <a:endParaRPr lang="en-US" sz="13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Доступ к членам класса есть у методов этого же класса, друзей</a:t>
            </a:r>
            <a:r>
              <a:rPr lang="en-US" sz="1300" dirty="0"/>
              <a:t> </a:t>
            </a:r>
            <a:r>
              <a:rPr lang="ru-RU" sz="1300" dirty="0"/>
              <a:t>и методов класса наследника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r>
              <a:rPr lang="en-US" sz="1300" b="1" dirty="0"/>
              <a:t>public</a:t>
            </a:r>
            <a:r>
              <a:rPr lang="ru-RU" sz="1300" b="1" dirty="0"/>
              <a:t>:</a:t>
            </a:r>
          </a:p>
          <a:p>
            <a:r>
              <a:rPr lang="ru-RU" sz="1300" dirty="0"/>
              <a:t>Доступ к членам класса есть у всех, в том числе и у обычных функций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736439" y="4375804"/>
            <a:ext cx="3617357" cy="1669944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Каждый спецификатор создаёт секцию, которая действует до следующего спецификатора или конца объявления класса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Ко всем объявлениям попавшим в секцию применяется соответствующий спецификатор доступа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Количество секций и порядок может быть любым.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426490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всё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public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тут всё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private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private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Dot{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Всё, что пришло от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Dot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стало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private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public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Dot{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Всё, что пришло от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Dot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не поменяло модификаторы доступа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Спецификаторы доступа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736441" y="1602767"/>
            <a:ext cx="3617357" cy="2958959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Спецификатор доступа который действует по умолчанию у структуры – </a:t>
            </a:r>
            <a:r>
              <a:rPr lang="en-US" sz="1300" dirty="0"/>
              <a:t>public;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r>
              <a:rPr lang="ru-RU" sz="1300" dirty="0"/>
              <a:t>Спецификатор доступа который действует по умолчанию у класса – </a:t>
            </a:r>
            <a:r>
              <a:rPr lang="en-US" sz="1300" dirty="0"/>
              <a:t>private;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Если объявляется структура, то умолчанию она наследует все члены предка </a:t>
            </a:r>
            <a:r>
              <a:rPr lang="en-US" sz="1300" dirty="0"/>
              <a:t>public</a:t>
            </a:r>
            <a:r>
              <a:rPr lang="ru-RU" sz="1300" dirty="0"/>
              <a:t> способом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Если объявляется класс, то умолчанию он наследует все члены предка </a:t>
            </a:r>
            <a:r>
              <a:rPr lang="en-US" sz="1300" dirty="0"/>
              <a:t>private</a:t>
            </a:r>
            <a:r>
              <a:rPr lang="ru-RU" sz="1300" dirty="0"/>
              <a:t> способом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При наследовании не играет роль как объявлен предок, через </a:t>
            </a:r>
            <a:r>
              <a:rPr lang="en-US" sz="1300" dirty="0"/>
              <a:t>class </a:t>
            </a:r>
            <a:r>
              <a:rPr lang="ru-RU" sz="1300" dirty="0"/>
              <a:t>или </a:t>
            </a:r>
            <a:r>
              <a:rPr lang="en-US" sz="1300" dirty="0"/>
              <a:t>struct.</a:t>
            </a:r>
          </a:p>
        </p:txBody>
      </p:sp>
    </p:spTree>
    <p:extLst>
      <p:ext uri="{BB962C8B-B14F-4D97-AF65-F5344CB8AC3E}">
        <p14:creationId xmlns:p14="http://schemas.microsoft.com/office/powerpoint/2010/main" val="26932420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std::</a:t>
            </a:r>
            <a:r>
              <a:rPr lang="en-US" sz="13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p.val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3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Ключевое слово </a:t>
            </a:r>
            <a:r>
              <a:rPr lang="en-US" sz="4000" dirty="0"/>
              <a:t>friend</a:t>
            </a:r>
            <a:r>
              <a:rPr lang="ru-RU" sz="4000" dirty="0"/>
              <a:t> - функция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500135" y="1602766"/>
            <a:ext cx="3853663" cy="443843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Ключевое слово </a:t>
            </a:r>
            <a:r>
              <a:rPr lang="en-US" sz="1300" b="1" dirty="0"/>
              <a:t>friend</a:t>
            </a:r>
            <a:r>
              <a:rPr lang="en-US" sz="1300" dirty="0"/>
              <a:t> </a:t>
            </a:r>
            <a:r>
              <a:rPr lang="ru-RU" sz="1300" dirty="0"/>
              <a:t>позволяет функции или классу получить доступ к членам другого класса игнорируя спецификаторы доступа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Чтобы функция стала дружественной вашему классу, нужно написать её прототип в теле объявления вашего класса и перед прототипом написать </a:t>
            </a:r>
            <a:r>
              <a:rPr lang="en-US" sz="1300" dirty="0"/>
              <a:t>friend</a:t>
            </a:r>
            <a:r>
              <a:rPr lang="ru-RU" sz="1300" dirty="0"/>
              <a:t>. К объявлению самой функции ничего добавлять не нужно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r>
              <a:rPr lang="ru-RU" sz="1300" dirty="0"/>
              <a:t>Чтобы класс стал дружественным вашему классу, нужно написать его неполное объявление в теле вашего класса и перед объявление написать </a:t>
            </a:r>
            <a:r>
              <a:rPr lang="en-US" sz="1300" dirty="0"/>
              <a:t>friend</a:t>
            </a:r>
            <a:r>
              <a:rPr lang="ru-RU" sz="1300" dirty="0"/>
              <a:t>. К объявлению самого класса-друга ничего добавлять не нужно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Использование ключевого слова </a:t>
            </a:r>
            <a:r>
              <a:rPr lang="en-US" sz="1300" dirty="0"/>
              <a:t>friend </a:t>
            </a:r>
            <a:r>
              <a:rPr lang="ru-RU" sz="1300" dirty="0"/>
              <a:t>нарушает принцип инкапсуляции, т.к. кроме игнорирования спецификаторов доступа, сама функция не является частью класса, но тем не менее способна </a:t>
            </a:r>
            <a:r>
              <a:rPr lang="ru-RU" sz="1300" b="1" dirty="0"/>
              <a:t>напрямую (не через сообщение) </a:t>
            </a:r>
            <a:r>
              <a:rPr lang="ru-RU" sz="1300" dirty="0"/>
              <a:t>изменить состояние объекта.</a:t>
            </a: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41738124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знал, что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Dot-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Dot -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друг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Dot 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Ключевое слово </a:t>
            </a:r>
            <a:r>
              <a:rPr lang="en-US" sz="4000" dirty="0"/>
              <a:t>friend</a:t>
            </a:r>
            <a:r>
              <a:rPr lang="ru-RU" sz="4000" dirty="0"/>
              <a:t> - класс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1530852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Все методы дружественного класса могут получить доступ к членам вашего класса игнорирую спецификаторы доступа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Ваш класс не получает приоритетного права доступа к членам класса-друга и действует в соответствии с его спецификаторами доступа.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925770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Вложенные класс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Вложенные класс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поле типа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Point::X local1;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 -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приватный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 -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публичный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Point::X local3 = </a:t>
            </a:r>
            <a:r>
              <a:rPr lang="en-US" sz="13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p.field_x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Нельзя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field_x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Вложенные (</a:t>
            </a:r>
            <a:r>
              <a:rPr lang="en-US" sz="4000" dirty="0"/>
              <a:t>nested</a:t>
            </a:r>
            <a:r>
              <a:rPr lang="ru-RU" sz="4000" dirty="0"/>
              <a:t>) классы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4574194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Объявление вложенного класса</a:t>
            </a:r>
            <a:r>
              <a:rPr lang="en-US" sz="1300" dirty="0"/>
              <a:t> </a:t>
            </a:r>
            <a:r>
              <a:rPr lang="ru-RU" sz="1300" dirty="0"/>
              <a:t>должно находиться внутри вашего класса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Объявление класса – это объявление</a:t>
            </a:r>
            <a:r>
              <a:rPr lang="ru-RU" sz="1300" b="1" dirty="0"/>
              <a:t> типа данных</a:t>
            </a:r>
            <a:r>
              <a:rPr lang="ru-RU" sz="1300" dirty="0"/>
              <a:t>, поэтому автоматически не происходит создание никаких объектов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На объявление вложенного класса действуют спецификаторы доступа вашего класса. Т.е. если класс объявлен в </a:t>
            </a:r>
            <a:r>
              <a:rPr lang="en-US" sz="1300" dirty="0"/>
              <a:t>private </a:t>
            </a:r>
            <a:r>
              <a:rPr lang="ru-RU" sz="1300" dirty="0"/>
              <a:t>секции, то</a:t>
            </a:r>
            <a:r>
              <a:rPr lang="en-US" sz="1300" dirty="0"/>
              <a:t> </a:t>
            </a:r>
            <a:r>
              <a:rPr lang="ru-RU" sz="1300" b="1" dirty="0"/>
              <a:t>идентификатор</a:t>
            </a:r>
            <a:r>
              <a:rPr lang="ru-RU" sz="1300" dirty="0"/>
              <a:t> класса нельзя будет </a:t>
            </a:r>
            <a:r>
              <a:rPr lang="ru-RU" sz="1300" b="1" dirty="0"/>
              <a:t>писать</a:t>
            </a:r>
            <a:r>
              <a:rPr lang="ru-RU" sz="1300" dirty="0"/>
              <a:t> за пределами тела и методов класса</a:t>
            </a:r>
            <a:r>
              <a:rPr lang="en-US" sz="1300" dirty="0"/>
              <a:t> </a:t>
            </a:r>
            <a:r>
              <a:rPr lang="ru-RU" sz="1300" dirty="0"/>
              <a:t>и т.д.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Во внешнем коде обращение к идентификатору вложенного класса происходит по полному квалифицированному имени, т.е. перед именем вложенного класса добавляется имя вашего класса и два двоеточия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Вложенный класс, во всех отношениях является полноценным классом, т.е. он может иметь свои спецификаторы доступа, свои вложенные классы, друзей и т.д.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3393640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print_not_static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print_not_static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::X printer;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print_not_static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Вложенные (</a:t>
            </a:r>
            <a:r>
              <a:rPr lang="en-US" sz="4000" dirty="0"/>
              <a:t>nested</a:t>
            </a:r>
            <a:r>
              <a:rPr lang="ru-RU" sz="4000" dirty="0"/>
              <a:t>) классы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152057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Методы вложенного класса игнорируют модификаторы доступа вашего класса, т.е. он действует как класс-друг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r>
              <a:rPr lang="ru-RU" sz="1300" dirty="0"/>
              <a:t>Из методов вложенного класса можно обращаться напрямую (по не квалифицированному имени) к статическим полям и методов вашего класса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28510368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Неполный тип</a:t>
            </a:r>
          </a:p>
        </p:txBody>
      </p:sp>
    </p:spTree>
    <p:extLst>
      <p:ext uri="{BB962C8B-B14F-4D97-AF65-F5344CB8AC3E}">
        <p14:creationId xmlns:p14="http://schemas.microsoft.com/office/powerpoint/2010/main" val="791041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Неполный тип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dirty="0">
                <a:solidFill>
                  <a:srgbClr val="222222"/>
                </a:solidFill>
                <a:effectLst/>
              </a:rPr>
              <a:t>Неполные типы в C++ — это типы данных, которые еще не полностью определены на момент их использования. Они могут быть полезны во многих случаях, например, для обработки рекурсивных структур данных или для работы с класс</a:t>
            </a:r>
            <a:r>
              <a:rPr lang="ru-RU" sz="1600" dirty="0">
                <a:solidFill>
                  <a:srgbClr val="222222"/>
                </a:solidFill>
              </a:rPr>
              <a:t>ами определение которых по каким-либо причинам не доступно для нашего класса</a:t>
            </a:r>
            <a:r>
              <a:rPr lang="ru-RU" sz="1600" b="0" i="0" dirty="0">
                <a:solidFill>
                  <a:srgbClr val="222222"/>
                </a:solidFill>
                <a:effectLst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b="0" i="0" dirty="0">
              <a:solidFill>
                <a:srgbClr val="222222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22222"/>
                </a:solidFill>
              </a:rPr>
              <a:t>Объявление неполного типа</a:t>
            </a:r>
            <a:r>
              <a:rPr lang="ru-RU" sz="1600" b="0" i="0" dirty="0">
                <a:solidFill>
                  <a:srgbClr val="222222"/>
                </a:solidFill>
                <a:effectLst/>
              </a:rPr>
              <a:t>, сообщает компилятору, что существует тип с таким именем, но ничего не говорит ему о том, как он реализован: какие есть методы, поля и т. д. Обычно эти типы полностью определяются позже, поэтому такое объявление часто называют опережающим (</a:t>
            </a:r>
            <a:r>
              <a:rPr lang="ru-RU" sz="1600" b="0" i="0" dirty="0" err="1">
                <a:solidFill>
                  <a:srgbClr val="222222"/>
                </a:solidFill>
                <a:effectLst/>
              </a:rPr>
              <a:t>forward</a:t>
            </a:r>
            <a:r>
              <a:rPr lang="ru-RU" sz="1600" b="0" i="0" dirty="0">
                <a:solidFill>
                  <a:srgbClr val="222222"/>
                </a:solidFill>
                <a:effectLst/>
              </a:rPr>
              <a:t> </a:t>
            </a:r>
            <a:r>
              <a:rPr lang="ru-RU" sz="1600" b="0" i="0" dirty="0" err="1">
                <a:solidFill>
                  <a:srgbClr val="222222"/>
                </a:solidFill>
                <a:effectLst/>
              </a:rPr>
              <a:t>declaration</a:t>
            </a:r>
            <a:r>
              <a:rPr lang="ru-RU" sz="1600" b="0" i="0" dirty="0">
                <a:solidFill>
                  <a:srgbClr val="222222"/>
                </a:solidFill>
                <a:effectLst/>
              </a:rPr>
              <a:t>).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dirty="0">
              <a:solidFill>
                <a:srgbClr val="222222"/>
              </a:solidFill>
              <a:effectLst/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Неполным типом может быть: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тип </a:t>
            </a:r>
            <a:r>
              <a:rPr lang="ru-RU" sz="1600" b="0" i="0" dirty="0" err="1">
                <a:solidFill>
                  <a:srgbClr val="161616"/>
                </a:solidFill>
                <a:effectLst/>
              </a:rPr>
              <a:t>void</a:t>
            </a:r>
            <a:r>
              <a:rPr lang="ru-RU" sz="1600" b="0" i="0" dirty="0">
                <a:solidFill>
                  <a:srgbClr val="161616"/>
                </a:solidFill>
                <a:effectLst/>
              </a:rPr>
              <a:t>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структуры, классы, объединения, для которых ещё не определена реализация;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массивы неопределённого размера;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массивы элементов неполного типа.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161616"/>
              </a:solidFill>
            </a:endParaRP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dirty="0">
                <a:solidFill>
                  <a:srgbClr val="161616"/>
                </a:solidFill>
                <a:effectLst/>
              </a:rPr>
              <a:t>Чтобы тип стал полным (полностью определенным) необходимо указать недостающую информацию. Отдельно стоит отметить тип </a:t>
            </a:r>
            <a:r>
              <a:rPr lang="ru-RU" sz="1600" b="0" i="0" dirty="0" err="1">
                <a:solidFill>
                  <a:srgbClr val="161616"/>
                </a:solidFill>
                <a:effectLst/>
              </a:rPr>
              <a:t>void</a:t>
            </a:r>
            <a:r>
              <a:rPr lang="ru-RU" sz="1600" b="0" i="0" dirty="0">
                <a:solidFill>
                  <a:srgbClr val="161616"/>
                </a:solidFill>
                <a:effectLst/>
              </a:rPr>
              <a:t>, который не может быть полным в принципе.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u="none" strike="noStrike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Так как неполный тип ничего не говорит компилятору о своём внутреннем устройстве и размере, то не получится скомпилировать код, который пытается получить доступ к его содержимому или создать переменную такого типа.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Переменную-указатель или переменную-ссылку на неполный тип создать можно.</a:t>
            </a:r>
            <a:endParaRPr lang="ru-RU" sz="1600" b="0" i="0" u="none" strike="noStrike" dirty="0">
              <a:solidFill>
                <a:srgbClr val="24292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64471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Нельзя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Следующая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нода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Так можно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Следующая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нода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Класс использующий себя как поле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2702105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Класс не может использовать себя в качестве своего же поля, потому что это приведёт к бесконечному рекурсивному выделению памяти под объект такого класса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r>
              <a:rPr lang="ru-RU" sz="1300" dirty="0"/>
              <a:t>Класс не может использовать себя в качестве своего же поля, потому что</a:t>
            </a:r>
            <a:r>
              <a:rPr lang="en-US" sz="1300" dirty="0"/>
              <a:t> </a:t>
            </a:r>
            <a:r>
              <a:rPr lang="ru-RU" sz="1300" dirty="0"/>
              <a:t>на момент использования объявления класса ещё не закончено – т.к. это неполный тип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Класс может использовать ссылку или указатель на себя как поле, как возвращаемый тип или параметр метода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33299096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b_field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a_field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/********************************/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b_field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Здесь B - неполный тип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a_field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Звёздочка не обязательна чисто для симметрии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Перекрёстное использование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1325563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Бывает, что два класса используют друг друга в качестве полей, как возвращаемые значения или как параметры методов</a:t>
            </a:r>
            <a:r>
              <a:rPr lang="en-US" sz="1300" dirty="0"/>
              <a:t>. </a:t>
            </a:r>
            <a:r>
              <a:rPr lang="ru-RU" sz="1300" dirty="0"/>
              <a:t>Без использования неполных типов такое сделать невозможно, т.к. один из классов в любом случае будет находится за пределами области видимости другого.</a:t>
            </a:r>
          </a:p>
        </p:txBody>
      </p:sp>
    </p:spTree>
    <p:extLst>
      <p:ext uri="{BB962C8B-B14F-4D97-AF65-F5344CB8AC3E}">
        <p14:creationId xmlns:p14="http://schemas.microsoft.com/office/powerpoint/2010/main" val="35792096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неполный тип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здесь 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уже полный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Использование в методах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7"/>
            <a:ext cx="3987227" cy="1962366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Тело метода можно определить уже после того, как класс станет полным типом, в этом случае можно будет использовать его методы и принимать/возвращать объекты по значению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Если в этом примере определить тело внутри класса </a:t>
            </a:r>
            <a:r>
              <a:rPr lang="en-US" sz="1300" dirty="0"/>
              <a:t>A</a:t>
            </a:r>
            <a:r>
              <a:rPr lang="ru-RU" sz="1300" dirty="0"/>
              <a:t>, то использование методов класса </a:t>
            </a:r>
            <a:r>
              <a:rPr lang="en-US" sz="1300" dirty="0"/>
              <a:t>B </a:t>
            </a:r>
            <a:r>
              <a:rPr lang="ru-RU" sz="1300" dirty="0"/>
              <a:t>будет недоступно и передать объект класса </a:t>
            </a:r>
            <a:r>
              <a:rPr lang="en-US" sz="1300" dirty="0"/>
              <a:t>B </a:t>
            </a:r>
            <a:r>
              <a:rPr lang="ru-RU" sz="1300" dirty="0"/>
              <a:t>в методы можно будет только по указателю или ссылке.</a:t>
            </a:r>
          </a:p>
        </p:txBody>
      </p:sp>
    </p:spTree>
    <p:extLst>
      <p:ext uri="{BB962C8B-B14F-4D97-AF65-F5344CB8AC3E}">
        <p14:creationId xmlns:p14="http://schemas.microsoft.com/office/powerpoint/2010/main" val="8968696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2768"/>
            <a:ext cx="10515599" cy="4574195"/>
          </a:xfrm>
        </p:spPr>
        <p:txBody>
          <a:bodyPr lIns="14400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 объект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объект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Удаление переменных неполного типа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3E7D494-6952-863D-85F9-5B8806B8BE8A}"/>
              </a:ext>
            </a:extLst>
          </p:cNvPr>
          <p:cNvSpPr/>
          <p:nvPr/>
        </p:nvSpPr>
        <p:spPr>
          <a:xfrm>
            <a:off x="7366571" y="1602766"/>
            <a:ext cx="3987227" cy="3287733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Удаление объектов неполного типа может сопровождаться проблемами в том случае, если на момент удаления тип всё ещё остаётся неполным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Обычно компилятор покажет предупреждение, но не ошибку, т.е. код будет работать, но с непредсказуемыми последствиями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этом примере видно, удаление объекта происходит ещё до того, как объявится тело класса А. Это приведёт к тому, что деструктор класса А не будет вызван (хотя память будет освобождена).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Здесь мы просто не увидим сообщение на экране, но если деструктор делает что-то более важное, то он не будет выполнено и может сломать всю логику работы кода.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350761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Устройство объекта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35671854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Объект в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4668748" cy="45947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60D7D44-3406-F906-8D63-6C4C2689499E}"/>
              </a:ext>
            </a:extLst>
          </p:cNvPr>
          <p:cNvSpPr txBox="1">
            <a:spLocks/>
          </p:cNvSpPr>
          <p:nvPr/>
        </p:nvSpPr>
        <p:spPr>
          <a:xfrm>
            <a:off x="5506948" y="1582220"/>
            <a:ext cx="5846852" cy="4594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svalue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A: 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D: 16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C5A1C44-BC31-1EF9-F00D-58BCE0F826CB}"/>
              </a:ext>
            </a:extLst>
          </p:cNvPr>
          <p:cNvSpPr/>
          <p:nvPr/>
        </p:nvSpPr>
        <p:spPr>
          <a:xfrm>
            <a:off x="5589140" y="4448711"/>
            <a:ext cx="5013790" cy="1921266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Всё, что было сказано про устройство в памяти структур справедливо и для классов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Объект пустого класса занимает в памяти 1 байт, только для того, чтобы его можно было адресовать (меньше не получится)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Место в экземпляре класса занимают только поля</a:t>
            </a:r>
            <a:r>
              <a:rPr lang="en-US" sz="1200" dirty="0"/>
              <a:t>;</a:t>
            </a:r>
          </a:p>
          <a:p>
            <a:r>
              <a:rPr lang="en-US" sz="1200" dirty="0"/>
              <a:t>- </a:t>
            </a:r>
            <a:r>
              <a:rPr lang="ru-RU" sz="1200" dirty="0"/>
              <a:t>Статические поля не занимают места в экземплярах класса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Методы не занимают в памяти объекта никакого места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Если в классе появляется ходьбы один виртуальный метод, то в объекты такого класса добавляется скрытое поле – указатель на таблицу виртуальных методов</a:t>
            </a:r>
            <a:r>
              <a:rPr lang="en-US" sz="1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13831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Разделение кода класса</a:t>
            </a:r>
            <a:r>
              <a:rPr lang="en-US" sz="4400" dirty="0"/>
              <a:t> </a:t>
            </a:r>
            <a:r>
              <a:rPr lang="ru-RU" sz="4400" dirty="0"/>
              <a:t>на файлы</a:t>
            </a:r>
          </a:p>
        </p:txBody>
      </p:sp>
    </p:spTree>
    <p:extLst>
      <p:ext uri="{BB962C8B-B14F-4D97-AF65-F5344CB8AC3E}">
        <p14:creationId xmlns:p14="http://schemas.microsoft.com/office/powerpoint/2010/main" val="17429041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Разделение кода класса на файлы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В языке С++ используется раздельная компиляция кода. Т.е</a:t>
            </a:r>
            <a:r>
              <a:rPr lang="ru-RU" sz="1600" dirty="0">
                <a:solidFill>
                  <a:srgbClr val="24292F"/>
                </a:solidFill>
              </a:rPr>
              <a:t>. каждый 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файл компилируется в объектный файл отдельно от остальных. Основная причина такого разделение – </a:t>
            </a:r>
            <a:r>
              <a:rPr lang="ru-RU" sz="1600" b="1" dirty="0">
                <a:solidFill>
                  <a:srgbClr val="24292F"/>
                </a:solidFill>
              </a:rPr>
              <a:t>долгая компиляция </a:t>
            </a:r>
            <a:r>
              <a:rPr lang="ru-RU" sz="1600" dirty="0">
                <a:solidFill>
                  <a:srgbClr val="24292F"/>
                </a:solidFill>
              </a:rPr>
              <a:t>кода и попытка ускорить её за счёт разделения на несвязанные блоки.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u="none" strike="noStrike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Если мы размещаем весь класс в </a:t>
            </a:r>
            <a:r>
              <a:rPr lang="en-US" sz="1600" dirty="0">
                <a:solidFill>
                  <a:srgbClr val="24292F"/>
                </a:solidFill>
              </a:rPr>
              <a:t>.h </a:t>
            </a:r>
            <a:r>
              <a:rPr lang="ru-RU" sz="1600" dirty="0">
                <a:solidFill>
                  <a:srgbClr val="24292F"/>
                </a:solidFill>
              </a:rPr>
              <a:t>файле, то каждый 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файл который будет использовать наш класс нужно будет перекомпилировать при внесении любых изменений в наш класс.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Чтобы уменьшить количество перекомпиляций код класса обычно разделяют на 2 фай</a:t>
            </a:r>
            <a:r>
              <a:rPr lang="ru-RU" sz="1600" dirty="0">
                <a:solidFill>
                  <a:srgbClr val="24292F"/>
                </a:solidFill>
              </a:rPr>
              <a:t>ла: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интерфейс класса. Объявляет поля и методы без реализации. Размещается в </a:t>
            </a:r>
            <a:r>
              <a:rPr lang="en-US" sz="1600" dirty="0">
                <a:solidFill>
                  <a:srgbClr val="24292F"/>
                </a:solidFill>
              </a:rPr>
              <a:t>.h </a:t>
            </a:r>
            <a:r>
              <a:rPr lang="ru-RU" sz="1600" dirty="0">
                <a:solidFill>
                  <a:srgbClr val="24292F"/>
                </a:solidFill>
              </a:rPr>
              <a:t>файле</a:t>
            </a:r>
            <a:r>
              <a:rPr lang="en-US" sz="1600" b="0" i="0" u="none" strike="noStrike" dirty="0">
                <a:solidFill>
                  <a:srgbClr val="24292F"/>
                </a:solidFill>
                <a:effectLst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р</a:t>
            </a: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еализация класса. Здесь прописывается реализация всех методов и инициализация статических полей</a:t>
            </a:r>
            <a:r>
              <a:rPr lang="en-US" sz="1600" dirty="0">
                <a:solidFill>
                  <a:srgbClr val="24292F"/>
                </a:solidFill>
              </a:rPr>
              <a:t>. </a:t>
            </a: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Размещается в 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файле</a:t>
            </a:r>
            <a:r>
              <a:rPr lang="en-US" sz="1600" b="0" i="0" u="none" strike="noStrike" dirty="0">
                <a:solidFill>
                  <a:srgbClr val="24292F"/>
                </a:solidFill>
                <a:effectLst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b="0" i="0" u="none" strike="noStrike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Таким образом можно свободно вносить изменения в реализацию к</a:t>
            </a:r>
            <a:r>
              <a:rPr lang="ru-RU" sz="1600" dirty="0">
                <a:solidFill>
                  <a:srgbClr val="24292F"/>
                </a:solidFill>
              </a:rPr>
              <a:t>ласса и перекомпилировать придётся только один 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ru-RU" sz="1600" dirty="0">
                <a:solidFill>
                  <a:srgbClr val="24292F"/>
                </a:solidFill>
              </a:rPr>
              <a:t>  файл. Внесение изменений в интерфейс класса приведёт к необходимости перекомпилировать все файлы.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b="0" i="0" u="none" strike="noStrike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В качестве второй причины такого разделения может быть желание разработчика </a:t>
            </a:r>
            <a:r>
              <a:rPr lang="ru-RU" sz="1600" b="1" i="0" u="none" strike="noStrike" dirty="0">
                <a:solidFill>
                  <a:srgbClr val="24292F"/>
                </a:solidFill>
                <a:effectLst/>
              </a:rPr>
              <a:t>скрыть исходный код </a:t>
            </a: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реализации своего класса. Т.е. </a:t>
            </a:r>
            <a:r>
              <a:rPr lang="ru-RU" sz="1600" dirty="0">
                <a:solidFill>
                  <a:srgbClr val="24292F"/>
                </a:solidFill>
              </a:rPr>
              <a:t>разработчик может предоставлять потребителю пачку </a:t>
            </a:r>
            <a:r>
              <a:rPr lang="en-US" sz="1600" dirty="0">
                <a:solidFill>
                  <a:srgbClr val="24292F"/>
                </a:solidFill>
              </a:rPr>
              <a:t>.h </a:t>
            </a:r>
            <a:r>
              <a:rPr lang="ru-RU" sz="1600" dirty="0">
                <a:solidFill>
                  <a:srgbClr val="24292F"/>
                </a:solidFill>
              </a:rPr>
              <a:t>файлов с исходным кодом интерфейса класса и уже скомпилированный объектный файл, а не исходный 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en-US" sz="1600" dirty="0">
                <a:solidFill>
                  <a:srgbClr val="24292F"/>
                </a:solidFill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файл.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Третьей причиной разделения кода на несколько файлов можно назвать желание повысить </a:t>
            </a:r>
            <a:r>
              <a:rPr lang="ru-RU" sz="1600" b="1" i="0" u="none" strike="noStrike" dirty="0">
                <a:solidFill>
                  <a:srgbClr val="24292F"/>
                </a:solidFill>
                <a:effectLst/>
              </a:rPr>
              <a:t>структурированность</a:t>
            </a:r>
            <a:r>
              <a:rPr lang="ru-RU" sz="1600" b="0" i="0" u="none" strike="noStrike" dirty="0">
                <a:solidFill>
                  <a:srgbClr val="24292F"/>
                </a:solidFill>
                <a:effectLst/>
              </a:rPr>
              <a:t> своег</a:t>
            </a:r>
            <a:r>
              <a:rPr lang="ru-RU" sz="1600" dirty="0">
                <a:solidFill>
                  <a:srgbClr val="24292F"/>
                </a:solidFill>
              </a:rPr>
              <a:t>о кода. </a:t>
            </a:r>
            <a:endParaRPr lang="ru-RU" sz="1600" b="0" i="0" u="none" strike="noStrike" dirty="0">
              <a:solidFill>
                <a:srgbClr val="24292F"/>
              </a:solidFill>
              <a:effectLst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Общепринятой практикой является выделения под каждый класс отдельной пары </a:t>
            </a:r>
            <a:r>
              <a:rPr lang="en-US" sz="1600" dirty="0">
                <a:solidFill>
                  <a:srgbClr val="24292F"/>
                </a:solidFill>
              </a:rPr>
              <a:t>.h </a:t>
            </a:r>
            <a:r>
              <a:rPr lang="ru-RU" sz="1600" dirty="0">
                <a:solidFill>
                  <a:srgbClr val="24292F"/>
                </a:solidFill>
              </a:rPr>
              <a:t>и 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r>
              <a:rPr lang="en-US" sz="1600" dirty="0" err="1">
                <a:solidFill>
                  <a:srgbClr val="24292F"/>
                </a:solidFill>
              </a:rPr>
              <a:t>cpp</a:t>
            </a:r>
            <a:r>
              <a:rPr lang="ru-RU" sz="1600" dirty="0">
                <a:solidFill>
                  <a:srgbClr val="24292F"/>
                </a:solidFill>
              </a:rPr>
              <a:t> файлов</a:t>
            </a:r>
            <a:r>
              <a:rPr lang="en-US" sz="1600" dirty="0">
                <a:solidFill>
                  <a:srgbClr val="24292F"/>
                </a:solidFill>
              </a:rPr>
              <a:t>.</a:t>
            </a:r>
            <a:endParaRPr lang="ru-RU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878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Разделение кода класса на файлы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4668748" cy="45947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A60D7D44-3406-F906-8D63-6C4C2689499E}"/>
              </a:ext>
            </a:extLst>
          </p:cNvPr>
          <p:cNvSpPr txBox="1">
            <a:spLocks/>
          </p:cNvSpPr>
          <p:nvPr/>
        </p:nvSpPr>
        <p:spPr>
          <a:xfrm>
            <a:off x="5506948" y="1582220"/>
            <a:ext cx="5846852" cy="4594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svalue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svalue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A: 1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B: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D: 16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E: 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C5A1C44-BC31-1EF9-F00D-58BCE0F826CB}"/>
              </a:ext>
            </a:extLst>
          </p:cNvPr>
          <p:cNvSpPr/>
          <p:nvPr/>
        </p:nvSpPr>
        <p:spPr>
          <a:xfrm>
            <a:off x="5589140" y="4448711"/>
            <a:ext cx="5013790" cy="1921266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Всё, что было сказано про устройство в памяти структур справедливо и для классов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Объект пустого класса занимает в памяти 1 байт, только для того, чтобы его можно было адресовать (меньше не получится)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Место в экземпляре класса занимают только поля</a:t>
            </a:r>
            <a:r>
              <a:rPr lang="en-US" sz="1200" dirty="0"/>
              <a:t>;</a:t>
            </a:r>
          </a:p>
          <a:p>
            <a:r>
              <a:rPr lang="en-US" sz="1200" dirty="0"/>
              <a:t>- </a:t>
            </a:r>
            <a:r>
              <a:rPr lang="ru-RU" sz="1200" dirty="0"/>
              <a:t>Статические поля не занимают места в экземплярах класса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Методы не занимают в памяти объекта никакого места</a:t>
            </a:r>
            <a:r>
              <a:rPr lang="en-US" sz="12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</a:t>
            </a:r>
            <a:r>
              <a:rPr lang="ru-RU" sz="1200" dirty="0"/>
              <a:t>Если в классе появляется ходьбы один виртуальный метод, то в объекты такого класса добавляется скрытое поле – указатель на таблицу виртуальных методов</a:t>
            </a:r>
            <a:r>
              <a:rPr lang="en-US" sz="1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452806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Разделение кода класса на файлы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345BEAB-0267-84C8-62BA-FD9088F9146C}"/>
              </a:ext>
            </a:extLst>
          </p:cNvPr>
          <p:cNvSpPr/>
          <p:nvPr/>
        </p:nvSpPr>
        <p:spPr>
          <a:xfrm>
            <a:off x="958104" y="1690688"/>
            <a:ext cx="3654134" cy="2254588"/>
          </a:xfrm>
          <a:prstGeom prst="roundRect">
            <a:avLst>
              <a:gd name="adj" fmla="val 349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point.h</a:t>
            </a:r>
            <a:endParaRPr lang="en-US" sz="1200" b="1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5DC4F367-DD34-7422-3D3E-749DA20B0C5E}"/>
              </a:ext>
            </a:extLst>
          </p:cNvPr>
          <p:cNvSpPr/>
          <p:nvPr/>
        </p:nvSpPr>
        <p:spPr>
          <a:xfrm>
            <a:off x="6013846" y="1690688"/>
            <a:ext cx="5339954" cy="3595955"/>
          </a:xfrm>
          <a:prstGeom prst="roundRect">
            <a:avLst>
              <a:gd name="adj" fmla="val 96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point.cpp</a:t>
            </a:r>
          </a:p>
          <a:p>
            <a:endParaRPr lang="en-US" sz="12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Скругленный прямоугольник 4">
            <a:extLst>
              <a:ext uri="{FF2B5EF4-FFF2-40B4-BE49-F238E27FC236}">
                <a16:creationId xmlns:a16="http://schemas.microsoft.com/office/drawing/2014/main" id="{2710FCC5-9035-76D5-F87A-0CDF593B9D62}"/>
              </a:ext>
            </a:extLst>
          </p:cNvPr>
          <p:cNvSpPr/>
          <p:nvPr/>
        </p:nvSpPr>
        <p:spPr>
          <a:xfrm>
            <a:off x="838200" y="4920410"/>
            <a:ext cx="3774038" cy="1453306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main.cpp</a:t>
            </a:r>
          </a:p>
          <a:p>
            <a:endParaRPr lang="fr-FR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fr-FR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77A8B57-8187-9813-3051-DCD4FB7878F6}"/>
              </a:ext>
            </a:extLst>
          </p:cNvPr>
          <p:cNvCxnSpPr>
            <a:cxnSpLocks/>
          </p:cNvCxnSpPr>
          <p:nvPr/>
        </p:nvCxnSpPr>
        <p:spPr>
          <a:xfrm>
            <a:off x="4777483" y="2383604"/>
            <a:ext cx="1099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DA6B443-1B11-EE5F-0D1B-59B60248F243}"/>
              </a:ext>
            </a:extLst>
          </p:cNvPr>
          <p:cNvCxnSpPr>
            <a:cxnSpLocks/>
          </p:cNvCxnSpPr>
          <p:nvPr/>
        </p:nvCxnSpPr>
        <p:spPr>
          <a:xfrm>
            <a:off x="2672156" y="4068565"/>
            <a:ext cx="0" cy="70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0367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Идиома </a:t>
            </a:r>
            <a:r>
              <a:rPr lang="en-US" sz="4000" dirty="0" err="1"/>
              <a:t>Pimpl</a:t>
            </a:r>
            <a:r>
              <a:rPr lang="en-US" sz="4000" dirty="0"/>
              <a:t> (Pointer to implementation)</a:t>
            </a:r>
            <a:endParaRPr lang="ru-RU" sz="4000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A51CD86-C117-8B75-B618-6AF317F26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4668748" cy="45947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104F4B9E-D54F-D9C2-D945-6A941746CE51}"/>
              </a:ext>
            </a:extLst>
          </p:cNvPr>
          <p:cNvSpPr/>
          <p:nvPr/>
        </p:nvSpPr>
        <p:spPr>
          <a:xfrm>
            <a:off x="6226138" y="1690685"/>
            <a:ext cx="4294599" cy="448627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Есть класс, который использует другой класс как часть своего объявления (не обязательно вложенный).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таком виде любое изменение в используемом классе приведёт к необходимости перекомпилировать </a:t>
            </a:r>
            <a:r>
              <a:rPr lang="ru-RU" sz="1300" b="1" dirty="0"/>
              <a:t>все</a:t>
            </a:r>
            <a:r>
              <a:rPr lang="ru-RU" sz="1300" dirty="0"/>
              <a:t> файлы использующие данный класс, даже если мы разделим код класса на 2 файла как ранее.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Чтобы избавится от зависимости от реализации вспомогательного класса нам поможет идиома </a:t>
            </a:r>
            <a:r>
              <a:rPr lang="en-US" sz="1300" dirty="0" err="1"/>
              <a:t>pimpl</a:t>
            </a:r>
            <a:r>
              <a:rPr lang="en-US" sz="13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Суть идиомы заключается в том, чтобы заменить в интерфейсе (</a:t>
            </a:r>
            <a:r>
              <a:rPr lang="en-US" sz="1300" dirty="0"/>
              <a:t>.h </a:t>
            </a:r>
            <a:r>
              <a:rPr lang="ru-RU" sz="1300" dirty="0"/>
              <a:t>файл) вспомогательные классы на указатели (ссылки) на эти классы, а всё что касается реализации перенести в .</a:t>
            </a:r>
            <a:r>
              <a:rPr lang="en-US" sz="1300" dirty="0" err="1"/>
              <a:t>cpp</a:t>
            </a:r>
            <a:r>
              <a:rPr lang="en-US" sz="1300" dirty="0"/>
              <a:t> </a:t>
            </a:r>
            <a:r>
              <a:rPr lang="ru-RU" sz="1300" dirty="0"/>
              <a:t>файлы.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После такого разделения код использующий наш класс больше не будет требовать перекомпиляции при изменении вспомогательного класса, т.к. он не будет знать о деталях его реализации.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Такой подход часть используют при разработке кроссплатформенных библиотек, или библиотек которые хотят скрыть исходный код своих классов.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542517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F118968-1D91-E1F5-1097-64D5AF47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Идиома </a:t>
            </a:r>
            <a:r>
              <a:rPr lang="en-US" sz="4000" dirty="0" err="1"/>
              <a:t>Pimpl</a:t>
            </a:r>
            <a:r>
              <a:rPr lang="en-US" sz="4000" dirty="0"/>
              <a:t> (Pointer to implementation)</a:t>
            </a:r>
            <a:endParaRPr lang="ru-RU" sz="4000" dirty="0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345BEAB-0267-84C8-62BA-FD9088F9146C}"/>
              </a:ext>
            </a:extLst>
          </p:cNvPr>
          <p:cNvSpPr/>
          <p:nvPr/>
        </p:nvSpPr>
        <p:spPr>
          <a:xfrm>
            <a:off x="958104" y="1690687"/>
            <a:ext cx="3654134" cy="2553449"/>
          </a:xfrm>
          <a:prstGeom prst="roundRect">
            <a:avLst>
              <a:gd name="adj" fmla="val 349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point.h</a:t>
            </a:r>
            <a:endParaRPr lang="en-US" sz="1200" b="1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Неполный тип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Скругленный прямоугольник 4">
            <a:extLst>
              <a:ext uri="{FF2B5EF4-FFF2-40B4-BE49-F238E27FC236}">
                <a16:creationId xmlns:a16="http://schemas.microsoft.com/office/drawing/2014/main" id="{5DC4F367-DD34-7422-3D3E-749DA20B0C5E}"/>
              </a:ext>
            </a:extLst>
          </p:cNvPr>
          <p:cNvSpPr/>
          <p:nvPr/>
        </p:nvSpPr>
        <p:spPr>
          <a:xfrm>
            <a:off x="6013846" y="1690688"/>
            <a:ext cx="5339954" cy="4155308"/>
          </a:xfrm>
          <a:prstGeom prst="roundRect">
            <a:avLst>
              <a:gd name="adj" fmla="val 96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point.cpp</a:t>
            </a:r>
          </a:p>
          <a:p>
            <a:endParaRPr lang="en-US" sz="12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Скругленный прямоугольник 4">
            <a:extLst>
              <a:ext uri="{FF2B5EF4-FFF2-40B4-BE49-F238E27FC236}">
                <a16:creationId xmlns:a16="http://schemas.microsoft.com/office/drawing/2014/main" id="{2710FCC5-9035-76D5-F87A-0CDF593B9D62}"/>
              </a:ext>
            </a:extLst>
          </p:cNvPr>
          <p:cNvSpPr/>
          <p:nvPr/>
        </p:nvSpPr>
        <p:spPr>
          <a:xfrm>
            <a:off x="838200" y="4920409"/>
            <a:ext cx="3774038" cy="1655052"/>
          </a:xfrm>
          <a:prstGeom prst="roundRect">
            <a:avLst>
              <a:gd name="adj" fmla="val 349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main.cpp</a:t>
            </a:r>
          </a:p>
          <a:p>
            <a:endParaRPr lang="fr-FR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fr-FR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77A8B57-8187-9813-3051-DCD4FB7878F6}"/>
              </a:ext>
            </a:extLst>
          </p:cNvPr>
          <p:cNvCxnSpPr>
            <a:cxnSpLocks/>
          </p:cNvCxnSpPr>
          <p:nvPr/>
        </p:nvCxnSpPr>
        <p:spPr>
          <a:xfrm>
            <a:off x="4777483" y="2383604"/>
            <a:ext cx="1099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DA6B443-1B11-EE5F-0D1B-59B60248F243}"/>
              </a:ext>
            </a:extLst>
          </p:cNvPr>
          <p:cNvCxnSpPr>
            <a:cxnSpLocks/>
          </p:cNvCxnSpPr>
          <p:nvPr/>
        </p:nvCxnSpPr>
        <p:spPr>
          <a:xfrm>
            <a:off x="2672156" y="4387065"/>
            <a:ext cx="0" cy="390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827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A8A94F-5D16-6464-2E03-6765A264B0C8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400" dirty="0"/>
              <a:t>Перегрузка операторов</a:t>
            </a:r>
          </a:p>
        </p:txBody>
      </p:sp>
    </p:spTree>
    <p:extLst>
      <p:ext uri="{BB962C8B-B14F-4D97-AF65-F5344CB8AC3E}">
        <p14:creationId xmlns:p14="http://schemas.microsoft.com/office/powerpoint/2010/main" val="15174803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операторов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В C++17 стандарт разрешает перегружать следующие операторы: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+, -, *, /, %, ^, &amp;, |, ~, !, ,, =, &lt;, &gt;, &lt;=, &gt;=, ++, –-, &lt;&lt;, &gt;&gt;, ==, !=, &amp;&amp;, ||, +=, -=, /=, %=, ^=, &amp;=, |=, *=, &lt;&lt;=, &gt;&gt;=, [], (), -&gt;, -&gt;*,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new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,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new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[],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delete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,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delete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[]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Оператор преобразования к заданному типу (</a:t>
            </a:r>
            <a:r>
              <a:rPr lang="en-US" sz="1600" dirty="0">
                <a:solidFill>
                  <a:srgbClr val="24292F"/>
                </a:solidFill>
              </a:rPr>
              <a:t>user-defined conversion function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Оператор литерала (</a:t>
            </a:r>
            <a:r>
              <a:rPr lang="en-US" sz="1600" dirty="0">
                <a:solidFill>
                  <a:srgbClr val="24292F"/>
                </a:solidFill>
              </a:rPr>
              <a:t>user-defined literal</a:t>
            </a:r>
            <a:r>
              <a:rPr lang="ru-RU" sz="1600" dirty="0">
                <a:solidFill>
                  <a:srgbClr val="24292F"/>
                </a:solidFill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Перегруженный оператор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co_await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для использования в выражениях </a:t>
            </a: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co_await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24292F"/>
                </a:solidFill>
              </a:rPr>
              <a:t>(с С++11)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- Оператор трёхстороннего сравнения, названный «космическим кораблем»: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&lt;=&gt;</a:t>
            </a:r>
            <a:r>
              <a:rPr lang="ru-RU" sz="1600" dirty="0">
                <a:solidFill>
                  <a:srgbClr val="24292F"/>
                </a:solidFill>
              </a:rPr>
              <a:t> (с С++20)</a:t>
            </a:r>
            <a:endParaRPr lang="en-US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Следующие операторы перегрузить нельзя: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::</a:t>
            </a:r>
            <a:r>
              <a:rPr lang="ru-RU" sz="1600" dirty="0">
                <a:solidFill>
                  <a:srgbClr val="24292F"/>
                </a:solidFill>
              </a:rPr>
              <a:t> (разрешение области видимости)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. </a:t>
            </a:r>
            <a:r>
              <a:rPr lang="ru-RU" sz="1600" dirty="0">
                <a:solidFill>
                  <a:srgbClr val="24292F"/>
                </a:solidFill>
              </a:rPr>
              <a:t>(оператор доступа к членам класса)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.*</a:t>
            </a:r>
            <a:r>
              <a:rPr lang="ru-RU" sz="1600" dirty="0">
                <a:solidFill>
                  <a:srgbClr val="24292F"/>
                </a:solidFill>
              </a:rPr>
              <a:t> (оператор доступа к членам класса через указатель на объект класса)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?:</a:t>
            </a:r>
            <a:r>
              <a:rPr lang="ru-RU" sz="1600" dirty="0">
                <a:solidFill>
                  <a:srgbClr val="24292F"/>
                </a:solidFill>
              </a:rPr>
              <a:t> (тернарный условный оператор)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sizeof</a:t>
            </a:r>
            <a:r>
              <a:rPr lang="ru-RU" sz="1600" dirty="0">
                <a:solidFill>
                  <a:srgbClr val="24292F"/>
                </a:solidFill>
              </a:rPr>
              <a:t> (оператор получения размера типа)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 err="1">
                <a:solidFill>
                  <a:srgbClr val="24292F"/>
                </a:solidFill>
                <a:latin typeface="Consolas" panose="020B0609020204030204" pitchFamily="49" charset="0"/>
              </a:rPr>
              <a:t>typeid</a:t>
            </a:r>
            <a:r>
              <a:rPr lang="ru-RU" sz="1600" dirty="0">
                <a:solidFill>
                  <a:srgbClr val="24292F"/>
                </a:solidFill>
              </a:rPr>
              <a:t> (оператор получения информации о типе)</a:t>
            </a:r>
          </a:p>
        </p:txBody>
      </p:sp>
    </p:spTree>
    <p:extLst>
      <p:ext uri="{BB962C8B-B14F-4D97-AF65-F5344CB8AC3E}">
        <p14:creationId xmlns:p14="http://schemas.microsoft.com/office/powerpoint/2010/main" val="3962381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операторов –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Новые операторы, такие как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**, &lt;&gt; , &amp;|</a:t>
            </a:r>
            <a:r>
              <a:rPr lang="ru-RU" sz="1600" dirty="0">
                <a:solidFill>
                  <a:srgbClr val="24292F"/>
                </a:solidFill>
              </a:rPr>
              <a:t> и т.д. не могут быть созданы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Арность, приоритет и ассоциативность операторов, перегрузке не меняются (нельзя изменить в принципе)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Перегрузить оператор для встроенного типа данных нельзя, можно только для пользовательских, т.е. у перегрузки оператора хотя бы один операндов должен быть пользовательского типа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  <a:r>
              <a:rPr lang="ru-RU" sz="1600" dirty="0">
                <a:solidFill>
                  <a:srgbClr val="24292F"/>
                </a:solidFill>
              </a:rPr>
              <a:t> </a:t>
            </a: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Операторы могут быть перегружены и как отдельные функции</a:t>
            </a:r>
            <a:r>
              <a:rPr lang="en-US" sz="1600" dirty="0">
                <a:solidFill>
                  <a:srgbClr val="24292F"/>
                </a:solidFill>
              </a:rPr>
              <a:t> (</a:t>
            </a:r>
            <a:r>
              <a:rPr lang="ru-RU" sz="1600" dirty="0">
                <a:solidFill>
                  <a:srgbClr val="24292F"/>
                </a:solidFill>
              </a:rPr>
              <a:t>не все</a:t>
            </a:r>
            <a:r>
              <a:rPr lang="en-US" sz="1600" dirty="0">
                <a:solidFill>
                  <a:srgbClr val="24292F"/>
                </a:solidFill>
              </a:rPr>
              <a:t>)</a:t>
            </a:r>
            <a:r>
              <a:rPr lang="ru-RU" sz="1600" dirty="0">
                <a:solidFill>
                  <a:srgbClr val="24292F"/>
                </a:solidFill>
              </a:rPr>
              <a:t>, и как функции-члены класса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  <a:endParaRPr lang="ru-RU" sz="1600" dirty="0">
              <a:solidFill>
                <a:srgbClr val="24292F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Перегрузки операторов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&amp;&amp;</a:t>
            </a:r>
            <a:r>
              <a:rPr lang="ru-RU" sz="1600" dirty="0">
                <a:solidFill>
                  <a:srgbClr val="24292F"/>
                </a:solidFill>
              </a:rPr>
              <a:t> и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||</a:t>
            </a:r>
            <a:r>
              <a:rPr lang="ru-RU" sz="1600" dirty="0">
                <a:solidFill>
                  <a:srgbClr val="24292F"/>
                </a:solidFill>
              </a:rPr>
              <a:t> теряют ленивое поведение, т.е. перегруженные версии вычисляют оба своих операнда</a:t>
            </a:r>
            <a:r>
              <a:rPr lang="en-US" sz="1600" dirty="0">
                <a:solidFill>
                  <a:srgbClr val="24292F"/>
                </a:solidFill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Перегрузка оператора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-&gt;</a:t>
            </a:r>
            <a:r>
              <a:rPr lang="ru-RU" sz="1600" dirty="0">
                <a:solidFill>
                  <a:srgbClr val="24292F"/>
                </a:solidFill>
              </a:rPr>
              <a:t> должна возвращать либо указатель на класс (структуру, объединение), либо тип, для которого перегружен оператор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-&gt;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При перегрузке оператора рекомендуется учитывать ожидания пользователя класса. Например если перегрузить оператор </a:t>
            </a:r>
            <a:r>
              <a:rPr lang="en-US" sz="1600" dirty="0">
                <a:solidFill>
                  <a:srgbClr val="24292F"/>
                </a:solidFill>
              </a:rPr>
              <a:t>+</a:t>
            </a:r>
            <a:r>
              <a:rPr lang="ru-RU" sz="1600" dirty="0">
                <a:solidFill>
                  <a:srgbClr val="24292F"/>
                </a:solidFill>
              </a:rPr>
              <a:t>, но внутри прописать код вычитания, то для пользователя будет сюрприз.</a:t>
            </a:r>
            <a:endParaRPr lang="en-US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601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Как можно перегрузить оператор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Операторы можно перегружать в двух вариантах: как функцию-член и как свободную (не-член) функцию.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24292F"/>
                </a:solidFill>
              </a:rPr>
              <a:t>Четыре оператора можно перегрузить только как функцию-член — это </a:t>
            </a:r>
            <a:r>
              <a:rPr lang="ru-RU" sz="1600" dirty="0">
                <a:solidFill>
                  <a:srgbClr val="24292F"/>
                </a:solidFill>
                <a:latin typeface="Consolas" panose="020B0609020204030204" pitchFamily="49" charset="0"/>
              </a:rPr>
              <a:t>=, -&gt;, [], ()</a:t>
            </a:r>
            <a:r>
              <a:rPr lang="ru-RU" sz="1600" dirty="0">
                <a:solidFill>
                  <a:srgbClr val="24292F"/>
                </a:solidFill>
              </a:rPr>
              <a:t>.  Для перечислений операторы можно перегружать только как свободные функции.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Для того, чтобы перегрузить оператор как функцию-член необходимо объявить нестатическую функцию-член с именем </a:t>
            </a:r>
            <a:r>
              <a:rPr lang="ru-RU" sz="1600" dirty="0" err="1">
                <a:solidFill>
                  <a:srgbClr val="24292F"/>
                </a:solidFill>
              </a:rPr>
              <a:t>operator</a:t>
            </a:r>
            <a:r>
              <a:rPr lang="ru-RU" sz="1600" dirty="0">
                <a:solidFill>
                  <a:srgbClr val="24292F"/>
                </a:solidFill>
              </a:rPr>
              <a:t>@, где @ символ(ы) оператора. В случае перегрузки унарного оператора эта функция не должна иметь параметров, а в случае бинарного должна иметь ровно один параметр. В случае перегрузки оператора () эта функция может иметь произвольное число параметров.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sz="16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600" dirty="0">
                <a:solidFill>
                  <a:srgbClr val="24292F"/>
                </a:solidFill>
              </a:rPr>
              <a:t>Для того, чтобы перегрузить оператор как свободную (не-член) функцию, необходимо объявить функцию с именем </a:t>
            </a:r>
            <a:r>
              <a:rPr lang="ru-RU" sz="1600" dirty="0" err="1">
                <a:solidFill>
                  <a:srgbClr val="24292F"/>
                </a:solidFill>
              </a:rPr>
              <a:t>operator</a:t>
            </a:r>
            <a:r>
              <a:rPr lang="ru-RU" sz="1600" dirty="0">
                <a:solidFill>
                  <a:srgbClr val="24292F"/>
                </a:solidFill>
              </a:rPr>
              <a:t>@, где @ символ(ы) оператора. В случае перегрузки унарного оператора, эта функция должна иметь один параметр, а в случае бинарного должна иметь два параметра.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1194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как свободная 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out &lt;&lt; 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 +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 &lt;&lt; </a:t>
            </a:r>
            <a:r>
              <a:rPr lang="en-US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6"/>
            <a:ext cx="4294599" cy="1905269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В этом примере операторы + и </a:t>
            </a:r>
            <a:r>
              <a:rPr lang="en-US" sz="1300" dirty="0"/>
              <a:t>&lt;&lt; </a:t>
            </a:r>
            <a:r>
              <a:rPr lang="ru-RU" sz="1300" dirty="0"/>
              <a:t>перегружены как свободные функции, но для доступа с приватному полю они были добавлены в объявление класса как друзья (хотя это и не обязательное условие перегрузки)</a:t>
            </a:r>
            <a:r>
              <a:rPr lang="en-US" sz="1300" dirty="0"/>
              <a:t>;</a:t>
            </a: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Параметры операторов и возвращаемы типы могут отличаться. Здесь они выбраны такими, чтобы работать таким же образом как и операторы для встроенных типов</a:t>
            </a:r>
            <a:r>
              <a:rPr lang="en-US" sz="13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153323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как функция</a:t>
            </a:r>
            <a:r>
              <a:rPr lang="en-US" sz="4000" dirty="0"/>
              <a:t>-</a:t>
            </a:r>
            <a:r>
              <a:rPr lang="ru-RU" sz="4000" dirty="0"/>
              <a:t>член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98"/>
            <a:ext cx="10515600" cy="462556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out &lt;&lt; 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a +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 &lt;&lt; </a:t>
            </a:r>
            <a:r>
              <a:rPr lang="en-US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7059201" y="1591317"/>
            <a:ext cx="4294599" cy="2342508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Здесь оператор + перегружен как метод класса</a:t>
            </a:r>
            <a:r>
              <a:rPr lang="en-US" sz="13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Т.к. оператор + бинарный, у него один параметр – правый относительно оператора. В качестве правого оператора используется </a:t>
            </a:r>
            <a:r>
              <a:rPr lang="en-US" sz="1300" dirty="0"/>
              <a:t>this;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По этой причине оператор </a:t>
            </a:r>
            <a:r>
              <a:rPr lang="en-US" sz="1300" dirty="0"/>
              <a:t>&lt;&lt; </a:t>
            </a:r>
            <a:r>
              <a:rPr lang="ru-RU" sz="1300" dirty="0"/>
              <a:t>здесь перегрузить как метод класса невозможно, т.к. он ждёт в качестве правого оператора </a:t>
            </a:r>
            <a:r>
              <a:rPr lang="en-US" sz="1300" dirty="0"/>
              <a:t>std::</a:t>
            </a:r>
            <a:r>
              <a:rPr lang="en-US" sz="1300" dirty="0" err="1"/>
              <a:t>ostream</a:t>
            </a:r>
            <a:r>
              <a:rPr lang="en-US" sz="1300" dirty="0"/>
              <a:t>&amp;</a:t>
            </a:r>
            <a:r>
              <a:rPr lang="ru-RU" sz="13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Другие перегрузки оператора </a:t>
            </a:r>
            <a:r>
              <a:rPr lang="en-US" sz="1300" dirty="0"/>
              <a:t>&lt;&lt; </a:t>
            </a:r>
            <a:r>
              <a:rPr lang="ru-RU" sz="1300" dirty="0"/>
              <a:t>возможно реализовать как методы класса.</a:t>
            </a:r>
          </a:p>
        </p:txBody>
      </p:sp>
    </p:spTree>
    <p:extLst>
      <p:ext uri="{BB962C8B-B14F-4D97-AF65-F5344CB8AC3E}">
        <p14:creationId xmlns:p14="http://schemas.microsoft.com/office/powerpoint/2010/main" val="39670503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Перегрузка как функция</a:t>
            </a:r>
            <a:r>
              <a:rPr lang="en-US" sz="4000" dirty="0"/>
              <a:t>-</a:t>
            </a:r>
            <a:r>
              <a:rPr lang="ru-RU" sz="4000" dirty="0"/>
              <a:t>член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Matrix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6"/>
            <a:ext cx="4294599" cy="1494303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Это классический пример реализации двумерного массива.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/>
              <a:t>У класса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ru-RU" sz="1200" b="0" dirty="0">
                <a:solidFill>
                  <a:srgbClr val="267F99"/>
                </a:solidFill>
                <a:effectLst/>
              </a:rPr>
              <a:t> </a:t>
            </a:r>
            <a:r>
              <a:rPr lang="ru-RU" sz="1300" dirty="0"/>
              <a:t>перегружен оператор </a:t>
            </a:r>
            <a:r>
              <a:rPr lang="en-US" sz="1300" dirty="0">
                <a:latin typeface="Consolas" panose="020B0609020204030204" pitchFamily="49" charset="0"/>
              </a:rPr>
              <a:t>[]</a:t>
            </a:r>
            <a:r>
              <a:rPr lang="en-US" sz="1300" dirty="0"/>
              <a:t> </a:t>
            </a:r>
            <a:r>
              <a:rPr lang="ru-RU" sz="1300" dirty="0"/>
              <a:t>который возвращает прокси объект вложенного класса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en-US" sz="1200" b="0" dirty="0">
                <a:solidFill>
                  <a:schemeClr val="tx1"/>
                </a:solidFill>
                <a:effectLst/>
              </a:rPr>
              <a:t>;</a:t>
            </a:r>
            <a:endParaRPr lang="ru-RU" sz="1200" b="0" dirty="0">
              <a:solidFill>
                <a:schemeClr val="tx1"/>
              </a:solidFill>
              <a:effectLst/>
            </a:endParaRPr>
          </a:p>
          <a:p>
            <a:r>
              <a:rPr lang="ru-RU" sz="1300" dirty="0"/>
              <a:t> У вложенного класса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RowProxy</a:t>
            </a:r>
            <a:r>
              <a:rPr lang="ru-RU" sz="1200" b="0" dirty="0">
                <a:solidFill>
                  <a:srgbClr val="267F99"/>
                </a:solidFill>
                <a:effectLst/>
              </a:rPr>
              <a:t> </a:t>
            </a:r>
            <a:r>
              <a:rPr lang="ru-RU" sz="1300" dirty="0"/>
              <a:t>тоже перегружен оператор </a:t>
            </a:r>
            <a:r>
              <a:rPr lang="en-US" sz="1300" dirty="0">
                <a:latin typeface="Consolas" panose="020B0609020204030204" pitchFamily="49" charset="0"/>
              </a:rPr>
              <a:t>[]</a:t>
            </a:r>
            <a:r>
              <a:rPr lang="en-US" sz="1300" dirty="0"/>
              <a:t> </a:t>
            </a:r>
            <a:r>
              <a:rPr lang="ru-RU" sz="1300" dirty="0"/>
              <a:t>который возвращает ссылку на элемент матрицы.</a:t>
            </a:r>
            <a:endParaRPr lang="ru-RU" sz="12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2302219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Способы вызова перегруженного оператора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out &lt;&lt;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Integer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+(b);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operator&lt;&lt;(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c).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6"/>
            <a:ext cx="4294599" cy="1494303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b="0" dirty="0">
                <a:solidFill>
                  <a:schemeClr val="tx1"/>
                </a:solidFill>
                <a:effectLst/>
              </a:rPr>
              <a:t>Оператор может быть вызван ка</a:t>
            </a:r>
            <a:r>
              <a:rPr lang="ru-RU" sz="1300" dirty="0">
                <a:solidFill>
                  <a:schemeClr val="tx1"/>
                </a:solidFill>
              </a:rPr>
              <a:t>к обычный оператор и как функция или методы класса с передачей ей аргументов.</a:t>
            </a:r>
            <a:endParaRPr lang="ru-RU" sz="1200" b="0" dirty="0">
              <a:solidFill>
                <a:schemeClr val="tx1"/>
              </a:solidFill>
              <a:effectLst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470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копирующий конструктор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перемещающий конструктор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 копирующего присваивания</a:t>
            </a: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 перемещающего присваивания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6"/>
            <a:ext cx="4294599" cy="3579957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b="0" dirty="0">
                <a:solidFill>
                  <a:schemeClr val="tx1"/>
                </a:solidFill>
                <a:effectLst/>
              </a:rPr>
              <a:t>Оператор присваивания можно реализовать только, как функцию-член, которая должна иметь ровно один параметр. Тип этого параметра произвольный, соответственно, перегрузок может быть несколько, для разных типов параметра.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Если описать семантику присваивания «на пальцах», то присваивание должно полностью освободить все текущие ресурсы, которыми владеет объект (левый операнд), и на его месте создать новый объект, определяемый правым операндом.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Среди операторов присваивания выделяются два стандартных — оператор копирующего присваивания и оператор перемещающего присваивания, которые соответствуют копирующему конструктору и перемещающему конструктору.</a:t>
            </a:r>
          </a:p>
        </p:txBody>
      </p:sp>
    </p:spTree>
    <p:extLst>
      <p:ext uri="{BB962C8B-B14F-4D97-AF65-F5344CB8AC3E}">
        <p14:creationId xmlns:p14="http://schemas.microsoft.com/office/powerpoint/2010/main" val="40077508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копирующего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копии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Point("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Point&amp; operator=(const Point&amp; other){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if (this != &amp;other){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delete this-&gt;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             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this-&gt;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new int(*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other.i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 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копии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"operator= Point(" &lt;&lt; *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&lt;&lt; ")" &lt;&lt; std::</a:t>
            </a:r>
            <a:r>
              <a:rPr lang="en-US" sz="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return *this;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}*/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sz="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p2 = p1;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5"/>
            <a:ext cx="4294599" cy="4802189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В этом примере без оператора присваивания объекты будут работать не правильно;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Как говорилось выше, стандартная реализация оператора присваивания выполняет побайтовое копирование полей простых типов.</a:t>
            </a:r>
            <a:br>
              <a:rPr lang="ru-RU" sz="1300" dirty="0">
                <a:solidFill>
                  <a:schemeClr val="tx1"/>
                </a:solidFill>
              </a:rPr>
            </a:br>
            <a:r>
              <a:rPr lang="ru-RU" sz="1300" dirty="0">
                <a:solidFill>
                  <a:schemeClr val="tx1"/>
                </a:solidFill>
              </a:rPr>
              <a:t>В данном случае оба объекта будут указывать на один и тот же участок памяти выделенный в момент создания первого объекта.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На этапе удаления (в деструкторе), первый удаляемый объект освободит память выделенную под i, а второй попробуют освободить уже освобождённую память поворотно, что недопустимо;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Если </a:t>
            </a:r>
            <a:r>
              <a:rPr lang="ru-RU" sz="1300" dirty="0" err="1">
                <a:solidFill>
                  <a:schemeClr val="tx1"/>
                </a:solidFill>
              </a:rPr>
              <a:t>раскомментировать</a:t>
            </a:r>
            <a:r>
              <a:rPr lang="ru-RU" sz="1300" dirty="0">
                <a:solidFill>
                  <a:schemeClr val="tx1"/>
                </a:solidFill>
              </a:rPr>
              <a:t> оператор присваивания, то для каждой копии будет выделен свой собственный блок памяти, который затем корректно будет освобождён деструктором</a:t>
            </a:r>
            <a:r>
              <a:rPr lang="en-US" sz="1300" dirty="0">
                <a:solidFill>
                  <a:schemeClr val="tx1"/>
                </a:solidFill>
              </a:rPr>
              <a:t>;</a:t>
            </a: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Если в операторе присваивания убрать проверку на присваивания себе, то память с данными будет освобождена, а на его место придёт случайный фрагмент памяти с мусорным значением.</a:t>
            </a:r>
          </a:p>
        </p:txBody>
      </p:sp>
    </p:spTree>
    <p:extLst>
      <p:ext uri="{BB962C8B-B14F-4D97-AF65-F5344CB8AC3E}">
        <p14:creationId xmlns:p14="http://schemas.microsoft.com/office/powerpoint/2010/main" val="37431282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Идиома </a:t>
            </a:r>
            <a:r>
              <a:rPr lang="en-US" sz="4000" dirty="0"/>
              <a:t>copy-and-swap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"Created Point("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копии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"Copying Point("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~Point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"Destroyed Point("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530849"/>
            <a:ext cx="4294599" cy="5065160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Ручная реализация оператора присваивания страдает от нескольких проблем, в том числе от лишнего копирования кода</a:t>
            </a:r>
            <a:r>
              <a:rPr lang="en-US" sz="1300" dirty="0">
                <a:solidFill>
                  <a:schemeClr val="tx1"/>
                </a:solidFill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Идиома </a:t>
            </a:r>
            <a:r>
              <a:rPr lang="en-US" sz="1300" dirty="0">
                <a:solidFill>
                  <a:schemeClr val="tx1"/>
                </a:solidFill>
              </a:rPr>
              <a:t>copy-and-swap </a:t>
            </a:r>
            <a:r>
              <a:rPr lang="ru-RU" sz="1300" dirty="0">
                <a:solidFill>
                  <a:schemeClr val="tx1"/>
                </a:solidFill>
              </a:rPr>
              <a:t>определяет способ реализации оператора присваивания лишённого этих проблем, но в том случае, если у вас реализованы конструктор копирования и функция</a:t>
            </a:r>
            <a:r>
              <a:rPr lang="en-US" sz="1300" dirty="0">
                <a:solidFill>
                  <a:schemeClr val="tx1"/>
                </a:solidFill>
              </a:rPr>
              <a:t>/</a:t>
            </a:r>
            <a:r>
              <a:rPr lang="ru-RU" sz="1300" dirty="0">
                <a:solidFill>
                  <a:schemeClr val="tx1"/>
                </a:solidFill>
              </a:rPr>
              <a:t>метод </a:t>
            </a:r>
            <a:r>
              <a:rPr lang="en-US" sz="1300" dirty="0">
                <a:solidFill>
                  <a:schemeClr val="tx1"/>
                </a:solidFill>
              </a:rPr>
              <a:t>swap(</a:t>
            </a:r>
            <a:r>
              <a:rPr lang="ru-RU" sz="1300" dirty="0">
                <a:solidFill>
                  <a:schemeClr val="tx1"/>
                </a:solidFill>
              </a:rPr>
              <a:t>последний не всегда обязателен</a:t>
            </a:r>
            <a:r>
              <a:rPr lang="en-US" sz="1300" dirty="0">
                <a:solidFill>
                  <a:schemeClr val="tx1"/>
                </a:solidFill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В данном примере основное тело оператора присваивания можно заменить на два действия: создание временной копии объекта который присваиваем и затем обмен текущего объекта с временной копией</a:t>
            </a:r>
            <a:r>
              <a:rPr lang="en-US" sz="1300" dirty="0">
                <a:solidFill>
                  <a:schemeClr val="tx1"/>
                </a:solidFill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Если поменять параметр оператора присваивания с ссылки на значение, то от копирования тоже можно будет избавится (параметр-значение и так копия):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7408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преобразования типа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value = number;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Counter counter{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counter;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преобразуем от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Counter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n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25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так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 {counter};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m &lt;&lt;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25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690688"/>
            <a:ext cx="4294599" cy="4319694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C++ позволяет определить функцию оператора преобразования из типа текущего класса в другой тип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-apple-system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-apple-system"/>
              </a:rPr>
              <a:t>Тип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возвращаемого значения у оператора не указывается, поскольку целевой тип всегда подразумевается в имени функции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-apple-system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-apple-system"/>
              </a:rPr>
              <a:t>В отличие от большинства операторов, операторы преобразования должны быть определены только как функции-члены класса. Их нельзя определить как обычные функции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-apple-system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solidFill>
                <a:srgbClr val="000000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Оператор преобразования типа будет применятся как в явных преобразованиях </a:t>
            </a:r>
            <a:r>
              <a:rPr lang="en-US" sz="1300" dirty="0" err="1">
                <a:solidFill>
                  <a:schemeClr val="tx1"/>
                </a:solidFill>
              </a:rPr>
              <a:t>static_cast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r>
              <a:rPr lang="ru-RU" sz="1300" dirty="0">
                <a:solidFill>
                  <a:schemeClr val="tx1"/>
                </a:solidFill>
              </a:rPr>
              <a:t>или в стиле Си, так и в неявных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Чтобы отключить неявные преобразования можно воспользоваться ключевым словом </a:t>
            </a:r>
            <a:r>
              <a:rPr lang="en-US" sz="1300" dirty="0">
                <a:solidFill>
                  <a:schemeClr val="tx1"/>
                </a:solidFill>
              </a:rPr>
              <a:t>explicit;</a:t>
            </a:r>
          </a:p>
        </p:txBody>
      </p:sp>
    </p:spTree>
    <p:extLst>
      <p:ext uri="{BB962C8B-B14F-4D97-AF65-F5344CB8AC3E}">
        <p14:creationId xmlns:p14="http://schemas.microsoft.com/office/powerpoint/2010/main" val="13004339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Оператор круглые скобки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определяем объект функции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выполняем как функцию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выполняем как функцию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выполняем как функцию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Скругленный прямоугольник 4">
            <a:extLst>
              <a:ext uri="{FF2B5EF4-FFF2-40B4-BE49-F238E27FC236}">
                <a16:creationId xmlns:a16="http://schemas.microsoft.com/office/drawing/2014/main" id="{0B104B82-4CB7-0E87-BF9F-66B377EDF378}"/>
              </a:ext>
            </a:extLst>
          </p:cNvPr>
          <p:cNvSpPr/>
          <p:nvPr/>
        </p:nvSpPr>
        <p:spPr>
          <a:xfrm>
            <a:off x="6811765" y="1530849"/>
            <a:ext cx="4294599" cy="2928135"/>
          </a:xfrm>
          <a:prstGeom prst="roundRect">
            <a:avLst>
              <a:gd name="adj" fmla="val 174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Этот оператор можно реализовать только как функцию-член. Он может иметь любое число параметров любого типа, тип возвращаемого значения также произвольный. Классы, с перегруженным оператором (), называются функциональными, их экземпляры называются функциональными объектами или функторами.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Лямбда-функции это синтаксический сахар вокруг функторов, т.е. лямбды == функторы.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3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300" dirty="0">
                <a:solidFill>
                  <a:schemeClr val="tx1"/>
                </a:solidFill>
              </a:rPr>
              <a:t>Функциональный класс может иметь несколько вариантов перегрузки оператора (), с разными параметрами. Такие классы и соответствующие объекты можно назвать мультифункциональными.</a:t>
            </a:r>
          </a:p>
        </p:txBody>
      </p:sp>
    </p:spTree>
    <p:extLst>
      <p:ext uri="{BB962C8B-B14F-4D97-AF65-F5344CB8AC3E}">
        <p14:creationId xmlns:p14="http://schemas.microsoft.com/office/powerpoint/2010/main" val="28720328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</p:spPr>
        <p:txBody>
          <a:bodyPr>
            <a:normAutofit/>
          </a:bodyPr>
          <a:lstStyle/>
          <a:p>
            <a:r>
              <a:rPr lang="ru-RU" sz="4000" dirty="0"/>
              <a:t>Подробнее о перегрузке операторов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solidFill>
                  <a:srgbClr val="24292F"/>
                </a:solidFill>
              </a:rPr>
              <a:t>Operator overloading</a:t>
            </a:r>
            <a:r>
              <a:rPr lang="ru-RU" sz="2000" dirty="0">
                <a:solidFill>
                  <a:srgbClr val="24292F"/>
                </a:solidFill>
              </a:rPr>
              <a:t>: </a:t>
            </a:r>
            <a:r>
              <a:rPr lang="en-US" sz="2000" dirty="0">
                <a:solidFill>
                  <a:srgbClr val="24292F"/>
                </a:solidFill>
                <a:hlinkClick r:id="rId2"/>
              </a:rPr>
              <a:t>https://en.cppreference.com/w/cpp/language/operators</a:t>
            </a:r>
            <a:endParaRPr lang="ru-RU" sz="20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000" dirty="0">
                <a:solidFill>
                  <a:srgbClr val="24292F"/>
                </a:solidFill>
              </a:rPr>
              <a:t>Перегрузка в C++. Часть II. Перегрузка операторов: </a:t>
            </a:r>
            <a:r>
              <a:rPr lang="en-US" sz="2000" dirty="0">
                <a:solidFill>
                  <a:srgbClr val="24292F"/>
                </a:solidFill>
                <a:hlinkClick r:id="rId3"/>
              </a:rPr>
              <a:t>https://habr.com/ru/articles/489666/</a:t>
            </a:r>
            <a:endParaRPr lang="ru-RU" sz="20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solidFill>
                  <a:srgbClr val="24292F"/>
                </a:solidFill>
              </a:rPr>
              <a:t>What is the copy-and-swap idiom?</a:t>
            </a:r>
            <a:r>
              <a:rPr lang="ru-RU" sz="2000" dirty="0">
                <a:solidFill>
                  <a:srgbClr val="24292F"/>
                </a:solidFill>
              </a:rPr>
              <a:t> (ответ): </a:t>
            </a:r>
            <a:r>
              <a:rPr lang="en-US" sz="2000" dirty="0">
                <a:solidFill>
                  <a:srgbClr val="24292F"/>
                </a:solidFill>
                <a:hlinkClick r:id="rId4"/>
              </a:rPr>
              <a:t>https://stackoverflow.com/a/3279550</a:t>
            </a:r>
            <a:endParaRPr lang="ru-RU" sz="20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sz="2000" dirty="0">
              <a:solidFill>
                <a:srgbClr val="24292F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ru-RU" sz="2000" dirty="0">
              <a:solidFill>
                <a:srgbClr val="2429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1898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3436</TotalTime>
  <Words>14912</Words>
  <Application>Microsoft Office PowerPoint</Application>
  <PresentationFormat>Широкоэкранный</PresentationFormat>
  <Paragraphs>1655</Paragraphs>
  <Slides>86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86</vt:i4>
      </vt:variant>
    </vt:vector>
  </HeadingPairs>
  <TitlesOfParts>
    <vt:vector size="93" baseType="lpstr">
      <vt:lpstr>-apple-system</vt:lpstr>
      <vt:lpstr>Arial</vt:lpstr>
      <vt:lpstr>Calibri</vt:lpstr>
      <vt:lpstr>Calibri Light</vt:lpstr>
      <vt:lpstr>Consolas</vt:lpstr>
      <vt:lpstr>NeverMind Hand</vt:lpstr>
      <vt:lpstr>Тема Office</vt:lpstr>
      <vt:lpstr>Алгоритмизация и программирование</vt:lpstr>
      <vt:lpstr>Язык математиков и инженеров</vt:lpstr>
      <vt:lpstr>Язык бизнеса</vt:lpstr>
      <vt:lpstr>ООП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принципы ООП</vt:lpstr>
      <vt:lpstr>Поддержка ООП в С++</vt:lpstr>
      <vt:lpstr>Какие бывают поля – поля объекта</vt:lpstr>
      <vt:lpstr>Какие бывают поля – поля объекта</vt:lpstr>
      <vt:lpstr>Какие бывают поля – поля класса</vt:lpstr>
      <vt:lpstr>Какие бывают поля – поля класса</vt:lpstr>
      <vt:lpstr>Поля класса – особенности определения</vt:lpstr>
      <vt:lpstr>Какие бывают методы – методы объекта</vt:lpstr>
      <vt:lpstr>Метод объекта – вызов метода</vt:lpstr>
      <vt:lpstr>Методы объекта – доступ к другим членам класса из тела метода</vt:lpstr>
      <vt:lpstr>Методы объекта – параметры</vt:lpstr>
      <vt:lpstr>Константные методы объекта</vt:lpstr>
      <vt:lpstr>Методы объекта – доступ к другим членам класса из тела константного метода</vt:lpstr>
      <vt:lpstr>Константные объекты - Семантическая константность и синтаксическая константность</vt:lpstr>
      <vt:lpstr>mutable</vt:lpstr>
      <vt:lpstr>Методы объекта – специальные методы</vt:lpstr>
      <vt:lpstr>Какие бывают методы – методы класса</vt:lpstr>
      <vt:lpstr>Методы класса – вызов метода</vt:lpstr>
      <vt:lpstr>Доступ к другим членам класса из тела статического метода</vt:lpstr>
      <vt:lpstr>Методы класса – параметры</vt:lpstr>
      <vt:lpstr>Методы класса – способы определения</vt:lpstr>
      <vt:lpstr>Презентация PowerPoint</vt:lpstr>
      <vt:lpstr>Презентация PowerPoint</vt:lpstr>
      <vt:lpstr>Конструктор</vt:lpstr>
      <vt:lpstr>Конструктор по умолчанию</vt:lpstr>
      <vt:lpstr>Конструктор с одним параметром</vt:lpstr>
      <vt:lpstr>Делегирующий конструктор</vt:lpstr>
      <vt:lpstr>Инициализация полей</vt:lpstr>
      <vt:lpstr>Инициализация полей-констант и ссылок</vt:lpstr>
      <vt:lpstr>Инициализация полей в точке объявления</vt:lpstr>
      <vt:lpstr>Презентация PowerPoint</vt:lpstr>
      <vt:lpstr>Деструктор</vt:lpstr>
      <vt:lpstr>Презентация PowerPoint</vt:lpstr>
      <vt:lpstr>Конструктор копирования</vt:lpstr>
      <vt:lpstr>Конструктор копирования</vt:lpstr>
      <vt:lpstr>Передача объектов в функцию</vt:lpstr>
      <vt:lpstr>Возврат объекта из функции</vt:lpstr>
      <vt:lpstr>Возврат локального объекта из функции</vt:lpstr>
      <vt:lpstr>Презентация PowerPoint</vt:lpstr>
      <vt:lpstr>Конструктор перемещения</vt:lpstr>
      <vt:lpstr>Презентация PowerPoint</vt:lpstr>
      <vt:lpstr>default</vt:lpstr>
      <vt:lpstr>delete</vt:lpstr>
      <vt:lpstr>Презентация PowerPoint</vt:lpstr>
      <vt:lpstr>Спецификаторы доступа</vt:lpstr>
      <vt:lpstr>Спецификаторы доступа</vt:lpstr>
      <vt:lpstr>Ключевое слово friend - функция</vt:lpstr>
      <vt:lpstr>Ключевое слово friend - класс</vt:lpstr>
      <vt:lpstr>Вложенные (nested) классы</vt:lpstr>
      <vt:lpstr>Вложенные (nested) классы</vt:lpstr>
      <vt:lpstr>Презентация PowerPoint</vt:lpstr>
      <vt:lpstr>Неполный тип</vt:lpstr>
      <vt:lpstr>Класс использующий себя как поле</vt:lpstr>
      <vt:lpstr>Перекрёстное использование</vt:lpstr>
      <vt:lpstr>Использование в методах</vt:lpstr>
      <vt:lpstr>Удаление переменных неполного типа</vt:lpstr>
      <vt:lpstr>Презентация PowerPoint</vt:lpstr>
      <vt:lpstr>Объект в памяти</vt:lpstr>
      <vt:lpstr>Презентация PowerPoint</vt:lpstr>
      <vt:lpstr>Разделение кода класса на файлы</vt:lpstr>
      <vt:lpstr>Разделение кода класса на файлы</vt:lpstr>
      <vt:lpstr>Разделение кода класса на файлы</vt:lpstr>
      <vt:lpstr>Идиома Pimpl (Pointer to implementation)</vt:lpstr>
      <vt:lpstr>Идиома Pimpl (Pointer to implementation)</vt:lpstr>
      <vt:lpstr>Презентация PowerPoint</vt:lpstr>
      <vt:lpstr>Перегрузка операторов</vt:lpstr>
      <vt:lpstr>Перегрузка операторов – ограничения</vt:lpstr>
      <vt:lpstr>Как можно перегрузить оператор</vt:lpstr>
      <vt:lpstr>Перегрузка как свободная функция</vt:lpstr>
      <vt:lpstr>Перегрузка как функция-член</vt:lpstr>
      <vt:lpstr>Перегрузка как функция-член</vt:lpstr>
      <vt:lpstr>Способы вызова перегруженного оператора</vt:lpstr>
      <vt:lpstr>Оператор присваивания</vt:lpstr>
      <vt:lpstr>Оператор копирующего присваивания</vt:lpstr>
      <vt:lpstr>Идиома copy-and-swap</vt:lpstr>
      <vt:lpstr>Оператор преобразования типа</vt:lpstr>
      <vt:lpstr>Оператор круглые скобки</vt:lpstr>
      <vt:lpstr>Подробнее о перегрузке операторов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Professional</dc:creator>
  <cp:lastModifiedBy>Professional</cp:lastModifiedBy>
  <cp:revision>398</cp:revision>
  <dcterms:created xsi:type="dcterms:W3CDTF">2022-09-17T16:00:43Z</dcterms:created>
  <dcterms:modified xsi:type="dcterms:W3CDTF">2025-10-30T20:31:29Z</dcterms:modified>
</cp:coreProperties>
</file>