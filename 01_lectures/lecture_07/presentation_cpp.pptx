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435" r:id="rId3"/>
    <p:sldId id="436" r:id="rId4"/>
    <p:sldId id="437" r:id="rId5"/>
    <p:sldId id="490" r:id="rId6"/>
    <p:sldId id="487" r:id="rId7"/>
    <p:sldId id="488" r:id="rId8"/>
    <p:sldId id="489" r:id="rId9"/>
    <p:sldId id="307" r:id="rId10"/>
    <p:sldId id="527" r:id="rId11"/>
    <p:sldId id="356" r:id="rId12"/>
    <p:sldId id="357" r:id="rId13"/>
    <p:sldId id="358" r:id="rId14"/>
    <p:sldId id="359" r:id="rId15"/>
    <p:sldId id="360" r:id="rId16"/>
    <p:sldId id="361" r:id="rId17"/>
    <p:sldId id="362" r:id="rId18"/>
    <p:sldId id="365" r:id="rId19"/>
    <p:sldId id="364" r:id="rId20"/>
    <p:sldId id="363" r:id="rId21"/>
    <p:sldId id="366" r:id="rId22"/>
    <p:sldId id="404" r:id="rId23"/>
    <p:sldId id="403" r:id="rId24"/>
    <p:sldId id="345" r:id="rId25"/>
    <p:sldId id="367" r:id="rId26"/>
    <p:sldId id="368" r:id="rId27"/>
    <p:sldId id="369" r:id="rId28"/>
    <p:sldId id="370" r:id="rId29"/>
    <p:sldId id="371" r:id="rId30"/>
    <p:sldId id="325" r:id="rId31"/>
    <p:sldId id="381" r:id="rId32"/>
    <p:sldId id="373" r:id="rId33"/>
    <p:sldId id="374" r:id="rId34"/>
    <p:sldId id="375" r:id="rId35"/>
    <p:sldId id="376" r:id="rId36"/>
    <p:sldId id="377" r:id="rId37"/>
    <p:sldId id="379" r:id="rId38"/>
    <p:sldId id="380" r:id="rId39"/>
    <p:sldId id="382" r:id="rId40"/>
    <p:sldId id="384" r:id="rId41"/>
    <p:sldId id="385" r:id="rId42"/>
    <p:sldId id="416" r:id="rId43"/>
    <p:sldId id="387" r:id="rId44"/>
    <p:sldId id="388" r:id="rId45"/>
    <p:sldId id="389" r:id="rId46"/>
    <p:sldId id="394" r:id="rId47"/>
    <p:sldId id="429" r:id="rId48"/>
    <p:sldId id="430" r:id="rId49"/>
    <p:sldId id="391" r:id="rId50"/>
    <p:sldId id="393" r:id="rId51"/>
    <p:sldId id="392" r:id="rId52"/>
    <p:sldId id="395" r:id="rId53"/>
    <p:sldId id="396" r:id="rId54"/>
    <p:sldId id="397" r:id="rId55"/>
    <p:sldId id="398" r:id="rId56"/>
    <p:sldId id="399" r:id="rId57"/>
    <p:sldId id="400" r:id="rId58"/>
    <p:sldId id="401" r:id="rId59"/>
    <p:sldId id="402" r:id="rId60"/>
    <p:sldId id="405" r:id="rId61"/>
    <p:sldId id="406" r:id="rId62"/>
    <p:sldId id="407" r:id="rId63"/>
    <p:sldId id="408" r:id="rId64"/>
    <p:sldId id="409" r:id="rId65"/>
    <p:sldId id="410" r:id="rId66"/>
    <p:sldId id="411" r:id="rId67"/>
    <p:sldId id="412" r:id="rId68"/>
    <p:sldId id="413" r:id="rId69"/>
    <p:sldId id="414" r:id="rId70"/>
    <p:sldId id="386" r:id="rId71"/>
    <p:sldId id="417" r:id="rId72"/>
    <p:sldId id="418" r:id="rId73"/>
    <p:sldId id="419" r:id="rId74"/>
    <p:sldId id="420" r:id="rId75"/>
    <p:sldId id="421" r:id="rId76"/>
    <p:sldId id="422" r:id="rId77"/>
    <p:sldId id="423" r:id="rId78"/>
    <p:sldId id="427" r:id="rId79"/>
    <p:sldId id="425" r:id="rId80"/>
    <p:sldId id="426" r:id="rId81"/>
    <p:sldId id="428" r:id="rId82"/>
    <p:sldId id="431" r:id="rId83"/>
    <p:sldId id="432" r:id="rId84"/>
    <p:sldId id="434" r:id="rId85"/>
    <p:sldId id="433" r:id="rId86"/>
    <p:sldId id="424" r:id="rId8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960" autoAdjust="0"/>
    <p:restoredTop sz="94660"/>
  </p:normalViewPr>
  <p:slideViewPr>
    <p:cSldViewPr snapToGrid="0">
      <p:cViewPr varScale="1">
        <p:scale>
          <a:sx n="72" d="100"/>
          <a:sy n="72" d="100"/>
        </p:scale>
        <p:origin x="78" y="39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viewProps" Target="viewProp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theme" Target="theme/theme1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presProps" Target="presProps.xml"/><Relationship Id="rId9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FA8DA07-F16D-B69B-14A0-7418829B71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4B3408F-C035-7F86-E532-B954222B04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9C57AC3-650B-F8BF-09C8-C2B4DCF5DF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A991E7-4DC9-4E0A-97D8-D75A75B67893}" type="datetimeFigureOut">
              <a:rPr lang="ru-RU" smtClean="0"/>
              <a:t>30.10.2025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25080A7-D173-D34E-D987-E2C0D226DD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89F0AEA-F271-E44D-94AC-243C2E0D3C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19BD0-409E-409F-B778-C62C72C54D4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70576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E0891F9-3476-AFE5-6F5E-3F6F349539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5018E34-1152-017B-392E-EC5AF886F2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AE6B264-13E2-2D5F-75D0-68AB7CE590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A991E7-4DC9-4E0A-97D8-D75A75B67893}" type="datetimeFigureOut">
              <a:rPr lang="ru-RU" smtClean="0"/>
              <a:t>30.10.2025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9F410B0-1B06-0F94-EF8F-6FA03AC97B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62BC443-9DF8-7811-4F50-DA0939A2CB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19BD0-409E-409F-B778-C62C72C54D4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98094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BBB0E42-F26B-36E2-773A-5304DE8E26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70D50AC-8755-6F61-DE6D-718C5790F6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B19F538-368E-46C8-6A0B-73E2711870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A991E7-4DC9-4E0A-97D8-D75A75B67893}" type="datetimeFigureOut">
              <a:rPr lang="ru-RU" smtClean="0"/>
              <a:t>30.10.2025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E3814CB-16AC-34F1-BD55-C50011C474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22C7843-79DC-CD5D-6D5F-64D2C2E8A8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19BD0-409E-409F-B778-C62C72C54D4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172589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42D8AA-77C9-6CF3-B23C-060CF9A587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0AA2B99-F80E-BA07-D1F9-3C064028AB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52856C9-4F89-DF11-6470-C211857335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7DFBB0F-B9D7-A90B-517E-16E12B2284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A991E7-4DC9-4E0A-97D8-D75A75B67893}" type="datetimeFigureOut">
              <a:rPr lang="ru-RU" smtClean="0"/>
              <a:t>30.10.2025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B3C37F6E-1F4C-532F-0447-20BD32FC41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EEC7790-8BEB-A53E-96DA-59A20A267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19BD0-409E-409F-B778-C62C72C54D4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140651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949CB15-C3CC-FC8F-4267-77F81CB568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0EB9DDC-5705-3392-3A7F-B93CB61E51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F0E84CF1-DE2E-70BA-ACCD-77EF4A52F9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C525FDA-E12E-5810-A164-BD0B3009F03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73155AC6-2DE0-9644-8874-5C573FD6370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E030CBA1-E9C4-65D8-3F54-9C4327D317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A991E7-4DC9-4E0A-97D8-D75A75B67893}" type="datetimeFigureOut">
              <a:rPr lang="ru-RU" smtClean="0"/>
              <a:t>30.10.2025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DF279D99-E15E-B520-A991-2EC66A2927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F72153C6-95A4-8AB3-96F5-7545958C5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19BD0-409E-409F-B778-C62C72C54D4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352664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2813BC6-745F-95A9-F0A9-5D3F0117D7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8CD8FD2A-5A7C-06F8-BA11-FEEC2B2AEE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A991E7-4DC9-4E0A-97D8-D75A75B67893}" type="datetimeFigureOut">
              <a:rPr lang="ru-RU" smtClean="0"/>
              <a:t>30.10.2025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1D2B2300-90F1-8EE1-7A1B-9E065770B5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5D84C6DD-ED50-4B35-179E-27063A1D5F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19BD0-409E-409F-B778-C62C72C54D4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68176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2AEB7D92-DC5A-0240-10C9-26EA015DC4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A991E7-4DC9-4E0A-97D8-D75A75B67893}" type="datetimeFigureOut">
              <a:rPr lang="ru-RU" smtClean="0"/>
              <a:t>30.10.2025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9DC8479B-E009-4084-DC5E-8C0C58FD08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A1C52AC-6679-DDE2-EAB6-B90CA53E17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19BD0-409E-409F-B778-C62C72C54D4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444334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9ED1796-E9D7-5349-C5F0-0F62190317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04F04D9-CF54-2F53-1E1D-513D115185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466DECA-58B4-D9CA-A32D-E551C29501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673B75B1-5F06-22C7-2744-E67592E6A9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A991E7-4DC9-4E0A-97D8-D75A75B67893}" type="datetimeFigureOut">
              <a:rPr lang="ru-RU" smtClean="0"/>
              <a:t>30.10.2025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A59913B-8E29-FDEA-AD42-E6C129E288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1A6341C7-ACF3-27A9-D41E-A81E34A26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19BD0-409E-409F-B778-C62C72C54D4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156928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012B9E6-90A4-8F78-CEE1-18AC161EBB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B634F4B9-4857-D367-1A7E-378A1261D3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C15942A2-88A4-A456-BA8F-817EB03F4B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8534529-81F3-E5CC-F7D5-302D2CBE19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A991E7-4DC9-4E0A-97D8-D75A75B67893}" type="datetimeFigureOut">
              <a:rPr lang="ru-RU" smtClean="0"/>
              <a:t>30.10.2025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3B7EC93-E8EE-A4C6-C2D9-F551477229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651F8081-862B-8E61-8D8F-DB05F660CC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19BD0-409E-409F-B778-C62C72C54D4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713432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DD43101-E793-1814-4501-14D47ED3D2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D8BDF28E-053E-8207-289B-815750ED361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A10BEA8-5DA4-8A74-2DB9-E89C620D91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A991E7-4DC9-4E0A-97D8-D75A75B67893}" type="datetimeFigureOut">
              <a:rPr lang="ru-RU" smtClean="0"/>
              <a:t>30.10.2025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F44EB9A-EC5F-78B3-1922-55441952E9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8BA7CAC-00E8-85DE-A274-DF1FD1A601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19BD0-409E-409F-B778-C62C72C54D4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071498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43CE06E1-A559-DC12-8662-7F99C8E1034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A48BA418-DCB5-B785-79A6-5998ED0DE4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C71EC3E-DBBD-CD2F-8DC1-BB7902D3C9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A991E7-4DC9-4E0A-97D8-D75A75B67893}" type="datetimeFigureOut">
              <a:rPr lang="ru-RU" smtClean="0"/>
              <a:t>30.10.2025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0BBC658-E40F-8E05-ABE2-042431F361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CF6B605-74F8-AA8D-86C6-78196C1EE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19BD0-409E-409F-B778-C62C72C54D4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821284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33CBF59-2F6E-7D92-8A20-0252AACE25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9722C2E-80F7-9376-442A-D3077DAF06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64D304D-BEEF-15F0-D934-036B464557D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A991E7-4DC9-4E0A-97D8-D75A75B67893}" type="datetimeFigureOut">
              <a:rPr lang="ru-RU" smtClean="0"/>
              <a:t>30.10.2025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CDAF6ED-B9AA-6C8C-C90F-3CCDC274B8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2593123-3CF9-7A37-5654-90498C0463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619BD0-409E-409F-B778-C62C72C54D4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053541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hyperlink" Target="https://habr.com/ru/articles/489666/" TargetMode="External"/><Relationship Id="rId2" Type="http://schemas.openxmlformats.org/officeDocument/2006/relationships/hyperlink" Target="https://en.cppreference.com/w/cpp/language/operators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stackoverflow.com/a/3279550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D7BC063-3831-522D-21D8-6B1239819E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78774" y="944237"/>
            <a:ext cx="10434452" cy="2387600"/>
          </a:xfrm>
        </p:spPr>
        <p:txBody>
          <a:bodyPr>
            <a:normAutofit/>
          </a:bodyPr>
          <a:lstStyle/>
          <a:p>
            <a:r>
              <a:rPr lang="ru-RU" sz="4800" b="1" dirty="0"/>
              <a:t>Алгоритмизация и программирование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4A5FC3D9-C83F-5AC8-94FD-3ED4616559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30788"/>
            <a:ext cx="9144000" cy="1655762"/>
          </a:xfrm>
        </p:spPr>
        <p:txBody>
          <a:bodyPr>
            <a:normAutofit/>
          </a:bodyPr>
          <a:lstStyle/>
          <a:p>
            <a:r>
              <a:rPr lang="ru-RU" sz="3200" dirty="0"/>
              <a:t>Лекция 7</a:t>
            </a:r>
            <a:r>
              <a:rPr lang="en-US" sz="3200" dirty="0"/>
              <a:t> (</a:t>
            </a:r>
            <a:r>
              <a:rPr lang="ru-RU" sz="3200" dirty="0"/>
              <a:t>С++</a:t>
            </a:r>
            <a:r>
              <a:rPr lang="en-US" sz="3200" dirty="0"/>
              <a:t>)</a:t>
            </a:r>
            <a:endParaRPr lang="ru-RU" sz="3200" dirty="0"/>
          </a:p>
        </p:txBody>
      </p:sp>
    </p:spTree>
    <p:extLst>
      <p:ext uri="{BB962C8B-B14F-4D97-AF65-F5344CB8AC3E}">
        <p14:creationId xmlns:p14="http://schemas.microsoft.com/office/powerpoint/2010/main" val="3653757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42823"/>
            <a:ext cx="10515600" cy="720000"/>
          </a:xfrm>
        </p:spPr>
        <p:txBody>
          <a:bodyPr anchor="ctr">
            <a:normAutofit/>
          </a:bodyPr>
          <a:lstStyle/>
          <a:p>
            <a:r>
              <a:rPr lang="ru-RU" sz="4000" dirty="0"/>
              <a:t>Язык математиков и инженеров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0000"/>
            <a:ext cx="10800000" cy="4860000"/>
          </a:xfrm>
        </p:spPr>
        <p:txBody>
          <a:bodyPr lIns="144000">
            <a:noAutofit/>
          </a:bodyPr>
          <a:lstStyle/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ru-RU" sz="2000" dirty="0">
                <a:latin typeface="Consolas" panose="020B0609020204030204" pitchFamily="49" charset="0"/>
              </a:rPr>
              <a:t>Процедурное программирование – последовательность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ru-RU" sz="2000" dirty="0">
                <a:latin typeface="Consolas" panose="020B0609020204030204" pitchFamily="49" charset="0"/>
              </a:rPr>
              <a:t>вызовов процедур</a:t>
            </a:r>
            <a:r>
              <a:rPr lang="en-US" sz="2000" dirty="0">
                <a:latin typeface="Consolas" panose="020B0609020204030204" pitchFamily="49" charset="0"/>
              </a:rPr>
              <a:t>/</a:t>
            </a:r>
            <a:r>
              <a:rPr lang="ru-RU" sz="2000" dirty="0">
                <a:latin typeface="Consolas" panose="020B0609020204030204" pitchFamily="49" charset="0"/>
              </a:rPr>
              <a:t>функций:</a:t>
            </a:r>
            <a:endParaRPr lang="en-US" sz="2000" dirty="0">
              <a:latin typeface="Consolas" panose="020B0609020204030204" pitchFamily="49" charset="0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endParaRPr lang="en-US" sz="2000" dirty="0">
              <a:latin typeface="Consolas" panose="020B0609020204030204" pitchFamily="49" charset="0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endParaRPr lang="en-US" sz="2000" dirty="0">
              <a:latin typeface="Consolas" panose="020B0609020204030204" pitchFamily="49" charset="0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endParaRPr lang="en-US" sz="2000" dirty="0">
              <a:latin typeface="Consolas" panose="020B0609020204030204" pitchFamily="49" charset="0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endParaRPr lang="en-US" sz="2000" dirty="0">
              <a:latin typeface="Consolas" panose="020B0609020204030204" pitchFamily="49" charset="0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endParaRPr lang="en-US" sz="2000" dirty="0">
              <a:latin typeface="Consolas" panose="020B0609020204030204" pitchFamily="49" charset="0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endParaRPr lang="en-US" sz="2000" dirty="0">
              <a:latin typeface="Consolas" panose="020B0609020204030204" pitchFamily="49" charset="0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endParaRPr lang="ru-RU" sz="2000" dirty="0">
              <a:latin typeface="Consolas" panose="020B0609020204030204" pitchFamily="49" charset="0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ru-RU" sz="2000" b="0" dirty="0">
                <a:effectLst/>
                <a:latin typeface="Consolas" panose="020B0609020204030204" pitchFamily="49" charset="0"/>
              </a:rPr>
              <a:t>Функциональное программирование – набор утверждений</a:t>
            </a:r>
            <a:r>
              <a:rPr lang="ru-RU" sz="2000" dirty="0">
                <a:latin typeface="Consolas" panose="020B0609020204030204" pitchFamily="49" charset="0"/>
              </a:rPr>
              <a:t>:</a:t>
            </a:r>
            <a:endParaRPr lang="en-US" sz="2000" dirty="0">
              <a:latin typeface="Consolas" panose="020B0609020204030204" pitchFamily="49" charset="0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endParaRPr lang="ru-RU" sz="2000" b="0" dirty="0"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kumimoji="0" lang="ru-RU" altLang="ru-RU" sz="2000" b="0" i="0" u="none" strike="noStrike" cap="none" normalizeH="0" baseline="0" dirty="0" err="1">
                <a:ln>
                  <a:noFill/>
                </a:ln>
                <a:solidFill>
                  <a:srgbClr val="0F1115"/>
                </a:solidFill>
                <a:effectLst/>
                <a:latin typeface="Consolas" panose="020B0609020204030204" pitchFamily="49" charset="0"/>
              </a:rPr>
              <a:t>factorial</a:t>
            </a: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ru-RU" altLang="ru-RU" sz="2000" b="0" i="0" u="none" strike="noStrike" cap="none" normalizeH="0" baseline="0" dirty="0" err="1">
                <a:ln>
                  <a:noFill/>
                </a:ln>
                <a:solidFill>
                  <a:srgbClr val="B76B01"/>
                </a:solidFill>
                <a:effectLst/>
                <a:latin typeface="Consolas" panose="020B0609020204030204" pitchFamily="49" charset="0"/>
              </a:rPr>
              <a:t>Integer</a:t>
            </a: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ru-RU" altLang="ru-RU" sz="2000" b="0" i="0" u="none" strike="noStrike" cap="none" normalizeH="0" baseline="0" dirty="0" err="1">
                <a:ln>
                  <a:noFill/>
                </a:ln>
                <a:solidFill>
                  <a:srgbClr val="B76B01"/>
                </a:solidFill>
                <a:effectLst/>
                <a:latin typeface="Consolas" panose="020B0609020204030204" pitchFamily="49" charset="0"/>
              </a:rPr>
              <a:t>Integer</a:t>
            </a:r>
            <a:endParaRPr lang="ru-RU" altLang="ru-RU" sz="2000" dirty="0">
              <a:solidFill>
                <a:srgbClr val="0F1115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kumimoji="0" lang="ru-RU" altLang="ru-RU" sz="2000" b="0" i="0" u="none" strike="noStrike" cap="none" normalizeH="0" baseline="0" dirty="0" err="1">
                <a:ln>
                  <a:noFill/>
                </a:ln>
                <a:solidFill>
                  <a:srgbClr val="0F1115"/>
                </a:solidFill>
                <a:effectLst/>
                <a:latin typeface="Consolas" panose="020B0609020204030204" pitchFamily="49" charset="0"/>
              </a:rPr>
              <a:t>factorial</a:t>
            </a: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rgbClr val="B76B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rgbClr val="B76B01"/>
                </a:solidFill>
                <a:effectLst/>
                <a:latin typeface="Consolas" panose="020B0609020204030204" pitchFamily="49" charset="0"/>
              </a:rPr>
              <a:t>1</a:t>
            </a:r>
            <a:endParaRPr lang="ru-RU" altLang="ru-RU" sz="2000" dirty="0">
              <a:solidFill>
                <a:srgbClr val="0F1115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kumimoji="0" lang="ru-RU" altLang="ru-RU" sz="2000" b="0" i="0" u="none" strike="noStrike" cap="none" normalizeH="0" baseline="0" dirty="0" err="1">
                <a:ln>
                  <a:noFill/>
                </a:ln>
                <a:solidFill>
                  <a:srgbClr val="0F1115"/>
                </a:solidFill>
                <a:effectLst/>
                <a:latin typeface="Consolas" panose="020B0609020204030204" pitchFamily="49" charset="0"/>
              </a:rPr>
              <a:t>factorial</a:t>
            </a: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Consolas" panose="020B0609020204030204" pitchFamily="49" charset="0"/>
              </a:rPr>
              <a:t> n </a:t>
            </a: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Consolas" panose="020B0609020204030204" pitchFamily="49" charset="0"/>
              </a:rPr>
              <a:t> n </a:t>
            </a: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ru-RU" altLang="ru-RU" sz="2000" b="0" i="0" u="none" strike="noStrike" cap="none" normalizeH="0" baseline="0" dirty="0" err="1">
                <a:ln>
                  <a:noFill/>
                </a:ln>
                <a:solidFill>
                  <a:srgbClr val="0F1115"/>
                </a:solidFill>
                <a:effectLst/>
                <a:latin typeface="Consolas" panose="020B0609020204030204" pitchFamily="49" charset="0"/>
              </a:rPr>
              <a:t>factorial</a:t>
            </a: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Consolas" panose="020B0609020204030204" pitchFamily="49" charset="0"/>
              </a:rPr>
              <a:t>n </a:t>
            </a: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rgbClr val="B76B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</a:t>
            </a:r>
            <a:endParaRPr kumimoji="0" lang="ru-RU" altLang="ru-RU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endParaRPr lang="en-US" sz="2000" b="0" dirty="0">
              <a:effectLst/>
              <a:latin typeface="Consolas" panose="020B0609020204030204" pitchFamily="49" charset="0"/>
            </a:endParaRPr>
          </a:p>
        </p:txBody>
      </p:sp>
      <p:pic>
        <p:nvPicPr>
          <p:cNvPr id="1026" name="Picture 2" descr="Picture background">
            <a:extLst>
              <a:ext uri="{FF2B5EF4-FFF2-40B4-BE49-F238E27FC236}">
                <a16:creationId xmlns:a16="http://schemas.microsoft.com/office/drawing/2014/main" id="{709815C6-305C-4EB5-AF83-FE61427649B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490" b="24601"/>
          <a:stretch/>
        </p:blipFill>
        <p:spPr bwMode="auto">
          <a:xfrm>
            <a:off x="981075" y="1850743"/>
            <a:ext cx="10315575" cy="24262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047447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42823"/>
            <a:ext cx="10515600" cy="720000"/>
          </a:xfrm>
        </p:spPr>
        <p:txBody>
          <a:bodyPr anchor="ctr">
            <a:normAutofit/>
          </a:bodyPr>
          <a:lstStyle/>
          <a:p>
            <a:r>
              <a:rPr lang="ru-RU" sz="4000" dirty="0"/>
              <a:t>Язык бизнеса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0000"/>
            <a:ext cx="10800000" cy="4860000"/>
          </a:xfrm>
        </p:spPr>
        <p:txBody>
          <a:bodyPr lIns="144000">
            <a:noAutofit/>
          </a:bodyPr>
          <a:lstStyle/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endParaRPr lang="en-US" sz="1600" b="1" dirty="0">
              <a:solidFill>
                <a:srgbClr val="0F1115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ru-RU" sz="1600" b="1" i="0" dirty="0">
                <a:solidFill>
                  <a:srgbClr val="0F1115"/>
                </a:solidFill>
                <a:effectLst/>
                <a:latin typeface="Consolas" panose="020B0609020204030204" pitchFamily="49" charset="0"/>
              </a:rPr>
              <a:t>Клиент открывает депозитный счёт с начальной суммой 1000 рублей</a:t>
            </a:r>
            <a:r>
              <a:rPr lang="en-US" sz="1600" b="1" dirty="0">
                <a:solidFill>
                  <a:srgbClr val="0F1115"/>
                </a:solidFill>
                <a:latin typeface="Consolas" panose="020B0609020204030204" pitchFamily="49" charset="0"/>
              </a:rPr>
              <a:t>:</a:t>
            </a:r>
            <a:endParaRPr lang="ru-RU" sz="1600" dirty="0">
              <a:solidFill>
                <a:srgbClr val="0F1115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initial_amount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1000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open_deposit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client_id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initial_amount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процедурный стиль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client.open_deposit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initial_amount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   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ООП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endParaRPr lang="en-US" sz="1600" dirty="0">
              <a:latin typeface="Consolas" panose="020B0609020204030204" pitchFamily="49" charset="0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F1115"/>
                </a:solidFill>
                <a:latin typeface="Consolas" panose="020B0609020204030204" pitchFamily="49" charset="0"/>
              </a:rPr>
              <a:t>Клиент (</a:t>
            </a:r>
            <a:r>
              <a:rPr lang="en-US" sz="1600" b="1" dirty="0" err="1">
                <a:solidFill>
                  <a:srgbClr val="0F1115"/>
                </a:solidFill>
                <a:latin typeface="Consolas" panose="020B0609020204030204" pitchFamily="49" charset="0"/>
              </a:rPr>
              <a:t>alex</a:t>
            </a:r>
            <a:r>
              <a:rPr lang="ru-RU" sz="1600" b="1" dirty="0">
                <a:solidFill>
                  <a:srgbClr val="0F1115"/>
                </a:solidFill>
                <a:latin typeface="Consolas" panose="020B0609020204030204" pitchFamily="49" charset="0"/>
              </a:rPr>
              <a:t>)</a:t>
            </a:r>
            <a:r>
              <a:rPr lang="en-US" sz="1600" b="1" dirty="0">
                <a:solidFill>
                  <a:srgbClr val="0F1115"/>
                </a:solidFill>
                <a:latin typeface="Consolas" panose="020B0609020204030204" pitchFamily="49" charset="0"/>
              </a:rPr>
              <a:t> </a:t>
            </a:r>
            <a:r>
              <a:rPr lang="ru-RU" sz="1600" b="1" dirty="0">
                <a:solidFill>
                  <a:srgbClr val="0F1115"/>
                </a:solidFill>
                <a:latin typeface="Consolas" panose="020B0609020204030204" pitchFamily="49" charset="0"/>
              </a:rPr>
              <a:t>п</a:t>
            </a:r>
            <a:r>
              <a:rPr lang="ru-RU" sz="1600" b="1" dirty="0">
                <a:solidFill>
                  <a:srgbClr val="0F1115"/>
                </a:solidFill>
                <a:effectLst/>
                <a:latin typeface="Consolas" panose="020B0609020204030204" pitchFamily="49" charset="0"/>
              </a:rPr>
              <a:t>ереводит клиенту (</a:t>
            </a:r>
            <a:r>
              <a:rPr lang="en-US" sz="1600" b="1" dirty="0">
                <a:solidFill>
                  <a:srgbClr val="0F1115"/>
                </a:solidFill>
                <a:effectLst/>
                <a:latin typeface="Consolas" panose="020B0609020204030204" pitchFamily="49" charset="0"/>
              </a:rPr>
              <a:t>anna</a:t>
            </a:r>
            <a:r>
              <a:rPr lang="ru-RU" sz="1600" b="1" dirty="0">
                <a:solidFill>
                  <a:srgbClr val="0F1115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1600" b="1" dirty="0">
                <a:solidFill>
                  <a:srgbClr val="0F1115"/>
                </a:solidFill>
                <a:effectLst/>
                <a:latin typeface="Consolas" panose="020B0609020204030204" pitchFamily="49" charset="0"/>
              </a:rPr>
              <a:t> 500 </a:t>
            </a:r>
            <a:r>
              <a:rPr lang="ru-RU" sz="1600" b="1" dirty="0">
                <a:solidFill>
                  <a:srgbClr val="0F1115"/>
                </a:solidFill>
                <a:effectLst/>
                <a:latin typeface="Consolas" panose="020B0609020204030204" pitchFamily="49" charset="0"/>
              </a:rPr>
              <a:t>рублей</a:t>
            </a:r>
            <a:r>
              <a:rPr lang="en-US" sz="1600" b="1" dirty="0">
                <a:solidFill>
                  <a:srgbClr val="0F1115"/>
                </a:solidFill>
                <a:effectLst/>
                <a:latin typeface="Consolas" panose="020B0609020204030204" pitchFamily="49" charset="0"/>
              </a:rPr>
              <a:t>:</a:t>
            </a:r>
            <a:endParaRPr lang="ru-RU" sz="1600" b="1" dirty="0">
              <a:solidFill>
                <a:srgbClr val="0F1115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transfer_money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alex_id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anna_id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500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 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процедурный стиль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alex.transfer_to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(anna,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500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           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ООП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endParaRPr lang="en-US" sz="1600" dirty="0">
              <a:latin typeface="Consolas" panose="020B0609020204030204" pitchFamily="49" charset="0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F1115"/>
                </a:solidFill>
                <a:latin typeface="Consolas" panose="020B0609020204030204" pitchFamily="49" charset="0"/>
              </a:rPr>
              <a:t>Если клиенту разрешён перевод в размере 1000 рублей, то ...</a:t>
            </a:r>
            <a:r>
              <a:rPr lang="en-US" sz="1600" b="1" dirty="0">
                <a:solidFill>
                  <a:srgbClr val="0F1115"/>
                </a:solidFill>
                <a:effectLst/>
                <a:latin typeface="Consolas" panose="020B0609020204030204" pitchFamily="49" charset="0"/>
              </a:rPr>
              <a:t>:</a:t>
            </a:r>
            <a:endParaRPr lang="ru-RU" sz="1600" b="1" dirty="0">
              <a:solidFill>
                <a:srgbClr val="0F1115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get_transaction_status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(transaction(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client_id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10000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"RUB"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 == ALLOWED {...}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процедурный </a:t>
            </a:r>
          </a:p>
          <a:p>
            <a:pPr marL="0" indent="0"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client.transaction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10000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"RUB"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).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is_allowed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{...}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ООП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911818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42823"/>
            <a:ext cx="10515600" cy="720000"/>
          </a:xfrm>
        </p:spPr>
        <p:txBody>
          <a:bodyPr anchor="ctr">
            <a:normAutofit/>
          </a:bodyPr>
          <a:lstStyle/>
          <a:p>
            <a:r>
              <a:rPr lang="ru-RU" sz="4000" dirty="0"/>
              <a:t>ООП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0000"/>
            <a:ext cx="10800000" cy="4860000"/>
          </a:xfrm>
        </p:spPr>
        <p:txBody>
          <a:bodyPr lIns="144000">
            <a:noAutofit/>
          </a:bodyPr>
          <a:lstStyle/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endParaRPr lang="ru-RU" sz="1800" dirty="0">
              <a:solidFill>
                <a:srgbClr val="0F1115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endParaRPr lang="ru-RU" sz="1800" dirty="0">
              <a:solidFill>
                <a:srgbClr val="0F1115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ru-RU" sz="1800" dirty="0">
                <a:solidFill>
                  <a:srgbClr val="0F1115"/>
                </a:solidFill>
                <a:latin typeface="Consolas" panose="020B0609020204030204" pitchFamily="49" charset="0"/>
              </a:rPr>
              <a:t>Как видно, теперь вместо данных простых типов </a:t>
            </a:r>
            <a:r>
              <a:rPr lang="en-US" sz="1800" dirty="0">
                <a:solidFill>
                  <a:schemeClr val="accent1"/>
                </a:solidFill>
                <a:latin typeface="Consolas" panose="020B0609020204030204" pitchFamily="49" charset="0"/>
              </a:rPr>
              <a:t>int</a:t>
            </a:r>
            <a:r>
              <a:rPr lang="ru-RU" sz="1800" dirty="0">
                <a:solidFill>
                  <a:srgbClr val="0F1115"/>
                </a:solidFill>
                <a:latin typeface="Consolas" panose="020B0609020204030204" pitchFamily="49" charset="0"/>
              </a:rPr>
              <a:t>, </a:t>
            </a:r>
            <a:r>
              <a:rPr lang="en-US" sz="1800" dirty="0">
                <a:solidFill>
                  <a:schemeClr val="accent1"/>
                </a:solidFill>
                <a:latin typeface="Consolas" panose="020B0609020204030204" pitchFamily="49" charset="0"/>
              </a:rPr>
              <a:t>double</a:t>
            </a:r>
            <a:r>
              <a:rPr lang="en-US" sz="1800" dirty="0">
                <a:solidFill>
                  <a:srgbClr val="0F1115"/>
                </a:solidFill>
                <a:latin typeface="Consolas" panose="020B0609020204030204" pitchFamily="49" charset="0"/>
              </a:rPr>
              <a:t> </a:t>
            </a:r>
            <a:r>
              <a:rPr lang="ru-RU" sz="1800" dirty="0">
                <a:solidFill>
                  <a:srgbClr val="0F1115"/>
                </a:solidFill>
                <a:latin typeface="Consolas" panose="020B0609020204030204" pitchFamily="49" charset="0"/>
              </a:rPr>
              <a:t>и </a:t>
            </a:r>
            <a:r>
              <a:rPr lang="ru-RU" sz="1800" dirty="0" err="1">
                <a:solidFill>
                  <a:srgbClr val="0F1115"/>
                </a:solidFill>
                <a:latin typeface="Consolas" panose="020B0609020204030204" pitchFamily="49" charset="0"/>
              </a:rPr>
              <a:t>т.д</a:t>
            </a:r>
            <a:r>
              <a:rPr lang="ru-RU" sz="1800" dirty="0">
                <a:solidFill>
                  <a:srgbClr val="0F1115"/>
                </a:solidFill>
                <a:latin typeface="Consolas" panose="020B0609020204030204" pitchFamily="49" charset="0"/>
              </a:rPr>
              <a:t> и функций оперирующих этими данными мы хотим использовать программные сущности </a:t>
            </a:r>
            <a:r>
              <a:rPr lang="en-US" sz="1800" dirty="0">
                <a:solidFill>
                  <a:schemeClr val="accent1"/>
                </a:solidFill>
                <a:latin typeface="Consolas" panose="020B0609020204030204" pitchFamily="49" charset="0"/>
              </a:rPr>
              <a:t>client</a:t>
            </a:r>
            <a:r>
              <a:rPr lang="ru-RU" sz="1800" dirty="0">
                <a:solidFill>
                  <a:srgbClr val="0F1115"/>
                </a:solidFill>
                <a:latin typeface="Consolas" panose="020B0609020204030204" pitchFamily="49" charset="0"/>
              </a:rPr>
              <a:t>, </a:t>
            </a:r>
            <a:r>
              <a:rPr lang="en-US" sz="1800" dirty="0">
                <a:solidFill>
                  <a:schemeClr val="accent1"/>
                </a:solidFill>
                <a:latin typeface="Consolas" panose="020B0609020204030204" pitchFamily="49" charset="0"/>
              </a:rPr>
              <a:t>bank</a:t>
            </a:r>
            <a:r>
              <a:rPr lang="ru-RU" sz="1800" dirty="0">
                <a:solidFill>
                  <a:srgbClr val="0F1115"/>
                </a:solidFill>
                <a:latin typeface="Consolas" panose="020B0609020204030204" pitchFamily="49" charset="0"/>
              </a:rPr>
              <a:t> и т.д. которые</a:t>
            </a:r>
            <a:r>
              <a:rPr lang="en-US" sz="1800" dirty="0">
                <a:solidFill>
                  <a:srgbClr val="0F1115"/>
                </a:solidFill>
                <a:latin typeface="Consolas" panose="020B0609020204030204" pitchFamily="49" charset="0"/>
              </a:rPr>
              <a:t> </a:t>
            </a:r>
            <a:r>
              <a:rPr lang="ru-RU" sz="1800" dirty="0">
                <a:solidFill>
                  <a:srgbClr val="0F1115"/>
                </a:solidFill>
                <a:latin typeface="Consolas" panose="020B0609020204030204" pitchFamily="49" charset="0"/>
              </a:rPr>
              <a:t>обладают некоторым собственным набором операций (поведение) и обладают всей необходимой информацией, для осуществления этих операций (состояние). 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endParaRPr lang="ru-RU" sz="1800" dirty="0">
              <a:solidFill>
                <a:srgbClr val="0F1115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ru-RU" sz="1800" dirty="0">
                <a:solidFill>
                  <a:srgbClr val="0F1115"/>
                </a:solidFill>
                <a:latin typeface="Consolas" panose="020B0609020204030204" pitchFamily="49" charset="0"/>
              </a:rPr>
              <a:t>Такую программную сущность будем называть </a:t>
            </a:r>
            <a:r>
              <a:rPr lang="ru-RU" sz="1800" b="1" dirty="0">
                <a:solidFill>
                  <a:srgbClr val="0F1115"/>
                </a:solidFill>
                <a:latin typeface="Consolas" panose="020B0609020204030204" pitchFamily="49" charset="0"/>
              </a:rPr>
              <a:t>объектом</a:t>
            </a:r>
            <a:r>
              <a:rPr lang="ru-RU" sz="1800" dirty="0">
                <a:solidFill>
                  <a:srgbClr val="0F1115"/>
                </a:solidFill>
                <a:latin typeface="Consolas" panose="020B0609020204030204" pitchFamily="49" charset="0"/>
              </a:rPr>
              <a:t>, а тип данных, который описывает объект будем называть </a:t>
            </a:r>
            <a:r>
              <a:rPr lang="ru-RU" sz="1800" b="1" dirty="0">
                <a:solidFill>
                  <a:srgbClr val="0F1115"/>
                </a:solidFill>
                <a:latin typeface="Consolas" panose="020B0609020204030204" pitchFamily="49" charset="0"/>
              </a:rPr>
              <a:t>классом</a:t>
            </a:r>
            <a:r>
              <a:rPr lang="ru-RU" sz="1800" dirty="0">
                <a:solidFill>
                  <a:srgbClr val="0F1115"/>
                </a:solidFill>
                <a:latin typeface="Consolas" panose="020B0609020204030204" pitchFamily="49" charset="0"/>
              </a:rPr>
              <a:t>.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ru-RU" sz="1800" dirty="0">
                <a:solidFill>
                  <a:srgbClr val="0F1115"/>
                </a:solidFill>
                <a:effectLst/>
                <a:latin typeface="Consolas" panose="020B0609020204030204" pitchFamily="49" charset="0"/>
              </a:rPr>
              <a:t>Стиль программирования, при котором </a:t>
            </a:r>
            <a:r>
              <a:rPr lang="ru-RU" sz="1800" dirty="0">
                <a:solidFill>
                  <a:srgbClr val="0F1115"/>
                </a:solidFill>
                <a:latin typeface="Consolas" panose="020B0609020204030204" pitchFamily="49" charset="0"/>
              </a:rPr>
              <a:t>код состоит из взаимодействующих друг с другом объектов будем называть объектно-ориентированным стилем программирования.</a:t>
            </a:r>
            <a:endParaRPr lang="ru-RU" sz="1800" dirty="0">
              <a:solidFill>
                <a:srgbClr val="0F1115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769171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C:\Users\KRON\Desktop\82538408_baca37836799c0f28904a305baab7a7c_800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43813" y="1196635"/>
            <a:ext cx="7104375" cy="52264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Заголовок 1">
            <a:extLst>
              <a:ext uri="{FF2B5EF4-FFF2-40B4-BE49-F238E27FC236}">
                <a16:creationId xmlns:a16="http://schemas.microsoft.com/office/drawing/2014/main" id="{DAE0F068-B1C8-4639-A851-BF375D1F9B0D}"/>
              </a:ext>
            </a:extLst>
          </p:cNvPr>
          <p:cNvSpPr txBox="1">
            <a:spLocks/>
          </p:cNvSpPr>
          <p:nvPr/>
        </p:nvSpPr>
        <p:spPr>
          <a:xfrm>
            <a:off x="838200" y="342823"/>
            <a:ext cx="10515600" cy="720000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Класс</a:t>
            </a:r>
          </a:p>
        </p:txBody>
      </p:sp>
    </p:spTree>
    <p:extLst>
      <p:ext uri="{BB962C8B-B14F-4D97-AF65-F5344CB8AC3E}">
        <p14:creationId xmlns:p14="http://schemas.microsoft.com/office/powerpoint/2010/main" val="41117126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C:\Users\KRON\Desktop\883810123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76000" y="1097250"/>
            <a:ext cx="8640000" cy="54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Заголовок 1">
            <a:extLst>
              <a:ext uri="{FF2B5EF4-FFF2-40B4-BE49-F238E27FC236}">
                <a16:creationId xmlns:a16="http://schemas.microsoft.com/office/drawing/2014/main" id="{591941E9-FD0A-4B05-990A-67CC7735C44A}"/>
              </a:ext>
            </a:extLst>
          </p:cNvPr>
          <p:cNvSpPr txBox="1">
            <a:spLocks/>
          </p:cNvSpPr>
          <p:nvPr/>
        </p:nvSpPr>
        <p:spPr>
          <a:xfrm>
            <a:off x="838200" y="342823"/>
            <a:ext cx="10515600" cy="720000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Объекта класса Кот</a:t>
            </a:r>
          </a:p>
        </p:txBody>
      </p:sp>
    </p:spTree>
    <p:extLst>
      <p:ext uri="{BB962C8B-B14F-4D97-AF65-F5344CB8AC3E}">
        <p14:creationId xmlns:p14="http://schemas.microsoft.com/office/powerpoint/2010/main" val="3355203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C:\Users\KRON\Desktop\KFpm7jJ655ErYIhs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4169" y="1107427"/>
            <a:ext cx="8403663" cy="54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Заголовок 1">
            <a:extLst>
              <a:ext uri="{FF2B5EF4-FFF2-40B4-BE49-F238E27FC236}">
                <a16:creationId xmlns:a16="http://schemas.microsoft.com/office/drawing/2014/main" id="{8D5E36EF-786A-4F89-8683-CC3C4FEB3B97}"/>
              </a:ext>
            </a:extLst>
          </p:cNvPr>
          <p:cNvSpPr txBox="1">
            <a:spLocks/>
          </p:cNvSpPr>
          <p:nvPr/>
        </p:nvSpPr>
        <p:spPr>
          <a:xfrm>
            <a:off x="838200" y="342823"/>
            <a:ext cx="10515600" cy="720000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Объекта класса Кот</a:t>
            </a:r>
          </a:p>
        </p:txBody>
      </p:sp>
    </p:spTree>
    <p:extLst>
      <p:ext uri="{BB962C8B-B14F-4D97-AF65-F5344CB8AC3E}">
        <p14:creationId xmlns:p14="http://schemas.microsoft.com/office/powerpoint/2010/main" val="25864062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C:\Users\KRON\Desktop\luxfon.com_28751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76000" y="1126328"/>
            <a:ext cx="8640000" cy="54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Заголовок 1">
            <a:extLst>
              <a:ext uri="{FF2B5EF4-FFF2-40B4-BE49-F238E27FC236}">
                <a16:creationId xmlns:a16="http://schemas.microsoft.com/office/drawing/2014/main" id="{33177B32-3463-46B7-8762-436E40516EB7}"/>
              </a:ext>
            </a:extLst>
          </p:cNvPr>
          <p:cNvSpPr txBox="1">
            <a:spLocks/>
          </p:cNvSpPr>
          <p:nvPr/>
        </p:nvSpPr>
        <p:spPr>
          <a:xfrm>
            <a:off x="838200" y="342823"/>
            <a:ext cx="10515600" cy="720000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Объекта класса Кот</a:t>
            </a:r>
          </a:p>
        </p:txBody>
      </p:sp>
    </p:spTree>
    <p:extLst>
      <p:ext uri="{BB962C8B-B14F-4D97-AF65-F5344CB8AC3E}">
        <p14:creationId xmlns:p14="http://schemas.microsoft.com/office/powerpoint/2010/main" val="21485159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Объект 18">
            <a:extLst>
              <a:ext uri="{FF2B5EF4-FFF2-40B4-BE49-F238E27FC236}">
                <a16:creationId xmlns:a16="http://schemas.microsoft.com/office/drawing/2014/main" id="{67034ED1-B87B-F9B8-2679-E793E00CE21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1203" y="3139575"/>
            <a:ext cx="5184876" cy="3359588"/>
          </a:xfrm>
        </p:spPr>
      </p:pic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32272DE2-219D-437E-8C52-39198D38FA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42823"/>
            <a:ext cx="10515600" cy="720000"/>
          </a:xfrm>
        </p:spPr>
        <p:txBody>
          <a:bodyPr anchor="ctr">
            <a:normAutofit/>
          </a:bodyPr>
          <a:lstStyle/>
          <a:p>
            <a:r>
              <a:rPr lang="ru-RU" sz="4000" dirty="0"/>
              <a:t>Основные принципы ООП</a:t>
            </a:r>
          </a:p>
        </p:txBody>
      </p:sp>
      <p:sp>
        <p:nvSpPr>
          <p:cNvPr id="7" name="Объект 2">
            <a:extLst>
              <a:ext uri="{FF2B5EF4-FFF2-40B4-BE49-F238E27FC236}">
                <a16:creationId xmlns:a16="http://schemas.microsoft.com/office/drawing/2014/main" id="{49DFF854-074E-4067-B232-0105CC8BDC89}"/>
              </a:ext>
            </a:extLst>
          </p:cNvPr>
          <p:cNvSpPr txBox="1">
            <a:spLocks/>
          </p:cNvSpPr>
          <p:nvPr/>
        </p:nvSpPr>
        <p:spPr>
          <a:xfrm>
            <a:off x="838200" y="1440000"/>
            <a:ext cx="10800000" cy="4860000"/>
          </a:xfrm>
          <a:prstGeom prst="rect">
            <a:avLst/>
          </a:prstGeom>
        </p:spPr>
        <p:txBody>
          <a:bodyPr vert="horz" lIns="14400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0F1115"/>
                </a:solidFill>
                <a:latin typeface="Consolas" panose="020B0609020204030204" pitchFamily="49" charset="0"/>
              </a:rPr>
              <a:t>ООП – это набор идей и реализация этих идей в разных языках программирования отличается в соответствии с идеологией и возможностями самого языка. Несмотря на это, существует набор принципов которые должен поддерживать язык, чтобы называться ООП языком.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ru-RU" sz="1600" dirty="0">
                <a:solidFill>
                  <a:srgbClr val="0F1115"/>
                </a:solidFill>
                <a:latin typeface="Consolas" panose="020B0609020204030204" pitchFamily="49" charset="0"/>
              </a:rPr>
              <a:t>В зависимости от источников, основные принципы ООП отличаются как по количеству, так и по составу, но обычно выделяют 3 основных принципа (часто сюда добавляют ещё абстракцию):</a:t>
            </a:r>
          </a:p>
        </p:txBody>
      </p:sp>
    </p:spTree>
    <p:extLst>
      <p:ext uri="{BB962C8B-B14F-4D97-AF65-F5344CB8AC3E}">
        <p14:creationId xmlns:p14="http://schemas.microsoft.com/office/powerpoint/2010/main" val="41205394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32272DE2-219D-437E-8C52-39198D38FA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42823"/>
            <a:ext cx="10515600" cy="720000"/>
          </a:xfrm>
        </p:spPr>
        <p:txBody>
          <a:bodyPr anchor="ctr">
            <a:normAutofit/>
          </a:bodyPr>
          <a:lstStyle/>
          <a:p>
            <a:r>
              <a:rPr lang="ru-RU" sz="4000" dirty="0"/>
              <a:t>Поддержка ООП в С++</a:t>
            </a:r>
          </a:p>
        </p:txBody>
      </p:sp>
      <p:sp>
        <p:nvSpPr>
          <p:cNvPr id="7" name="Объект 2">
            <a:extLst>
              <a:ext uri="{FF2B5EF4-FFF2-40B4-BE49-F238E27FC236}">
                <a16:creationId xmlns:a16="http://schemas.microsoft.com/office/drawing/2014/main" id="{49DFF854-074E-4067-B232-0105CC8BDC89}"/>
              </a:ext>
            </a:extLst>
          </p:cNvPr>
          <p:cNvSpPr txBox="1">
            <a:spLocks/>
          </p:cNvSpPr>
          <p:nvPr/>
        </p:nvSpPr>
        <p:spPr>
          <a:xfrm>
            <a:off x="838200" y="1440000"/>
            <a:ext cx="10800000" cy="4860000"/>
          </a:xfrm>
          <a:prstGeom prst="rect">
            <a:avLst/>
          </a:prstGeom>
        </p:spPr>
        <p:txBody>
          <a:bodyPr vert="horz" lIns="14400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lnSpc>
                <a:spcPct val="120000"/>
              </a:lnSpc>
              <a:spcBef>
                <a:spcPts val="0"/>
              </a:spcBef>
              <a:buNone/>
            </a:pPr>
            <a:r>
              <a:rPr lang="ru-RU" sz="1800" dirty="0">
                <a:solidFill>
                  <a:srgbClr val="0F1115"/>
                </a:solidFill>
                <a:latin typeface="Consolas" panose="020B0609020204030204" pitchFamily="49" charset="0"/>
              </a:rPr>
              <a:t>В С++ поддержка классов реализована при помощи структур, т.е. объявляя структуру мы по факту получаем класс:</a:t>
            </a:r>
          </a:p>
          <a:p>
            <a:pPr marL="0" indent="0">
              <a:buNone/>
            </a:pP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Cat{</a:t>
            </a:r>
          </a:p>
          <a:p>
            <a:pPr marL="0" indent="0"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buNone/>
            </a:pP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r>
              <a:rPr lang="ru-RU" sz="1800" dirty="0">
                <a:solidFill>
                  <a:srgbClr val="000000"/>
                </a:solidFill>
                <a:latin typeface="Consolas" panose="020B0609020204030204" pitchFamily="49" charset="0"/>
              </a:rPr>
              <a:t>Тоже самое (почти) мы получаем, если объявим класс с использованием ключевого слова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class</a:t>
            </a:r>
            <a:r>
              <a:rPr lang="ru-RU" sz="18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Cat{</a:t>
            </a:r>
          </a:p>
          <a:p>
            <a:pPr marL="0" indent="0"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  <a:endParaRPr lang="ru-RU" sz="18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ru-RU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algn="just">
              <a:lnSpc>
                <a:spcPct val="120000"/>
              </a:lnSpc>
              <a:buNone/>
            </a:pPr>
            <a:r>
              <a:rPr lang="ru-RU" sz="1800" dirty="0">
                <a:solidFill>
                  <a:srgbClr val="000000"/>
                </a:solidFill>
                <a:latin typeface="Consolas" panose="020B0609020204030204" pitchFamily="49" charset="0"/>
              </a:rPr>
              <a:t>Состояние объекта при этом описывается при помощи полей структуры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/</a:t>
            </a:r>
            <a:r>
              <a:rPr lang="ru-RU" sz="1800" dirty="0">
                <a:solidFill>
                  <a:srgbClr val="000000"/>
                </a:solidFill>
                <a:latin typeface="Consolas" panose="020B0609020204030204" pitchFamily="49" charset="0"/>
              </a:rPr>
              <a:t>класса, а поведение реализуется при помощи методов, дружественных функций и перегрузки операторов.</a:t>
            </a:r>
            <a:endParaRPr lang="en-US" sz="18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565155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 anchor="ctr">
            <a:normAutofit/>
          </a:bodyPr>
          <a:lstStyle/>
          <a:p>
            <a:r>
              <a:rPr lang="ru-RU" sz="4000" dirty="0"/>
              <a:t>Какие бывают поля</a:t>
            </a:r>
            <a:r>
              <a:rPr lang="en-US" sz="4000" dirty="0"/>
              <a:t> – </a:t>
            </a:r>
            <a:r>
              <a:rPr lang="ru-RU" sz="4000" dirty="0"/>
              <a:t>поля объекта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39999"/>
            <a:ext cx="10800000" cy="4860000"/>
          </a:xfrm>
        </p:spPr>
        <p:txBody>
          <a:bodyPr lIns="144000">
            <a:noAutofit/>
          </a:bodyPr>
          <a:lstStyle/>
          <a:p>
            <a:pPr marL="0" indent="0">
              <a:buNone/>
            </a:pPr>
            <a:endParaRPr lang="ru-RU" sz="2000" b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x1, x2;</a:t>
            </a:r>
            <a:r>
              <a:rPr lang="en-US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// </a:t>
            </a:r>
            <a:r>
              <a:rPr lang="ru-RU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Поле-значение</a:t>
            </a:r>
            <a:endParaRPr lang="ru-RU" sz="2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ru-RU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x3;</a:t>
            </a:r>
            <a:r>
              <a:rPr lang="en-US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// </a:t>
            </a:r>
            <a:r>
              <a:rPr lang="ru-RU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Константное поле</a:t>
            </a:r>
            <a:endParaRPr lang="ru-RU" sz="2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ru-RU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x4;</a:t>
            </a:r>
            <a:r>
              <a:rPr lang="en-US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   // </a:t>
            </a:r>
            <a:r>
              <a:rPr lang="ru-RU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Поле-указатель</a:t>
            </a:r>
            <a:endParaRPr lang="ru-RU" sz="2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ru-RU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x5;</a:t>
            </a:r>
            <a:r>
              <a:rPr lang="en-US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   // </a:t>
            </a:r>
            <a:r>
              <a:rPr lang="ru-RU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Поле-ссылка</a:t>
            </a:r>
            <a:endParaRPr lang="ru-RU" sz="2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br>
              <a:rPr lang="ru-RU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ru-RU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mutable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x6;</a:t>
            </a:r>
          </a:p>
          <a:p>
            <a:pPr marL="0" indent="0">
              <a:buNone/>
            </a:pP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spcBef>
                <a:spcPts val="600"/>
              </a:spcBef>
              <a:buNone/>
            </a:pPr>
            <a:endParaRPr lang="ru-RU" sz="2400" dirty="0">
              <a:solidFill>
                <a:srgbClr val="000000"/>
              </a:solidFill>
            </a:endParaRPr>
          </a:p>
          <a:p>
            <a:pPr marL="0" indent="0">
              <a:spcBef>
                <a:spcPts val="600"/>
              </a:spcBef>
              <a:buNone/>
            </a:pPr>
            <a:endParaRPr lang="en-US" sz="2400" dirty="0">
              <a:solidFill>
                <a:srgbClr val="000000"/>
              </a:solidFill>
            </a:endParaRPr>
          </a:p>
          <a:p>
            <a:pPr marL="0" indent="0">
              <a:spcBef>
                <a:spcPts val="600"/>
              </a:spcBef>
              <a:buNone/>
            </a:pPr>
            <a:r>
              <a:rPr lang="ru-RU" sz="2400" dirty="0">
                <a:solidFill>
                  <a:srgbClr val="000000"/>
                </a:solidFill>
              </a:rPr>
              <a:t>Тип данных может быть любым, не только 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int</a:t>
            </a:r>
            <a:endParaRPr lang="en-US" sz="2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93424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 anchor="t">
            <a:normAutofit/>
          </a:bodyPr>
          <a:lstStyle/>
          <a:p>
            <a:r>
              <a:rPr lang="ru-RU" sz="4000" dirty="0"/>
              <a:t>Какие бывают поля</a:t>
            </a:r>
            <a:r>
              <a:rPr lang="en-US" sz="4000" dirty="0"/>
              <a:t> – </a:t>
            </a:r>
            <a:r>
              <a:rPr lang="ru-RU" sz="4000" dirty="0"/>
              <a:t>поля объекта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0000"/>
            <a:ext cx="10800000" cy="4860000"/>
          </a:xfrm>
        </p:spPr>
        <p:txBody>
          <a:bodyPr lIns="144000">
            <a:noAutofit/>
          </a:bodyPr>
          <a:lstStyle/>
          <a:p>
            <a:pPr marL="0" indent="0">
              <a:buNone/>
            </a:pPr>
            <a:r>
              <a:rPr lang="en-US" sz="20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sz="2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b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x, y;</a:t>
            </a:r>
          </a:p>
          <a:p>
            <a:pPr marL="0" indent="0">
              <a:buNone/>
            </a:pP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buNone/>
            </a:pPr>
            <a:b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</a:t>
            </a:r>
          </a:p>
          <a:p>
            <a:pPr marL="0" indent="0">
              <a:buNone/>
            </a:pP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Point p1{</a:t>
            </a:r>
            <a:r>
              <a:rPr lang="en-US" sz="20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0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}, p2{</a:t>
            </a:r>
            <a:r>
              <a:rPr lang="en-US" sz="20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0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buNone/>
            </a:pP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 marL="0" indent="0">
              <a:buNone/>
            </a:pP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20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20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"p1: ["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20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p1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20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20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", "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20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p1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20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20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"]</a:t>
            </a:r>
            <a:r>
              <a:rPr lang="en-US" sz="20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20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buNone/>
            </a:pP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20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20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"p2: ["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&lt;&lt; </a:t>
            </a:r>
            <a:r>
              <a:rPr lang="en-US" sz="20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p2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20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20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", "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20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p2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20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20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"]"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buNone/>
            </a:pP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Скругленный прямоугольник 4">
            <a:extLst>
              <a:ext uri="{FF2B5EF4-FFF2-40B4-BE49-F238E27FC236}">
                <a16:creationId xmlns:a16="http://schemas.microsoft.com/office/drawing/2014/main" id="{A2EF0BCA-1563-EF9D-4730-AFCFB02C641B}"/>
              </a:ext>
            </a:extLst>
          </p:cNvPr>
          <p:cNvSpPr/>
          <p:nvPr/>
        </p:nvSpPr>
        <p:spPr>
          <a:xfrm>
            <a:off x="7408719" y="1825625"/>
            <a:ext cx="3945082" cy="2164484"/>
          </a:xfrm>
          <a:prstGeom prst="roundRect">
            <a:avLst>
              <a:gd name="adj" fmla="val 5145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dirty="0"/>
              <a:t>Каждый </a:t>
            </a:r>
            <a:r>
              <a:rPr lang="ru-RU" b="1" dirty="0"/>
              <a:t>объект</a:t>
            </a:r>
            <a:r>
              <a:rPr lang="ru-RU" dirty="0"/>
              <a:t> имеет собственный, не зависящий от других, набор полей объекта</a:t>
            </a:r>
            <a:r>
              <a:rPr lang="en-US" dirty="0"/>
              <a:t>;</a:t>
            </a:r>
            <a:endParaRPr lang="ru-RU" dirty="0"/>
          </a:p>
          <a:p>
            <a:endParaRPr lang="ru-RU" dirty="0"/>
          </a:p>
          <a:p>
            <a:r>
              <a:rPr lang="ru-RU" dirty="0"/>
              <a:t>Доступ к полям объекта происходит через точечную нотацию с указанием нужного </a:t>
            </a:r>
            <a:r>
              <a:rPr lang="ru-RU" b="1" dirty="0"/>
              <a:t>объекта</a:t>
            </a:r>
            <a:r>
              <a:rPr lang="en-US" dirty="0"/>
              <a:t>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383214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 anchor="t">
            <a:normAutofit/>
          </a:bodyPr>
          <a:lstStyle/>
          <a:p>
            <a:r>
              <a:rPr lang="ru-RU" sz="4000" dirty="0"/>
              <a:t>Какие бывают поля</a:t>
            </a:r>
            <a:r>
              <a:rPr lang="en-US" sz="4000" dirty="0"/>
              <a:t> – </a:t>
            </a:r>
            <a:r>
              <a:rPr lang="ru-RU" sz="4000" dirty="0"/>
              <a:t>поля класса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0000"/>
            <a:ext cx="10800000" cy="4860000"/>
          </a:xfrm>
        </p:spPr>
        <p:txBody>
          <a:bodyPr lIns="144000">
            <a:noAutofit/>
          </a:bodyPr>
          <a:lstStyle/>
          <a:p>
            <a:pPr marL="0" indent="0">
              <a:buNone/>
            </a:pPr>
            <a:endParaRPr lang="ru-RU" sz="2000" b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x1;</a:t>
            </a:r>
            <a:r>
              <a:rPr lang="en-US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    // </a:t>
            </a:r>
            <a:r>
              <a:rPr lang="ru-RU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Поле-значение</a:t>
            </a:r>
            <a:endParaRPr lang="ru-RU" sz="2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ru-RU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x2;</a:t>
            </a:r>
            <a:r>
              <a:rPr lang="en-US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// </a:t>
            </a:r>
            <a:r>
              <a:rPr lang="ru-RU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Константное поле</a:t>
            </a:r>
            <a:endParaRPr lang="ru-RU" sz="2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ru-RU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x3;</a:t>
            </a:r>
            <a:r>
              <a:rPr lang="en-US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   // </a:t>
            </a:r>
            <a:r>
              <a:rPr lang="ru-RU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Поле-указатель</a:t>
            </a:r>
            <a:endParaRPr lang="ru-RU" sz="2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ru-RU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x4;</a:t>
            </a:r>
            <a:r>
              <a:rPr lang="en-US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   // </a:t>
            </a:r>
            <a:r>
              <a:rPr lang="ru-RU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Поле-ссылка</a:t>
            </a:r>
            <a:endParaRPr lang="ru-RU" sz="2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br>
              <a:rPr lang="ru-RU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ru-RU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mutable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x5;</a:t>
            </a:r>
            <a:r>
              <a:rPr lang="en-US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</a:t>
            </a:r>
            <a:r>
              <a:rPr lang="ru-RU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НЕ БЫВАЕТ</a:t>
            </a:r>
            <a:endParaRPr lang="ru-RU" sz="2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ru-RU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  <a:b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ru-RU" sz="2400" dirty="0">
                <a:solidFill>
                  <a:srgbClr val="000000"/>
                </a:solidFill>
              </a:rPr>
              <a:t>Тип данных может быть любым, не только 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int</a:t>
            </a:r>
            <a:endParaRPr lang="en-US" sz="2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50952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rmAutofit/>
          </a:bodyPr>
          <a:lstStyle/>
          <a:p>
            <a:r>
              <a:rPr lang="ru-RU" sz="4000" dirty="0"/>
              <a:t>Какие бывают поля</a:t>
            </a:r>
            <a:r>
              <a:rPr lang="en-US" sz="4000" dirty="0"/>
              <a:t> – </a:t>
            </a:r>
            <a:r>
              <a:rPr lang="ru-RU" sz="4000" dirty="0"/>
              <a:t>поля класса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0000"/>
            <a:ext cx="10800000" cy="4860000"/>
          </a:xfrm>
        </p:spPr>
        <p:txBody>
          <a:bodyPr lIns="14400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ru-RU" sz="1700" b="0" dirty="0">
              <a:solidFill>
                <a:srgbClr val="AF00DB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7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count;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::count = </a:t>
            </a:r>
            <a:r>
              <a:rPr lang="en-US" sz="17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ru-RU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7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"Point: "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7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::count &lt;&lt; </a:t>
            </a:r>
            <a:r>
              <a:rPr lang="en-US" sz="17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7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7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Point p1, p2;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p1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7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count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en-US" sz="17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7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"p1: "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7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p1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7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count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7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7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7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p2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7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count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en-US" sz="17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7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"p2: "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7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p2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7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count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7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7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7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Скругленный прямоугольник 4">
            <a:extLst>
              <a:ext uri="{FF2B5EF4-FFF2-40B4-BE49-F238E27FC236}">
                <a16:creationId xmlns:a16="http://schemas.microsoft.com/office/drawing/2014/main" id="{A2EF0BCA-1563-EF9D-4730-AFCFB02C641B}"/>
              </a:ext>
            </a:extLst>
          </p:cNvPr>
          <p:cNvSpPr/>
          <p:nvPr/>
        </p:nvSpPr>
        <p:spPr>
          <a:xfrm>
            <a:off x="7408718" y="1440000"/>
            <a:ext cx="3945082" cy="3868593"/>
          </a:xfrm>
          <a:prstGeom prst="roundRect">
            <a:avLst>
              <a:gd name="adj" fmla="val 5145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dirty="0"/>
              <a:t>Каждый </a:t>
            </a:r>
            <a:r>
              <a:rPr lang="ru-RU" b="1" dirty="0"/>
              <a:t>класс</a:t>
            </a:r>
            <a:r>
              <a:rPr lang="ru-RU" dirty="0"/>
              <a:t> имеет единственный, набор полей класса</a:t>
            </a:r>
            <a:r>
              <a:rPr lang="en-US" dirty="0"/>
              <a:t>;</a:t>
            </a:r>
            <a:endParaRPr lang="ru-RU" dirty="0"/>
          </a:p>
          <a:p>
            <a:endParaRPr lang="ru-RU" dirty="0"/>
          </a:p>
          <a:p>
            <a:r>
              <a:rPr lang="ru-RU" dirty="0"/>
              <a:t>Все объекты имеют доступ к полям класса</a:t>
            </a:r>
            <a:r>
              <a:rPr lang="en-US" dirty="0"/>
              <a:t>;</a:t>
            </a:r>
            <a:endParaRPr lang="ru-RU" dirty="0"/>
          </a:p>
          <a:p>
            <a:endParaRPr lang="ru-RU" dirty="0"/>
          </a:p>
          <a:p>
            <a:r>
              <a:rPr lang="ru-RU" dirty="0"/>
              <a:t>Доступ к полям класса происходит через точечную нотацию с указанием любого </a:t>
            </a:r>
            <a:r>
              <a:rPr lang="ru-RU" b="1" dirty="0"/>
              <a:t>объекта</a:t>
            </a:r>
            <a:r>
              <a:rPr lang="ru-RU" dirty="0"/>
              <a:t> данного класса или через полное квалифицированное имя поля класса. В последнем случае нет необходимости создавать объект.</a:t>
            </a:r>
          </a:p>
        </p:txBody>
      </p:sp>
    </p:spTree>
    <p:extLst>
      <p:ext uri="{BB962C8B-B14F-4D97-AF65-F5344CB8AC3E}">
        <p14:creationId xmlns:p14="http://schemas.microsoft.com/office/powerpoint/2010/main" val="35531405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rmAutofit/>
          </a:bodyPr>
          <a:lstStyle/>
          <a:p>
            <a:r>
              <a:rPr lang="ru-RU" sz="4000" dirty="0"/>
              <a:t>Поля класса – особенности определения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0000"/>
            <a:ext cx="10515600" cy="4351338"/>
          </a:xfrm>
        </p:spPr>
        <p:txBody>
          <a:bodyPr lIns="144000">
            <a:noAutofit/>
          </a:bodyPr>
          <a:lstStyle/>
          <a:p>
            <a:pPr marL="0" indent="0"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x1;</a:t>
            </a:r>
          </a:p>
          <a:p>
            <a:pPr marL="0" indent="0"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x2;</a:t>
            </a:r>
          </a:p>
          <a:p>
            <a:pPr marL="0" indent="0"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x3;</a:t>
            </a:r>
          </a:p>
          <a:p>
            <a:pPr marL="0" indent="0"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x4 =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buNone/>
            </a:pP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static const double x5 = 10; //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Ошибка. НЕ интегральный тип</a:t>
            </a: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x5;</a:t>
            </a:r>
          </a:p>
          <a:p>
            <a:pPr marL="0" indent="0"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buNone/>
            </a:pP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Глобальная область видимости</a:t>
            </a:r>
          </a:p>
          <a:p>
            <a:pPr marL="0" indent="0">
              <a:buNone/>
            </a:pPr>
            <a:b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::x1 =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::x2;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  //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Гарантируется, что 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x2 == 0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::x3 =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buNone/>
            </a:pP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</a:rPr>
              <a:t>const int Point::x4 = 10; //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Можно не писать, </a:t>
            </a:r>
            <a:r>
              <a:rPr lang="ru-RU" sz="14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т.к.определено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в классе</a:t>
            </a: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::x5 =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Обязательно</a:t>
            </a: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Скругленный прямоугольник 4">
            <a:extLst>
              <a:ext uri="{FF2B5EF4-FFF2-40B4-BE49-F238E27FC236}">
                <a16:creationId xmlns:a16="http://schemas.microsoft.com/office/drawing/2014/main" id="{A2EF0BCA-1563-EF9D-4730-AFCFB02C641B}"/>
              </a:ext>
            </a:extLst>
          </p:cNvPr>
          <p:cNvSpPr/>
          <p:nvPr/>
        </p:nvSpPr>
        <p:spPr>
          <a:xfrm>
            <a:off x="8153453" y="1485899"/>
            <a:ext cx="3716326" cy="4842981"/>
          </a:xfrm>
          <a:prstGeom prst="roundRect">
            <a:avLst>
              <a:gd name="adj" fmla="val 5145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ru-RU" sz="1400" dirty="0"/>
              <a:t>Статические поля объявляются в теле класса, но </a:t>
            </a:r>
            <a:r>
              <a:rPr lang="ru-RU" sz="1400" b="1" dirty="0"/>
              <a:t>определяются</a:t>
            </a:r>
            <a:r>
              <a:rPr lang="ru-RU" sz="1400" dirty="0"/>
              <a:t> и </a:t>
            </a:r>
            <a:r>
              <a:rPr lang="ru-RU" sz="1400" b="1" dirty="0"/>
              <a:t>инициализируются</a:t>
            </a:r>
            <a:r>
              <a:rPr lang="ru-RU" sz="1400" dirty="0"/>
              <a:t> за его пределами</a:t>
            </a:r>
            <a:r>
              <a:rPr lang="en-US" sz="1400" dirty="0"/>
              <a:t>;</a:t>
            </a:r>
            <a:br>
              <a:rPr lang="en-US" sz="1400" dirty="0"/>
            </a:br>
            <a:br>
              <a:rPr lang="en-US" sz="1400" dirty="0"/>
            </a:br>
            <a:r>
              <a:rPr lang="ru-RU" sz="1400" dirty="0"/>
              <a:t>Исключение – константы интегральных (целых) типов</a:t>
            </a:r>
            <a:r>
              <a:rPr lang="en-US" sz="1400" dirty="0"/>
              <a:t>. </a:t>
            </a:r>
            <a:r>
              <a:rPr lang="ru-RU" sz="1400" dirty="0"/>
              <a:t>Их разрешено определять и инициализировать в точке объявления</a:t>
            </a:r>
            <a:r>
              <a:rPr lang="en-US" sz="1400" dirty="0"/>
              <a:t>;</a:t>
            </a:r>
            <a:br>
              <a:rPr lang="en-US" sz="1400" dirty="0"/>
            </a:br>
            <a:br>
              <a:rPr lang="en-US" sz="1400" dirty="0"/>
            </a:br>
            <a:r>
              <a:rPr lang="ru-RU" sz="1400" dirty="0"/>
              <a:t>Определение и инициализация статических полей синтаксически похожа на создание глобальной переменной, но имя поля должно быть дополнено квалификатором (именем класса)</a:t>
            </a:r>
            <a:r>
              <a:rPr lang="en-US" sz="1400" dirty="0"/>
              <a:t>;</a:t>
            </a:r>
            <a:br>
              <a:rPr lang="en-US" sz="1400" dirty="0"/>
            </a:br>
            <a:br>
              <a:rPr lang="en-US" sz="1400" dirty="0"/>
            </a:br>
            <a:r>
              <a:rPr lang="ru-RU" sz="1400" dirty="0"/>
              <a:t>Ключевое слово </a:t>
            </a:r>
            <a:r>
              <a:rPr lang="en-US" sz="1400" dirty="0"/>
              <a:t>static </a:t>
            </a:r>
            <a:r>
              <a:rPr lang="ru-RU" sz="1400" dirty="0"/>
              <a:t>не указывается</a:t>
            </a:r>
            <a:r>
              <a:rPr lang="en-US" sz="1400" dirty="0"/>
              <a:t>;</a:t>
            </a:r>
            <a:br>
              <a:rPr lang="en-US" sz="1400" dirty="0"/>
            </a:br>
            <a:br>
              <a:rPr lang="en-US" sz="1400" dirty="0"/>
            </a:br>
            <a:r>
              <a:rPr lang="ru-RU" sz="1400" dirty="0"/>
              <a:t>Если не указать значение, то гарантируется, что оно будет нулевым, а не мусорным</a:t>
            </a:r>
            <a:r>
              <a:rPr lang="en-US" sz="1400" dirty="0"/>
              <a:t>;</a:t>
            </a:r>
            <a:endParaRPr lang="ru-RU" sz="1400" dirty="0"/>
          </a:p>
          <a:p>
            <a:endParaRPr lang="ru-RU" sz="1400" dirty="0"/>
          </a:p>
          <a:p>
            <a:r>
              <a:rPr lang="ru-RU" sz="1400" dirty="0"/>
              <a:t>Статические поля инициализируются при старте программы в том порядке, который указан в коде</a:t>
            </a:r>
            <a:r>
              <a:rPr lang="en-US" sz="1400" dirty="0"/>
              <a:t>.</a:t>
            </a:r>
            <a:endParaRPr lang="ru-RU" sz="1400" dirty="0"/>
          </a:p>
        </p:txBody>
      </p:sp>
    </p:spTree>
    <p:extLst>
      <p:ext uri="{BB962C8B-B14F-4D97-AF65-F5344CB8AC3E}">
        <p14:creationId xmlns:p14="http://schemas.microsoft.com/office/powerpoint/2010/main" val="27533021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rmAutofit/>
          </a:bodyPr>
          <a:lstStyle/>
          <a:p>
            <a:r>
              <a:rPr lang="ru-RU" sz="4000" dirty="0"/>
              <a:t>Какие бывают методы</a:t>
            </a:r>
            <a:r>
              <a:rPr lang="en-US" sz="4000" dirty="0"/>
              <a:t> – </a:t>
            </a:r>
            <a:r>
              <a:rPr lang="ru-RU" sz="4000" dirty="0"/>
              <a:t>методы объекта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39999"/>
            <a:ext cx="10800000" cy="4860000"/>
          </a:xfrm>
        </p:spPr>
        <p:txBody>
          <a:bodyPr lIns="144000">
            <a:noAutofit/>
          </a:bodyPr>
          <a:lstStyle/>
          <a:p>
            <a:pPr marL="0" indent="0">
              <a:buNone/>
            </a:pP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simple_method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(){}</a:t>
            </a:r>
            <a:r>
              <a:rPr lang="en-US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         // </a:t>
            </a:r>
            <a:r>
              <a:rPr lang="ru-RU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Обычный метод</a:t>
            </a:r>
            <a:endParaRPr lang="ru-RU" sz="2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ru-RU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some_method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(){}</a:t>
            </a:r>
            <a:r>
              <a:rPr lang="en-US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           // </a:t>
            </a:r>
            <a:r>
              <a:rPr lang="ru-RU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Не константная версия</a:t>
            </a:r>
            <a:endParaRPr lang="ru-RU" sz="2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ru-RU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some_method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{}</a:t>
            </a:r>
            <a:r>
              <a:rPr lang="en-US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     // </a:t>
            </a:r>
            <a:r>
              <a:rPr lang="ru-RU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Константная версия</a:t>
            </a:r>
            <a:endParaRPr lang="ru-RU" sz="2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br>
              <a:rPr lang="ru-RU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ru-RU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virtual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virtual_method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(){}</a:t>
            </a:r>
            <a:r>
              <a:rPr lang="en-US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// </a:t>
            </a:r>
            <a:r>
              <a:rPr lang="ru-RU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Виртуальный метод</a:t>
            </a:r>
            <a:endParaRPr lang="ru-RU" sz="2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ru-RU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virtual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abstract_method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= </a:t>
            </a:r>
            <a:r>
              <a:rPr lang="en-US" sz="20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</a:t>
            </a:r>
            <a:r>
              <a:rPr lang="ru-RU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Чистый виртуальный метод</a:t>
            </a:r>
            <a:endParaRPr lang="ru-RU" sz="2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ru-RU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4" name="Скругленный прямоугольник 4">
            <a:extLst>
              <a:ext uri="{FF2B5EF4-FFF2-40B4-BE49-F238E27FC236}">
                <a16:creationId xmlns:a16="http://schemas.microsoft.com/office/drawing/2014/main" id="{B8C8CCC2-9959-9B3F-7D32-38DCEF66C6FD}"/>
              </a:ext>
            </a:extLst>
          </p:cNvPr>
          <p:cNvSpPr/>
          <p:nvPr/>
        </p:nvSpPr>
        <p:spPr>
          <a:xfrm>
            <a:off x="1174174" y="4780837"/>
            <a:ext cx="9996054" cy="1569028"/>
          </a:xfrm>
          <a:prstGeom prst="roundRect">
            <a:avLst>
              <a:gd name="adj" fmla="val 5145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1600" b="0" i="0" dirty="0">
                <a:solidFill>
                  <a:srgbClr val="620703"/>
                </a:solidFill>
                <a:effectLst/>
                <a:latin typeface="NeverMind Hand"/>
              </a:rPr>
              <a:t>Класс содержащий хотя бы один абстрактный метод называют абстрактным классом. Экземпляр абстрактного класса создать нельзя; </a:t>
            </a:r>
          </a:p>
          <a:p>
            <a:r>
              <a:rPr lang="ru-RU" sz="1600" dirty="0">
                <a:solidFill>
                  <a:srgbClr val="620703"/>
                </a:solidFill>
                <a:latin typeface="NeverMind Hand"/>
              </a:rPr>
              <a:t>Специального ключевого слова для обозначения таких классов в С++ нет</a:t>
            </a:r>
            <a:r>
              <a:rPr lang="en-US" sz="1600" dirty="0">
                <a:solidFill>
                  <a:srgbClr val="620703"/>
                </a:solidFill>
                <a:latin typeface="NeverMind Hand"/>
              </a:rPr>
              <a:t>;</a:t>
            </a:r>
            <a:endParaRPr lang="ru-RU" sz="1600" b="0" i="0" dirty="0">
              <a:solidFill>
                <a:srgbClr val="620703"/>
              </a:solidFill>
              <a:effectLst/>
              <a:latin typeface="NeverMind Hand"/>
            </a:endParaRPr>
          </a:p>
          <a:p>
            <a:endParaRPr lang="ru-RU" sz="1600" dirty="0">
              <a:solidFill>
                <a:srgbClr val="620703"/>
              </a:solidFill>
              <a:latin typeface="NeverMind Hand"/>
            </a:endParaRPr>
          </a:p>
          <a:p>
            <a:r>
              <a:rPr lang="ru-RU" sz="1600" b="0" i="0" dirty="0">
                <a:solidFill>
                  <a:srgbClr val="620703"/>
                </a:solidFill>
                <a:effectLst/>
                <a:latin typeface="NeverMind Hand"/>
              </a:rPr>
              <a:t>Класс содержащий только абстрактные методы и не содержащий полей называют интерфейсным классом;</a:t>
            </a:r>
            <a:endParaRPr lang="en-US" sz="1600" b="0" i="0" dirty="0">
              <a:solidFill>
                <a:srgbClr val="620703"/>
              </a:solidFill>
              <a:effectLst/>
              <a:latin typeface="NeverMind Hand"/>
            </a:endParaRPr>
          </a:p>
          <a:p>
            <a:r>
              <a:rPr lang="ru-RU" sz="1600" dirty="0">
                <a:solidFill>
                  <a:srgbClr val="620703"/>
                </a:solidFill>
                <a:latin typeface="NeverMind Hand"/>
              </a:rPr>
              <a:t>Специального ключевого слова для обозначения таких классов в С++ нет</a:t>
            </a:r>
            <a:r>
              <a:rPr lang="en-US" sz="1600" dirty="0">
                <a:solidFill>
                  <a:srgbClr val="620703"/>
                </a:solidFill>
                <a:latin typeface="NeverMind Hand"/>
              </a:rPr>
              <a:t>;</a:t>
            </a:r>
            <a:endParaRPr lang="ru-RU" sz="1600" dirty="0"/>
          </a:p>
        </p:txBody>
      </p:sp>
    </p:spTree>
    <p:extLst>
      <p:ext uri="{BB962C8B-B14F-4D97-AF65-F5344CB8AC3E}">
        <p14:creationId xmlns:p14="http://schemas.microsoft.com/office/powerpoint/2010/main" val="312354338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rmAutofit/>
          </a:bodyPr>
          <a:lstStyle/>
          <a:p>
            <a:r>
              <a:rPr lang="ru-RU" sz="4000" dirty="0"/>
              <a:t>Метод объекта </a:t>
            </a:r>
            <a:r>
              <a:rPr lang="en-US" sz="4000" dirty="0"/>
              <a:t>– </a:t>
            </a:r>
            <a:r>
              <a:rPr lang="ru-RU" sz="4000" dirty="0"/>
              <a:t>вызов метода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39999"/>
            <a:ext cx="10800000" cy="4860000"/>
          </a:xfrm>
        </p:spPr>
        <p:txBody>
          <a:bodyPr lIns="144000">
            <a:no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ru-RU" sz="1600" b="0" dirty="0">
              <a:solidFill>
                <a:srgbClr val="AF00DB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simple_method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simple_method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Point p;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simple_method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Скругленный прямоугольник 4">
            <a:extLst>
              <a:ext uri="{FF2B5EF4-FFF2-40B4-BE49-F238E27FC236}">
                <a16:creationId xmlns:a16="http://schemas.microsoft.com/office/drawing/2014/main" id="{1EB007C5-5DA8-B288-A536-40CA04D92FFF}"/>
              </a:ext>
            </a:extLst>
          </p:cNvPr>
          <p:cNvSpPr/>
          <p:nvPr/>
        </p:nvSpPr>
        <p:spPr>
          <a:xfrm>
            <a:off x="7408718" y="2693268"/>
            <a:ext cx="3945082" cy="835891"/>
          </a:xfrm>
          <a:prstGeom prst="roundRect">
            <a:avLst>
              <a:gd name="adj" fmla="val 5145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1400" dirty="0"/>
              <a:t>Доступ к любым методам объекта происходит через точечную нотацию с указанием </a:t>
            </a:r>
            <a:r>
              <a:rPr lang="ru-RU" sz="1400" b="1" dirty="0"/>
              <a:t>объекта</a:t>
            </a:r>
            <a:r>
              <a:rPr lang="ru-RU" sz="1400" dirty="0"/>
              <a:t> у которого вызывается метод</a:t>
            </a:r>
            <a:r>
              <a:rPr lang="en-US" sz="1400" dirty="0"/>
              <a:t>;</a:t>
            </a:r>
            <a:endParaRPr lang="ru-RU" sz="1400" dirty="0"/>
          </a:p>
        </p:txBody>
      </p:sp>
    </p:spTree>
    <p:extLst>
      <p:ext uri="{BB962C8B-B14F-4D97-AF65-F5344CB8AC3E}">
        <p14:creationId xmlns:p14="http://schemas.microsoft.com/office/powerpoint/2010/main" val="1179245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rmAutofit fontScale="90000"/>
          </a:bodyPr>
          <a:lstStyle/>
          <a:p>
            <a:r>
              <a:rPr lang="ru-RU" sz="3200" dirty="0"/>
              <a:t>Методы объекта </a:t>
            </a:r>
            <a:r>
              <a:rPr lang="en-US" sz="3200" dirty="0"/>
              <a:t>– </a:t>
            </a:r>
            <a:r>
              <a:rPr lang="ru-RU" sz="3200" dirty="0"/>
              <a:t>доступ к другим членам класса</a:t>
            </a:r>
            <a:r>
              <a:rPr lang="en-US" sz="3200" dirty="0"/>
              <a:t> </a:t>
            </a:r>
            <a:r>
              <a:rPr lang="ru-RU" sz="3200" dirty="0"/>
              <a:t>из тела метода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39999"/>
            <a:ext cx="10800000" cy="4860000"/>
          </a:xfrm>
        </p:spPr>
        <p:txBody>
          <a:bodyPr lIns="14400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sz="13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x, y;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simple_method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3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3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3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"--- </a:t>
            </a:r>
            <a:r>
              <a:rPr lang="en-US" sz="13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simple_method</a:t>
            </a:r>
            <a:r>
              <a:rPr lang="en-US" sz="13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---"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3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3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3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3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3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"x: "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x &lt;&lt; </a:t>
            </a:r>
            <a:r>
              <a:rPr lang="en-US" sz="13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"; y: "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y &lt;&lt; </a:t>
            </a:r>
            <a:r>
              <a:rPr lang="en-US" sz="13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3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3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other_method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other_method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3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3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3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"--- </a:t>
            </a:r>
            <a:r>
              <a:rPr lang="en-US" sz="13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other_method</a:t>
            </a:r>
            <a:r>
              <a:rPr lang="en-US" sz="13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---"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3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3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  <a:endParaRPr lang="ru-RU" sz="13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3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Point p1{</a:t>
            </a:r>
            <a:r>
              <a:rPr lang="en-US" sz="13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3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}, p2{</a:t>
            </a:r>
            <a:r>
              <a:rPr lang="en-US" sz="13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3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3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p1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3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simple_method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3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p2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3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simple_method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Скругленный прямоугольник 4">
            <a:extLst>
              <a:ext uri="{FF2B5EF4-FFF2-40B4-BE49-F238E27FC236}">
                <a16:creationId xmlns:a16="http://schemas.microsoft.com/office/drawing/2014/main" id="{1EB007C5-5DA8-B288-A536-40CA04D92FFF}"/>
              </a:ext>
            </a:extLst>
          </p:cNvPr>
          <p:cNvSpPr/>
          <p:nvPr/>
        </p:nvSpPr>
        <p:spPr>
          <a:xfrm>
            <a:off x="7408716" y="1901535"/>
            <a:ext cx="3945082" cy="3844637"/>
          </a:xfrm>
          <a:prstGeom prst="roundRect">
            <a:avLst>
              <a:gd name="adj" fmla="val 5145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1400" dirty="0"/>
              <a:t>В теле </a:t>
            </a:r>
            <a:r>
              <a:rPr lang="ru-RU" sz="1400" b="1" dirty="0"/>
              <a:t>метода объекта </a:t>
            </a:r>
            <a:r>
              <a:rPr lang="ru-RU" sz="1400" dirty="0"/>
              <a:t>можно получить доступ к любым полям и метода </a:t>
            </a:r>
            <a:r>
              <a:rPr lang="ru-RU" sz="1400" b="1" dirty="0"/>
              <a:t>объекта</a:t>
            </a:r>
            <a:r>
              <a:rPr lang="ru-RU" sz="1400" dirty="0"/>
              <a:t> </a:t>
            </a:r>
            <a:r>
              <a:rPr lang="ru-RU" sz="1400" b="1" dirty="0"/>
              <a:t>и класса</a:t>
            </a:r>
            <a:r>
              <a:rPr lang="en-US" sz="1400" b="1" dirty="0"/>
              <a:t>;</a:t>
            </a:r>
          </a:p>
          <a:p>
            <a:endParaRPr lang="en-US" sz="1400" b="1" dirty="0"/>
          </a:p>
          <a:p>
            <a:r>
              <a:rPr lang="ru-RU" sz="1400" dirty="0"/>
              <a:t>Доступ к полям и методам осуществляется просто по имени</a:t>
            </a:r>
            <a:r>
              <a:rPr lang="en-US" sz="1400" dirty="0"/>
              <a:t>;</a:t>
            </a:r>
          </a:p>
          <a:p>
            <a:endParaRPr lang="en-US" sz="1400" dirty="0"/>
          </a:p>
          <a:p>
            <a:r>
              <a:rPr lang="ru-RU" sz="1400" dirty="0"/>
              <a:t>Метод объекта работает с полями того объекта у которого он вызван</a:t>
            </a:r>
            <a:r>
              <a:rPr lang="en-US" sz="1400" dirty="0"/>
              <a:t>;</a:t>
            </a:r>
          </a:p>
          <a:p>
            <a:endParaRPr lang="en-US" sz="1400" dirty="0"/>
          </a:p>
          <a:p>
            <a:r>
              <a:rPr lang="ru-RU" sz="1400" dirty="0"/>
              <a:t>Изменение значения поля в теле метода приводит к изменению значения этого поля в объекте</a:t>
            </a:r>
            <a:r>
              <a:rPr lang="en-US" sz="1400" dirty="0"/>
              <a:t>;</a:t>
            </a:r>
          </a:p>
          <a:p>
            <a:endParaRPr lang="en-US" sz="1400" dirty="0"/>
          </a:p>
          <a:p>
            <a:r>
              <a:rPr lang="ru-RU" sz="1400" dirty="0"/>
              <a:t>Область видимости полей и методов – весь класс, поэтому можно обращаться к членам класса объявленным как выше, так и ниже текущего.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5710921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rmAutofit/>
          </a:bodyPr>
          <a:lstStyle/>
          <a:p>
            <a:r>
              <a:rPr lang="ru-RU" sz="4000" dirty="0"/>
              <a:t>Методы объекта </a:t>
            </a:r>
            <a:r>
              <a:rPr lang="en-US" sz="4000" dirty="0"/>
              <a:t>– </a:t>
            </a:r>
            <a:r>
              <a:rPr lang="ru-RU" sz="4000" dirty="0"/>
              <a:t>параметры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39999"/>
            <a:ext cx="10800000" cy="4860000"/>
          </a:xfrm>
        </p:spPr>
        <p:txBody>
          <a:bodyPr lIns="14400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ru-RU" sz="1400" b="0" dirty="0">
              <a:solidFill>
                <a:srgbClr val="AF00DB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ru-RU" sz="1400" dirty="0">
              <a:solidFill>
                <a:srgbClr val="AF00DB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set_x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x = x;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    //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х - слева от = это параметр</a:t>
            </a: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sz="14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x;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//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х - слева от = это поле объекта</a:t>
            </a: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b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Point p;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set_x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4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Скругленный прямоугольник 4">
            <a:extLst>
              <a:ext uri="{FF2B5EF4-FFF2-40B4-BE49-F238E27FC236}">
                <a16:creationId xmlns:a16="http://schemas.microsoft.com/office/drawing/2014/main" id="{1EB007C5-5DA8-B288-A536-40CA04D92FFF}"/>
              </a:ext>
            </a:extLst>
          </p:cNvPr>
          <p:cNvSpPr/>
          <p:nvPr/>
        </p:nvSpPr>
        <p:spPr>
          <a:xfrm>
            <a:off x="7408716" y="2088573"/>
            <a:ext cx="3945082" cy="3667990"/>
          </a:xfrm>
          <a:prstGeom prst="roundRect">
            <a:avLst>
              <a:gd name="adj" fmla="val 5145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1400" dirty="0"/>
              <a:t>Методы, как и обычные функции, могут принимать и возвращать значения</a:t>
            </a:r>
            <a:r>
              <a:rPr lang="en-US" sz="1400" dirty="0"/>
              <a:t>;</a:t>
            </a:r>
          </a:p>
          <a:p>
            <a:endParaRPr lang="ru-RU" sz="1400" dirty="0"/>
          </a:p>
          <a:p>
            <a:r>
              <a:rPr lang="ru-RU" sz="1400" dirty="0"/>
              <a:t>Методы объекта получают неявный первый параметр 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ru-RU" sz="1400" dirty="0"/>
              <a:t>:</a:t>
            </a:r>
          </a:p>
          <a:p>
            <a:br>
              <a:rPr lang="ru-RU" sz="1400" dirty="0"/>
            </a:b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set_x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/* Point* this, */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sz="1400" dirty="0"/>
              <a:t>Указатель 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ru-RU" sz="1400" dirty="0"/>
              <a:t> получает адрес объекта у которого вызван метод</a:t>
            </a:r>
            <a:r>
              <a:rPr lang="en-US" sz="1400" dirty="0"/>
              <a:t>;</a:t>
            </a:r>
          </a:p>
          <a:p>
            <a:endParaRPr lang="ru-RU" sz="1400" dirty="0"/>
          </a:p>
          <a:p>
            <a:r>
              <a:rPr lang="ru-RU" sz="1400" dirty="0"/>
              <a:t>При помощи 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ru-RU" sz="1400" dirty="0"/>
              <a:t> можно получить доступ к полям и методам текущего объекта</a:t>
            </a:r>
            <a:r>
              <a:rPr lang="en-US" sz="1400" dirty="0"/>
              <a:t>;</a:t>
            </a:r>
            <a:endParaRPr lang="ru-RU" sz="1400" dirty="0"/>
          </a:p>
          <a:p>
            <a:endParaRPr lang="ru-RU" sz="1400" dirty="0"/>
          </a:p>
          <a:p>
            <a:r>
              <a:rPr lang="ru-RU" sz="1400" dirty="0"/>
              <a:t>Как и в случае структур для доступа можно использовать стрелочную нотацию.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2041246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rmAutofit/>
          </a:bodyPr>
          <a:lstStyle/>
          <a:p>
            <a:r>
              <a:rPr lang="ru-RU" sz="4000" dirty="0"/>
              <a:t>Константные методы объекта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39999"/>
            <a:ext cx="5257800" cy="4860000"/>
          </a:xfrm>
        </p:spPr>
        <p:txBody>
          <a:bodyPr lIns="14400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ru-RU" sz="1300" b="0" dirty="0">
              <a:solidFill>
                <a:srgbClr val="AF00DB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sz="13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ru-RU" sz="13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simple_method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3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3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3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3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simple_method</a:t>
            </a:r>
            <a:r>
              <a:rPr lang="en-US" sz="13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3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3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some_method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3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3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3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3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some_method</a:t>
            </a:r>
            <a:r>
              <a:rPr lang="en-US" sz="13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3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3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some_method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3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3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3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"const </a:t>
            </a:r>
            <a:r>
              <a:rPr lang="en-US" sz="13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some_method</a:t>
            </a:r>
            <a:r>
              <a:rPr lang="en-US" sz="13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3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3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only_const_method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3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3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3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3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only_const_method</a:t>
            </a:r>
            <a:r>
              <a:rPr lang="en-US" sz="13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3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3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5" name="Объект 2">
            <a:extLst>
              <a:ext uri="{FF2B5EF4-FFF2-40B4-BE49-F238E27FC236}">
                <a16:creationId xmlns:a16="http://schemas.microsoft.com/office/drawing/2014/main" id="{882C3EA1-03E1-AB7E-671B-0222FCA0393C}"/>
              </a:ext>
            </a:extLst>
          </p:cNvPr>
          <p:cNvSpPr txBox="1">
            <a:spLocks/>
          </p:cNvSpPr>
          <p:nvPr/>
        </p:nvSpPr>
        <p:spPr>
          <a:xfrm>
            <a:off x="6096000" y="1439999"/>
            <a:ext cx="5257800" cy="4860000"/>
          </a:xfrm>
          <a:prstGeom prst="rect">
            <a:avLst/>
          </a:prstGeom>
        </p:spPr>
        <p:txBody>
          <a:bodyPr vert="horz" lIns="14400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3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3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300" dirty="0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    Point p;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300" dirty="0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Point cp;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b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300" dirty="0" err="1">
                <a:solidFill>
                  <a:srgbClr val="001080"/>
                </a:solidFill>
                <a:latin typeface="Consolas" panose="020B0609020204030204" pitchFamily="49" charset="0"/>
              </a:rPr>
              <a:t>p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300" dirty="0" err="1">
                <a:solidFill>
                  <a:srgbClr val="795E26"/>
                </a:solidFill>
                <a:latin typeface="Consolas" panose="020B0609020204030204" pitchFamily="49" charset="0"/>
              </a:rPr>
              <a:t>simple_method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300" dirty="0" err="1">
                <a:solidFill>
                  <a:srgbClr val="001080"/>
                </a:solidFill>
                <a:latin typeface="Consolas" panose="020B0609020204030204" pitchFamily="49" charset="0"/>
              </a:rPr>
              <a:t>p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300" dirty="0" err="1">
                <a:solidFill>
                  <a:srgbClr val="795E26"/>
                </a:solidFill>
                <a:latin typeface="Consolas" panose="020B0609020204030204" pitchFamily="49" charset="0"/>
              </a:rPr>
              <a:t>some_method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300" dirty="0" err="1">
                <a:solidFill>
                  <a:srgbClr val="001080"/>
                </a:solidFill>
                <a:latin typeface="Consolas" panose="020B0609020204030204" pitchFamily="49" charset="0"/>
              </a:rPr>
              <a:t>p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300" dirty="0" err="1">
                <a:solidFill>
                  <a:srgbClr val="795E26"/>
                </a:solidFill>
                <a:latin typeface="Consolas" panose="020B0609020204030204" pitchFamily="49" charset="0"/>
              </a:rPr>
              <a:t>only_const_method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300" dirty="0">
                <a:solidFill>
                  <a:srgbClr val="008000"/>
                </a:solidFill>
                <a:latin typeface="Consolas" panose="020B0609020204030204" pitchFamily="49" charset="0"/>
              </a:rPr>
              <a:t>    // </a:t>
            </a:r>
            <a:r>
              <a:rPr lang="en-US" sz="1300" dirty="0" err="1">
                <a:solidFill>
                  <a:srgbClr val="008000"/>
                </a:solidFill>
                <a:latin typeface="Consolas" panose="020B0609020204030204" pitchFamily="49" charset="0"/>
              </a:rPr>
              <a:t>cp.simple_method</a:t>
            </a:r>
            <a:r>
              <a:rPr lang="en-US" sz="1300" dirty="0">
                <a:solidFill>
                  <a:srgbClr val="008000"/>
                </a:solidFill>
                <a:latin typeface="Consolas" panose="020B0609020204030204" pitchFamily="49" charset="0"/>
              </a:rPr>
              <a:t>(); // </a:t>
            </a:r>
            <a:r>
              <a:rPr lang="ru-RU" sz="1300" dirty="0">
                <a:solidFill>
                  <a:srgbClr val="008000"/>
                </a:solidFill>
                <a:latin typeface="Consolas" panose="020B0609020204030204" pitchFamily="49" charset="0"/>
              </a:rPr>
              <a:t>Ошибка</a:t>
            </a:r>
            <a:endParaRPr lang="ru-RU" sz="13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300" dirty="0" err="1">
                <a:solidFill>
                  <a:srgbClr val="001080"/>
                </a:solidFill>
                <a:latin typeface="Consolas" panose="020B0609020204030204" pitchFamily="49" charset="0"/>
              </a:rPr>
              <a:t>cp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300" dirty="0" err="1">
                <a:solidFill>
                  <a:srgbClr val="795E26"/>
                </a:solidFill>
                <a:latin typeface="Consolas" panose="020B0609020204030204" pitchFamily="49" charset="0"/>
              </a:rPr>
              <a:t>some_method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300" dirty="0" err="1">
                <a:solidFill>
                  <a:srgbClr val="001080"/>
                </a:solidFill>
                <a:latin typeface="Consolas" panose="020B0609020204030204" pitchFamily="49" charset="0"/>
              </a:rPr>
              <a:t>cp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300" dirty="0" err="1">
                <a:solidFill>
                  <a:srgbClr val="795E26"/>
                </a:solidFill>
                <a:latin typeface="Consolas" panose="020B0609020204030204" pitchFamily="49" charset="0"/>
              </a:rPr>
              <a:t>only_const_method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Скругленный прямоугольник 4">
            <a:extLst>
              <a:ext uri="{FF2B5EF4-FFF2-40B4-BE49-F238E27FC236}">
                <a16:creationId xmlns:a16="http://schemas.microsoft.com/office/drawing/2014/main" id="{1EB007C5-5DA8-B288-A536-40CA04D92FFF}"/>
              </a:ext>
            </a:extLst>
          </p:cNvPr>
          <p:cNvSpPr/>
          <p:nvPr/>
        </p:nvSpPr>
        <p:spPr>
          <a:xfrm>
            <a:off x="6096000" y="4353791"/>
            <a:ext cx="5257800" cy="2139084"/>
          </a:xfrm>
          <a:prstGeom prst="roundRect">
            <a:avLst>
              <a:gd name="adj" fmla="val 5145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1300" dirty="0"/>
              <a:t>Для любого метода объекта можно написать константную и не константную версию</a:t>
            </a:r>
            <a:r>
              <a:rPr lang="en-US" sz="1300" dirty="0"/>
              <a:t>. </a:t>
            </a:r>
            <a:r>
              <a:rPr lang="ru-RU" sz="1300" dirty="0"/>
              <a:t>У константной версии в конце прототипа должно быть ключевое слово </a:t>
            </a:r>
            <a:r>
              <a:rPr lang="en-US" sz="1300" dirty="0"/>
              <a:t>const;</a:t>
            </a:r>
            <a:br>
              <a:rPr lang="en-US" sz="1300" dirty="0"/>
            </a:br>
            <a:br>
              <a:rPr lang="en-US" sz="1300" dirty="0"/>
            </a:br>
            <a:r>
              <a:rPr lang="ru-RU" sz="1300" dirty="0"/>
              <a:t>У не константного объекта можно вызывать как константный, так и не константный методы</a:t>
            </a:r>
            <a:r>
              <a:rPr lang="en-US" sz="1300" dirty="0"/>
              <a:t>;</a:t>
            </a:r>
            <a:br>
              <a:rPr lang="ru-RU" sz="1300" dirty="0"/>
            </a:br>
            <a:r>
              <a:rPr lang="ru-RU" sz="1300" dirty="0"/>
              <a:t>Если объявлены оба, то предпочтение отдаётся не константной версии</a:t>
            </a:r>
            <a:r>
              <a:rPr lang="en-US" sz="1300" dirty="0"/>
              <a:t>;</a:t>
            </a:r>
            <a:br>
              <a:rPr lang="en-US" sz="1300" dirty="0"/>
            </a:br>
            <a:br>
              <a:rPr lang="en-US" sz="1300" dirty="0"/>
            </a:br>
            <a:r>
              <a:rPr lang="ru-RU" sz="1300" dirty="0"/>
              <a:t>У константного объекта можно вызывать только константный метод</a:t>
            </a:r>
            <a:r>
              <a:rPr lang="en-US" sz="1300" dirty="0"/>
              <a:t>;</a:t>
            </a:r>
            <a:endParaRPr lang="ru-RU" sz="1300" dirty="0"/>
          </a:p>
        </p:txBody>
      </p:sp>
    </p:spTree>
    <p:extLst>
      <p:ext uri="{BB962C8B-B14F-4D97-AF65-F5344CB8AC3E}">
        <p14:creationId xmlns:p14="http://schemas.microsoft.com/office/powerpoint/2010/main" val="182966258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rmAutofit fontScale="90000"/>
          </a:bodyPr>
          <a:lstStyle/>
          <a:p>
            <a:r>
              <a:rPr lang="ru-RU" sz="3200" dirty="0"/>
              <a:t>Методы объекта </a:t>
            </a:r>
            <a:r>
              <a:rPr lang="en-US" sz="3200" dirty="0"/>
              <a:t>– </a:t>
            </a:r>
            <a:r>
              <a:rPr lang="ru-RU" sz="3200" dirty="0"/>
              <a:t>доступ к другим членам класса</a:t>
            </a:r>
            <a:r>
              <a:rPr lang="en-US" sz="3200" dirty="0"/>
              <a:t> </a:t>
            </a:r>
            <a:r>
              <a:rPr lang="ru-RU" sz="3200" dirty="0"/>
              <a:t>из тела константного метода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39999"/>
            <a:ext cx="10800000" cy="4860000"/>
          </a:xfrm>
        </p:spPr>
        <p:txBody>
          <a:bodyPr lIns="14400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sz="11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x, y;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simple_method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1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1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"--- </a:t>
            </a:r>
            <a:r>
              <a:rPr lang="en-US" sz="11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simple_method</a:t>
            </a:r>
            <a:r>
              <a:rPr lang="en-US" sz="11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---"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1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1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1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"x: "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x &lt;&lt; </a:t>
            </a:r>
            <a:r>
              <a:rPr lang="en-US" sz="11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"; y: "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y &lt;&lt; </a:t>
            </a:r>
            <a:r>
              <a:rPr lang="en-US" sz="11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// x = 100;            // </a:t>
            </a:r>
            <a:r>
              <a:rPr lang="ru-RU" sz="11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</a:t>
            </a:r>
            <a:endParaRPr lang="ru-RU" sz="11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const_method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// </a:t>
            </a:r>
            <a:r>
              <a:rPr lang="en-US" sz="11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not_const_method</a:t>
            </a:r>
            <a:r>
              <a:rPr lang="en-US" sz="11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(); // </a:t>
            </a:r>
            <a:r>
              <a:rPr lang="ru-RU" sz="11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</a:t>
            </a:r>
            <a:endParaRPr lang="ru-RU" sz="11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ru-RU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ru-RU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const_method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1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1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"--- </a:t>
            </a:r>
            <a:r>
              <a:rPr lang="en-US" sz="11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const_method</a:t>
            </a:r>
            <a:r>
              <a:rPr lang="en-US" sz="11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---"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1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not_const_method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1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1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"--- </a:t>
            </a:r>
            <a:r>
              <a:rPr lang="en-US" sz="11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not_const_method</a:t>
            </a:r>
            <a:r>
              <a:rPr lang="en-US" sz="11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---"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1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Point p{</a:t>
            </a:r>
            <a:r>
              <a:rPr lang="en-US" sz="11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1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1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simple_method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Скругленный прямоугольник 4">
            <a:extLst>
              <a:ext uri="{FF2B5EF4-FFF2-40B4-BE49-F238E27FC236}">
                <a16:creationId xmlns:a16="http://schemas.microsoft.com/office/drawing/2014/main" id="{1EB007C5-5DA8-B288-A536-40CA04D92FFF}"/>
              </a:ext>
            </a:extLst>
          </p:cNvPr>
          <p:cNvSpPr/>
          <p:nvPr/>
        </p:nvSpPr>
        <p:spPr>
          <a:xfrm>
            <a:off x="6255326" y="1901537"/>
            <a:ext cx="5098471" cy="4591338"/>
          </a:xfrm>
          <a:prstGeom prst="roundRect">
            <a:avLst>
              <a:gd name="adj" fmla="val 2829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1400" dirty="0"/>
              <a:t>В теле </a:t>
            </a:r>
            <a:r>
              <a:rPr lang="ru-RU" sz="1400" b="1" dirty="0"/>
              <a:t>константного метода объекта </a:t>
            </a:r>
            <a:r>
              <a:rPr lang="ru-RU" sz="1400" dirty="0"/>
              <a:t>можно получить доступ к любым полям объекта, но только на чтение, и к любым </a:t>
            </a:r>
            <a:r>
              <a:rPr lang="ru-RU" sz="1400" b="1" dirty="0"/>
              <a:t>константным</a:t>
            </a:r>
            <a:r>
              <a:rPr lang="ru-RU" sz="1400" dirty="0"/>
              <a:t> метода </a:t>
            </a:r>
            <a:r>
              <a:rPr lang="ru-RU" sz="1400" b="1" dirty="0"/>
              <a:t>объекта</a:t>
            </a:r>
            <a:r>
              <a:rPr lang="en-US" sz="1400" b="1" dirty="0"/>
              <a:t>;</a:t>
            </a:r>
            <a:endParaRPr lang="ru-RU" sz="1400" b="1" dirty="0"/>
          </a:p>
          <a:p>
            <a:r>
              <a:rPr lang="ru-RU" sz="1400" dirty="0"/>
              <a:t>К полям </a:t>
            </a:r>
            <a:r>
              <a:rPr lang="ru-RU" sz="1400" b="1" dirty="0"/>
              <a:t>класса</a:t>
            </a:r>
            <a:r>
              <a:rPr lang="ru-RU" sz="1400" dirty="0"/>
              <a:t> можно получить доступ как на чтение так и на запись</a:t>
            </a:r>
            <a:r>
              <a:rPr lang="en-US" sz="1400" dirty="0"/>
              <a:t>;</a:t>
            </a:r>
          </a:p>
          <a:p>
            <a:r>
              <a:rPr lang="ru-RU" sz="1400" dirty="0"/>
              <a:t>К методам </a:t>
            </a:r>
            <a:r>
              <a:rPr lang="ru-RU" sz="1400" b="1" dirty="0"/>
              <a:t>класса</a:t>
            </a:r>
            <a:r>
              <a:rPr lang="ru-RU" sz="1400" dirty="0"/>
              <a:t> тоже можно получить доступ</a:t>
            </a:r>
            <a:r>
              <a:rPr lang="en-US" sz="1400" dirty="0"/>
              <a:t>;</a:t>
            </a:r>
            <a:endParaRPr lang="ru-RU" sz="1400" dirty="0"/>
          </a:p>
          <a:p>
            <a:endParaRPr lang="en-US" sz="1400" b="1" dirty="0"/>
          </a:p>
          <a:p>
            <a:r>
              <a:rPr lang="ru-RU" sz="1400" dirty="0"/>
              <a:t>В теле </a:t>
            </a:r>
            <a:r>
              <a:rPr lang="ru-RU" sz="1400" b="1" dirty="0"/>
              <a:t>не константного </a:t>
            </a:r>
            <a:r>
              <a:rPr lang="ru-RU" sz="1400" dirty="0"/>
              <a:t>метода объекта можно получить доступ к полям объекта как на чтения, так и на запись, а так же вызывать как константные, так и не константные методы объекта</a:t>
            </a:r>
            <a:r>
              <a:rPr lang="en-US" sz="1400" dirty="0"/>
              <a:t>;</a:t>
            </a:r>
            <a:endParaRPr lang="ru-RU" sz="1400" dirty="0"/>
          </a:p>
          <a:p>
            <a:r>
              <a:rPr lang="ru-RU" sz="1400" dirty="0"/>
              <a:t>К полям </a:t>
            </a:r>
            <a:r>
              <a:rPr lang="ru-RU" sz="1400" b="1" dirty="0"/>
              <a:t>класса</a:t>
            </a:r>
            <a:r>
              <a:rPr lang="ru-RU" sz="1400" dirty="0"/>
              <a:t> можно получить доступ как на чтение так и на запись</a:t>
            </a:r>
            <a:r>
              <a:rPr lang="en-US" sz="1400" dirty="0"/>
              <a:t>;</a:t>
            </a:r>
          </a:p>
          <a:p>
            <a:r>
              <a:rPr lang="ru-RU" sz="1400" dirty="0"/>
              <a:t>К методам </a:t>
            </a:r>
            <a:r>
              <a:rPr lang="ru-RU" sz="1400" b="1" dirty="0"/>
              <a:t>класса</a:t>
            </a:r>
            <a:r>
              <a:rPr lang="ru-RU" sz="1400" dirty="0"/>
              <a:t> тоже можно получить доступ</a:t>
            </a:r>
            <a:r>
              <a:rPr lang="en-US" sz="1400" dirty="0"/>
              <a:t>.</a:t>
            </a:r>
            <a:endParaRPr lang="ru-RU" sz="1400" dirty="0"/>
          </a:p>
          <a:p>
            <a:endParaRPr lang="ru-RU" sz="1400" dirty="0"/>
          </a:p>
          <a:p>
            <a:r>
              <a:rPr lang="ru-RU" sz="1400" dirty="0"/>
              <a:t>НЕ константные методы объекта получают неявный первый параметр 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ru-RU" sz="1400" dirty="0"/>
              <a:t>, а константные методы - константный 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:</a:t>
            </a:r>
            <a:endParaRPr lang="en-US" sz="1400" dirty="0"/>
          </a:p>
          <a:p>
            <a:br>
              <a:rPr lang="ru-RU" sz="1400" dirty="0"/>
            </a:b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const_method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/* const Point* this */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not_const_method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/* Point* this */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endParaRPr lang="ru-RU" sz="1400" dirty="0"/>
          </a:p>
        </p:txBody>
      </p:sp>
    </p:spTree>
    <p:extLst>
      <p:ext uri="{BB962C8B-B14F-4D97-AF65-F5344CB8AC3E}">
        <p14:creationId xmlns:p14="http://schemas.microsoft.com/office/powerpoint/2010/main" val="168225223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rmAutofit fontScale="90000"/>
          </a:bodyPr>
          <a:lstStyle/>
          <a:p>
            <a:r>
              <a:rPr lang="ru-RU" sz="3200" dirty="0"/>
              <a:t>Константные объекты - Семантическая константность и синтаксическая константность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39999"/>
            <a:ext cx="10800000" cy="4860000"/>
          </a:xfrm>
        </p:spPr>
        <p:txBody>
          <a:bodyPr lIns="14400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ru-RU" sz="1400" b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Unit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Состояние</a:t>
            </a: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shield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HP;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armor;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Статистика</a:t>
            </a: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kills;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b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get_data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 </a:t>
            </a:r>
            <a:r>
              <a:rPr lang="en-US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set_data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</a:rPr>
              <a:t>Кеш не относится к состоянию объекта</a:t>
            </a: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cache;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7" name="Скругленный прямоугольник 4">
            <a:extLst>
              <a:ext uri="{FF2B5EF4-FFF2-40B4-BE49-F238E27FC236}">
                <a16:creationId xmlns:a16="http://schemas.microsoft.com/office/drawing/2014/main" id="{1EB007C5-5DA8-B288-A536-40CA04D92FFF}"/>
              </a:ext>
            </a:extLst>
          </p:cNvPr>
          <p:cNvSpPr/>
          <p:nvPr/>
        </p:nvSpPr>
        <p:spPr>
          <a:xfrm>
            <a:off x="6255326" y="1745422"/>
            <a:ext cx="5098471" cy="1110909"/>
          </a:xfrm>
          <a:prstGeom prst="roundRect">
            <a:avLst>
              <a:gd name="adj" fmla="val 2829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1400" dirty="0"/>
              <a:t>Поля класса предназначены для описания состояния объекта в текущий момент времени. Но бывает необходимость в таких полях, которые не относятся к состоянию объекта, а выполняют другую задачу, например наблюдение за объектом или оптимизация</a:t>
            </a:r>
            <a:r>
              <a:rPr lang="en-US" sz="1400" dirty="0"/>
              <a:t>;</a:t>
            </a:r>
            <a:endParaRPr lang="ru-RU" sz="1400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A362278C-A4D3-6FEE-07FD-6DCECDE41E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5326" y="2933614"/>
            <a:ext cx="5110150" cy="1316408"/>
          </a:xfrm>
          <a:prstGeom prst="rect">
            <a:avLst/>
          </a:prstGeom>
        </p:spPr>
      </p:pic>
      <p:sp>
        <p:nvSpPr>
          <p:cNvPr id="6" name="Скругленный прямоугольник 4">
            <a:extLst>
              <a:ext uri="{FF2B5EF4-FFF2-40B4-BE49-F238E27FC236}">
                <a16:creationId xmlns:a16="http://schemas.microsoft.com/office/drawing/2014/main" id="{8D5A85F4-3B1E-168F-20A9-F7E5857A0458}"/>
              </a:ext>
            </a:extLst>
          </p:cNvPr>
          <p:cNvSpPr/>
          <p:nvPr/>
        </p:nvSpPr>
        <p:spPr>
          <a:xfrm>
            <a:off x="6267005" y="4396434"/>
            <a:ext cx="5098471" cy="2053736"/>
          </a:xfrm>
          <a:prstGeom prst="roundRect">
            <a:avLst>
              <a:gd name="adj" fmla="val 2829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ru-RU" sz="1400" dirty="0"/>
              <a:t>С точки зрения ООП объект считается константным, если не изменяется его состояние, т.е. то, что можно наблюдать снаружи. Изменение полей, значение которых невозможно получить снаружи допустимо. Это семантическая константность.</a:t>
            </a:r>
          </a:p>
          <a:p>
            <a:endParaRPr lang="ru-RU" sz="1400" dirty="0"/>
          </a:p>
          <a:p>
            <a:r>
              <a:rPr lang="ru-RU" sz="1400" dirty="0"/>
              <a:t>С точки зрения компилятора объект считается константным, если невозможно изменить ни одно из его полей. Это синтаксическая константность.</a:t>
            </a:r>
          </a:p>
          <a:p>
            <a:endParaRPr lang="ru-RU" sz="1400" dirty="0"/>
          </a:p>
          <a:p>
            <a:endParaRPr lang="ru-RU" sz="1400" dirty="0"/>
          </a:p>
        </p:txBody>
      </p:sp>
    </p:spTree>
    <p:extLst>
      <p:ext uri="{BB962C8B-B14F-4D97-AF65-F5344CB8AC3E}">
        <p14:creationId xmlns:p14="http://schemas.microsoft.com/office/powerpoint/2010/main" val="56489391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rmAutofit/>
          </a:bodyPr>
          <a:lstStyle/>
          <a:p>
            <a:r>
              <a:rPr lang="en-US" sz="4000" dirty="0"/>
              <a:t>mutable</a:t>
            </a:r>
            <a:endParaRPr lang="ru-RU" sz="4000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39999"/>
            <a:ext cx="10800000" cy="4860000"/>
          </a:xfrm>
        </p:spPr>
        <p:txBody>
          <a:bodyPr lIns="14400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Unit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add_kill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0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kills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add_kill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0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kills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add_HP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0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HP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add_HP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// HP++; // </a:t>
            </a:r>
            <a:r>
              <a:rPr lang="ru-RU" sz="1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 </a:t>
            </a:r>
            <a:r>
              <a:rPr lang="en-US" sz="1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HP - </a:t>
            </a:r>
            <a:r>
              <a:rPr lang="ru-RU" sz="1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константа</a:t>
            </a:r>
            <a:endParaRPr lang="ru-RU" sz="1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HP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0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mutable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kills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0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b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Unit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unit1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unit1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0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add_kill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unit1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0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add_HP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Unit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unit2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unit2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0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add_kill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unit2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0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add_HP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Скругленный прямоугольник 4">
            <a:extLst>
              <a:ext uri="{FF2B5EF4-FFF2-40B4-BE49-F238E27FC236}">
                <a16:creationId xmlns:a16="http://schemas.microsoft.com/office/drawing/2014/main" id="{1EB007C5-5DA8-B288-A536-40CA04D92FFF}"/>
              </a:ext>
            </a:extLst>
          </p:cNvPr>
          <p:cNvSpPr/>
          <p:nvPr/>
        </p:nvSpPr>
        <p:spPr>
          <a:xfrm>
            <a:off x="6255326" y="1901537"/>
            <a:ext cx="5098471" cy="2033465"/>
          </a:xfrm>
          <a:prstGeom prst="roundRect">
            <a:avLst>
              <a:gd name="adj" fmla="val 2829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ru-RU" sz="1200" dirty="0"/>
              <a:t>Иногда бывает, что в объекте, который отмечен в коде как константа требуется изменить некоторые поля, т.е. нарушить синтаксическую константность, но при этом сохранив семантическую</a:t>
            </a:r>
            <a:r>
              <a:rPr lang="en-US" sz="1200" dirty="0"/>
              <a:t>;</a:t>
            </a:r>
          </a:p>
          <a:p>
            <a:endParaRPr lang="en-US" sz="1200" dirty="0"/>
          </a:p>
          <a:p>
            <a:r>
              <a:rPr lang="ru-RU" sz="1200" dirty="0"/>
              <a:t>Это можно сделать, если отметить поле которое нужно менять как </a:t>
            </a:r>
            <a:r>
              <a:rPr lang="en-US" sz="1200" b="1" dirty="0"/>
              <a:t>mutable</a:t>
            </a:r>
            <a:r>
              <a:rPr lang="ru-RU" sz="1200" b="1" dirty="0"/>
              <a:t>.</a:t>
            </a:r>
            <a:r>
              <a:rPr lang="ru-RU" sz="1200" dirty="0"/>
              <a:t> Такие поля компилятор разрешает изменять даже в константных методах</a:t>
            </a:r>
            <a:r>
              <a:rPr lang="en-US" sz="1200" dirty="0"/>
              <a:t>.</a:t>
            </a:r>
            <a:endParaRPr lang="ru-RU" sz="1200" dirty="0"/>
          </a:p>
        </p:txBody>
      </p:sp>
    </p:spTree>
    <p:extLst>
      <p:ext uri="{BB962C8B-B14F-4D97-AF65-F5344CB8AC3E}">
        <p14:creationId xmlns:p14="http://schemas.microsoft.com/office/powerpoint/2010/main" val="15860894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rmAutofit/>
          </a:bodyPr>
          <a:lstStyle/>
          <a:p>
            <a:r>
              <a:rPr lang="ru-RU" sz="4000" dirty="0"/>
              <a:t>Методы объекта – специальные методы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0000"/>
            <a:ext cx="10800000" cy="4860000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endParaRPr lang="en-US" dirty="0"/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ru-RU" dirty="0"/>
              <a:t>Конструктор – отвечает за создание и инициализацию объекта</a:t>
            </a:r>
            <a:r>
              <a:rPr lang="en-US" dirty="0"/>
              <a:t>;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ru-RU" dirty="0">
                <a:solidFill>
                  <a:srgbClr val="24292F"/>
                </a:solidFill>
              </a:rPr>
              <a:t>Деструктор – отвечает за корректное освобождение ресурсов</a:t>
            </a:r>
            <a:r>
              <a:rPr lang="en-US" dirty="0">
                <a:solidFill>
                  <a:srgbClr val="24292F"/>
                </a:solidFill>
              </a:rPr>
              <a:t> </a:t>
            </a:r>
            <a:r>
              <a:rPr lang="ru-RU" dirty="0">
                <a:solidFill>
                  <a:srgbClr val="24292F"/>
                </a:solidFill>
              </a:rPr>
              <a:t>и уничтожение объектов</a:t>
            </a:r>
            <a:r>
              <a:rPr lang="en-US" dirty="0">
                <a:solidFill>
                  <a:srgbClr val="24292F"/>
                </a:solidFill>
              </a:rPr>
              <a:t>;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ru-RU" dirty="0">
                <a:solidFill>
                  <a:srgbClr val="24292F"/>
                </a:solidFill>
              </a:rPr>
              <a:t>Конструктор копирования </a:t>
            </a:r>
            <a:r>
              <a:rPr lang="en-US" dirty="0">
                <a:solidFill>
                  <a:srgbClr val="24292F"/>
                </a:solidFill>
              </a:rPr>
              <a:t>– </a:t>
            </a:r>
            <a:r>
              <a:rPr lang="ru-RU" dirty="0">
                <a:solidFill>
                  <a:srgbClr val="24292F"/>
                </a:solidFill>
              </a:rPr>
              <a:t>вызывается во время копирования объекта</a:t>
            </a:r>
            <a:r>
              <a:rPr lang="en-US" dirty="0">
                <a:solidFill>
                  <a:srgbClr val="24292F"/>
                </a:solidFill>
              </a:rPr>
              <a:t>;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ru-RU" dirty="0">
                <a:solidFill>
                  <a:srgbClr val="24292F"/>
                </a:solidFill>
              </a:rPr>
              <a:t>Конструктор перемещения </a:t>
            </a:r>
            <a:r>
              <a:rPr lang="en-US" dirty="0">
                <a:solidFill>
                  <a:srgbClr val="24292F"/>
                </a:solidFill>
              </a:rPr>
              <a:t>– </a:t>
            </a:r>
            <a:r>
              <a:rPr lang="ru-RU" dirty="0">
                <a:solidFill>
                  <a:srgbClr val="24292F"/>
                </a:solidFill>
              </a:rPr>
              <a:t>вызывается во время копирования временного объекта, чтобы не копировать ресурсы, а забрать их</a:t>
            </a:r>
            <a:r>
              <a:rPr lang="en-US" dirty="0">
                <a:solidFill>
                  <a:srgbClr val="24292F"/>
                </a:solidFill>
              </a:rPr>
              <a:t>;</a:t>
            </a:r>
            <a:endParaRPr lang="ru-RU" dirty="0">
              <a:solidFill>
                <a:srgbClr val="24292F"/>
              </a:solidFill>
            </a:endParaRP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ru-RU" dirty="0"/>
              <a:t>Оператор присваивания (копированием) – вызывается во время присваивания одного объекта другому</a:t>
            </a:r>
            <a:r>
              <a:rPr lang="en-US" dirty="0"/>
              <a:t>;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ru-RU" dirty="0"/>
              <a:t>Оператор присваивания (перемещением) – вызывается во время присваивания объекту значения временного объекта, чтобы не копировать его ресурсы, а забрать</a:t>
            </a:r>
            <a:r>
              <a:rPr lang="en-US" dirty="0"/>
              <a:t>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endParaRPr lang="en-US" dirty="0">
              <a:solidFill>
                <a:srgbClr val="24292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9192883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rmAutofit/>
          </a:bodyPr>
          <a:lstStyle/>
          <a:p>
            <a:r>
              <a:rPr lang="ru-RU" sz="4000" dirty="0"/>
              <a:t>Какие бывают методы</a:t>
            </a:r>
            <a:r>
              <a:rPr lang="en-US" sz="4000" dirty="0"/>
              <a:t> – </a:t>
            </a:r>
            <a:r>
              <a:rPr lang="ru-RU" sz="4000" dirty="0"/>
              <a:t>методы класса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39999"/>
            <a:ext cx="10800000" cy="4860000"/>
          </a:xfrm>
        </p:spPr>
        <p:txBody>
          <a:bodyPr lIns="144000">
            <a:noAutofit/>
          </a:bodyPr>
          <a:lstStyle/>
          <a:p>
            <a:pPr marL="0" indent="0">
              <a:buNone/>
            </a:pPr>
            <a:endParaRPr lang="ru-RU" sz="2000" b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ru-RU" sz="20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ru-RU" sz="2000" b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ru-RU" sz="20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simple_class_method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(){}</a:t>
            </a:r>
            <a:r>
              <a:rPr lang="en-US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// </a:t>
            </a:r>
            <a:r>
              <a:rPr lang="ru-RU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Обычный метод класса</a:t>
            </a:r>
            <a:endParaRPr lang="ru-RU" sz="2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ru-RU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Константных и виртуальных не бывает</a:t>
            </a:r>
            <a:endParaRPr lang="ru-RU" sz="2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ru-RU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228940747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rmAutofit/>
          </a:bodyPr>
          <a:lstStyle/>
          <a:p>
            <a:r>
              <a:rPr lang="ru-RU" sz="4000" dirty="0"/>
              <a:t>Методы класса </a:t>
            </a:r>
            <a:r>
              <a:rPr lang="en-US" sz="4000" dirty="0"/>
              <a:t>– </a:t>
            </a:r>
            <a:r>
              <a:rPr lang="ru-RU" sz="4000" dirty="0"/>
              <a:t>вызов метода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39999"/>
            <a:ext cx="10800000" cy="4860000"/>
          </a:xfrm>
        </p:spPr>
        <p:txBody>
          <a:bodyPr lIns="14400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ru-RU" sz="2000" b="0" dirty="0">
              <a:solidFill>
                <a:srgbClr val="AF00DB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0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sz="2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simple_class_method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2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20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20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0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simple_class_method</a:t>
            </a:r>
            <a:r>
              <a:rPr lang="en-US" sz="20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2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20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Point p;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20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20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simple_class_method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20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simple_class_method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Скругленный прямоугольник 4">
            <a:extLst>
              <a:ext uri="{FF2B5EF4-FFF2-40B4-BE49-F238E27FC236}">
                <a16:creationId xmlns:a16="http://schemas.microsoft.com/office/drawing/2014/main" id="{1EB007C5-5DA8-B288-A536-40CA04D92FFF}"/>
              </a:ext>
            </a:extLst>
          </p:cNvPr>
          <p:cNvSpPr/>
          <p:nvPr/>
        </p:nvSpPr>
        <p:spPr>
          <a:xfrm>
            <a:off x="7325591" y="1901536"/>
            <a:ext cx="4028207" cy="835891"/>
          </a:xfrm>
          <a:prstGeom prst="roundRect">
            <a:avLst>
              <a:gd name="adj" fmla="val 5145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1400" dirty="0"/>
              <a:t>Доступ к методам класс можно получить через точечную нотацию с указанием любого объекта требуемого класса</a:t>
            </a:r>
            <a:r>
              <a:rPr lang="en-US" sz="1400" dirty="0"/>
              <a:t>;</a:t>
            </a:r>
            <a:endParaRPr lang="ru-RU" sz="1400" dirty="0"/>
          </a:p>
        </p:txBody>
      </p:sp>
      <p:sp>
        <p:nvSpPr>
          <p:cNvPr id="4" name="Скругленный прямоугольник 4">
            <a:extLst>
              <a:ext uri="{FF2B5EF4-FFF2-40B4-BE49-F238E27FC236}">
                <a16:creationId xmlns:a16="http://schemas.microsoft.com/office/drawing/2014/main" id="{386596EA-0D6C-E405-CC5F-58B916066C82}"/>
              </a:ext>
            </a:extLst>
          </p:cNvPr>
          <p:cNvSpPr/>
          <p:nvPr/>
        </p:nvSpPr>
        <p:spPr>
          <a:xfrm>
            <a:off x="7325591" y="3882737"/>
            <a:ext cx="4028207" cy="1073728"/>
          </a:xfrm>
          <a:prstGeom prst="roundRect">
            <a:avLst>
              <a:gd name="adj" fmla="val 5145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1400" dirty="0"/>
              <a:t>Но для вызова метода класса нет необходимости создавать объект, его можно вызвать через имя класса, указав полное квалифицированное имя метода.</a:t>
            </a:r>
          </a:p>
        </p:txBody>
      </p:sp>
    </p:spTree>
    <p:extLst>
      <p:ext uri="{BB962C8B-B14F-4D97-AF65-F5344CB8AC3E}">
        <p14:creationId xmlns:p14="http://schemas.microsoft.com/office/powerpoint/2010/main" val="208673252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 anchor="ctr">
            <a:normAutofit/>
          </a:bodyPr>
          <a:lstStyle/>
          <a:p>
            <a:r>
              <a:rPr lang="ru-RU" sz="3200" dirty="0"/>
              <a:t>Доступ к другим членам класса</a:t>
            </a:r>
            <a:r>
              <a:rPr lang="en-US" sz="3200" dirty="0"/>
              <a:t> </a:t>
            </a:r>
            <a:r>
              <a:rPr lang="ru-RU" sz="3200" dirty="0"/>
              <a:t>из тела статического метода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331999"/>
            <a:ext cx="10515599" cy="5040000"/>
          </a:xfrm>
        </p:spPr>
        <p:txBody>
          <a:bodyPr lIns="14400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ru-RU" sz="1400" b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ru-RU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y = 0;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simple_class_method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// std::</a:t>
            </a:r>
            <a:r>
              <a:rPr lang="en-US" sz="14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&lt;&lt; x &lt;&lt; std::</a:t>
            </a:r>
            <a:r>
              <a:rPr lang="en-US" sz="14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;  //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</a:t>
            </a: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y &lt;&lt; </a:t>
            </a:r>
            <a:r>
              <a:rPr lang="en-US" sz="14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// </a:t>
            </a:r>
            <a:r>
              <a:rPr lang="en-US" sz="14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simple_object_method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();       //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</a:t>
            </a: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other_class_method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other_class_method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other_class_method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4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simple_object_method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simple_object_method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4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7" name="Скругленный прямоугольник 4">
            <a:extLst>
              <a:ext uri="{FF2B5EF4-FFF2-40B4-BE49-F238E27FC236}">
                <a16:creationId xmlns:a16="http://schemas.microsoft.com/office/drawing/2014/main" id="{1EB007C5-5DA8-B288-A536-40CA04D92FFF}"/>
              </a:ext>
            </a:extLst>
          </p:cNvPr>
          <p:cNvSpPr/>
          <p:nvPr/>
        </p:nvSpPr>
        <p:spPr>
          <a:xfrm>
            <a:off x="7408716" y="1708891"/>
            <a:ext cx="3945082" cy="3844637"/>
          </a:xfrm>
          <a:prstGeom prst="roundRect">
            <a:avLst>
              <a:gd name="adj" fmla="val 5145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1400" dirty="0"/>
              <a:t>В теле </a:t>
            </a:r>
            <a:r>
              <a:rPr lang="ru-RU" sz="1400" b="1" dirty="0"/>
              <a:t>метода класса </a:t>
            </a:r>
            <a:r>
              <a:rPr lang="ru-RU" sz="1400" dirty="0"/>
              <a:t>можно получить доступ только к полям класса и методам класса, но не к полям объекта или методам объекта</a:t>
            </a:r>
            <a:r>
              <a:rPr lang="en-US" sz="1400" b="1" dirty="0"/>
              <a:t>;</a:t>
            </a:r>
          </a:p>
          <a:p>
            <a:endParaRPr lang="en-US" sz="1400" b="1" dirty="0"/>
          </a:p>
          <a:p>
            <a:r>
              <a:rPr lang="ru-RU" sz="1400" dirty="0"/>
              <a:t>Доступ к другим полям и методам класса осуществляется просто по имени</a:t>
            </a:r>
            <a:r>
              <a:rPr lang="en-US" sz="1400" dirty="0"/>
              <a:t>;</a:t>
            </a:r>
          </a:p>
          <a:p>
            <a:endParaRPr lang="en-US" sz="1400" dirty="0"/>
          </a:p>
          <a:p>
            <a:r>
              <a:rPr lang="ru-RU" sz="1400" dirty="0"/>
              <a:t>Изменение значения поля класса в теле метода приводит к изменению значения этого поля </a:t>
            </a:r>
            <a:r>
              <a:rPr lang="ru-RU" sz="1400" dirty="0" err="1"/>
              <a:t>всамом</a:t>
            </a:r>
            <a:r>
              <a:rPr lang="ru-RU" sz="1400" dirty="0"/>
              <a:t> классе</a:t>
            </a:r>
            <a:r>
              <a:rPr lang="en-US" sz="1400" dirty="0"/>
              <a:t>;</a:t>
            </a:r>
          </a:p>
          <a:p>
            <a:endParaRPr lang="en-US" sz="1400" dirty="0"/>
          </a:p>
          <a:p>
            <a:r>
              <a:rPr lang="ru-RU" sz="1400" dirty="0"/>
              <a:t>Область видимости полей и методов – весь класс, поэтому можно обращаться к членам класса объявленным как выше, так и ниже текущего.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50361527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rmAutofit/>
          </a:bodyPr>
          <a:lstStyle/>
          <a:p>
            <a:r>
              <a:rPr lang="ru-RU" sz="3200" dirty="0"/>
              <a:t>Методы класса </a:t>
            </a:r>
            <a:r>
              <a:rPr lang="en-US" sz="3200" dirty="0"/>
              <a:t>– </a:t>
            </a:r>
            <a:r>
              <a:rPr lang="ru-RU" sz="3200" dirty="0"/>
              <a:t>параметры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789042"/>
            <a:ext cx="10515599" cy="4387921"/>
          </a:xfrm>
        </p:spPr>
        <p:txBody>
          <a:bodyPr lIns="14400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set_x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x = x;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    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х - слева от = это параметр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::x = x;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х - слева от = это поле класса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::x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set_x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::x &lt;&lt; 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Скругленный прямоугольник 4">
            <a:extLst>
              <a:ext uri="{FF2B5EF4-FFF2-40B4-BE49-F238E27FC236}">
                <a16:creationId xmlns:a16="http://schemas.microsoft.com/office/drawing/2014/main" id="{1EB007C5-5DA8-B288-A536-40CA04D92FFF}"/>
              </a:ext>
            </a:extLst>
          </p:cNvPr>
          <p:cNvSpPr/>
          <p:nvPr/>
        </p:nvSpPr>
        <p:spPr>
          <a:xfrm>
            <a:off x="7585364" y="2088573"/>
            <a:ext cx="3768434" cy="1537854"/>
          </a:xfrm>
          <a:prstGeom prst="roundRect">
            <a:avLst>
              <a:gd name="adj" fmla="val 5145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1400" dirty="0"/>
              <a:t>Методы класса, как и обычные функции, могут принимать и возвращать значения</a:t>
            </a:r>
            <a:r>
              <a:rPr lang="en-US" sz="1400" dirty="0"/>
              <a:t>;</a:t>
            </a:r>
          </a:p>
          <a:p>
            <a:endParaRPr lang="ru-RU" sz="1400" dirty="0"/>
          </a:p>
          <a:p>
            <a:r>
              <a:rPr lang="ru-RU" sz="1400" dirty="0"/>
              <a:t>Методы класса, по своей сути – обычные функции, поэтому, они НЕ получают никаких дополнительных параметров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74444183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rmAutofit/>
          </a:bodyPr>
          <a:lstStyle/>
          <a:p>
            <a:r>
              <a:rPr lang="ru-RU" sz="3200" dirty="0"/>
              <a:t>Методы класса </a:t>
            </a:r>
            <a:r>
              <a:rPr lang="en-US" sz="3200" dirty="0"/>
              <a:t>– </a:t>
            </a:r>
            <a:r>
              <a:rPr lang="ru-RU" sz="3200" dirty="0"/>
              <a:t>способы определения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775791"/>
            <a:ext cx="10515599" cy="4401172"/>
          </a:xfrm>
        </p:spPr>
        <p:txBody>
          <a:bodyPr lIns="14400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</a:t>
            </a:r>
            <a:r>
              <a:rPr lang="en-US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</a:t>
            </a:r>
            <a:r>
              <a:rPr lang="ru-RU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Объявление и определение</a:t>
            </a:r>
            <a:endParaRPr lang="ru-RU" sz="2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2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20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20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"one"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2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20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two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</a:t>
            </a:r>
            <a:r>
              <a:rPr lang="ru-RU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Объявление</a:t>
            </a:r>
            <a:endParaRPr lang="ru-RU" sz="2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ru-RU" sz="2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ru-RU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ru-RU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Определение</a:t>
            </a:r>
            <a:endParaRPr lang="ru-RU" sz="2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20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two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20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20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"two"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2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20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Скругленный прямоугольник 4">
            <a:extLst>
              <a:ext uri="{FF2B5EF4-FFF2-40B4-BE49-F238E27FC236}">
                <a16:creationId xmlns:a16="http://schemas.microsoft.com/office/drawing/2014/main" id="{1EB007C5-5DA8-B288-A536-40CA04D92FFF}"/>
              </a:ext>
            </a:extLst>
          </p:cNvPr>
          <p:cNvSpPr/>
          <p:nvPr/>
        </p:nvSpPr>
        <p:spPr>
          <a:xfrm>
            <a:off x="7585364" y="2088572"/>
            <a:ext cx="3768434" cy="3792683"/>
          </a:xfrm>
          <a:prstGeom prst="roundRect">
            <a:avLst>
              <a:gd name="adj" fmla="val 5145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1400" dirty="0"/>
              <a:t>Методы могут быть объявлены и определены в месте объявления класса</a:t>
            </a:r>
            <a:r>
              <a:rPr lang="en-US" sz="1400" dirty="0"/>
              <a:t>;</a:t>
            </a:r>
          </a:p>
          <a:p>
            <a:endParaRPr lang="en-US" sz="1400" dirty="0"/>
          </a:p>
          <a:p>
            <a:r>
              <a:rPr lang="ru-RU" sz="1400" dirty="0"/>
              <a:t>Методы могут быть объявлены в месте объявления класса, а определены за пределами объявления, далее по коду</a:t>
            </a:r>
            <a:r>
              <a:rPr lang="en-US" sz="1400" dirty="0"/>
              <a:t>;</a:t>
            </a:r>
          </a:p>
          <a:p>
            <a:r>
              <a:rPr lang="ru-RU" sz="1400" dirty="0"/>
              <a:t>В этом случае имя метода должно быть дополнено квалификатором – именем класса</a:t>
            </a:r>
            <a:r>
              <a:rPr lang="en-US" sz="1400" dirty="0"/>
              <a:t>;</a:t>
            </a:r>
            <a:endParaRPr lang="ru-RU" sz="1400" dirty="0"/>
          </a:p>
          <a:p>
            <a:endParaRPr lang="ru-RU" sz="1400" dirty="0"/>
          </a:p>
          <a:p>
            <a:r>
              <a:rPr lang="ru-RU" sz="1400" dirty="0"/>
              <a:t>Методы определённые внутри класса автоматически назначаются встраиваемыми (</a:t>
            </a:r>
            <a:r>
              <a:rPr lang="en-US" sz="1400" dirty="0"/>
              <a:t>inline</a:t>
            </a:r>
            <a:r>
              <a:rPr lang="ru-RU" sz="1400" dirty="0"/>
              <a:t>)</a:t>
            </a:r>
            <a:r>
              <a:rPr lang="en-US" sz="1400" dirty="0"/>
              <a:t>;</a:t>
            </a:r>
          </a:p>
          <a:p>
            <a:r>
              <a:rPr lang="ru-RU" sz="1400" dirty="0"/>
              <a:t>Если метод только объявлен внутри класса, то можно сделать его встраиваемым добавил ключевое слов </a:t>
            </a:r>
            <a:r>
              <a:rPr lang="en-US" sz="1400" dirty="0"/>
              <a:t>inline </a:t>
            </a:r>
            <a:r>
              <a:rPr lang="ru-RU" sz="1400" dirty="0"/>
              <a:t>к объявлению метода руками.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29139796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EA8A94F-5D16-6464-2E03-6765A264B0C8}"/>
              </a:ext>
            </a:extLst>
          </p:cNvPr>
          <p:cNvSpPr txBox="1">
            <a:spLocks/>
          </p:cNvSpPr>
          <p:nvPr/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4400" dirty="0"/>
              <a:t>Специальные методы</a:t>
            </a:r>
          </a:p>
        </p:txBody>
      </p:sp>
    </p:spTree>
    <p:extLst>
      <p:ext uri="{BB962C8B-B14F-4D97-AF65-F5344CB8AC3E}">
        <p14:creationId xmlns:p14="http://schemas.microsoft.com/office/powerpoint/2010/main" val="111108382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EA8A94F-5D16-6464-2E03-6765A264B0C8}"/>
              </a:ext>
            </a:extLst>
          </p:cNvPr>
          <p:cNvSpPr txBox="1">
            <a:spLocks/>
          </p:cNvSpPr>
          <p:nvPr/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4400" dirty="0"/>
              <a:t>Конструктор</a:t>
            </a:r>
          </a:p>
        </p:txBody>
      </p:sp>
    </p:spTree>
    <p:extLst>
      <p:ext uri="{BB962C8B-B14F-4D97-AF65-F5344CB8AC3E}">
        <p14:creationId xmlns:p14="http://schemas.microsoft.com/office/powerpoint/2010/main" val="140015609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721862"/>
            <a:ext cx="10515599" cy="4455102"/>
          </a:xfrm>
        </p:spPr>
        <p:txBody>
          <a:bodyPr lIns="14400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Dot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Присутствует реализация конструктора от компилятора</a:t>
            </a: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(){}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             //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Конструктор по умолчанию</a:t>
            </a: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){}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){}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Dot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dot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Point </a:t>
            </a:r>
            <a:r>
              <a:rPr lang="en-US" sz="14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p0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Объекта 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p0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не создаётся. Это объявление функции</a:t>
            </a: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Point p1;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Point </a:t>
            </a:r>
            <a:r>
              <a:rPr lang="en-US" sz="14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p2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Point </a:t>
            </a:r>
            <a:r>
              <a:rPr lang="en-US" sz="14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p3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10.0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Скругленный прямоугольник 4">
            <a:extLst>
              <a:ext uri="{FF2B5EF4-FFF2-40B4-BE49-F238E27FC236}">
                <a16:creationId xmlns:a16="http://schemas.microsoft.com/office/drawing/2014/main" id="{1EB007C5-5DA8-B288-A536-40CA04D92FFF}"/>
              </a:ext>
            </a:extLst>
          </p:cNvPr>
          <p:cNvSpPr/>
          <p:nvPr/>
        </p:nvSpPr>
        <p:spPr>
          <a:xfrm>
            <a:off x="7699664" y="1721861"/>
            <a:ext cx="3654134" cy="4486275"/>
          </a:xfrm>
          <a:prstGeom prst="roundRect">
            <a:avLst>
              <a:gd name="adj" fmla="val 3491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ru-RU" sz="1400" dirty="0"/>
              <a:t>Конструктор – отвечает за создание и инициализацию объекта</a:t>
            </a:r>
            <a:r>
              <a:rPr lang="en-US" sz="1400" dirty="0"/>
              <a:t>;</a:t>
            </a:r>
          </a:p>
          <a:p>
            <a:pPr marL="0" indent="0">
              <a:lnSpc>
                <a:spcPct val="100000"/>
              </a:lnSpc>
              <a:buNone/>
            </a:pPr>
            <a:endParaRPr lang="en-US" sz="1400" dirty="0"/>
          </a:p>
          <a:p>
            <a:r>
              <a:rPr lang="ru-RU" sz="1400" dirty="0"/>
              <a:t>У класса может быть любое количество конструкторов</a:t>
            </a:r>
            <a:r>
              <a:rPr lang="en-US" sz="1400" dirty="0"/>
              <a:t>;</a:t>
            </a:r>
          </a:p>
          <a:p>
            <a:endParaRPr lang="en-US" sz="1400" dirty="0"/>
          </a:p>
          <a:p>
            <a:r>
              <a:rPr lang="ru-RU" sz="1400" dirty="0"/>
              <a:t>Конструктор объявляется как метод с именем совпадающем с названием класса и без возвращаемого значения</a:t>
            </a:r>
            <a:r>
              <a:rPr lang="en-US" sz="1400" dirty="0"/>
              <a:t>;</a:t>
            </a:r>
          </a:p>
          <a:p>
            <a:endParaRPr lang="ru-RU" sz="1400" dirty="0"/>
          </a:p>
          <a:p>
            <a:pPr marL="0" indent="0">
              <a:lnSpc>
                <a:spcPct val="100000"/>
              </a:lnSpc>
              <a:buNone/>
            </a:pPr>
            <a:r>
              <a:rPr lang="ru-RU" sz="1400" dirty="0"/>
              <a:t>Конструктор автоматически вызывается во время создания объекта</a:t>
            </a:r>
            <a:r>
              <a:rPr lang="en-US" sz="1400" dirty="0"/>
              <a:t>;</a:t>
            </a:r>
          </a:p>
          <a:p>
            <a:pPr marL="0" indent="0">
              <a:lnSpc>
                <a:spcPct val="100000"/>
              </a:lnSpc>
              <a:buNone/>
            </a:pPr>
            <a:endParaRPr lang="ru-RU" sz="1400" dirty="0"/>
          </a:p>
          <a:p>
            <a:pPr marL="0" indent="0">
              <a:lnSpc>
                <a:spcPct val="100000"/>
              </a:lnSpc>
              <a:buNone/>
            </a:pPr>
            <a:r>
              <a:rPr lang="ru-RU" sz="1400" dirty="0"/>
              <a:t>Если в теле класса не объявлен конструктор, то компилятор предоставляет реализацию по умолчанию. Этот конструктор ничего не делает</a:t>
            </a:r>
            <a:r>
              <a:rPr lang="en-US" sz="1400" dirty="0"/>
              <a:t>;</a:t>
            </a:r>
            <a:br>
              <a:rPr lang="ru-RU" sz="1400" dirty="0"/>
            </a:br>
            <a:r>
              <a:rPr lang="ru-RU" sz="1400" dirty="0"/>
              <a:t>Если есть хоть один пользовательский конструктор, то реализация от компилятора не предоставляется</a:t>
            </a:r>
            <a:r>
              <a:rPr lang="en-US" sz="1400" dirty="0"/>
              <a:t>;</a:t>
            </a:r>
            <a:endParaRPr lang="ru-RU" sz="1400" dirty="0"/>
          </a:p>
        </p:txBody>
      </p:sp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2F118968-1D91-E1F5-1097-64D5AF47FA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4"/>
            <a:ext cx="10515600" cy="720000"/>
          </a:xfrm>
        </p:spPr>
        <p:txBody>
          <a:bodyPr/>
          <a:lstStyle/>
          <a:p>
            <a:r>
              <a:rPr lang="ru-RU" sz="4000" dirty="0"/>
              <a:t>Конструктор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5962589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709530"/>
            <a:ext cx="10515599" cy="4467433"/>
          </a:xfrm>
        </p:spPr>
        <p:txBody>
          <a:bodyPr lIns="14400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Dot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Dot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"Dot </a:t>
            </a:r>
            <a:r>
              <a:rPr lang="ru-RU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по умолчанию"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"Point </a:t>
            </a:r>
            <a:r>
              <a:rPr lang="ru-RU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по умолчанию"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Dot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dot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Point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Скругленный прямоугольник 4">
            <a:extLst>
              <a:ext uri="{FF2B5EF4-FFF2-40B4-BE49-F238E27FC236}">
                <a16:creationId xmlns:a16="http://schemas.microsoft.com/office/drawing/2014/main" id="{1EB007C5-5DA8-B288-A536-40CA04D92FFF}"/>
              </a:ext>
            </a:extLst>
          </p:cNvPr>
          <p:cNvSpPr/>
          <p:nvPr/>
        </p:nvSpPr>
        <p:spPr>
          <a:xfrm>
            <a:off x="7699664" y="1901537"/>
            <a:ext cx="3654134" cy="1527464"/>
          </a:xfrm>
          <a:prstGeom prst="roundRect">
            <a:avLst>
              <a:gd name="adj" fmla="val 3491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ru-RU" sz="1400" dirty="0"/>
              <a:t>Конструктор без параметров называется конструктором по умолчанию</a:t>
            </a:r>
            <a:r>
              <a:rPr lang="en-US" sz="1400" dirty="0"/>
              <a:t>;</a:t>
            </a:r>
          </a:p>
          <a:p>
            <a:pPr marL="0" indent="0">
              <a:lnSpc>
                <a:spcPct val="100000"/>
              </a:lnSpc>
              <a:buNone/>
            </a:pP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ru-RU" sz="1400" dirty="0"/>
              <a:t>Конструктор который может быть использован без параметров тоже называется конструктором по умолчанию</a:t>
            </a:r>
            <a:r>
              <a:rPr lang="en-US" sz="1400" dirty="0"/>
              <a:t>;</a:t>
            </a:r>
          </a:p>
        </p:txBody>
      </p:sp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2F118968-1D91-E1F5-1097-64D5AF47FA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rmAutofit/>
          </a:bodyPr>
          <a:lstStyle/>
          <a:p>
            <a:r>
              <a:rPr lang="ru-RU" sz="4000" dirty="0"/>
              <a:t>Конструктор по умолчанию</a:t>
            </a:r>
          </a:p>
        </p:txBody>
      </p:sp>
    </p:spTree>
    <p:extLst>
      <p:ext uri="{BB962C8B-B14F-4D97-AF65-F5344CB8AC3E}">
        <p14:creationId xmlns:p14="http://schemas.microsoft.com/office/powerpoint/2010/main" val="109314863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40000"/>
            <a:ext cx="10515599" cy="4860000"/>
          </a:xfrm>
        </p:spPr>
        <p:txBody>
          <a:bodyPr lIns="14400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Dot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Dot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"Dot </a:t>
            </a:r>
            <a:r>
              <a:rPr lang="ru-RU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по умолчанию"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explicit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"Point </a:t>
            </a:r>
            <a:r>
              <a:rPr lang="ru-RU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по умолчанию"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dot_func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Dot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dot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){}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point_func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1080"/>
                </a:solidFill>
                <a:latin typeface="Consolas" panose="020B0609020204030204" pitchFamily="49" charset="0"/>
              </a:rPr>
              <a:t>point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){}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Dot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dot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   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Неявный вызов конструктора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Point </a:t>
            </a:r>
            <a:r>
              <a:rPr lang="en-US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= 1;  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Point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Явный вызов конструктора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dot_func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   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Неявное создание объекта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en-US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point_func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(1);    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Скругленный прямоугольник 4">
            <a:extLst>
              <a:ext uri="{FF2B5EF4-FFF2-40B4-BE49-F238E27FC236}">
                <a16:creationId xmlns:a16="http://schemas.microsoft.com/office/drawing/2014/main" id="{1EB007C5-5DA8-B288-A536-40CA04D92FFF}"/>
              </a:ext>
            </a:extLst>
          </p:cNvPr>
          <p:cNvSpPr/>
          <p:nvPr/>
        </p:nvSpPr>
        <p:spPr>
          <a:xfrm>
            <a:off x="7699664" y="1901536"/>
            <a:ext cx="3654134" cy="4275426"/>
          </a:xfrm>
          <a:prstGeom prst="roundRect">
            <a:avLst>
              <a:gd name="adj" fmla="val 3491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ru-RU" sz="1400" dirty="0"/>
              <a:t>Конструктор с одним параметром может быть вызван компилятором неявно, если с левой стороны от знака равенства указан тип равный или преобразуемый в тип параметра конструктора</a:t>
            </a:r>
            <a:r>
              <a:rPr lang="en-US" sz="1400" dirty="0"/>
              <a:t>;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ru-RU" sz="1400" dirty="0"/>
              <a:t>Тоже поведение возможно во время вызова функции которая принимает объект по значению, но вместо объекта ей передают другой тип данных</a:t>
            </a:r>
            <a:r>
              <a:rPr lang="en-US" sz="1400" dirty="0"/>
              <a:t>;</a:t>
            </a:r>
          </a:p>
          <a:p>
            <a:pPr marL="0" indent="0">
              <a:lnSpc>
                <a:spcPct val="100000"/>
              </a:lnSpc>
              <a:buNone/>
            </a:pP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ru-RU" sz="1400" dirty="0"/>
              <a:t>Чтобы предотвратить такое поведение нужно добавить к конструктору ключевое слово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explicit</a:t>
            </a:r>
            <a:r>
              <a:rPr lang="ru-RU" sz="1400" dirty="0">
                <a:solidFill>
                  <a:srgbClr val="0000FF"/>
                </a:solidFill>
                <a:latin typeface="Consolas" panose="020B0609020204030204" pitchFamily="49" charset="0"/>
              </a:rPr>
              <a:t>.</a:t>
            </a:r>
            <a:r>
              <a:rPr lang="ru-RU" sz="1400" dirty="0">
                <a:solidFill>
                  <a:srgbClr val="0000FF"/>
                </a:solidFill>
              </a:rPr>
              <a:t> </a:t>
            </a:r>
            <a:r>
              <a:rPr lang="ru-RU" sz="1400" dirty="0"/>
              <a:t>В этом случае вызов конструктора неявно будет запрещено</a:t>
            </a:r>
            <a:r>
              <a:rPr lang="en-US" sz="1400" dirty="0"/>
              <a:t>;</a:t>
            </a:r>
          </a:p>
          <a:p>
            <a:pPr marL="0" indent="0">
              <a:lnSpc>
                <a:spcPct val="100000"/>
              </a:lnSpc>
              <a:buNone/>
            </a:pP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ru-RU" sz="1400" dirty="0"/>
              <a:t>Конструкторы с несколькими параметрами не обладают каким поведением, если только для параметров не установлено значение по умолчанию</a:t>
            </a:r>
            <a:endParaRPr lang="en-US" sz="1400" dirty="0"/>
          </a:p>
        </p:txBody>
      </p:sp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2F118968-1D91-E1F5-1097-64D5AF47FA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rmAutofit/>
          </a:bodyPr>
          <a:lstStyle/>
          <a:p>
            <a:r>
              <a:rPr lang="ru-RU" sz="4000" dirty="0"/>
              <a:t>Конструктор с одним параметром</a:t>
            </a:r>
          </a:p>
        </p:txBody>
      </p:sp>
    </p:spTree>
    <p:extLst>
      <p:ext uri="{BB962C8B-B14F-4D97-AF65-F5344CB8AC3E}">
        <p14:creationId xmlns:p14="http://schemas.microsoft.com/office/powerpoint/2010/main" val="35075126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901536"/>
            <a:ext cx="10515599" cy="4275427"/>
          </a:xfrm>
        </p:spPr>
        <p:txBody>
          <a:bodyPr lIns="14400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sz="11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Dot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sz="11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Делегирующий конструктор</a:t>
            </a:r>
            <a:endParaRPr lang="ru-RU" sz="11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1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Dot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(): </a:t>
            </a:r>
            <a:r>
              <a:rPr lang="en-US" sz="11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Dot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1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1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1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"Dot </a:t>
            </a:r>
            <a:r>
              <a:rPr lang="ru-RU" sz="11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по умолчанию"</a:t>
            </a:r>
            <a:r>
              <a:rPr lang="ru-RU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1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1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Dot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1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1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"Dot </a:t>
            </a:r>
            <a:r>
              <a:rPr lang="ru-RU" sz="11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с параметрами"</a:t>
            </a:r>
            <a:r>
              <a:rPr lang="ru-RU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1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value = 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value;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1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Скругленный прямоугольник 4">
            <a:extLst>
              <a:ext uri="{FF2B5EF4-FFF2-40B4-BE49-F238E27FC236}">
                <a16:creationId xmlns:a16="http://schemas.microsoft.com/office/drawing/2014/main" id="{1EB007C5-5DA8-B288-A536-40CA04D92FFF}"/>
              </a:ext>
            </a:extLst>
          </p:cNvPr>
          <p:cNvSpPr/>
          <p:nvPr/>
        </p:nvSpPr>
        <p:spPr>
          <a:xfrm>
            <a:off x="838199" y="4775632"/>
            <a:ext cx="4544292" cy="918586"/>
          </a:xfrm>
          <a:prstGeom prst="roundRect">
            <a:avLst>
              <a:gd name="adj" fmla="val 3491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ru-RU" sz="1200" dirty="0"/>
              <a:t>Многие классы имеют несколько конструкторов, которые выполняют аналогичные действия. Делегирование работы другому конструктору позволяет уменьшить дублирование кода.</a:t>
            </a:r>
            <a:endParaRPr lang="en-US" sz="1200" dirty="0"/>
          </a:p>
        </p:txBody>
      </p:sp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2F118968-1D91-E1F5-1097-64D5AF47FA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rmAutofit/>
          </a:bodyPr>
          <a:lstStyle/>
          <a:p>
            <a:r>
              <a:rPr lang="ru-RU" sz="4000" dirty="0"/>
              <a:t>Делегирующий конструктор</a:t>
            </a:r>
          </a:p>
        </p:txBody>
      </p:sp>
      <p:sp>
        <p:nvSpPr>
          <p:cNvPr id="2" name="Объект 2">
            <a:extLst>
              <a:ext uri="{FF2B5EF4-FFF2-40B4-BE49-F238E27FC236}">
                <a16:creationId xmlns:a16="http://schemas.microsoft.com/office/drawing/2014/main" id="{709A583A-6878-5F2B-8B06-82FC3F5C5695}"/>
              </a:ext>
            </a:extLst>
          </p:cNvPr>
          <p:cNvSpPr txBox="1">
            <a:spLocks/>
          </p:cNvSpPr>
          <p:nvPr/>
        </p:nvSpPr>
        <p:spPr>
          <a:xfrm>
            <a:off x="5552213" y="1901535"/>
            <a:ext cx="5451760" cy="4275427"/>
          </a:xfrm>
          <a:prstGeom prst="rect">
            <a:avLst/>
          </a:prstGeom>
        </p:spPr>
        <p:txBody>
          <a:bodyPr vert="horz" lIns="14400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dirty="0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100" dirty="0">
                <a:solidFill>
                  <a:srgbClr val="267F99"/>
                </a:solidFill>
                <a:latin typeface="Consolas" panose="020B0609020204030204" pitchFamily="49" charset="0"/>
              </a:rPr>
              <a:t>Point</a:t>
            </a: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100" dirty="0">
                <a:solidFill>
                  <a:srgbClr val="795E26"/>
                </a:solidFill>
                <a:latin typeface="Consolas" panose="020B0609020204030204" pitchFamily="49" charset="0"/>
              </a:rPr>
              <a:t>Point</a:t>
            </a: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</a:rPr>
              <a:t>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100" dirty="0">
                <a:solidFill>
                  <a:srgbClr val="795E26"/>
                </a:solidFill>
                <a:latin typeface="Consolas" panose="020B0609020204030204" pitchFamily="49" charset="0"/>
              </a:rPr>
              <a:t>Point</a:t>
            </a: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100" dirty="0">
                <a:solidFill>
                  <a:srgbClr val="098658"/>
                </a:solidFill>
                <a:latin typeface="Consolas" panose="020B0609020204030204" pitchFamily="49" charset="0"/>
              </a:rPr>
              <a:t>10</a:t>
            </a: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r>
              <a:rPr lang="en-US" sz="1100" dirty="0">
                <a:solidFill>
                  <a:srgbClr val="008000"/>
                </a:solidFill>
                <a:latin typeface="Consolas" panose="020B0609020204030204" pitchFamily="49" charset="0"/>
              </a:rPr>
              <a:t> // </a:t>
            </a:r>
            <a:r>
              <a:rPr lang="ru-RU" sz="1100" dirty="0">
                <a:solidFill>
                  <a:srgbClr val="008000"/>
                </a:solidFill>
                <a:latin typeface="Consolas" panose="020B0609020204030204" pitchFamily="49" charset="0"/>
              </a:rPr>
              <a:t>Создаётся временный объект, не делегирование</a:t>
            </a:r>
            <a:endParaRPr lang="ru-RU" sz="11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ru-RU" sz="11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100" dirty="0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en-US" sz="1100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100" dirty="0">
                <a:solidFill>
                  <a:srgbClr val="A31515"/>
                </a:solidFill>
                <a:latin typeface="Consolas" panose="020B0609020204030204" pitchFamily="49" charset="0"/>
              </a:rPr>
              <a:t>"Point </a:t>
            </a:r>
            <a:r>
              <a:rPr lang="ru-RU" sz="1100" dirty="0">
                <a:solidFill>
                  <a:srgbClr val="A31515"/>
                </a:solidFill>
                <a:latin typeface="Consolas" panose="020B0609020204030204" pitchFamily="49" charset="0"/>
              </a:rPr>
              <a:t>по умолчанию"</a:t>
            </a:r>
            <a:r>
              <a:rPr lang="ru-RU" sz="11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100" dirty="0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en-US" sz="1100" dirty="0" err="1">
                <a:solidFill>
                  <a:srgbClr val="000000"/>
                </a:solidFill>
                <a:latin typeface="Consolas" panose="020B0609020204030204" pitchFamily="49" charset="0"/>
              </a:rPr>
              <a:t>endl</a:t>
            </a: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100" dirty="0">
                <a:solidFill>
                  <a:srgbClr val="795E26"/>
                </a:solidFill>
                <a:latin typeface="Consolas" panose="020B0609020204030204" pitchFamily="49" charset="0"/>
              </a:rPr>
              <a:t>Point</a:t>
            </a: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1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100" dirty="0" err="1">
                <a:solidFill>
                  <a:srgbClr val="001080"/>
                </a:solidFill>
                <a:latin typeface="Consolas" panose="020B0609020204030204" pitchFamily="49" charset="0"/>
              </a:rPr>
              <a:t>i</a:t>
            </a: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</a:rPr>
              <a:t>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100" dirty="0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en-US" sz="1100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100" dirty="0">
                <a:solidFill>
                  <a:srgbClr val="A31515"/>
                </a:solidFill>
                <a:latin typeface="Consolas" panose="020B0609020204030204" pitchFamily="49" charset="0"/>
              </a:rPr>
              <a:t>"Point </a:t>
            </a:r>
            <a:r>
              <a:rPr lang="ru-RU" sz="1100" dirty="0">
                <a:solidFill>
                  <a:srgbClr val="A31515"/>
                </a:solidFill>
                <a:latin typeface="Consolas" panose="020B0609020204030204" pitchFamily="49" charset="0"/>
              </a:rPr>
              <a:t>с параметрами"</a:t>
            </a:r>
            <a:r>
              <a:rPr lang="ru-RU" sz="11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100" dirty="0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en-US" sz="1100" dirty="0" err="1">
                <a:solidFill>
                  <a:srgbClr val="000000"/>
                </a:solidFill>
                <a:latin typeface="Consolas" panose="020B0609020204030204" pitchFamily="49" charset="0"/>
              </a:rPr>
              <a:t>endl</a:t>
            </a: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value = </a:t>
            </a:r>
            <a:r>
              <a:rPr lang="en-US" sz="110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1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</a:rPr>
              <a:t> value;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b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b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11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100" dirty="0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</a:rPr>
              <a:t>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</a:rPr>
              <a:t>    Dot </a:t>
            </a:r>
            <a:r>
              <a:rPr lang="en-US" sz="1100" dirty="0" err="1">
                <a:solidFill>
                  <a:srgbClr val="000000"/>
                </a:solidFill>
                <a:latin typeface="Consolas" panose="020B0609020204030204" pitchFamily="49" charset="0"/>
              </a:rPr>
              <a:t>dot</a:t>
            </a: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100" dirty="0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en-US" sz="1100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100" dirty="0">
                <a:solidFill>
                  <a:srgbClr val="A31515"/>
                </a:solidFill>
                <a:latin typeface="Consolas" panose="020B0609020204030204" pitchFamily="49" charset="0"/>
              </a:rPr>
              <a:t>"Dot: "</a:t>
            </a: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100" dirty="0" err="1">
                <a:solidFill>
                  <a:srgbClr val="001080"/>
                </a:solidFill>
                <a:latin typeface="Consolas" panose="020B0609020204030204" pitchFamily="49" charset="0"/>
              </a:rPr>
              <a:t>dot</a:t>
            </a:r>
            <a:r>
              <a:rPr lang="en-US" sz="11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100" dirty="0" err="1">
                <a:solidFill>
                  <a:srgbClr val="001080"/>
                </a:solidFill>
                <a:latin typeface="Consolas" panose="020B0609020204030204" pitchFamily="49" charset="0"/>
              </a:rPr>
              <a:t>value</a:t>
            </a: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100" dirty="0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en-US" sz="1100" dirty="0" err="1">
                <a:solidFill>
                  <a:srgbClr val="000000"/>
                </a:solidFill>
                <a:latin typeface="Consolas" panose="020B0609020204030204" pitchFamily="49" charset="0"/>
              </a:rPr>
              <a:t>endl</a:t>
            </a: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b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</a:rPr>
              <a:t>    Point </a:t>
            </a:r>
            <a:r>
              <a:rPr lang="en-US" sz="1100" dirty="0" err="1">
                <a:solidFill>
                  <a:srgbClr val="000000"/>
                </a:solidFill>
                <a:latin typeface="Consolas" panose="020B0609020204030204" pitchFamily="49" charset="0"/>
              </a:rPr>
              <a:t>point</a:t>
            </a: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100" dirty="0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en-US" sz="1100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100" dirty="0">
                <a:solidFill>
                  <a:srgbClr val="A31515"/>
                </a:solidFill>
                <a:latin typeface="Consolas" panose="020B0609020204030204" pitchFamily="49" charset="0"/>
              </a:rPr>
              <a:t>"Point: "</a:t>
            </a: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100" dirty="0" err="1">
                <a:solidFill>
                  <a:srgbClr val="001080"/>
                </a:solidFill>
                <a:latin typeface="Consolas" panose="020B0609020204030204" pitchFamily="49" charset="0"/>
              </a:rPr>
              <a:t>point</a:t>
            </a:r>
            <a:r>
              <a:rPr lang="en-US" sz="11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100" dirty="0" err="1">
                <a:solidFill>
                  <a:srgbClr val="001080"/>
                </a:solidFill>
                <a:latin typeface="Consolas" panose="020B0609020204030204" pitchFamily="49" charset="0"/>
              </a:rPr>
              <a:t>value</a:t>
            </a: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100" dirty="0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en-US" sz="1100" dirty="0" err="1">
                <a:solidFill>
                  <a:srgbClr val="000000"/>
                </a:solidFill>
                <a:latin typeface="Consolas" panose="020B0609020204030204" pitchFamily="49" charset="0"/>
              </a:rPr>
              <a:t>endl</a:t>
            </a: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8703583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729259"/>
            <a:ext cx="10515599" cy="4275427"/>
          </a:xfrm>
        </p:spPr>
        <p:txBody>
          <a:bodyPr lIns="14400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sz="13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3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endParaRPr lang="en-US" sz="13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3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3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3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3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3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3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3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 // </a:t>
            </a:r>
            <a:r>
              <a:rPr lang="ru-RU" sz="13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так не получится</a:t>
            </a:r>
            <a:endParaRPr lang="ru-RU" sz="13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sz="13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3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3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3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нужно так</a:t>
            </a:r>
            <a:endParaRPr lang="ru-RU" sz="13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b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3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3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2F118968-1D91-E1F5-1097-64D5AF47FA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rmAutofit/>
          </a:bodyPr>
          <a:lstStyle/>
          <a:p>
            <a:r>
              <a:rPr lang="ru-RU" sz="4000" dirty="0"/>
              <a:t>Инициализация полей</a:t>
            </a:r>
          </a:p>
        </p:txBody>
      </p:sp>
      <p:sp>
        <p:nvSpPr>
          <p:cNvPr id="2" name="Объект 2">
            <a:extLst>
              <a:ext uri="{FF2B5EF4-FFF2-40B4-BE49-F238E27FC236}">
                <a16:creationId xmlns:a16="http://schemas.microsoft.com/office/drawing/2014/main" id="{709A583A-6878-5F2B-8B06-82FC3F5C5695}"/>
              </a:ext>
            </a:extLst>
          </p:cNvPr>
          <p:cNvSpPr txBox="1">
            <a:spLocks/>
          </p:cNvSpPr>
          <p:nvPr/>
        </p:nvSpPr>
        <p:spPr>
          <a:xfrm>
            <a:off x="5579921" y="1729258"/>
            <a:ext cx="5995551" cy="4275427"/>
          </a:xfrm>
          <a:prstGeom prst="rect">
            <a:avLst/>
          </a:prstGeom>
        </p:spPr>
        <p:txBody>
          <a:bodyPr vert="horz" lIns="14400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sz="13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3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3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3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), </a:t>
            </a:r>
            <a:r>
              <a:rPr lang="en-US" sz="13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3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), </a:t>
            </a:r>
            <a:r>
              <a:rPr lang="en-US" sz="13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3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13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</a:t>
            </a:r>
            <a:r>
              <a:rPr lang="ru-RU" sz="13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Список инициализаторов</a:t>
            </a:r>
            <a:endParaRPr lang="ru-RU" sz="13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3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// Тело пустое</a:t>
            </a:r>
            <a:endParaRPr lang="ru-RU" sz="13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b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3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3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Скругленный прямоугольник 4">
            <a:extLst>
              <a:ext uri="{FF2B5EF4-FFF2-40B4-BE49-F238E27FC236}">
                <a16:creationId xmlns:a16="http://schemas.microsoft.com/office/drawing/2014/main" id="{C48AFB50-75A7-24B5-F32C-E41943C7A003}"/>
              </a:ext>
            </a:extLst>
          </p:cNvPr>
          <p:cNvSpPr/>
          <p:nvPr/>
        </p:nvSpPr>
        <p:spPr>
          <a:xfrm>
            <a:off x="8368145" y="2909971"/>
            <a:ext cx="3096490" cy="3410628"/>
          </a:xfrm>
          <a:prstGeom prst="roundRect">
            <a:avLst>
              <a:gd name="adj" fmla="val 3491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ru-RU" sz="1100" dirty="0"/>
              <a:t>Поля объекта инициализируются в конструкторе, чтобы привести объект к начальному допустимому состоянию</a:t>
            </a:r>
            <a:r>
              <a:rPr lang="en-US" sz="1100" dirty="0"/>
              <a:t>;</a:t>
            </a:r>
          </a:p>
          <a:p>
            <a:pPr marL="0" indent="0">
              <a:lnSpc>
                <a:spcPct val="100000"/>
              </a:lnSpc>
              <a:buNone/>
            </a:pPr>
            <a:endParaRPr lang="en-US" sz="1100" dirty="0"/>
          </a:p>
          <a:p>
            <a:pPr marL="0" indent="0">
              <a:lnSpc>
                <a:spcPct val="100000"/>
              </a:lnSpc>
              <a:buNone/>
            </a:pPr>
            <a:r>
              <a:rPr lang="ru-RU" sz="1100" dirty="0"/>
              <a:t>Поля можно инициализировать в теле конструктора через обычное присваивание или в списке инициализаторов</a:t>
            </a:r>
            <a:r>
              <a:rPr lang="en-US" sz="1100" dirty="0"/>
              <a:t>;</a:t>
            </a:r>
          </a:p>
          <a:p>
            <a:pPr marL="0" indent="0">
              <a:lnSpc>
                <a:spcPct val="100000"/>
              </a:lnSpc>
              <a:buNone/>
            </a:pPr>
            <a:endParaRPr lang="en-US" sz="1100" dirty="0"/>
          </a:p>
          <a:p>
            <a:pPr marL="0" indent="0">
              <a:lnSpc>
                <a:spcPct val="100000"/>
              </a:lnSpc>
              <a:buNone/>
            </a:pPr>
            <a:r>
              <a:rPr lang="ru-RU" sz="1100" dirty="0"/>
              <a:t>В списке инициализаторов можно использовать одно и тоже имя для поля объекта и параметра конструктора. </a:t>
            </a:r>
            <a:endParaRPr lang="en-US" sz="1100" dirty="0"/>
          </a:p>
          <a:p>
            <a:pPr marL="0" indent="0">
              <a:lnSpc>
                <a:spcPct val="100000"/>
              </a:lnSpc>
              <a:buNone/>
            </a:pPr>
            <a:endParaRPr lang="en-US" sz="1100" dirty="0"/>
          </a:p>
          <a:p>
            <a:pPr marL="0" indent="0">
              <a:lnSpc>
                <a:spcPct val="100000"/>
              </a:lnSpc>
              <a:buNone/>
            </a:pPr>
            <a:r>
              <a:rPr lang="ru-RU" sz="1100" b="1" dirty="0"/>
              <a:t>Порядок инициализации полей определяется НЕ порядком в котором указаны поля в списке инициализаторов, а порядком их объявления в теле класса</a:t>
            </a:r>
            <a:r>
              <a:rPr lang="en-US" sz="1100" b="1" dirty="0"/>
              <a:t>;</a:t>
            </a:r>
          </a:p>
          <a:p>
            <a:pPr marL="0" indent="0">
              <a:lnSpc>
                <a:spcPct val="100000"/>
              </a:lnSpc>
              <a:buNone/>
            </a:pPr>
            <a:endParaRPr lang="en-US" sz="1100" dirty="0"/>
          </a:p>
          <a:p>
            <a:pPr marL="0" indent="0">
              <a:lnSpc>
                <a:spcPct val="100000"/>
              </a:lnSpc>
              <a:buNone/>
            </a:pPr>
            <a:r>
              <a:rPr lang="ru-RU" sz="1100" dirty="0"/>
              <a:t>Можно комбинировать инициализацию в теле конструктора и списки инициализаторов, но часто тело оставляю пустым.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194820423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716006"/>
            <a:ext cx="10515599" cy="4275427"/>
          </a:xfrm>
        </p:spPr>
        <p:txBody>
          <a:bodyPr lIns="14400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sz="13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3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int&amp;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3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3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// y = value;  // </a:t>
            </a:r>
            <a:r>
              <a:rPr lang="ru-RU" sz="13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</a:t>
            </a:r>
            <a:endParaRPr lang="ru-RU" sz="13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3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&amp;</a:t>
            </a:r>
            <a:r>
              <a:rPr lang="en-US" sz="13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// k = value;  // </a:t>
            </a:r>
            <a:r>
              <a:rPr lang="ru-RU" sz="13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</a:t>
            </a:r>
            <a:endParaRPr lang="ru-RU" sz="13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3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 // </a:t>
            </a:r>
            <a:r>
              <a:rPr lang="ru-RU" sz="13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Обычное значение</a:t>
            </a:r>
            <a:endParaRPr lang="ru-RU" sz="13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3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3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Константа</a:t>
            </a:r>
            <a:endParaRPr lang="ru-RU" sz="13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3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3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// </a:t>
            </a:r>
            <a:r>
              <a:rPr lang="ru-RU" sz="13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Указатель</a:t>
            </a:r>
            <a:endParaRPr lang="ru-RU" sz="13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3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k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3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// </a:t>
            </a:r>
            <a:r>
              <a:rPr lang="ru-RU" sz="13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Ссылка</a:t>
            </a:r>
            <a:endParaRPr lang="ru-RU" sz="13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ru-RU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br>
              <a:rPr lang="ru-RU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3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3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3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2F118968-1D91-E1F5-1097-64D5AF47FA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rmAutofit/>
          </a:bodyPr>
          <a:lstStyle/>
          <a:p>
            <a:r>
              <a:rPr lang="ru-RU" sz="4000" dirty="0"/>
              <a:t>Инициализация полей-констант и ссылок</a:t>
            </a:r>
          </a:p>
        </p:txBody>
      </p:sp>
      <p:sp>
        <p:nvSpPr>
          <p:cNvPr id="2" name="Объект 2">
            <a:extLst>
              <a:ext uri="{FF2B5EF4-FFF2-40B4-BE49-F238E27FC236}">
                <a16:creationId xmlns:a16="http://schemas.microsoft.com/office/drawing/2014/main" id="{709A583A-6878-5F2B-8B06-82FC3F5C5695}"/>
              </a:ext>
            </a:extLst>
          </p:cNvPr>
          <p:cNvSpPr txBox="1">
            <a:spLocks/>
          </p:cNvSpPr>
          <p:nvPr/>
        </p:nvSpPr>
        <p:spPr>
          <a:xfrm>
            <a:off x="5112327" y="1716005"/>
            <a:ext cx="5891646" cy="4275427"/>
          </a:xfrm>
          <a:prstGeom prst="rect">
            <a:avLst/>
          </a:prstGeom>
        </p:spPr>
        <p:txBody>
          <a:bodyPr vert="horz" lIns="14400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sz="13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3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int&amp;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): </a:t>
            </a:r>
            <a:r>
              <a:rPr lang="en-US" sz="13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3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), </a:t>
            </a:r>
            <a:r>
              <a:rPr lang="en-US" sz="13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3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), </a:t>
            </a:r>
            <a:r>
              <a:rPr lang="en-US" sz="13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(&amp;</a:t>
            </a:r>
            <a:r>
              <a:rPr lang="en-US" sz="13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), </a:t>
            </a:r>
            <a:r>
              <a:rPr lang="en-US" sz="13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k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3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3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 // </a:t>
            </a:r>
            <a:r>
              <a:rPr lang="ru-RU" sz="13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Обычное значение</a:t>
            </a:r>
            <a:endParaRPr lang="ru-RU" sz="13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3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3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Константа</a:t>
            </a:r>
            <a:endParaRPr lang="ru-RU" sz="13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3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3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// </a:t>
            </a:r>
            <a:r>
              <a:rPr lang="ru-RU" sz="13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Указатель</a:t>
            </a:r>
            <a:endParaRPr lang="ru-RU" sz="13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3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k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3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// </a:t>
            </a:r>
            <a:r>
              <a:rPr lang="ru-RU" sz="13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Ссылка</a:t>
            </a:r>
            <a:endParaRPr lang="ru-RU" sz="13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ru-RU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3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3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3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ru-RU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3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3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3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Скругленный прямоугольник 4">
            <a:extLst>
              <a:ext uri="{FF2B5EF4-FFF2-40B4-BE49-F238E27FC236}">
                <a16:creationId xmlns:a16="http://schemas.microsoft.com/office/drawing/2014/main" id="{2AC8AFB5-C34E-3FC1-C484-E2A86E7921B5}"/>
              </a:ext>
            </a:extLst>
          </p:cNvPr>
          <p:cNvSpPr/>
          <p:nvPr/>
        </p:nvSpPr>
        <p:spPr>
          <a:xfrm>
            <a:off x="8368145" y="3492851"/>
            <a:ext cx="3096490" cy="2814493"/>
          </a:xfrm>
          <a:prstGeom prst="roundRect">
            <a:avLst>
              <a:gd name="adj" fmla="val 3491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ru-RU" sz="1200" dirty="0"/>
              <a:t>Тело конструктора исполняется уже после создания объекта, поэтому инициализация поля-константы будет воспринято как попытка его изменить, что недопустимо</a:t>
            </a:r>
            <a:r>
              <a:rPr lang="en-US" sz="1200" dirty="0"/>
              <a:t>;</a:t>
            </a:r>
          </a:p>
          <a:p>
            <a:pPr marL="0" indent="0">
              <a:lnSpc>
                <a:spcPct val="100000"/>
              </a:lnSpc>
              <a:buNone/>
            </a:pPr>
            <a:endParaRPr lang="en-US" sz="1200" dirty="0"/>
          </a:p>
          <a:p>
            <a:pPr marL="0" indent="0">
              <a:lnSpc>
                <a:spcPct val="100000"/>
              </a:lnSpc>
              <a:buNone/>
            </a:pPr>
            <a:r>
              <a:rPr lang="ru-RU" sz="1200" dirty="0"/>
              <a:t>Инициализация поля-ссылки также не допускается в теле конструктора, по той же причине что указана выше. Т.е. такое поле в момент выполнения тела конструктора считается неинициализированной ссылкой, что тоже не допустимо</a:t>
            </a:r>
            <a:r>
              <a:rPr lang="en-US" sz="1200" dirty="0"/>
              <a:t>;</a:t>
            </a:r>
          </a:p>
          <a:p>
            <a:pPr marL="0" indent="0">
              <a:lnSpc>
                <a:spcPct val="100000"/>
              </a:lnSpc>
              <a:buNone/>
            </a:pPr>
            <a:endParaRPr lang="en-US" sz="1200" dirty="0"/>
          </a:p>
          <a:p>
            <a:pPr marL="0" indent="0">
              <a:lnSpc>
                <a:spcPct val="100000"/>
              </a:lnSpc>
              <a:buNone/>
            </a:pPr>
            <a:r>
              <a:rPr lang="ru-RU" sz="1200" dirty="0"/>
              <a:t>Инициализация полей-констант и ссылок в конструкторе возможна только в списке инициализаторов.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81089149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901536"/>
            <a:ext cx="10515599" cy="4275427"/>
          </a:xfrm>
        </p:spPr>
        <p:txBody>
          <a:bodyPr lIns="14400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sz="13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global = </a:t>
            </a:r>
            <a:r>
              <a:rPr lang="en-US" sz="13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3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       = global;</a:t>
            </a:r>
            <a:r>
              <a:rPr lang="en-US" sz="13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</a:t>
            </a:r>
            <a:r>
              <a:rPr lang="ru-RU" sz="13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Обычное значение</a:t>
            </a:r>
            <a:endParaRPr lang="ru-RU" sz="13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y = global;</a:t>
            </a:r>
            <a:r>
              <a:rPr lang="en-US" sz="13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</a:t>
            </a:r>
            <a:r>
              <a:rPr lang="ru-RU" sz="13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Константа</a:t>
            </a:r>
            <a:endParaRPr lang="ru-RU" sz="13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z      = &amp;global;</a:t>
            </a:r>
            <a:r>
              <a:rPr lang="en-US" sz="13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3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Указатель</a:t>
            </a:r>
            <a:endParaRPr lang="ru-RU" sz="13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k      = global;</a:t>
            </a:r>
            <a:r>
              <a:rPr lang="en-US" sz="13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</a:t>
            </a:r>
            <a:r>
              <a:rPr lang="ru-RU" sz="13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Ссылка</a:t>
            </a:r>
            <a:endParaRPr lang="ru-RU" sz="13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ru-RU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Point </a:t>
            </a:r>
            <a:r>
              <a:rPr lang="en-US" sz="13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2F118968-1D91-E1F5-1097-64D5AF47FA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rmAutofit/>
          </a:bodyPr>
          <a:lstStyle/>
          <a:p>
            <a:r>
              <a:rPr lang="ru-RU" sz="4000" dirty="0"/>
              <a:t>Инициализация полей</a:t>
            </a:r>
            <a:r>
              <a:rPr lang="en-US" sz="4000" dirty="0"/>
              <a:t> </a:t>
            </a:r>
            <a:r>
              <a:rPr lang="ru-RU" sz="4000" dirty="0"/>
              <a:t>в точке объявления</a:t>
            </a:r>
          </a:p>
        </p:txBody>
      </p:sp>
      <p:sp>
        <p:nvSpPr>
          <p:cNvPr id="4" name="Скругленный прямоугольник 4">
            <a:extLst>
              <a:ext uri="{FF2B5EF4-FFF2-40B4-BE49-F238E27FC236}">
                <a16:creationId xmlns:a16="http://schemas.microsoft.com/office/drawing/2014/main" id="{2AC8AFB5-C34E-3FC1-C484-E2A86E7921B5}"/>
              </a:ext>
            </a:extLst>
          </p:cNvPr>
          <p:cNvSpPr/>
          <p:nvPr/>
        </p:nvSpPr>
        <p:spPr>
          <a:xfrm>
            <a:off x="7474526" y="1901536"/>
            <a:ext cx="3477492" cy="2524991"/>
          </a:xfrm>
          <a:prstGeom prst="roundRect">
            <a:avLst>
              <a:gd name="adj" fmla="val 3491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ru-RU" sz="1300" dirty="0"/>
              <a:t>Поля объекта можно инициализировать в точке объявления, в том числе ссылки и константы</a:t>
            </a:r>
            <a:r>
              <a:rPr lang="en-US" sz="1300" dirty="0"/>
              <a:t>;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ru-RU" sz="1300" dirty="0"/>
              <a:t>Этот способ пригодится, когда начальное значение поля должно быть одинаковым для всех объектов и известно на этапе компиляции</a:t>
            </a:r>
            <a:r>
              <a:rPr lang="en-US" sz="1300" dirty="0"/>
              <a:t>;</a:t>
            </a:r>
          </a:p>
          <a:p>
            <a:pPr marL="0" indent="0">
              <a:lnSpc>
                <a:spcPct val="100000"/>
              </a:lnSpc>
              <a:buNone/>
            </a:pPr>
            <a:endParaRPr lang="en-US" sz="1300" dirty="0"/>
          </a:p>
          <a:p>
            <a:pPr marL="0" indent="0">
              <a:lnSpc>
                <a:spcPct val="100000"/>
              </a:lnSpc>
              <a:buNone/>
            </a:pPr>
            <a:r>
              <a:rPr lang="ru-RU" sz="1300" dirty="0"/>
              <a:t>Код показанный на примере, хоть и работает, но нарушает принцип инкапсуляции, т.к. часть данных о классе находится за пределами самого класса.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259964993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EA8A94F-5D16-6464-2E03-6765A264B0C8}"/>
              </a:ext>
            </a:extLst>
          </p:cNvPr>
          <p:cNvSpPr txBox="1">
            <a:spLocks/>
          </p:cNvSpPr>
          <p:nvPr/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4400" dirty="0"/>
              <a:t>Деструктор</a:t>
            </a:r>
          </a:p>
        </p:txBody>
      </p:sp>
    </p:spTree>
    <p:extLst>
      <p:ext uri="{BB962C8B-B14F-4D97-AF65-F5344CB8AC3E}">
        <p14:creationId xmlns:p14="http://schemas.microsoft.com/office/powerpoint/2010/main" val="197099743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36496"/>
            <a:ext cx="10515599" cy="4605278"/>
          </a:xfrm>
        </p:spPr>
        <p:txBody>
          <a:bodyPr lIns="14400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ru-RU" sz="1400" b="0" dirty="0">
              <a:solidFill>
                <a:srgbClr val="AF00DB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):</a:t>
            </a:r>
            <a:r>
              <a:rPr lang="en-US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"Created Point("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")"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4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~Point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"Destroyed Point("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")"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4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Point </a:t>
            </a:r>
            <a:r>
              <a:rPr lang="en-US" sz="14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p1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Point </a:t>
            </a:r>
            <a:r>
              <a:rPr lang="en-US" sz="14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p2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Скругленный прямоугольник 4">
            <a:extLst>
              <a:ext uri="{FF2B5EF4-FFF2-40B4-BE49-F238E27FC236}">
                <a16:creationId xmlns:a16="http://schemas.microsoft.com/office/drawing/2014/main" id="{1EB007C5-5DA8-B288-A536-40CA04D92FFF}"/>
              </a:ext>
            </a:extLst>
          </p:cNvPr>
          <p:cNvSpPr/>
          <p:nvPr/>
        </p:nvSpPr>
        <p:spPr>
          <a:xfrm>
            <a:off x="7699664" y="1214439"/>
            <a:ext cx="3654134" cy="5250094"/>
          </a:xfrm>
          <a:prstGeom prst="roundRect">
            <a:avLst>
              <a:gd name="adj" fmla="val 3491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ru-RU" sz="1300" dirty="0"/>
              <a:t>Деструктор – отвечает за корректное удаление объекта и освобождения выделенных ресурсов</a:t>
            </a:r>
            <a:r>
              <a:rPr lang="en-US" sz="1300" dirty="0"/>
              <a:t>;</a:t>
            </a:r>
            <a:endParaRPr lang="ru-RU" sz="1300" dirty="0"/>
          </a:p>
          <a:p>
            <a:pPr marL="0" indent="0">
              <a:lnSpc>
                <a:spcPct val="100000"/>
              </a:lnSpc>
              <a:buNone/>
            </a:pPr>
            <a:endParaRPr lang="ru-RU" sz="1300" dirty="0"/>
          </a:p>
          <a:p>
            <a:pPr marL="0" indent="0">
              <a:lnSpc>
                <a:spcPct val="100000"/>
              </a:lnSpc>
              <a:buNone/>
            </a:pPr>
            <a:r>
              <a:rPr lang="ru-RU" sz="1300" dirty="0"/>
              <a:t>Деструктор автоматически вызывается в момент удаления объекта</a:t>
            </a:r>
            <a:r>
              <a:rPr lang="en-US" sz="1300" dirty="0"/>
              <a:t>;</a:t>
            </a:r>
            <a:endParaRPr lang="ru-RU" sz="1300" dirty="0"/>
          </a:p>
          <a:p>
            <a:pPr marL="0" indent="0">
              <a:lnSpc>
                <a:spcPct val="100000"/>
              </a:lnSpc>
              <a:buNone/>
            </a:pPr>
            <a:endParaRPr lang="ru-RU" sz="1300" dirty="0"/>
          </a:p>
          <a:p>
            <a:pPr marL="0" indent="0">
              <a:lnSpc>
                <a:spcPct val="100000"/>
              </a:lnSpc>
              <a:buNone/>
            </a:pPr>
            <a:r>
              <a:rPr lang="ru-RU" sz="1300" dirty="0"/>
              <a:t>Если в теле класса не объявлен деструктор, то компилятор предоставляет реализацию по умолчанию. Этот деструктор ничего не делает</a:t>
            </a:r>
            <a:r>
              <a:rPr lang="en-US" sz="1300" dirty="0"/>
              <a:t>;</a:t>
            </a:r>
            <a:endParaRPr lang="ru-RU" sz="1300" dirty="0"/>
          </a:p>
          <a:p>
            <a:pPr marL="0" indent="0">
              <a:lnSpc>
                <a:spcPct val="100000"/>
              </a:lnSpc>
              <a:buNone/>
            </a:pPr>
            <a:endParaRPr lang="ru-RU" sz="1300" dirty="0"/>
          </a:p>
          <a:p>
            <a:pPr marL="0" indent="0">
              <a:lnSpc>
                <a:spcPct val="100000"/>
              </a:lnSpc>
              <a:buNone/>
            </a:pPr>
            <a:r>
              <a:rPr lang="ru-RU" sz="1300" dirty="0"/>
              <a:t>В классе может быть только один деструктор</a:t>
            </a:r>
            <a:r>
              <a:rPr lang="en-US" sz="1300" dirty="0"/>
              <a:t> – </a:t>
            </a:r>
            <a:r>
              <a:rPr lang="ru-RU" sz="1300" dirty="0"/>
              <a:t>деструктор</a:t>
            </a:r>
            <a:r>
              <a:rPr lang="en-US" sz="1300" dirty="0"/>
              <a:t> </a:t>
            </a:r>
            <a:r>
              <a:rPr lang="ru-RU" sz="1300" dirty="0"/>
              <a:t>с пустым списком параметров</a:t>
            </a:r>
            <a:r>
              <a:rPr lang="en-US" sz="1300" dirty="0"/>
              <a:t>;</a:t>
            </a:r>
            <a:endParaRPr lang="ru-RU" sz="1300" dirty="0"/>
          </a:p>
          <a:p>
            <a:pPr marL="0" indent="0">
              <a:lnSpc>
                <a:spcPct val="100000"/>
              </a:lnSpc>
              <a:buNone/>
            </a:pPr>
            <a:endParaRPr lang="en-US" sz="1300" dirty="0"/>
          </a:p>
          <a:p>
            <a:pPr marL="0" indent="0">
              <a:lnSpc>
                <a:spcPct val="100000"/>
              </a:lnSpc>
              <a:buNone/>
            </a:pPr>
            <a:r>
              <a:rPr lang="ru-RU" sz="1300" dirty="0"/>
              <a:t>Деструктор объявляется таким же образом как конструктор, но перед именем добавляется символ тильда (</a:t>
            </a:r>
            <a:r>
              <a:rPr lang="en-US" sz="1300" dirty="0"/>
              <a:t>~</a:t>
            </a:r>
            <a:r>
              <a:rPr lang="ru-RU" sz="1300" dirty="0"/>
              <a:t>)</a:t>
            </a:r>
            <a:r>
              <a:rPr lang="en-US" sz="1300" dirty="0"/>
              <a:t>;</a:t>
            </a:r>
            <a:br>
              <a:rPr lang="ru-RU" sz="1300" dirty="0"/>
            </a:br>
            <a:r>
              <a:rPr lang="ru-RU" sz="1300" dirty="0"/>
              <a:t>Если есть хоть пользовательский деструктор, то реализация от компилятора не предоставляется</a:t>
            </a:r>
            <a:r>
              <a:rPr lang="en-US" sz="1300" dirty="0"/>
              <a:t>;</a:t>
            </a:r>
            <a:endParaRPr lang="ru-RU" sz="1300" dirty="0"/>
          </a:p>
          <a:p>
            <a:pPr marL="0" indent="0">
              <a:lnSpc>
                <a:spcPct val="100000"/>
              </a:lnSpc>
              <a:buNone/>
            </a:pPr>
            <a:endParaRPr lang="ru-RU" sz="1300" dirty="0"/>
          </a:p>
          <a:p>
            <a:pPr marL="0" indent="0">
              <a:lnSpc>
                <a:spcPct val="100000"/>
              </a:lnSpc>
              <a:buNone/>
            </a:pPr>
            <a:r>
              <a:rPr lang="ru-RU" sz="1300" dirty="0"/>
              <a:t>В деструкторе нельзя бросать исключения.</a:t>
            </a:r>
          </a:p>
          <a:p>
            <a:pPr marL="0" indent="0">
              <a:lnSpc>
                <a:spcPct val="100000"/>
              </a:lnSpc>
              <a:buNone/>
            </a:pPr>
            <a:endParaRPr lang="ru-RU" sz="1300" dirty="0"/>
          </a:p>
          <a:p>
            <a:pPr marL="0" indent="0">
              <a:lnSpc>
                <a:spcPct val="100000"/>
              </a:lnSpc>
              <a:buNone/>
            </a:pPr>
            <a:r>
              <a:rPr lang="ru-RU" sz="1300" dirty="0"/>
              <a:t>Перед удалением объекта гарантируется вызов деструкторов (если они есть) для всех его полей.</a:t>
            </a:r>
          </a:p>
        </p:txBody>
      </p:sp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2F118968-1D91-E1F5-1097-64D5AF47FA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rmAutofit/>
          </a:bodyPr>
          <a:lstStyle/>
          <a:p>
            <a:r>
              <a:rPr lang="ru-RU" sz="4000" dirty="0"/>
              <a:t>Деструктор</a:t>
            </a:r>
          </a:p>
        </p:txBody>
      </p:sp>
    </p:spTree>
    <p:extLst>
      <p:ext uri="{BB962C8B-B14F-4D97-AF65-F5344CB8AC3E}">
        <p14:creationId xmlns:p14="http://schemas.microsoft.com/office/powerpoint/2010/main" val="111043343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EA8A94F-5D16-6464-2E03-6765A264B0C8}"/>
              </a:ext>
            </a:extLst>
          </p:cNvPr>
          <p:cNvSpPr txBox="1">
            <a:spLocks/>
          </p:cNvSpPr>
          <p:nvPr/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4400" dirty="0"/>
              <a:t>Конструктор копирования</a:t>
            </a:r>
          </a:p>
        </p:txBody>
      </p:sp>
    </p:spTree>
    <p:extLst>
      <p:ext uri="{BB962C8B-B14F-4D97-AF65-F5344CB8AC3E}">
        <p14:creationId xmlns:p14="http://schemas.microsoft.com/office/powerpoint/2010/main" val="124232661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775790"/>
            <a:ext cx="10515599" cy="4401173"/>
          </a:xfrm>
        </p:spPr>
        <p:txBody>
          <a:bodyPr lIns="14400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sz="11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1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):</a:t>
            </a:r>
            <a:r>
              <a:rPr lang="en-US" sz="11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1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1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1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"Created Point("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")"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1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other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sz="11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1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other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1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1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1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"Copying Point("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")"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1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~Point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1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1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"Destroyed Point("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")"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1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p1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1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1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p2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1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p1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1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p3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1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p1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1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Скругленный прямоугольник 4">
            <a:extLst>
              <a:ext uri="{FF2B5EF4-FFF2-40B4-BE49-F238E27FC236}">
                <a16:creationId xmlns:a16="http://schemas.microsoft.com/office/drawing/2014/main" id="{1EB007C5-5DA8-B288-A536-40CA04D92FFF}"/>
              </a:ext>
            </a:extLst>
          </p:cNvPr>
          <p:cNvSpPr/>
          <p:nvPr/>
        </p:nvSpPr>
        <p:spPr>
          <a:xfrm>
            <a:off x="7699664" y="1610591"/>
            <a:ext cx="3654134" cy="4882284"/>
          </a:xfrm>
          <a:prstGeom prst="roundRect">
            <a:avLst>
              <a:gd name="adj" fmla="val 3491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ru-RU" sz="1200" dirty="0"/>
              <a:t>Конструктор копирования – отвечает за корректное копирование объекта</a:t>
            </a:r>
            <a:r>
              <a:rPr lang="en-US" sz="1200" dirty="0"/>
              <a:t>;</a:t>
            </a:r>
            <a:endParaRPr lang="ru-RU" sz="1200" dirty="0"/>
          </a:p>
          <a:p>
            <a:pPr marL="0" indent="0">
              <a:lnSpc>
                <a:spcPct val="100000"/>
              </a:lnSpc>
              <a:buNone/>
            </a:pPr>
            <a:endParaRPr lang="ru-RU" sz="1200" dirty="0"/>
          </a:p>
          <a:p>
            <a:pPr marL="0" indent="0">
              <a:lnSpc>
                <a:spcPct val="100000"/>
              </a:lnSpc>
              <a:buNone/>
            </a:pPr>
            <a:r>
              <a:rPr lang="ru-RU" sz="1200" dirty="0"/>
              <a:t>Конструктор копирования автоматически вызывается в тех местах, где требуется создать копию объекта: при инициализации одного объекта другим, передача в функцию по значению, возврат из функции по значению</a:t>
            </a:r>
            <a:r>
              <a:rPr lang="en-US" sz="1200" dirty="0"/>
              <a:t>;</a:t>
            </a:r>
          </a:p>
          <a:p>
            <a:pPr marL="0" indent="0">
              <a:lnSpc>
                <a:spcPct val="100000"/>
              </a:lnSpc>
              <a:buNone/>
            </a:pPr>
            <a:endParaRPr lang="ru-RU" sz="1200" dirty="0"/>
          </a:p>
          <a:p>
            <a:pPr marL="0" indent="0">
              <a:lnSpc>
                <a:spcPct val="100000"/>
              </a:lnSpc>
              <a:buNone/>
            </a:pPr>
            <a:r>
              <a:rPr lang="ru-RU" sz="1200" dirty="0"/>
              <a:t>Если в теле класса не объявлен конструктор копирования, то компилятор предоставляет реализацию по умолчанию. Этот конструктор копирования выполняет побайтовое копирование для простых типов и вызов кондукторов копирования для классов</a:t>
            </a:r>
            <a:r>
              <a:rPr lang="en-US" sz="1200" dirty="0"/>
              <a:t>;</a:t>
            </a:r>
            <a:endParaRPr lang="ru-RU" sz="1200" dirty="0"/>
          </a:p>
          <a:p>
            <a:pPr marL="0" indent="0">
              <a:lnSpc>
                <a:spcPct val="100000"/>
              </a:lnSpc>
              <a:buNone/>
            </a:pPr>
            <a:endParaRPr lang="ru-RU" sz="1200" dirty="0"/>
          </a:p>
          <a:p>
            <a:pPr marL="0" indent="0">
              <a:lnSpc>
                <a:spcPct val="100000"/>
              </a:lnSpc>
              <a:buNone/>
            </a:pPr>
            <a:r>
              <a:rPr lang="ru-RU" sz="1200" dirty="0"/>
              <a:t>В классе может быть 2 конструктора копирования </a:t>
            </a:r>
            <a:r>
              <a:rPr lang="en-US" sz="1200" dirty="0"/>
              <a:t> – </a:t>
            </a:r>
            <a:r>
              <a:rPr lang="ru-RU" sz="1200" dirty="0"/>
              <a:t> с константным параметром и с не константным параметром, но обычно объявляют только версию с константным параметром</a:t>
            </a:r>
            <a:r>
              <a:rPr lang="en-US" sz="1200" dirty="0"/>
              <a:t>;</a:t>
            </a:r>
            <a:endParaRPr lang="ru-RU" sz="1200" dirty="0"/>
          </a:p>
          <a:p>
            <a:pPr marL="0" indent="0">
              <a:lnSpc>
                <a:spcPct val="100000"/>
              </a:lnSpc>
              <a:buNone/>
            </a:pPr>
            <a:endParaRPr lang="ru-RU" sz="1200" dirty="0"/>
          </a:p>
          <a:p>
            <a:pPr marL="0" indent="0">
              <a:lnSpc>
                <a:spcPct val="100000"/>
              </a:lnSpc>
              <a:buNone/>
            </a:pPr>
            <a:r>
              <a:rPr lang="ru-RU" sz="1200" dirty="0"/>
              <a:t>Конструктор копирования – это обычный конструктор во всех отношениях, но в качестве параметра этот конструктор должен принимать ссылку на объект текущего класса (константную или не константную)</a:t>
            </a:r>
            <a:r>
              <a:rPr lang="en-US" sz="1200" dirty="0"/>
              <a:t>;</a:t>
            </a:r>
          </a:p>
        </p:txBody>
      </p:sp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2F118968-1D91-E1F5-1097-64D5AF47FA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rmAutofit/>
          </a:bodyPr>
          <a:lstStyle/>
          <a:p>
            <a:r>
              <a:rPr lang="ru-RU" sz="4000" dirty="0"/>
              <a:t>Конструктор копирования</a:t>
            </a:r>
          </a:p>
        </p:txBody>
      </p:sp>
    </p:spTree>
    <p:extLst>
      <p:ext uri="{BB962C8B-B14F-4D97-AF65-F5344CB8AC3E}">
        <p14:creationId xmlns:p14="http://schemas.microsoft.com/office/powerpoint/2010/main" val="280050331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56522"/>
            <a:ext cx="10515599" cy="4520441"/>
          </a:xfrm>
        </p:spPr>
        <p:txBody>
          <a:bodyPr lIns="14400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sz="11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1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1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1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1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11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1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Выделяем память</a:t>
            </a:r>
            <a:endParaRPr lang="ru-RU" sz="11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1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1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"Created Point("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11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")"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/*</a:t>
            </a:r>
            <a:endParaRPr lang="en-US" sz="11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Point(const Point&amp; other){</a:t>
            </a:r>
            <a:endParaRPr lang="en-US" sz="11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this-&gt;</a:t>
            </a:r>
            <a:r>
              <a:rPr lang="en-US" sz="11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1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= new int(*</a:t>
            </a:r>
            <a:r>
              <a:rPr lang="en-US" sz="11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other.i</a:t>
            </a:r>
            <a:r>
              <a:rPr lang="en-US" sz="11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); // </a:t>
            </a:r>
            <a:r>
              <a:rPr lang="ru-RU" sz="11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Выделяем память для копии</a:t>
            </a:r>
            <a:endParaRPr lang="ru-RU" sz="11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1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1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sz="11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1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&lt;&lt; "Copying Point(" &lt;&lt; *</a:t>
            </a:r>
            <a:r>
              <a:rPr lang="en-US" sz="11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1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&lt;&lt; ")" &lt;&lt; std::</a:t>
            </a:r>
            <a:r>
              <a:rPr lang="en-US" sz="11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1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sz="11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}</a:t>
            </a:r>
            <a:endParaRPr lang="en-US" sz="11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*/</a:t>
            </a:r>
            <a:endParaRPr lang="en-US" sz="11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1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~Point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1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1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"Destroyed Point("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11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")"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1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delete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1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     // </a:t>
            </a:r>
            <a:r>
              <a:rPr lang="ru-RU" sz="11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Освобождаем память</a:t>
            </a:r>
            <a:endParaRPr lang="ru-RU" sz="11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1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1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p1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1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1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p2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1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p1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1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p3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1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p1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Скругленный прямоугольник 4">
            <a:extLst>
              <a:ext uri="{FF2B5EF4-FFF2-40B4-BE49-F238E27FC236}">
                <a16:creationId xmlns:a16="http://schemas.microsoft.com/office/drawing/2014/main" id="{1EB007C5-5DA8-B288-A536-40CA04D92FFF}"/>
              </a:ext>
            </a:extLst>
          </p:cNvPr>
          <p:cNvSpPr/>
          <p:nvPr/>
        </p:nvSpPr>
        <p:spPr>
          <a:xfrm>
            <a:off x="7699664" y="1901536"/>
            <a:ext cx="3654134" cy="3782291"/>
          </a:xfrm>
          <a:prstGeom prst="roundRect">
            <a:avLst>
              <a:gd name="adj" fmla="val 3491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ru-RU" sz="1200" dirty="0"/>
              <a:t>В этом примере без конструктора копирования объекты будут работать не правильно</a:t>
            </a:r>
            <a:r>
              <a:rPr lang="en-US" sz="1200" dirty="0"/>
              <a:t>;</a:t>
            </a:r>
          </a:p>
          <a:p>
            <a:pPr marL="0" indent="0">
              <a:lnSpc>
                <a:spcPct val="100000"/>
              </a:lnSpc>
              <a:buNone/>
            </a:pPr>
            <a:endParaRPr lang="en-US" sz="1200" dirty="0"/>
          </a:p>
          <a:p>
            <a:pPr marL="0" indent="0">
              <a:lnSpc>
                <a:spcPct val="100000"/>
              </a:lnSpc>
              <a:buNone/>
            </a:pPr>
            <a:r>
              <a:rPr lang="ru-RU" sz="1200" dirty="0"/>
              <a:t>Как говорилось выше, стандартная реализация конструктора копирования выполняет побайтовое копирование полей простых типов.</a:t>
            </a:r>
            <a:br>
              <a:rPr lang="ru-RU" sz="1200" dirty="0"/>
            </a:br>
            <a:r>
              <a:rPr lang="ru-RU" sz="1200" dirty="0"/>
              <a:t>В данном случае все три копии объекта будут указывать на один и тот же участок памяти выделенный в момент создания первого объекта.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ru-RU" sz="1200" dirty="0"/>
              <a:t>На этапе удаления (в деструкторе), первый удаляемый объект освободит память выделенную под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ru-RU" sz="1200" dirty="0"/>
              <a:t>, а остальные две копии попробуют освободить уже освобождённую память поворотно, что недопустимо</a:t>
            </a:r>
            <a:r>
              <a:rPr lang="en-US" sz="1200" dirty="0"/>
              <a:t>;</a:t>
            </a:r>
          </a:p>
          <a:p>
            <a:pPr marL="0" indent="0">
              <a:lnSpc>
                <a:spcPct val="100000"/>
              </a:lnSpc>
              <a:buNone/>
            </a:pPr>
            <a:endParaRPr lang="en-US" sz="1200" dirty="0"/>
          </a:p>
          <a:p>
            <a:pPr marL="0" indent="0">
              <a:lnSpc>
                <a:spcPct val="100000"/>
              </a:lnSpc>
              <a:buNone/>
            </a:pPr>
            <a:r>
              <a:rPr lang="ru-RU" sz="1200" dirty="0"/>
              <a:t>Если </a:t>
            </a:r>
            <a:r>
              <a:rPr lang="ru-RU" sz="1200" dirty="0" err="1"/>
              <a:t>раскомментировать</a:t>
            </a:r>
            <a:r>
              <a:rPr lang="ru-RU" sz="1200" dirty="0"/>
              <a:t> конструктор копирования, то для каждой копии будет выделен свой собственный блок памяти, который затем корректно будет освобождён деструктором.</a:t>
            </a:r>
            <a:endParaRPr lang="en-US" sz="1200" dirty="0"/>
          </a:p>
        </p:txBody>
      </p:sp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2F118968-1D91-E1F5-1097-64D5AF47FA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rmAutofit/>
          </a:bodyPr>
          <a:lstStyle/>
          <a:p>
            <a:r>
              <a:rPr lang="ru-RU" sz="4000" dirty="0"/>
              <a:t>Конструктор копирования</a:t>
            </a:r>
          </a:p>
        </p:txBody>
      </p:sp>
    </p:spTree>
    <p:extLst>
      <p:ext uri="{BB962C8B-B14F-4D97-AF65-F5344CB8AC3E}">
        <p14:creationId xmlns:p14="http://schemas.microsoft.com/office/powerpoint/2010/main" val="175682122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577008"/>
            <a:ext cx="10515599" cy="4599955"/>
          </a:xfrm>
        </p:spPr>
        <p:txBody>
          <a:bodyPr lIns="14400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sz="11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1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ru-RU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ru-RU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1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"Created Point"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1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other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){</a:t>
            </a:r>
            <a:r>
              <a:rPr lang="ru-RU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1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"Copying Point"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1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~Point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</a:t>
            </a:r>
            <a:r>
              <a:rPr lang="ru-RU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1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"Destroyed Point"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func_value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1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1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1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"--- By value ---"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1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func_pointer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1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1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1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"--- By pointer ---"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1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func_reference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1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1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1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"--- By reference ---"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1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Point p;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func_value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(p);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func_pointer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(&amp;p);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func_reference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(p);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Скругленный прямоугольник 4">
            <a:extLst>
              <a:ext uri="{FF2B5EF4-FFF2-40B4-BE49-F238E27FC236}">
                <a16:creationId xmlns:a16="http://schemas.microsoft.com/office/drawing/2014/main" id="{1EB007C5-5DA8-B288-A536-40CA04D92FFF}"/>
              </a:ext>
            </a:extLst>
          </p:cNvPr>
          <p:cNvSpPr/>
          <p:nvPr/>
        </p:nvSpPr>
        <p:spPr>
          <a:xfrm>
            <a:off x="7789717" y="1690688"/>
            <a:ext cx="3564081" cy="1859973"/>
          </a:xfrm>
          <a:prstGeom prst="roundRect">
            <a:avLst>
              <a:gd name="adj" fmla="val 3491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ru-RU" sz="1200" dirty="0"/>
              <a:t>Если передать объект в функцию по значению, то перед входом в тело функции будет создана копия оригинального объекта, т.е. вызван конструктор копирования</a:t>
            </a:r>
            <a:r>
              <a:rPr lang="en-US" sz="1200" dirty="0"/>
              <a:t>;</a:t>
            </a:r>
          </a:p>
          <a:p>
            <a:pPr marL="0" indent="0">
              <a:lnSpc>
                <a:spcPct val="100000"/>
              </a:lnSpc>
              <a:buNone/>
            </a:pPr>
            <a:endParaRPr lang="en-US" sz="1200" dirty="0"/>
          </a:p>
          <a:p>
            <a:pPr marL="0" indent="0">
              <a:lnSpc>
                <a:spcPct val="100000"/>
              </a:lnSpc>
              <a:buNone/>
            </a:pPr>
            <a:r>
              <a:rPr lang="ru-RU" sz="1200" dirty="0"/>
              <a:t>Передача объекта в функцию по ссылке и указателю, как и ожидалось, не приводит к вызову конструктора копирования, т.к. функция получает доступ к оригинальному объекту.</a:t>
            </a:r>
            <a:endParaRPr lang="en-US" sz="1200" dirty="0"/>
          </a:p>
        </p:txBody>
      </p:sp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2F118968-1D91-E1F5-1097-64D5AF47FA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rmAutofit/>
          </a:bodyPr>
          <a:lstStyle/>
          <a:p>
            <a:r>
              <a:rPr lang="ru-RU" sz="4000" dirty="0"/>
              <a:t>Передача объектов в функцию</a:t>
            </a:r>
          </a:p>
        </p:txBody>
      </p:sp>
    </p:spTree>
    <p:extLst>
      <p:ext uri="{BB962C8B-B14F-4D97-AF65-F5344CB8AC3E}">
        <p14:creationId xmlns:p14="http://schemas.microsoft.com/office/powerpoint/2010/main" val="179631914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537252"/>
            <a:ext cx="10515599" cy="4639712"/>
          </a:xfrm>
        </p:spPr>
        <p:txBody>
          <a:bodyPr lIns="14400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sz="1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ru-RU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ru-RU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"Created Point"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0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other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){</a:t>
            </a:r>
            <a:r>
              <a:rPr lang="ru-RU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"Copying Point"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0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~Point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</a:t>
            </a:r>
            <a:r>
              <a:rPr lang="ru-RU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"Destroyed Point"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0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Point global;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func_value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0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0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"--- By value ---"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0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global;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func_pointer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0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0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"--- By pointer ---"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0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&amp;global;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func_reference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0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0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"--- By reference ---"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0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global;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func_value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func_pointer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func_reference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Скругленный прямоугольник 4">
            <a:extLst>
              <a:ext uri="{FF2B5EF4-FFF2-40B4-BE49-F238E27FC236}">
                <a16:creationId xmlns:a16="http://schemas.microsoft.com/office/drawing/2014/main" id="{1EB007C5-5DA8-B288-A536-40CA04D92FFF}"/>
              </a:ext>
            </a:extLst>
          </p:cNvPr>
          <p:cNvSpPr/>
          <p:nvPr/>
        </p:nvSpPr>
        <p:spPr>
          <a:xfrm>
            <a:off x="7789717" y="1690688"/>
            <a:ext cx="3564081" cy="2119746"/>
          </a:xfrm>
          <a:prstGeom prst="roundRect">
            <a:avLst>
              <a:gd name="adj" fmla="val 3491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ru-RU" sz="1200" dirty="0"/>
              <a:t>Если вернуть объект из функции по значению, то в результате будет создана копия оригинального объекта, т.е. вызван конструктор копирования</a:t>
            </a:r>
            <a:r>
              <a:rPr lang="en-US" sz="1200" dirty="0"/>
              <a:t>;</a:t>
            </a:r>
          </a:p>
          <a:p>
            <a:pPr marL="0" indent="0">
              <a:lnSpc>
                <a:spcPct val="100000"/>
              </a:lnSpc>
              <a:buNone/>
            </a:pPr>
            <a:endParaRPr lang="en-US" sz="1200" dirty="0"/>
          </a:p>
          <a:p>
            <a:pPr marL="0" indent="0">
              <a:lnSpc>
                <a:spcPct val="100000"/>
              </a:lnSpc>
              <a:buNone/>
            </a:pPr>
            <a:r>
              <a:rPr lang="ru-RU" sz="1200" dirty="0"/>
              <a:t>Возврат объекта из функции по ссылке или указателю, как и ожидалось, не приводит к вызову конструктора копирования, т.к. возвращается адрес оригинального объекта</a:t>
            </a:r>
            <a:r>
              <a:rPr lang="en-US" sz="1200" dirty="0"/>
              <a:t>;</a:t>
            </a:r>
          </a:p>
          <a:p>
            <a:pPr marL="0" indent="0">
              <a:lnSpc>
                <a:spcPct val="100000"/>
              </a:lnSpc>
              <a:buNone/>
            </a:pPr>
            <a:endParaRPr lang="en-US" sz="1200" dirty="0"/>
          </a:p>
          <a:p>
            <a:pPr marL="0" indent="0">
              <a:lnSpc>
                <a:spcPct val="100000"/>
              </a:lnSpc>
              <a:buNone/>
            </a:pPr>
            <a:r>
              <a:rPr lang="ru-RU" sz="1200" dirty="0"/>
              <a:t>Есть особенности, если возвращается локальный объект.</a:t>
            </a:r>
            <a:endParaRPr lang="en-US" sz="1200" dirty="0"/>
          </a:p>
        </p:txBody>
      </p:sp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2F118968-1D91-E1F5-1097-64D5AF47FA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rmAutofit/>
          </a:bodyPr>
          <a:lstStyle/>
          <a:p>
            <a:r>
              <a:rPr lang="ru-RU" sz="4000" dirty="0"/>
              <a:t>Возврат объекта из функции</a:t>
            </a:r>
          </a:p>
        </p:txBody>
      </p:sp>
    </p:spTree>
    <p:extLst>
      <p:ext uri="{BB962C8B-B14F-4D97-AF65-F5344CB8AC3E}">
        <p14:creationId xmlns:p14="http://schemas.microsoft.com/office/powerpoint/2010/main" val="286387608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543917"/>
            <a:ext cx="10515599" cy="4633047"/>
          </a:xfrm>
        </p:spPr>
        <p:txBody>
          <a:bodyPr lIns="14400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sz="11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1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){</a:t>
            </a:r>
            <a:r>
              <a:rPr lang="ru-RU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1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"Created Point"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1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other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){</a:t>
            </a:r>
            <a:r>
              <a:rPr lang="ru-RU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1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"Copying Point"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1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~Point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</a:t>
            </a:r>
            <a:r>
              <a:rPr lang="ru-RU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1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"Destroyed Point"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1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func_copy_elision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1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1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"--- Copy elision ---"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1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1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1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1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func_copy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1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1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"--- Copy ---"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1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1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1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1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sz="11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1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1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1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func_copy_elision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1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func_copy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1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1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Скругленный прямоугольник 4">
            <a:extLst>
              <a:ext uri="{FF2B5EF4-FFF2-40B4-BE49-F238E27FC236}">
                <a16:creationId xmlns:a16="http://schemas.microsoft.com/office/drawing/2014/main" id="{1EB007C5-5DA8-B288-A536-40CA04D92FFF}"/>
              </a:ext>
            </a:extLst>
          </p:cNvPr>
          <p:cNvSpPr/>
          <p:nvPr/>
        </p:nvSpPr>
        <p:spPr>
          <a:xfrm>
            <a:off x="7789717" y="1543917"/>
            <a:ext cx="3564081" cy="706582"/>
          </a:xfrm>
          <a:prstGeom prst="roundRect">
            <a:avLst>
              <a:gd name="adj" fmla="val 3491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ru-RU" sz="1200" dirty="0"/>
              <a:t>Возвращать указатель или ссылку на локальный объект нельзя, т.к. он уничтожается перед выходом из функции</a:t>
            </a:r>
            <a:r>
              <a:rPr lang="en-US" sz="1200" dirty="0"/>
              <a:t>;</a:t>
            </a:r>
          </a:p>
        </p:txBody>
      </p:sp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2F118968-1D91-E1F5-1097-64D5AF47FA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rmAutofit/>
          </a:bodyPr>
          <a:lstStyle/>
          <a:p>
            <a:r>
              <a:rPr lang="ru-RU" sz="4000" dirty="0"/>
              <a:t>Возврат локального объекта из функции</a:t>
            </a:r>
          </a:p>
        </p:txBody>
      </p:sp>
      <p:sp>
        <p:nvSpPr>
          <p:cNvPr id="2" name="Скругленный прямоугольник 4">
            <a:extLst>
              <a:ext uri="{FF2B5EF4-FFF2-40B4-BE49-F238E27FC236}">
                <a16:creationId xmlns:a16="http://schemas.microsoft.com/office/drawing/2014/main" id="{3617B615-A4C9-1941-2526-2C8B6250BF37}"/>
              </a:ext>
            </a:extLst>
          </p:cNvPr>
          <p:cNvSpPr/>
          <p:nvPr/>
        </p:nvSpPr>
        <p:spPr>
          <a:xfrm>
            <a:off x="7789717" y="2373889"/>
            <a:ext cx="3564081" cy="3949847"/>
          </a:xfrm>
          <a:prstGeom prst="roundRect">
            <a:avLst>
              <a:gd name="adj" fmla="val 1742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ru-RU" sz="1200" dirty="0"/>
              <a:t>В случае возврата локального объекта из функции по значению может быть применена оптимизация - пропуск копирования (</a:t>
            </a:r>
            <a:r>
              <a:rPr lang="en-US" sz="1200" dirty="0"/>
              <a:t>copy elision</a:t>
            </a:r>
            <a:r>
              <a:rPr lang="ru-RU" sz="1200" dirty="0"/>
              <a:t>)</a:t>
            </a:r>
            <a:r>
              <a:rPr lang="en-US" sz="1200" dirty="0"/>
              <a:t>;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ru-RU" sz="1200" dirty="0"/>
              <a:t>В этом случае объект создаётся сразу же за пределами функции и происходит экономия на операциях: копирование локального и удаление локального</a:t>
            </a:r>
            <a:r>
              <a:rPr lang="en-US" sz="1200" dirty="0"/>
              <a:t>;</a:t>
            </a:r>
            <a:endParaRPr lang="ru-RU" sz="1200" dirty="0"/>
          </a:p>
          <a:p>
            <a:pPr marL="0" indent="0">
              <a:lnSpc>
                <a:spcPct val="100000"/>
              </a:lnSpc>
              <a:buNone/>
            </a:pPr>
            <a:endParaRPr lang="ru-RU" sz="1200" dirty="0"/>
          </a:p>
          <a:p>
            <a:pPr marL="0" indent="0">
              <a:lnSpc>
                <a:spcPct val="100000"/>
              </a:lnSpc>
              <a:buNone/>
            </a:pPr>
            <a:r>
              <a:rPr lang="ru-RU" sz="1200" dirty="0"/>
              <a:t>Пропуск копирования может быть применён, даже если копирование/перемещение объекта имеет побочные эффекты</a:t>
            </a:r>
            <a:r>
              <a:rPr lang="en-US" sz="1200" dirty="0"/>
              <a:t> (</a:t>
            </a:r>
            <a:r>
              <a:rPr lang="ru-RU" sz="1200" dirty="0"/>
              <a:t>в этом примере побочный эффект это печать сообщения в терминал</a:t>
            </a:r>
            <a:r>
              <a:rPr lang="en-US" sz="1200" dirty="0"/>
              <a:t>);</a:t>
            </a:r>
          </a:p>
          <a:p>
            <a:pPr marL="0" indent="0">
              <a:lnSpc>
                <a:spcPct val="100000"/>
              </a:lnSpc>
              <a:buNone/>
            </a:pPr>
            <a:endParaRPr lang="en-US" sz="1200" dirty="0"/>
          </a:p>
          <a:p>
            <a:pPr marL="0" indent="0">
              <a:lnSpc>
                <a:spcPct val="100000"/>
              </a:lnSpc>
              <a:buNone/>
            </a:pPr>
            <a:r>
              <a:rPr lang="ru-RU" sz="1200" dirty="0"/>
              <a:t>Применение этой оптимизации зависит от кода и настроек компилятора</a:t>
            </a:r>
            <a:endParaRPr lang="en-US" sz="1200" dirty="0"/>
          </a:p>
          <a:p>
            <a:pPr marL="0" indent="0">
              <a:lnSpc>
                <a:spcPct val="100000"/>
              </a:lnSpc>
              <a:buNone/>
            </a:pPr>
            <a:endParaRPr lang="en-US" sz="1200" dirty="0"/>
          </a:p>
          <a:p>
            <a:pPr marL="0" indent="0">
              <a:lnSpc>
                <a:spcPct val="100000"/>
              </a:lnSpc>
              <a:buNone/>
            </a:pPr>
            <a:r>
              <a:rPr lang="ru-RU" sz="1200" dirty="0"/>
              <a:t>Начиная с C++17, пропуск копирования гарантируется, когда объект возвращается напрямую, и в этом случае конструктор копирования или перемещения необязательно должен быть доступен или присутствовать.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96472472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EA8A94F-5D16-6464-2E03-6765A264B0C8}"/>
              </a:ext>
            </a:extLst>
          </p:cNvPr>
          <p:cNvSpPr txBox="1">
            <a:spLocks/>
          </p:cNvSpPr>
          <p:nvPr/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4400" dirty="0"/>
              <a:t>Конструктор перемещения</a:t>
            </a:r>
          </a:p>
        </p:txBody>
      </p:sp>
    </p:spTree>
    <p:extLst>
      <p:ext uri="{BB962C8B-B14F-4D97-AF65-F5344CB8AC3E}">
        <p14:creationId xmlns:p14="http://schemas.microsoft.com/office/powerpoint/2010/main" val="2459114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rmAutofit/>
          </a:bodyPr>
          <a:lstStyle/>
          <a:p>
            <a:r>
              <a:rPr lang="ru-RU" sz="4000" dirty="0"/>
              <a:t>Конструктор перемещения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600" dirty="0"/>
              <a:t>Конструктор перемещения – отвечает за корректное копирование объекта который вот-вот должен быть уничтожен (т.е. временного объекта)</a:t>
            </a:r>
            <a:r>
              <a:rPr lang="en-US" sz="1600" dirty="0"/>
              <a:t>;</a:t>
            </a:r>
            <a:endParaRPr lang="ru-RU" sz="1600" dirty="0"/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ru-RU" sz="1600" dirty="0"/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600" dirty="0"/>
              <a:t>Если в теле класса не объявлен конструктор перемежения, то компилятор предоставляет реализацию по умолчанию. Если объявлен конструктор копирования, то конструктор перемещения компилятором не создаётся.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ru-RU" sz="1600" dirty="0"/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600" dirty="0"/>
              <a:t>Подробнее данный конструктор будет рассмотрен на следующих лекциях.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ru-RU" sz="1600" dirty="0"/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ru-RU" sz="1600" dirty="0"/>
          </a:p>
          <a:p>
            <a:pPr marL="0" indent="0"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src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копирующий конструктор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&amp;&amp;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src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перемещающий конструктор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ru-RU" sz="1600" dirty="0"/>
          </a:p>
        </p:txBody>
      </p:sp>
    </p:spTree>
    <p:extLst>
      <p:ext uri="{BB962C8B-B14F-4D97-AF65-F5344CB8AC3E}">
        <p14:creationId xmlns:p14="http://schemas.microsoft.com/office/powerpoint/2010/main" val="135557807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EA8A94F-5D16-6464-2E03-6765A264B0C8}"/>
              </a:ext>
            </a:extLst>
          </p:cNvPr>
          <p:cNvSpPr txBox="1">
            <a:spLocks/>
          </p:cNvSpPr>
          <p:nvPr/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4400" dirty="0"/>
              <a:t>default</a:t>
            </a:r>
            <a:r>
              <a:rPr lang="ru-RU" sz="4400" dirty="0"/>
              <a:t> и </a:t>
            </a:r>
            <a:r>
              <a:rPr lang="en-US" sz="4400" dirty="0"/>
              <a:t>delete</a:t>
            </a:r>
            <a:endParaRPr lang="ru-RU" sz="4400" dirty="0"/>
          </a:p>
        </p:txBody>
      </p:sp>
    </p:spTree>
    <p:extLst>
      <p:ext uri="{BB962C8B-B14F-4D97-AF65-F5344CB8AC3E}">
        <p14:creationId xmlns:p14="http://schemas.microsoft.com/office/powerpoint/2010/main" val="136438412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10592"/>
            <a:ext cx="10515599" cy="4566372"/>
          </a:xfrm>
        </p:spPr>
        <p:txBody>
          <a:bodyPr lIns="14400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&lt;vector&gt;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Point() = default;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){ 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"Created Point"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~Point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"Destroyed Point"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Point 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Нормально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::vector&lt;Point&gt; 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points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2F118968-1D91-E1F5-1097-64D5AF47FA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rmAutofit/>
          </a:bodyPr>
          <a:lstStyle/>
          <a:p>
            <a:r>
              <a:rPr lang="en-US" sz="4000" dirty="0"/>
              <a:t>default</a:t>
            </a:r>
            <a:endParaRPr lang="ru-RU" sz="4000" dirty="0"/>
          </a:p>
        </p:txBody>
      </p:sp>
      <p:sp>
        <p:nvSpPr>
          <p:cNvPr id="2" name="Скругленный прямоугольник 4">
            <a:extLst>
              <a:ext uri="{FF2B5EF4-FFF2-40B4-BE49-F238E27FC236}">
                <a16:creationId xmlns:a16="http://schemas.microsoft.com/office/drawing/2014/main" id="{3617B615-A4C9-1941-2526-2C8B6250BF37}"/>
              </a:ext>
            </a:extLst>
          </p:cNvPr>
          <p:cNvSpPr/>
          <p:nvPr/>
        </p:nvSpPr>
        <p:spPr>
          <a:xfrm>
            <a:off x="7789717" y="1690688"/>
            <a:ext cx="3564081" cy="3773066"/>
          </a:xfrm>
          <a:prstGeom prst="roundRect">
            <a:avLst>
              <a:gd name="adj" fmla="val 1742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ru-RU" sz="1400" dirty="0"/>
              <a:t>Если, по каким либо причинам, нужно вернуть стандартную реализацию метода предоставляемую компилятором, то можно воспользоваться ключевым словом </a:t>
            </a:r>
            <a:r>
              <a:rPr lang="en-US" sz="1400" b="1" dirty="0"/>
              <a:t>default</a:t>
            </a:r>
            <a:r>
              <a:rPr lang="ru-RU" sz="1400" b="1" dirty="0"/>
              <a:t>.</a:t>
            </a:r>
          </a:p>
          <a:p>
            <a:pPr marL="0" indent="0">
              <a:lnSpc>
                <a:spcPct val="100000"/>
              </a:lnSpc>
              <a:buNone/>
            </a:pPr>
            <a:endParaRPr lang="ru-RU" sz="1400" dirty="0"/>
          </a:p>
          <a:p>
            <a:pPr marL="0" indent="0">
              <a:lnSpc>
                <a:spcPct val="100000"/>
              </a:lnSpc>
              <a:buNone/>
            </a:pPr>
            <a:r>
              <a:rPr lang="ru-RU" sz="1400" dirty="0"/>
              <a:t>В этом примере добавление конструктора с параметром приводит к тому, что компилятор больше не предоставляет реализацию конструктора по умолчанию.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ru-RU" sz="1400" dirty="0"/>
              <a:t>Но конструктор по умолчанию требуется для создания вектора точек в теле функции </a:t>
            </a:r>
            <a:r>
              <a:rPr lang="en-US" sz="1400" b="1" dirty="0"/>
              <a:t>main</a:t>
            </a:r>
            <a:r>
              <a:rPr lang="ru-RU" sz="1400" dirty="0"/>
              <a:t>, поэтому, чтобы код скомпилировался без ошибок можно добавить свою собственную реализацию конструктора по умолчанию или воспользоваться ключевым словом </a:t>
            </a:r>
            <a:r>
              <a:rPr lang="en-US" sz="1400" dirty="0"/>
              <a:t>default</a:t>
            </a:r>
            <a:r>
              <a:rPr lang="ru-RU" sz="1400" dirty="0"/>
              <a:t>, чтобы попросить компилятор вернуть его реализацию.</a:t>
            </a:r>
          </a:p>
          <a:p>
            <a:pPr marL="0" indent="0">
              <a:lnSpc>
                <a:spcPct val="100000"/>
              </a:lnSpc>
              <a:buNone/>
            </a:pPr>
            <a:endParaRPr lang="ru-RU" sz="1400" b="1" dirty="0"/>
          </a:p>
        </p:txBody>
      </p:sp>
    </p:spTree>
    <p:extLst>
      <p:ext uri="{BB962C8B-B14F-4D97-AF65-F5344CB8AC3E}">
        <p14:creationId xmlns:p14="http://schemas.microsoft.com/office/powerpoint/2010/main" val="379277427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58930"/>
            <a:ext cx="10515599" cy="4718034"/>
          </a:xfrm>
        </p:spPr>
        <p:txBody>
          <a:bodyPr lIns="14400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Dot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"I am Dot"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Dot{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=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default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=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delete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= </a:t>
            </a:r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delete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Point(int x, int y); 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Или так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void print();        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вместо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delete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Dot d;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Point p;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en-US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p.print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(); 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2F118968-1D91-E1F5-1097-64D5AF47FA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rmAutofit/>
          </a:bodyPr>
          <a:lstStyle/>
          <a:p>
            <a:r>
              <a:rPr lang="en-US" sz="4000" dirty="0"/>
              <a:t>delete</a:t>
            </a:r>
            <a:endParaRPr lang="ru-RU" sz="4000" dirty="0"/>
          </a:p>
        </p:txBody>
      </p:sp>
      <p:sp>
        <p:nvSpPr>
          <p:cNvPr id="2" name="Скругленный прямоугольник 4">
            <a:extLst>
              <a:ext uri="{FF2B5EF4-FFF2-40B4-BE49-F238E27FC236}">
                <a16:creationId xmlns:a16="http://schemas.microsoft.com/office/drawing/2014/main" id="{3617B615-A4C9-1941-2526-2C8B6250BF37}"/>
              </a:ext>
            </a:extLst>
          </p:cNvPr>
          <p:cNvSpPr/>
          <p:nvPr/>
        </p:nvSpPr>
        <p:spPr>
          <a:xfrm>
            <a:off x="7736440" y="1361918"/>
            <a:ext cx="3617357" cy="2716924"/>
          </a:xfrm>
          <a:prstGeom prst="roundRect">
            <a:avLst>
              <a:gd name="adj" fmla="val 1742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ru-RU" sz="1300" dirty="0"/>
              <a:t>Иногда бывает необходимо запретить использование некоторых методов у которых уже существует реализация. Например, реализация предоставляемая компилятором или попавшая в наш класс из класса предка</a:t>
            </a:r>
            <a:r>
              <a:rPr lang="en-US" sz="1300" dirty="0"/>
              <a:t>;</a:t>
            </a:r>
            <a:endParaRPr lang="ru-RU" sz="1300" dirty="0"/>
          </a:p>
          <a:p>
            <a:pPr marL="0" indent="0">
              <a:lnSpc>
                <a:spcPct val="100000"/>
              </a:lnSpc>
              <a:buNone/>
            </a:pPr>
            <a:endParaRPr lang="en-US" sz="1300" dirty="0"/>
          </a:p>
          <a:p>
            <a:pPr marL="0" indent="0">
              <a:lnSpc>
                <a:spcPct val="100000"/>
              </a:lnSpc>
              <a:buNone/>
            </a:pPr>
            <a:r>
              <a:rPr lang="ru-RU" sz="1300" dirty="0"/>
              <a:t>Раньше в качестве стандартного решения применяли перенос ненужного метода в </a:t>
            </a:r>
            <a:r>
              <a:rPr lang="en-US" sz="1300" b="1" dirty="0"/>
              <a:t>private</a:t>
            </a:r>
            <a:r>
              <a:rPr lang="en-US" sz="1300" dirty="0"/>
              <a:t> </a:t>
            </a:r>
            <a:r>
              <a:rPr lang="ru-RU" sz="1300" dirty="0"/>
              <a:t>секцию класса, что позволяло лишить пользователя доступа к нему. С появлением ключевого слова </a:t>
            </a:r>
            <a:r>
              <a:rPr lang="en-US" sz="1300" b="1" dirty="0"/>
              <a:t>delete</a:t>
            </a:r>
            <a:r>
              <a:rPr lang="en-US" sz="1300" dirty="0"/>
              <a:t> </a:t>
            </a:r>
            <a:r>
              <a:rPr lang="ru-RU" sz="1300" dirty="0"/>
              <a:t>можно просто отметить метод как удалённый. Это касается любого метода класса</a:t>
            </a:r>
            <a:r>
              <a:rPr lang="en-US" sz="1300" dirty="0"/>
              <a:t>;</a:t>
            </a:r>
          </a:p>
        </p:txBody>
      </p:sp>
      <p:sp>
        <p:nvSpPr>
          <p:cNvPr id="4" name="Скругленный прямоугольник 4">
            <a:extLst>
              <a:ext uri="{FF2B5EF4-FFF2-40B4-BE49-F238E27FC236}">
                <a16:creationId xmlns:a16="http://schemas.microsoft.com/office/drawing/2014/main" id="{D47D9C3F-BF6E-8948-60BF-959BFD44BEEF}"/>
              </a:ext>
            </a:extLst>
          </p:cNvPr>
          <p:cNvSpPr/>
          <p:nvPr/>
        </p:nvSpPr>
        <p:spPr>
          <a:xfrm>
            <a:off x="7736441" y="4171308"/>
            <a:ext cx="3617358" cy="2486346"/>
          </a:xfrm>
          <a:prstGeom prst="roundRect">
            <a:avLst>
              <a:gd name="adj" fmla="val 1742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ru-RU" sz="1300" dirty="0"/>
              <a:t>Обратите внимание, что:</a:t>
            </a:r>
          </a:p>
          <a:p>
            <a:r>
              <a:rPr lang="en-US" sz="13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= </a:t>
            </a: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delete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buNone/>
            </a:pPr>
            <a:endParaRPr lang="ru-RU" sz="1300" dirty="0"/>
          </a:p>
          <a:p>
            <a:pPr marL="0" indent="0">
              <a:lnSpc>
                <a:spcPct val="100000"/>
              </a:lnSpc>
              <a:buNone/>
            </a:pPr>
            <a:r>
              <a:rPr lang="ru-RU" sz="1300" dirty="0"/>
              <a:t>тоже считается реализацией конструктора которую предоставил пользователь, поэтому компилятор больше НЕ будет предоставлять свою и следовательно невозможно будет создать экземпляр такого класса.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ru-RU" sz="1300" dirty="0"/>
              <a:t>Чтобы исправить ситуацию здесь была возвращена реализация конструктора по умолчанию:</a:t>
            </a:r>
          </a:p>
          <a:p>
            <a:r>
              <a:rPr lang="en-US" sz="13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= </a:t>
            </a: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default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buNone/>
            </a:pPr>
            <a:endParaRPr lang="en-US" sz="1300" dirty="0"/>
          </a:p>
        </p:txBody>
      </p:sp>
      <p:sp>
        <p:nvSpPr>
          <p:cNvPr id="6" name="Скругленный прямоугольник 4">
            <a:extLst>
              <a:ext uri="{FF2B5EF4-FFF2-40B4-BE49-F238E27FC236}">
                <a16:creationId xmlns:a16="http://schemas.microsoft.com/office/drawing/2014/main" id="{F3B912AF-BA2B-4987-9273-163686F44B0D}"/>
              </a:ext>
            </a:extLst>
          </p:cNvPr>
          <p:cNvSpPr/>
          <p:nvPr/>
        </p:nvSpPr>
        <p:spPr>
          <a:xfrm>
            <a:off x="4019206" y="5582292"/>
            <a:ext cx="3617358" cy="1075362"/>
          </a:xfrm>
          <a:prstGeom prst="roundRect">
            <a:avLst>
              <a:gd name="adj" fmla="val 1742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ru-RU" sz="1300" dirty="0"/>
              <a:t>Ключевое слово </a:t>
            </a:r>
            <a:r>
              <a:rPr lang="en-US" sz="1300" b="1" dirty="0"/>
              <a:t>delete</a:t>
            </a:r>
            <a:r>
              <a:rPr lang="ru-RU" sz="1300" b="1" dirty="0"/>
              <a:t> </a:t>
            </a:r>
            <a:r>
              <a:rPr lang="ru-RU" sz="1300" dirty="0"/>
              <a:t>можно применять не только к методам, но и к обычным функциям. Например, чтобы запретить компилятору создавать из шаблона функцию с конкретным набором аргументов.</a:t>
            </a:r>
            <a:endParaRPr lang="en-US" sz="1300" b="1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254569727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EA8A94F-5D16-6464-2E03-6765A264B0C8}"/>
              </a:ext>
            </a:extLst>
          </p:cNvPr>
          <p:cNvSpPr txBox="1">
            <a:spLocks/>
          </p:cNvSpPr>
          <p:nvPr/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4400" dirty="0"/>
              <a:t>Доступ к членам класса</a:t>
            </a:r>
          </a:p>
        </p:txBody>
      </p:sp>
    </p:spTree>
    <p:extLst>
      <p:ext uri="{BB962C8B-B14F-4D97-AF65-F5344CB8AC3E}">
        <p14:creationId xmlns:p14="http://schemas.microsoft.com/office/powerpoint/2010/main" val="64126423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02768"/>
            <a:ext cx="10515599" cy="4574195"/>
          </a:xfrm>
        </p:spPr>
        <p:txBody>
          <a:bodyPr lIns="14400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20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ru-RU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2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ru-RU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тут объявления</a:t>
            </a:r>
            <a:endParaRPr lang="ru-RU" sz="2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20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ru-RU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:</a:t>
            </a:r>
            <a:endParaRPr lang="ru-RU" sz="2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тут объявления</a:t>
            </a:r>
            <a:endParaRPr lang="ru-RU" sz="2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20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protected</a:t>
            </a:r>
            <a:r>
              <a:rPr lang="ru-RU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:</a:t>
            </a:r>
            <a:endParaRPr lang="ru-RU" sz="2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тут объявления</a:t>
            </a:r>
            <a:endParaRPr lang="ru-RU" sz="2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20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ru-RU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:</a:t>
            </a:r>
            <a:endParaRPr lang="ru-RU" sz="2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тут объявления</a:t>
            </a:r>
            <a:endParaRPr lang="ru-RU" sz="2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20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ru-RU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:</a:t>
            </a:r>
            <a:endParaRPr lang="ru-RU" sz="2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тут объявления</a:t>
            </a:r>
            <a:endParaRPr lang="ru-RU" sz="2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ru-RU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ru-RU" sz="2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2F118968-1D91-E1F5-1097-64D5AF47FA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rmAutofit/>
          </a:bodyPr>
          <a:lstStyle/>
          <a:p>
            <a:r>
              <a:rPr lang="ru-RU" sz="4000" dirty="0"/>
              <a:t>Спецификаторы доступа</a:t>
            </a:r>
          </a:p>
        </p:txBody>
      </p:sp>
      <p:sp>
        <p:nvSpPr>
          <p:cNvPr id="2" name="Скругленный прямоугольник 4">
            <a:extLst>
              <a:ext uri="{FF2B5EF4-FFF2-40B4-BE49-F238E27FC236}">
                <a16:creationId xmlns:a16="http://schemas.microsoft.com/office/drawing/2014/main" id="{3617B615-A4C9-1941-2526-2C8B6250BF37}"/>
              </a:ext>
            </a:extLst>
          </p:cNvPr>
          <p:cNvSpPr/>
          <p:nvPr/>
        </p:nvSpPr>
        <p:spPr>
          <a:xfrm>
            <a:off x="7736438" y="1575007"/>
            <a:ext cx="3617357" cy="2706648"/>
          </a:xfrm>
          <a:prstGeom prst="roundRect">
            <a:avLst>
              <a:gd name="adj" fmla="val 1742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ru-RU" sz="1300" dirty="0"/>
              <a:t>В С++ существует три спецификатора доступа:</a:t>
            </a:r>
          </a:p>
          <a:p>
            <a:pPr marL="0" indent="0">
              <a:lnSpc>
                <a:spcPct val="100000"/>
              </a:lnSpc>
              <a:buNone/>
            </a:pPr>
            <a:endParaRPr lang="en-US" sz="13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00" b="1" dirty="0"/>
              <a:t>private</a:t>
            </a:r>
            <a:r>
              <a:rPr lang="ru-RU" sz="1300" b="1" dirty="0"/>
              <a:t>:</a:t>
            </a:r>
            <a:endParaRPr lang="en-US" sz="1300" b="1" dirty="0"/>
          </a:p>
          <a:p>
            <a:pPr marL="0" indent="0">
              <a:lnSpc>
                <a:spcPct val="100000"/>
              </a:lnSpc>
              <a:buNone/>
            </a:pPr>
            <a:r>
              <a:rPr lang="ru-RU" sz="1300" dirty="0"/>
              <a:t>Доступ к членам класса есть только у методов этого же класса</a:t>
            </a:r>
            <a:r>
              <a:rPr lang="en-US" sz="1300" dirty="0"/>
              <a:t> </a:t>
            </a:r>
            <a:r>
              <a:rPr lang="ru-RU" sz="1300" dirty="0"/>
              <a:t>и друзей</a:t>
            </a:r>
            <a:r>
              <a:rPr lang="en-US" sz="1300" dirty="0"/>
              <a:t>;</a:t>
            </a:r>
          </a:p>
          <a:p>
            <a:pPr marL="0" indent="0">
              <a:lnSpc>
                <a:spcPct val="100000"/>
              </a:lnSpc>
              <a:buNone/>
            </a:pPr>
            <a:endParaRPr lang="en-US" sz="13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00" b="1" dirty="0"/>
              <a:t>protected</a:t>
            </a:r>
            <a:r>
              <a:rPr lang="ru-RU" sz="1300" b="1" dirty="0"/>
              <a:t>:</a:t>
            </a:r>
            <a:endParaRPr lang="en-US" sz="1300" b="1" dirty="0"/>
          </a:p>
          <a:p>
            <a:pPr marL="0" indent="0">
              <a:lnSpc>
                <a:spcPct val="100000"/>
              </a:lnSpc>
              <a:buNone/>
            </a:pPr>
            <a:r>
              <a:rPr lang="ru-RU" sz="1300" dirty="0"/>
              <a:t>Доступ к членам класса есть у методов этого же класса, друзей</a:t>
            </a:r>
            <a:r>
              <a:rPr lang="en-US" sz="1300" dirty="0"/>
              <a:t> </a:t>
            </a:r>
            <a:r>
              <a:rPr lang="ru-RU" sz="1300" dirty="0"/>
              <a:t>и методов класса наследника</a:t>
            </a:r>
            <a:r>
              <a:rPr lang="en-US" sz="1300" dirty="0"/>
              <a:t>;</a:t>
            </a:r>
            <a:endParaRPr lang="ru-RU" sz="1300" dirty="0"/>
          </a:p>
          <a:p>
            <a:pPr marL="0" indent="0">
              <a:lnSpc>
                <a:spcPct val="100000"/>
              </a:lnSpc>
              <a:buNone/>
            </a:pPr>
            <a:endParaRPr lang="ru-RU" sz="1300" dirty="0"/>
          </a:p>
          <a:p>
            <a:r>
              <a:rPr lang="en-US" sz="1300" b="1" dirty="0"/>
              <a:t>public</a:t>
            </a:r>
            <a:r>
              <a:rPr lang="ru-RU" sz="1300" b="1" dirty="0"/>
              <a:t>:</a:t>
            </a:r>
          </a:p>
          <a:p>
            <a:r>
              <a:rPr lang="ru-RU" sz="1300" dirty="0"/>
              <a:t>Доступ к членам класса есть у всех, в том числе и у обычных функций</a:t>
            </a:r>
            <a:r>
              <a:rPr lang="en-US" sz="1300" dirty="0"/>
              <a:t>;</a:t>
            </a:r>
          </a:p>
          <a:p>
            <a:pPr marL="0" indent="0">
              <a:lnSpc>
                <a:spcPct val="100000"/>
              </a:lnSpc>
              <a:buNone/>
            </a:pPr>
            <a:endParaRPr lang="en-US" sz="1300" dirty="0"/>
          </a:p>
        </p:txBody>
      </p:sp>
      <p:sp>
        <p:nvSpPr>
          <p:cNvPr id="5" name="Скругленный прямоугольник 4">
            <a:extLst>
              <a:ext uri="{FF2B5EF4-FFF2-40B4-BE49-F238E27FC236}">
                <a16:creationId xmlns:a16="http://schemas.microsoft.com/office/drawing/2014/main" id="{B3E7D494-6952-863D-85F9-5B8806B8BE8A}"/>
              </a:ext>
            </a:extLst>
          </p:cNvPr>
          <p:cNvSpPr/>
          <p:nvPr/>
        </p:nvSpPr>
        <p:spPr>
          <a:xfrm>
            <a:off x="7736439" y="4375804"/>
            <a:ext cx="3617357" cy="1669944"/>
          </a:xfrm>
          <a:prstGeom prst="roundRect">
            <a:avLst>
              <a:gd name="adj" fmla="val 1742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ru-RU" sz="1300" dirty="0"/>
              <a:t>Каждый спецификатор создаёт секцию, которая действует до следующего спецификатора или конца объявления класса</a:t>
            </a:r>
            <a:r>
              <a:rPr lang="en-US" sz="1300" dirty="0"/>
              <a:t>;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ru-RU" sz="1300" dirty="0"/>
              <a:t>Ко всем объявлениям попавшим в секцию применяется соответствующий спецификатор доступа</a:t>
            </a:r>
            <a:r>
              <a:rPr lang="en-US" sz="1300" dirty="0"/>
              <a:t>;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ru-RU" sz="1300" dirty="0"/>
              <a:t>Количество секций и порядок может быть любым.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244264901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02768"/>
            <a:ext cx="10515599" cy="4574195"/>
          </a:xfrm>
        </p:spPr>
        <p:txBody>
          <a:bodyPr lIns="14400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тут всё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public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тут всё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private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/* private */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Dot{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Всё, что пришло от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Dot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здесь стало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private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/* public */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Dot{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Всё, что пришло от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Dot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здесь не поменяло модификаторы доступа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2F118968-1D91-E1F5-1097-64D5AF47FA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rmAutofit/>
          </a:bodyPr>
          <a:lstStyle/>
          <a:p>
            <a:r>
              <a:rPr lang="ru-RU" sz="4000" dirty="0"/>
              <a:t>Спецификаторы доступа</a:t>
            </a:r>
          </a:p>
        </p:txBody>
      </p:sp>
      <p:sp>
        <p:nvSpPr>
          <p:cNvPr id="5" name="Скругленный прямоугольник 4">
            <a:extLst>
              <a:ext uri="{FF2B5EF4-FFF2-40B4-BE49-F238E27FC236}">
                <a16:creationId xmlns:a16="http://schemas.microsoft.com/office/drawing/2014/main" id="{B3E7D494-6952-863D-85F9-5B8806B8BE8A}"/>
              </a:ext>
            </a:extLst>
          </p:cNvPr>
          <p:cNvSpPr/>
          <p:nvPr/>
        </p:nvSpPr>
        <p:spPr>
          <a:xfrm>
            <a:off x="7736441" y="1602767"/>
            <a:ext cx="3617357" cy="2958959"/>
          </a:xfrm>
          <a:prstGeom prst="roundRect">
            <a:avLst>
              <a:gd name="adj" fmla="val 1742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ru-RU" sz="1300" dirty="0"/>
              <a:t>Спецификатор доступа который действует по умолчанию у структуры – </a:t>
            </a:r>
            <a:r>
              <a:rPr lang="en-US" sz="1300" dirty="0"/>
              <a:t>public;</a:t>
            </a:r>
          </a:p>
          <a:p>
            <a:pPr marL="0" indent="0">
              <a:lnSpc>
                <a:spcPct val="100000"/>
              </a:lnSpc>
              <a:buNone/>
            </a:pPr>
            <a:endParaRPr lang="en-US" sz="1300" dirty="0"/>
          </a:p>
          <a:p>
            <a:r>
              <a:rPr lang="ru-RU" sz="1300" dirty="0"/>
              <a:t>Спецификатор доступа который действует по умолчанию у класса – </a:t>
            </a:r>
            <a:r>
              <a:rPr lang="en-US" sz="1300" dirty="0"/>
              <a:t>private;</a:t>
            </a:r>
          </a:p>
          <a:p>
            <a:pPr marL="0" indent="0">
              <a:lnSpc>
                <a:spcPct val="100000"/>
              </a:lnSpc>
              <a:buNone/>
            </a:pPr>
            <a:endParaRPr lang="en-US" sz="1300" dirty="0"/>
          </a:p>
          <a:p>
            <a:pPr marL="0" indent="0">
              <a:lnSpc>
                <a:spcPct val="100000"/>
              </a:lnSpc>
              <a:buNone/>
            </a:pPr>
            <a:r>
              <a:rPr lang="ru-RU" sz="1300" dirty="0"/>
              <a:t>Если объявляется структура, то умолчанию она наследует все члены предка </a:t>
            </a:r>
            <a:r>
              <a:rPr lang="en-US" sz="1300" dirty="0"/>
              <a:t>public</a:t>
            </a:r>
            <a:r>
              <a:rPr lang="ru-RU" sz="1300" dirty="0"/>
              <a:t> способом</a:t>
            </a:r>
            <a:r>
              <a:rPr lang="en-US" sz="1300" dirty="0"/>
              <a:t>;</a:t>
            </a:r>
          </a:p>
          <a:p>
            <a:pPr marL="0" indent="0">
              <a:lnSpc>
                <a:spcPct val="100000"/>
              </a:lnSpc>
              <a:buNone/>
            </a:pPr>
            <a:endParaRPr lang="en-US" sz="1300" dirty="0"/>
          </a:p>
          <a:p>
            <a:pPr marL="0" indent="0">
              <a:lnSpc>
                <a:spcPct val="100000"/>
              </a:lnSpc>
              <a:buNone/>
            </a:pPr>
            <a:r>
              <a:rPr lang="ru-RU" sz="1300" dirty="0"/>
              <a:t>Если объявляется класс, то умолчанию он наследует все члены предка </a:t>
            </a:r>
            <a:r>
              <a:rPr lang="en-US" sz="1300" dirty="0"/>
              <a:t>private</a:t>
            </a:r>
            <a:r>
              <a:rPr lang="ru-RU" sz="1300" dirty="0"/>
              <a:t> способом</a:t>
            </a:r>
            <a:r>
              <a:rPr lang="en-US" sz="1300" dirty="0"/>
              <a:t>;</a:t>
            </a:r>
          </a:p>
          <a:p>
            <a:pPr marL="0" indent="0">
              <a:lnSpc>
                <a:spcPct val="100000"/>
              </a:lnSpc>
              <a:buNone/>
            </a:pPr>
            <a:endParaRPr lang="en-US" sz="1300" dirty="0"/>
          </a:p>
          <a:p>
            <a:pPr marL="0" indent="0">
              <a:lnSpc>
                <a:spcPct val="100000"/>
              </a:lnSpc>
              <a:buNone/>
            </a:pPr>
            <a:r>
              <a:rPr lang="ru-RU" sz="1300" dirty="0"/>
              <a:t>При наследовании не играет роль как объявлен предок, через </a:t>
            </a:r>
            <a:r>
              <a:rPr lang="en-US" sz="1300" dirty="0"/>
              <a:t>class </a:t>
            </a:r>
            <a:r>
              <a:rPr lang="ru-RU" sz="1300" dirty="0"/>
              <a:t>или </a:t>
            </a:r>
            <a:r>
              <a:rPr lang="en-US" sz="1300" dirty="0"/>
              <a:t>struct.</a:t>
            </a:r>
          </a:p>
        </p:txBody>
      </p:sp>
    </p:spTree>
    <p:extLst>
      <p:ext uri="{BB962C8B-B14F-4D97-AF65-F5344CB8AC3E}">
        <p14:creationId xmlns:p14="http://schemas.microsoft.com/office/powerpoint/2010/main" val="269324201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02768"/>
            <a:ext cx="10515599" cy="4574195"/>
          </a:xfrm>
        </p:spPr>
        <p:txBody>
          <a:bodyPr lIns="14400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sz="13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3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3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friend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foo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3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foo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3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3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3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3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3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3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bar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3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std::</a:t>
            </a:r>
            <a:r>
              <a:rPr lang="en-US" sz="13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3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3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p.val</a:t>
            </a:r>
            <a:r>
              <a:rPr lang="en-US" sz="13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3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3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; // </a:t>
            </a:r>
            <a:r>
              <a:rPr lang="ru-RU" sz="13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</a:t>
            </a:r>
            <a:endParaRPr lang="ru-RU" sz="13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ru-RU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3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3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foo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3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3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bar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3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2F118968-1D91-E1F5-1097-64D5AF47FA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rmAutofit/>
          </a:bodyPr>
          <a:lstStyle/>
          <a:p>
            <a:r>
              <a:rPr lang="ru-RU" sz="4000" dirty="0"/>
              <a:t>Ключевое слово </a:t>
            </a:r>
            <a:r>
              <a:rPr lang="en-US" sz="4000" dirty="0"/>
              <a:t>friend</a:t>
            </a:r>
            <a:r>
              <a:rPr lang="ru-RU" sz="4000" dirty="0"/>
              <a:t> - функция</a:t>
            </a:r>
          </a:p>
        </p:txBody>
      </p:sp>
      <p:sp>
        <p:nvSpPr>
          <p:cNvPr id="5" name="Скругленный прямоугольник 4">
            <a:extLst>
              <a:ext uri="{FF2B5EF4-FFF2-40B4-BE49-F238E27FC236}">
                <a16:creationId xmlns:a16="http://schemas.microsoft.com/office/drawing/2014/main" id="{B3E7D494-6952-863D-85F9-5B8806B8BE8A}"/>
              </a:ext>
            </a:extLst>
          </p:cNvPr>
          <p:cNvSpPr/>
          <p:nvPr/>
        </p:nvSpPr>
        <p:spPr>
          <a:xfrm>
            <a:off x="7500135" y="1602766"/>
            <a:ext cx="3853663" cy="4438437"/>
          </a:xfrm>
          <a:prstGeom prst="roundRect">
            <a:avLst>
              <a:gd name="adj" fmla="val 1742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ru-RU" sz="1300" dirty="0"/>
              <a:t>Ключевое слово </a:t>
            </a:r>
            <a:r>
              <a:rPr lang="en-US" sz="1300" b="1" dirty="0"/>
              <a:t>friend</a:t>
            </a:r>
            <a:r>
              <a:rPr lang="en-US" sz="1300" dirty="0"/>
              <a:t> </a:t>
            </a:r>
            <a:r>
              <a:rPr lang="ru-RU" sz="1300" dirty="0"/>
              <a:t>позволяет функции или классу получить доступ к членам другого класса игнорируя спецификаторы доступа</a:t>
            </a:r>
            <a:r>
              <a:rPr lang="en-US" sz="1300" dirty="0"/>
              <a:t>;</a:t>
            </a:r>
          </a:p>
          <a:p>
            <a:pPr marL="0" indent="0">
              <a:lnSpc>
                <a:spcPct val="100000"/>
              </a:lnSpc>
              <a:buNone/>
            </a:pPr>
            <a:endParaRPr lang="en-US" sz="1300" dirty="0"/>
          </a:p>
          <a:p>
            <a:pPr marL="0" indent="0">
              <a:lnSpc>
                <a:spcPct val="100000"/>
              </a:lnSpc>
              <a:buNone/>
            </a:pPr>
            <a:r>
              <a:rPr lang="ru-RU" sz="1300" dirty="0"/>
              <a:t>Чтобы функция стала дружественной вашему классу, нужно написать её прототип в теле объявления вашего класса и перед прототипом написать </a:t>
            </a:r>
            <a:r>
              <a:rPr lang="en-US" sz="1300" dirty="0"/>
              <a:t>friend</a:t>
            </a:r>
            <a:r>
              <a:rPr lang="ru-RU" sz="1300" dirty="0"/>
              <a:t>. К объявлению самой функции ничего добавлять не нужно</a:t>
            </a:r>
            <a:r>
              <a:rPr lang="en-US" sz="1300" dirty="0"/>
              <a:t>;</a:t>
            </a:r>
          </a:p>
          <a:p>
            <a:pPr marL="0" indent="0">
              <a:lnSpc>
                <a:spcPct val="100000"/>
              </a:lnSpc>
              <a:buNone/>
            </a:pPr>
            <a:endParaRPr lang="en-US" sz="1300" dirty="0"/>
          </a:p>
          <a:p>
            <a:r>
              <a:rPr lang="ru-RU" sz="1300" dirty="0"/>
              <a:t>Чтобы класс стал дружественным вашему классу, нужно написать его неполное объявление в теле вашего класса и перед объявление написать </a:t>
            </a:r>
            <a:r>
              <a:rPr lang="en-US" sz="1300" dirty="0"/>
              <a:t>friend</a:t>
            </a:r>
            <a:r>
              <a:rPr lang="ru-RU" sz="1300" dirty="0"/>
              <a:t>. К объявлению самого класса-друга ничего добавлять не нужно</a:t>
            </a:r>
            <a:r>
              <a:rPr lang="en-US" sz="1300" dirty="0"/>
              <a:t>;</a:t>
            </a:r>
          </a:p>
          <a:p>
            <a:pPr marL="0" indent="0">
              <a:lnSpc>
                <a:spcPct val="100000"/>
              </a:lnSpc>
              <a:buNone/>
            </a:pPr>
            <a:endParaRPr lang="en-US" sz="1300" dirty="0"/>
          </a:p>
          <a:p>
            <a:pPr marL="0" indent="0">
              <a:lnSpc>
                <a:spcPct val="100000"/>
              </a:lnSpc>
              <a:buNone/>
            </a:pPr>
            <a:r>
              <a:rPr lang="ru-RU" sz="1300" dirty="0"/>
              <a:t>Использование ключевого слова </a:t>
            </a:r>
            <a:r>
              <a:rPr lang="en-US" sz="1300" dirty="0"/>
              <a:t>friend </a:t>
            </a:r>
            <a:r>
              <a:rPr lang="ru-RU" sz="1300" dirty="0"/>
              <a:t>нарушает принцип инкапсуляции, т.к. кроме игнорирования спецификаторов доступа, сама функция не является частью класса, но тем не менее способна </a:t>
            </a:r>
            <a:r>
              <a:rPr lang="ru-RU" sz="1300" b="1" dirty="0"/>
              <a:t>напрямую (не через сообщение) </a:t>
            </a:r>
            <a:r>
              <a:rPr lang="ru-RU" sz="1300" dirty="0"/>
              <a:t>изменить состояние объекта.</a:t>
            </a:r>
            <a:endParaRPr lang="en-US" sz="1300" b="1" dirty="0"/>
          </a:p>
        </p:txBody>
      </p:sp>
    </p:spTree>
    <p:extLst>
      <p:ext uri="{BB962C8B-B14F-4D97-AF65-F5344CB8AC3E}">
        <p14:creationId xmlns:p14="http://schemas.microsoft.com/office/powerpoint/2010/main" val="417381246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02768"/>
            <a:ext cx="10515599" cy="4574195"/>
          </a:xfrm>
        </p:spPr>
        <p:txBody>
          <a:bodyPr lIns="14400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sz="13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Dot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3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</a:t>
            </a:r>
            <a:r>
              <a:rPr lang="ru-RU" sz="13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Чтобы </a:t>
            </a:r>
            <a:r>
              <a:rPr lang="en-US" sz="13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Point </a:t>
            </a:r>
            <a:r>
              <a:rPr lang="ru-RU" sz="13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знал, что </a:t>
            </a:r>
            <a:r>
              <a:rPr lang="en-US" sz="13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Dot-</a:t>
            </a:r>
            <a:r>
              <a:rPr lang="ru-RU" sz="13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класс</a:t>
            </a:r>
            <a:endParaRPr lang="ru-RU" sz="13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ru-RU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3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val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3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friend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Dot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3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Dot - </a:t>
            </a:r>
            <a:r>
              <a:rPr lang="ru-RU" sz="13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друг</a:t>
            </a:r>
            <a:endParaRPr lang="ru-RU" sz="13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ru-RU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Dot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foo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3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3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3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3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3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3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3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3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Point p;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Dot d;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3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sz="13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3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foo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(p);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2F118968-1D91-E1F5-1097-64D5AF47FA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rmAutofit/>
          </a:bodyPr>
          <a:lstStyle/>
          <a:p>
            <a:r>
              <a:rPr lang="ru-RU" sz="4000" dirty="0"/>
              <a:t>Ключевое слово </a:t>
            </a:r>
            <a:r>
              <a:rPr lang="en-US" sz="4000" dirty="0"/>
              <a:t>friend</a:t>
            </a:r>
            <a:r>
              <a:rPr lang="ru-RU" sz="4000" dirty="0"/>
              <a:t> - класс</a:t>
            </a:r>
          </a:p>
        </p:txBody>
      </p:sp>
      <p:sp>
        <p:nvSpPr>
          <p:cNvPr id="5" name="Скругленный прямоугольник 4">
            <a:extLst>
              <a:ext uri="{FF2B5EF4-FFF2-40B4-BE49-F238E27FC236}">
                <a16:creationId xmlns:a16="http://schemas.microsoft.com/office/drawing/2014/main" id="{B3E7D494-6952-863D-85F9-5B8806B8BE8A}"/>
              </a:ext>
            </a:extLst>
          </p:cNvPr>
          <p:cNvSpPr/>
          <p:nvPr/>
        </p:nvSpPr>
        <p:spPr>
          <a:xfrm>
            <a:off x="7366571" y="1602767"/>
            <a:ext cx="3987227" cy="1530852"/>
          </a:xfrm>
          <a:prstGeom prst="roundRect">
            <a:avLst>
              <a:gd name="adj" fmla="val 1742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ru-RU" sz="1300" dirty="0"/>
              <a:t>Все методы дружественного класса могут получить доступ к членам вашего класса игнорирую спецификаторы доступа</a:t>
            </a:r>
            <a:r>
              <a:rPr lang="en-US" sz="1300" dirty="0"/>
              <a:t>;</a:t>
            </a:r>
          </a:p>
          <a:p>
            <a:pPr marL="0" indent="0">
              <a:lnSpc>
                <a:spcPct val="100000"/>
              </a:lnSpc>
              <a:buNone/>
            </a:pPr>
            <a:endParaRPr lang="en-US" sz="1300" b="1" dirty="0"/>
          </a:p>
          <a:p>
            <a:pPr marL="0" indent="0">
              <a:lnSpc>
                <a:spcPct val="100000"/>
              </a:lnSpc>
              <a:buNone/>
            </a:pPr>
            <a:r>
              <a:rPr lang="ru-RU" sz="1300" dirty="0"/>
              <a:t>Ваш класс не получает приоритетного права доступа к членам класса-друга и действует в соответствии с его спецификаторами доступа.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359257705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02768"/>
            <a:ext cx="10515599" cy="4574195"/>
          </a:xfrm>
        </p:spPr>
        <p:txBody>
          <a:bodyPr lIns="14400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3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// </a:t>
            </a:r>
            <a:r>
              <a:rPr lang="ru-RU" sz="13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Вложенные класс</a:t>
            </a:r>
            <a:endParaRPr lang="ru-RU" sz="13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3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// </a:t>
            </a:r>
            <a:r>
              <a:rPr lang="ru-RU" sz="13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Вложенные класс</a:t>
            </a:r>
            <a:endParaRPr lang="ru-RU" sz="13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3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field_x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3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3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поле типа </a:t>
            </a:r>
            <a:r>
              <a:rPr lang="en-US" sz="13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X</a:t>
            </a:r>
            <a:endParaRPr lang="en-US" sz="13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3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Point::X local1; // </a:t>
            </a:r>
            <a:r>
              <a:rPr lang="ru-RU" sz="13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 </a:t>
            </a:r>
            <a:r>
              <a:rPr lang="en-US" sz="13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X - </a:t>
            </a:r>
            <a:r>
              <a:rPr lang="ru-RU" sz="13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приватный</a:t>
            </a:r>
            <a:endParaRPr lang="ru-RU" sz="13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3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3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local2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3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// </a:t>
            </a:r>
            <a:r>
              <a:rPr lang="ru-RU" sz="13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Можно </a:t>
            </a:r>
            <a:r>
              <a:rPr lang="en-US" sz="13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Y - </a:t>
            </a:r>
            <a:r>
              <a:rPr lang="ru-RU" sz="13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публичный</a:t>
            </a:r>
            <a:endParaRPr lang="ru-RU" sz="13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3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en-US" sz="13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Point::X local3 = </a:t>
            </a:r>
            <a:r>
              <a:rPr lang="en-US" sz="13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p.field_x</a:t>
            </a:r>
            <a:r>
              <a:rPr lang="en-US" sz="13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; // </a:t>
            </a:r>
            <a:r>
              <a:rPr lang="ru-RU" sz="13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Нельзя</a:t>
            </a:r>
            <a:endParaRPr lang="ru-RU" sz="13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local4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3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3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3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field_x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3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  // </a:t>
            </a:r>
            <a:r>
              <a:rPr lang="ru-RU" sz="13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Можно</a:t>
            </a:r>
            <a:endParaRPr lang="ru-RU" sz="13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2F118968-1D91-E1F5-1097-64D5AF47FA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rmAutofit/>
          </a:bodyPr>
          <a:lstStyle/>
          <a:p>
            <a:r>
              <a:rPr lang="ru-RU" sz="4000" dirty="0"/>
              <a:t>Вложенные (</a:t>
            </a:r>
            <a:r>
              <a:rPr lang="en-US" sz="4000" dirty="0"/>
              <a:t>nested</a:t>
            </a:r>
            <a:r>
              <a:rPr lang="ru-RU" sz="4000" dirty="0"/>
              <a:t>) классы</a:t>
            </a:r>
          </a:p>
        </p:txBody>
      </p:sp>
      <p:sp>
        <p:nvSpPr>
          <p:cNvPr id="5" name="Скругленный прямоугольник 4">
            <a:extLst>
              <a:ext uri="{FF2B5EF4-FFF2-40B4-BE49-F238E27FC236}">
                <a16:creationId xmlns:a16="http://schemas.microsoft.com/office/drawing/2014/main" id="{B3E7D494-6952-863D-85F9-5B8806B8BE8A}"/>
              </a:ext>
            </a:extLst>
          </p:cNvPr>
          <p:cNvSpPr/>
          <p:nvPr/>
        </p:nvSpPr>
        <p:spPr>
          <a:xfrm>
            <a:off x="7366571" y="1602767"/>
            <a:ext cx="3987227" cy="4574194"/>
          </a:xfrm>
          <a:prstGeom prst="roundRect">
            <a:avLst>
              <a:gd name="adj" fmla="val 1742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ru-RU" sz="1300" dirty="0"/>
              <a:t>Объявление вложенного класса</a:t>
            </a:r>
            <a:r>
              <a:rPr lang="en-US" sz="1300" dirty="0"/>
              <a:t> </a:t>
            </a:r>
            <a:r>
              <a:rPr lang="ru-RU" sz="1300" dirty="0"/>
              <a:t>должно находиться внутри вашего класса</a:t>
            </a:r>
            <a:r>
              <a:rPr lang="en-US" sz="1300" dirty="0"/>
              <a:t>;</a:t>
            </a:r>
            <a:endParaRPr lang="ru-RU" sz="1300" dirty="0"/>
          </a:p>
          <a:p>
            <a:pPr marL="0" indent="0">
              <a:lnSpc>
                <a:spcPct val="100000"/>
              </a:lnSpc>
              <a:buNone/>
            </a:pPr>
            <a:r>
              <a:rPr lang="ru-RU" sz="1300" dirty="0"/>
              <a:t>Объявление класса – это объявление</a:t>
            </a:r>
            <a:r>
              <a:rPr lang="ru-RU" sz="1300" b="1" dirty="0"/>
              <a:t> типа данных</a:t>
            </a:r>
            <a:r>
              <a:rPr lang="ru-RU" sz="1300" dirty="0"/>
              <a:t>, поэтому автоматически не происходит создание никаких объектов</a:t>
            </a:r>
            <a:r>
              <a:rPr lang="en-US" sz="1300" dirty="0"/>
              <a:t>;</a:t>
            </a:r>
          </a:p>
          <a:p>
            <a:pPr marL="0" indent="0">
              <a:lnSpc>
                <a:spcPct val="100000"/>
              </a:lnSpc>
              <a:buNone/>
            </a:pPr>
            <a:endParaRPr lang="en-US" sz="1300" dirty="0"/>
          </a:p>
          <a:p>
            <a:pPr marL="0" indent="0">
              <a:lnSpc>
                <a:spcPct val="100000"/>
              </a:lnSpc>
              <a:buNone/>
            </a:pPr>
            <a:r>
              <a:rPr lang="ru-RU" sz="1300" dirty="0"/>
              <a:t>На объявление вложенного класса действуют спецификаторы доступа вашего класса. Т.е. если класс объявлен в </a:t>
            </a:r>
            <a:r>
              <a:rPr lang="en-US" sz="1300" dirty="0"/>
              <a:t>private </a:t>
            </a:r>
            <a:r>
              <a:rPr lang="ru-RU" sz="1300" dirty="0"/>
              <a:t>секции, то</a:t>
            </a:r>
            <a:r>
              <a:rPr lang="en-US" sz="1300" dirty="0"/>
              <a:t> </a:t>
            </a:r>
            <a:r>
              <a:rPr lang="ru-RU" sz="1300" b="1" dirty="0"/>
              <a:t>идентификатор</a:t>
            </a:r>
            <a:r>
              <a:rPr lang="ru-RU" sz="1300" dirty="0"/>
              <a:t> класса нельзя будет </a:t>
            </a:r>
            <a:r>
              <a:rPr lang="ru-RU" sz="1300" b="1" dirty="0"/>
              <a:t>писать</a:t>
            </a:r>
            <a:r>
              <a:rPr lang="ru-RU" sz="1300" dirty="0"/>
              <a:t> за пределами тела и методов класса</a:t>
            </a:r>
            <a:r>
              <a:rPr lang="en-US" sz="1300" dirty="0"/>
              <a:t> </a:t>
            </a:r>
            <a:r>
              <a:rPr lang="ru-RU" sz="1300" dirty="0"/>
              <a:t>и т.д.</a:t>
            </a:r>
            <a:r>
              <a:rPr lang="en-US" sz="1300" dirty="0"/>
              <a:t>;</a:t>
            </a:r>
            <a:endParaRPr lang="ru-RU" sz="1300" dirty="0"/>
          </a:p>
          <a:p>
            <a:pPr marL="0" indent="0">
              <a:lnSpc>
                <a:spcPct val="100000"/>
              </a:lnSpc>
              <a:buNone/>
            </a:pPr>
            <a:endParaRPr lang="ru-RU" sz="1300" dirty="0"/>
          </a:p>
          <a:p>
            <a:pPr marL="0" indent="0">
              <a:lnSpc>
                <a:spcPct val="100000"/>
              </a:lnSpc>
              <a:buNone/>
            </a:pPr>
            <a:r>
              <a:rPr lang="ru-RU" sz="1300" dirty="0"/>
              <a:t>Во внешнем коде обращение к идентификатору вложенного класса происходит по полному квалифицированному имени, т.е. перед именем вложенного класса добавляется имя вашего класса и два двоеточия</a:t>
            </a:r>
            <a:r>
              <a:rPr lang="en-US" sz="1300" dirty="0"/>
              <a:t>;</a:t>
            </a:r>
          </a:p>
          <a:p>
            <a:pPr marL="0" indent="0">
              <a:lnSpc>
                <a:spcPct val="100000"/>
              </a:lnSpc>
              <a:buNone/>
            </a:pPr>
            <a:endParaRPr lang="en-US" sz="1300" dirty="0"/>
          </a:p>
          <a:p>
            <a:pPr marL="0" indent="0">
              <a:lnSpc>
                <a:spcPct val="100000"/>
              </a:lnSpc>
              <a:buNone/>
            </a:pPr>
            <a:r>
              <a:rPr lang="ru-RU" sz="1300" dirty="0"/>
              <a:t>Вложенный класс, во всех отношениях является полноценным классом, т.е. он может иметь свои спецификаторы доступа, свои вложенные классы, друзей и т.д.</a:t>
            </a:r>
            <a:endParaRPr lang="en-US" sz="1300" dirty="0"/>
          </a:p>
          <a:p>
            <a:pPr marL="0" indent="0">
              <a:lnSpc>
                <a:spcPct val="100000"/>
              </a:lnSpc>
              <a:buNone/>
            </a:pPr>
            <a:endParaRPr lang="en-US" sz="1300" dirty="0"/>
          </a:p>
          <a:p>
            <a:pPr marL="0" indent="0">
              <a:lnSpc>
                <a:spcPct val="100000"/>
              </a:lnSpc>
              <a:buNone/>
            </a:pPr>
            <a:endParaRPr lang="ru-RU" sz="1300" dirty="0"/>
          </a:p>
        </p:txBody>
      </p:sp>
    </p:spTree>
    <p:extLst>
      <p:ext uri="{BB962C8B-B14F-4D97-AF65-F5344CB8AC3E}">
        <p14:creationId xmlns:p14="http://schemas.microsoft.com/office/powerpoint/2010/main" val="133936406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02768"/>
            <a:ext cx="10515599" cy="4574195"/>
          </a:xfrm>
        </p:spPr>
        <p:txBody>
          <a:bodyPr lIns="14400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en-US" sz="10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sz="1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print_static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print_not_static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obj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):</a:t>
            </a:r>
            <a:r>
              <a:rPr lang="en-US" sz="10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0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s_value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value;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spcBef>
                <a:spcPts val="0"/>
              </a:spcBef>
              <a:buNone/>
            </a:pPr>
            <a:b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0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s_value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0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spcBef>
                <a:spcPts val="0"/>
              </a:spcBef>
              <a:buNone/>
            </a:pPr>
            <a:b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0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print_static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0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0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s_value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0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marL="0" indent="0">
              <a:spcBef>
                <a:spcPts val="0"/>
              </a:spcBef>
              <a:buNone/>
            </a:pPr>
            <a:b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0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print_not_static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obj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0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obj</a:t>
            </a:r>
            <a:r>
              <a:rPr lang="en-US" sz="10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0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Point </a:t>
            </a:r>
            <a:r>
              <a:rPr lang="en-US" sz="10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0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50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::X printer;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printer</a:t>
            </a:r>
            <a:r>
              <a:rPr lang="en-US" sz="10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0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print_static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printer</a:t>
            </a:r>
            <a:r>
              <a:rPr lang="en-US" sz="10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0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print_not_static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(p);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2F118968-1D91-E1F5-1097-64D5AF47FA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rmAutofit/>
          </a:bodyPr>
          <a:lstStyle/>
          <a:p>
            <a:r>
              <a:rPr lang="ru-RU" sz="4000" dirty="0"/>
              <a:t>Вложенные (</a:t>
            </a:r>
            <a:r>
              <a:rPr lang="en-US" sz="4000" dirty="0"/>
              <a:t>nested</a:t>
            </a:r>
            <a:r>
              <a:rPr lang="ru-RU" sz="4000" dirty="0"/>
              <a:t>) классы</a:t>
            </a:r>
          </a:p>
        </p:txBody>
      </p:sp>
      <p:sp>
        <p:nvSpPr>
          <p:cNvPr id="5" name="Скругленный прямоугольник 4">
            <a:extLst>
              <a:ext uri="{FF2B5EF4-FFF2-40B4-BE49-F238E27FC236}">
                <a16:creationId xmlns:a16="http://schemas.microsoft.com/office/drawing/2014/main" id="{B3E7D494-6952-863D-85F9-5B8806B8BE8A}"/>
              </a:ext>
            </a:extLst>
          </p:cNvPr>
          <p:cNvSpPr/>
          <p:nvPr/>
        </p:nvSpPr>
        <p:spPr>
          <a:xfrm>
            <a:off x="7366571" y="1602767"/>
            <a:ext cx="3987227" cy="1520577"/>
          </a:xfrm>
          <a:prstGeom prst="roundRect">
            <a:avLst>
              <a:gd name="adj" fmla="val 1742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ru-RU" sz="1300" dirty="0"/>
              <a:t>Методы вложенного класса игнорируют модификаторы доступа вашего класса, т.е. он действует как класс-друг</a:t>
            </a:r>
            <a:r>
              <a:rPr lang="en-US" sz="1300" dirty="0"/>
              <a:t>;</a:t>
            </a:r>
          </a:p>
          <a:p>
            <a:pPr marL="0" indent="0">
              <a:lnSpc>
                <a:spcPct val="100000"/>
              </a:lnSpc>
              <a:buNone/>
            </a:pPr>
            <a:endParaRPr lang="en-US" sz="1300" dirty="0"/>
          </a:p>
          <a:p>
            <a:r>
              <a:rPr lang="ru-RU" sz="1300" dirty="0"/>
              <a:t>Из методов вложенного класса можно обращаться напрямую (по не квалифицированному имени) к статическим полям и методов вашего класса</a:t>
            </a:r>
            <a:r>
              <a:rPr lang="en-US" sz="1300" dirty="0"/>
              <a:t>;</a:t>
            </a:r>
          </a:p>
          <a:p>
            <a:pPr marL="0" indent="0">
              <a:lnSpc>
                <a:spcPct val="100000"/>
              </a:lnSpc>
              <a:buNone/>
            </a:pPr>
            <a:endParaRPr lang="ru-RU" sz="1300" dirty="0"/>
          </a:p>
        </p:txBody>
      </p:sp>
    </p:spTree>
    <p:extLst>
      <p:ext uri="{BB962C8B-B14F-4D97-AF65-F5344CB8AC3E}">
        <p14:creationId xmlns:p14="http://schemas.microsoft.com/office/powerpoint/2010/main" val="285103683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EA8A94F-5D16-6464-2E03-6765A264B0C8}"/>
              </a:ext>
            </a:extLst>
          </p:cNvPr>
          <p:cNvSpPr txBox="1">
            <a:spLocks/>
          </p:cNvSpPr>
          <p:nvPr/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4400" dirty="0"/>
              <a:t>Неполный тип</a:t>
            </a:r>
          </a:p>
        </p:txBody>
      </p:sp>
    </p:spTree>
    <p:extLst>
      <p:ext uri="{BB962C8B-B14F-4D97-AF65-F5344CB8AC3E}">
        <p14:creationId xmlns:p14="http://schemas.microsoft.com/office/powerpoint/2010/main" val="7910416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rmAutofit/>
          </a:bodyPr>
          <a:lstStyle/>
          <a:p>
            <a:r>
              <a:rPr lang="ru-RU" sz="4000" dirty="0"/>
              <a:t>Неполный тип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b="0" i="0" dirty="0">
                <a:solidFill>
                  <a:srgbClr val="222222"/>
                </a:solidFill>
                <a:effectLst/>
              </a:rPr>
              <a:t>Неполные типы в C++ — это типы данных, которые еще не полностью определены на момент их использования. Они могут быть полезны во многих случаях, например, для обработки рекурсивных структур данных или для работы с класс</a:t>
            </a:r>
            <a:r>
              <a:rPr lang="ru-RU" sz="1600" dirty="0">
                <a:solidFill>
                  <a:srgbClr val="222222"/>
                </a:solidFill>
              </a:rPr>
              <a:t>ами определение которых по каким-либо причинам не доступно для нашего класса</a:t>
            </a:r>
            <a:r>
              <a:rPr lang="ru-RU" sz="1600" b="0" i="0" dirty="0">
                <a:solidFill>
                  <a:srgbClr val="222222"/>
                </a:solidFill>
                <a:effectLst/>
              </a:rPr>
              <a:t>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b="0" i="0" dirty="0">
              <a:solidFill>
                <a:srgbClr val="222222"/>
              </a:solidFill>
              <a:effectLst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22222"/>
                </a:solidFill>
              </a:rPr>
              <a:t>Объявление неполного типа</a:t>
            </a:r>
            <a:r>
              <a:rPr lang="ru-RU" sz="1600" b="0" i="0" dirty="0">
                <a:solidFill>
                  <a:srgbClr val="222222"/>
                </a:solidFill>
                <a:effectLst/>
              </a:rPr>
              <a:t>, сообщает компилятору, что существует тип с таким именем, но ничего не говорит ему о том, как он реализован: какие есть методы, поля и т. д. Обычно эти типы полностью определяются позже, поэтому такое объявление часто называют опережающим (</a:t>
            </a:r>
            <a:r>
              <a:rPr lang="ru-RU" sz="1600" b="0" i="0" dirty="0" err="1">
                <a:solidFill>
                  <a:srgbClr val="222222"/>
                </a:solidFill>
                <a:effectLst/>
              </a:rPr>
              <a:t>forward</a:t>
            </a:r>
            <a:r>
              <a:rPr lang="ru-RU" sz="1600" b="0" i="0" dirty="0">
                <a:solidFill>
                  <a:srgbClr val="222222"/>
                </a:solidFill>
                <a:effectLst/>
              </a:rPr>
              <a:t> </a:t>
            </a:r>
            <a:r>
              <a:rPr lang="ru-RU" sz="1600" b="0" i="0" dirty="0" err="1">
                <a:solidFill>
                  <a:srgbClr val="222222"/>
                </a:solidFill>
                <a:effectLst/>
              </a:rPr>
              <a:t>declaration</a:t>
            </a:r>
            <a:r>
              <a:rPr lang="ru-RU" sz="1600" b="0" i="0" dirty="0">
                <a:solidFill>
                  <a:srgbClr val="222222"/>
                </a:solidFill>
                <a:effectLst/>
              </a:rPr>
              <a:t>).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b="0" i="0" dirty="0">
              <a:solidFill>
                <a:srgbClr val="222222"/>
              </a:solidFill>
              <a:effectLst/>
            </a:endParaRPr>
          </a:p>
          <a:p>
            <a:pPr marL="0" indent="0" algn="l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b="0" i="0" dirty="0">
                <a:solidFill>
                  <a:srgbClr val="161616"/>
                </a:solidFill>
                <a:effectLst/>
              </a:rPr>
              <a:t>Неполным типом может быть: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161616"/>
                </a:solidFill>
                <a:effectLst/>
              </a:rPr>
              <a:t>тип </a:t>
            </a:r>
            <a:r>
              <a:rPr lang="ru-RU" sz="1600" b="0" i="0" dirty="0" err="1">
                <a:solidFill>
                  <a:srgbClr val="161616"/>
                </a:solidFill>
                <a:effectLst/>
              </a:rPr>
              <a:t>void</a:t>
            </a:r>
            <a:r>
              <a:rPr lang="ru-RU" sz="1600" b="0" i="0" dirty="0">
                <a:solidFill>
                  <a:srgbClr val="161616"/>
                </a:solidFill>
                <a:effectLst/>
              </a:rPr>
              <a:t>;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161616"/>
                </a:solidFill>
                <a:effectLst/>
              </a:rPr>
              <a:t>структуры, классы, объединения, для которых ещё не определена реализация;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161616"/>
                </a:solidFill>
                <a:effectLst/>
              </a:rPr>
              <a:t>массивы неопределённого размера;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161616"/>
                </a:solidFill>
                <a:effectLst/>
              </a:rPr>
              <a:t>массивы элементов неполного типа.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endParaRPr lang="ru-RU" sz="1600" dirty="0">
              <a:solidFill>
                <a:srgbClr val="161616"/>
              </a:solidFill>
            </a:endParaRPr>
          </a:p>
          <a:p>
            <a:pPr marL="0" indent="0" algn="l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b="0" i="0" dirty="0">
                <a:solidFill>
                  <a:srgbClr val="161616"/>
                </a:solidFill>
                <a:effectLst/>
              </a:rPr>
              <a:t>Чтобы тип стал полным (полностью определенным) необходимо указать недостающую информацию. Отдельно стоит отметить тип </a:t>
            </a:r>
            <a:r>
              <a:rPr lang="ru-RU" sz="1600" b="0" i="0" dirty="0" err="1">
                <a:solidFill>
                  <a:srgbClr val="161616"/>
                </a:solidFill>
                <a:effectLst/>
              </a:rPr>
              <a:t>void</a:t>
            </a:r>
            <a:r>
              <a:rPr lang="ru-RU" sz="1600" b="0" i="0" dirty="0">
                <a:solidFill>
                  <a:srgbClr val="161616"/>
                </a:solidFill>
                <a:effectLst/>
              </a:rPr>
              <a:t>, который не может быть полным в принципе.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buNone/>
            </a:pPr>
            <a:endParaRPr lang="ru-RU" sz="1600" b="0" i="0" u="none" strike="noStrike" dirty="0">
              <a:solidFill>
                <a:srgbClr val="24292F"/>
              </a:solidFill>
              <a:effectLst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b="0" i="0" u="none" strike="noStrike" dirty="0">
                <a:solidFill>
                  <a:srgbClr val="24292F"/>
                </a:solidFill>
                <a:effectLst/>
              </a:rPr>
              <a:t>Так как неполный тип ничего не говорит компилятору о своём внутреннем устройстве и размере, то не получится скомпилировать код, который пытается получить доступ к его содержимому или создать переменную такого типа.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Переменную-указатель или переменную-ссылку на неполный тип создать можно.</a:t>
            </a:r>
            <a:endParaRPr lang="ru-RU" sz="1600" b="0" i="0" u="none" strike="noStrike" dirty="0">
              <a:solidFill>
                <a:srgbClr val="24292F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89644710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02768"/>
            <a:ext cx="10515599" cy="4574195"/>
          </a:xfrm>
        </p:spPr>
        <p:txBody>
          <a:bodyPr lIns="14400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Нельзя</a:t>
            </a:r>
            <a:endParaRPr lang="ru-RU" sz="2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next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Следующая </a:t>
            </a:r>
            <a:r>
              <a:rPr lang="ru-RU" sz="20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нода</a:t>
            </a:r>
            <a:endParaRPr lang="ru-RU" sz="2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ru-RU" sz="2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ru-RU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ru-RU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Так можно</a:t>
            </a:r>
            <a:endParaRPr lang="ru-RU" sz="2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20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next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Следующая </a:t>
            </a:r>
            <a:r>
              <a:rPr lang="ru-RU" sz="20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нода</a:t>
            </a:r>
            <a:endParaRPr lang="ru-RU" sz="2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2F118968-1D91-E1F5-1097-64D5AF47FA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rmAutofit/>
          </a:bodyPr>
          <a:lstStyle/>
          <a:p>
            <a:r>
              <a:rPr lang="ru-RU" sz="4000" dirty="0"/>
              <a:t>Класс использующий себя как поле</a:t>
            </a:r>
          </a:p>
        </p:txBody>
      </p:sp>
      <p:sp>
        <p:nvSpPr>
          <p:cNvPr id="5" name="Скругленный прямоугольник 4">
            <a:extLst>
              <a:ext uri="{FF2B5EF4-FFF2-40B4-BE49-F238E27FC236}">
                <a16:creationId xmlns:a16="http://schemas.microsoft.com/office/drawing/2014/main" id="{B3E7D494-6952-863D-85F9-5B8806B8BE8A}"/>
              </a:ext>
            </a:extLst>
          </p:cNvPr>
          <p:cNvSpPr/>
          <p:nvPr/>
        </p:nvSpPr>
        <p:spPr>
          <a:xfrm>
            <a:off x="7366571" y="1602767"/>
            <a:ext cx="3987227" cy="2702105"/>
          </a:xfrm>
          <a:prstGeom prst="roundRect">
            <a:avLst>
              <a:gd name="adj" fmla="val 1742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ru-RU" sz="1300" dirty="0"/>
              <a:t>Класс не может использовать себя в качестве своего же поля, потому что это приведёт к бесконечному рекурсивному выделению памяти под объект такого класса</a:t>
            </a:r>
            <a:r>
              <a:rPr lang="en-US" sz="1300" dirty="0"/>
              <a:t>;</a:t>
            </a:r>
          </a:p>
          <a:p>
            <a:pPr marL="0" indent="0">
              <a:lnSpc>
                <a:spcPct val="100000"/>
              </a:lnSpc>
              <a:buNone/>
            </a:pPr>
            <a:endParaRPr lang="en-US" sz="1300" dirty="0"/>
          </a:p>
          <a:p>
            <a:r>
              <a:rPr lang="ru-RU" sz="1300" dirty="0"/>
              <a:t>Класс не может использовать себя в качестве своего же поля, потому что</a:t>
            </a:r>
            <a:r>
              <a:rPr lang="en-US" sz="1300" dirty="0"/>
              <a:t> </a:t>
            </a:r>
            <a:r>
              <a:rPr lang="ru-RU" sz="1300" dirty="0"/>
              <a:t>на момент использования объявления класса ещё не закончено – т.к. это неполный тип</a:t>
            </a:r>
            <a:r>
              <a:rPr lang="en-US" sz="1300" dirty="0"/>
              <a:t>;</a:t>
            </a:r>
          </a:p>
          <a:p>
            <a:pPr marL="0" indent="0">
              <a:lnSpc>
                <a:spcPct val="100000"/>
              </a:lnSpc>
              <a:buNone/>
            </a:pPr>
            <a:endParaRPr lang="ru-RU" sz="1300" dirty="0"/>
          </a:p>
          <a:p>
            <a:pPr marL="0" indent="0">
              <a:lnSpc>
                <a:spcPct val="100000"/>
              </a:lnSpc>
              <a:buNone/>
            </a:pPr>
            <a:r>
              <a:rPr lang="ru-RU" sz="1300" dirty="0"/>
              <a:t>Класс может использовать ссылку или указатель на себя как поле, как возвращаемый тип или параметр метода</a:t>
            </a:r>
            <a:r>
              <a:rPr lang="en-US" sz="1300" dirty="0"/>
              <a:t>;</a:t>
            </a:r>
          </a:p>
          <a:p>
            <a:pPr marL="0" indent="0">
              <a:lnSpc>
                <a:spcPct val="100000"/>
              </a:lnSpc>
              <a:buNone/>
            </a:pPr>
            <a:endParaRPr lang="ru-RU" sz="1300" dirty="0"/>
          </a:p>
        </p:txBody>
      </p:sp>
    </p:spTree>
    <p:extLst>
      <p:ext uri="{BB962C8B-B14F-4D97-AF65-F5344CB8AC3E}">
        <p14:creationId xmlns:p14="http://schemas.microsoft.com/office/powerpoint/2010/main" val="332990962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02768"/>
            <a:ext cx="10515599" cy="4574195"/>
          </a:xfrm>
        </p:spPr>
        <p:txBody>
          <a:bodyPr lIns="14400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b_field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a_field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/********************************/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b_field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Здесь B - неполный тип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a_field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Звёздочка не обязательна чисто для симметрии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2F118968-1D91-E1F5-1097-64D5AF47FA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rmAutofit/>
          </a:bodyPr>
          <a:lstStyle/>
          <a:p>
            <a:r>
              <a:rPr lang="ru-RU" sz="4000" dirty="0"/>
              <a:t>Перекрёстное использование</a:t>
            </a:r>
          </a:p>
        </p:txBody>
      </p:sp>
      <p:sp>
        <p:nvSpPr>
          <p:cNvPr id="5" name="Скругленный прямоугольник 4">
            <a:extLst>
              <a:ext uri="{FF2B5EF4-FFF2-40B4-BE49-F238E27FC236}">
                <a16:creationId xmlns:a16="http://schemas.microsoft.com/office/drawing/2014/main" id="{B3E7D494-6952-863D-85F9-5B8806B8BE8A}"/>
              </a:ext>
            </a:extLst>
          </p:cNvPr>
          <p:cNvSpPr/>
          <p:nvPr/>
        </p:nvSpPr>
        <p:spPr>
          <a:xfrm>
            <a:off x="7366571" y="1602767"/>
            <a:ext cx="3987227" cy="1325563"/>
          </a:xfrm>
          <a:prstGeom prst="roundRect">
            <a:avLst>
              <a:gd name="adj" fmla="val 1742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ru-RU" sz="1300" dirty="0"/>
              <a:t>Бывает, что два класса используют друг друга в качестве полей, как возвращаемые значения или как параметры методов</a:t>
            </a:r>
            <a:r>
              <a:rPr lang="en-US" sz="1300" dirty="0"/>
              <a:t>. </a:t>
            </a:r>
            <a:r>
              <a:rPr lang="ru-RU" sz="1300" dirty="0"/>
              <a:t>Без использования неполных типов такое сделать невозможно, т.к. один из классов в любом случае будет находится за пределами области видимости другого.</a:t>
            </a:r>
          </a:p>
        </p:txBody>
      </p:sp>
    </p:spTree>
    <p:extLst>
      <p:ext uri="{BB962C8B-B14F-4D97-AF65-F5344CB8AC3E}">
        <p14:creationId xmlns:p14="http://schemas.microsoft.com/office/powerpoint/2010/main" val="357920962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02768"/>
            <a:ext cx="10515599" cy="4574195"/>
          </a:xfrm>
        </p:spPr>
        <p:txBody>
          <a:bodyPr lIns="14400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sz="13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method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3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param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13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3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Здесь </a:t>
            </a:r>
            <a:r>
              <a:rPr lang="en-US" sz="13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B </a:t>
            </a:r>
            <a:r>
              <a:rPr lang="ru-RU" sz="13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неполный тип</a:t>
            </a:r>
            <a:endParaRPr lang="ru-RU" sz="13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ru-RU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3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b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3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3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3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3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3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method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3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3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method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3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param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){</a:t>
            </a:r>
            <a:r>
              <a:rPr lang="en-US" sz="13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3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А здесь </a:t>
            </a:r>
            <a:r>
              <a:rPr lang="en-US" sz="13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B </a:t>
            </a:r>
            <a:r>
              <a:rPr lang="ru-RU" sz="13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уже полный</a:t>
            </a:r>
            <a:endParaRPr lang="ru-RU" sz="13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3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3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param</a:t>
            </a:r>
            <a:r>
              <a:rPr lang="en-US" sz="13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3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3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2F118968-1D91-E1F5-1097-64D5AF47FA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4"/>
            <a:ext cx="10515600" cy="720000"/>
          </a:xfrm>
        </p:spPr>
        <p:txBody>
          <a:bodyPr>
            <a:normAutofit/>
          </a:bodyPr>
          <a:lstStyle/>
          <a:p>
            <a:r>
              <a:rPr lang="ru-RU" sz="4000" dirty="0"/>
              <a:t>Использование в методах</a:t>
            </a:r>
          </a:p>
        </p:txBody>
      </p:sp>
      <p:sp>
        <p:nvSpPr>
          <p:cNvPr id="5" name="Скругленный прямоугольник 4">
            <a:extLst>
              <a:ext uri="{FF2B5EF4-FFF2-40B4-BE49-F238E27FC236}">
                <a16:creationId xmlns:a16="http://schemas.microsoft.com/office/drawing/2014/main" id="{B3E7D494-6952-863D-85F9-5B8806B8BE8A}"/>
              </a:ext>
            </a:extLst>
          </p:cNvPr>
          <p:cNvSpPr/>
          <p:nvPr/>
        </p:nvSpPr>
        <p:spPr>
          <a:xfrm>
            <a:off x="7366571" y="1602767"/>
            <a:ext cx="3987227" cy="1962366"/>
          </a:xfrm>
          <a:prstGeom prst="roundRect">
            <a:avLst>
              <a:gd name="adj" fmla="val 1742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ru-RU" sz="1300" dirty="0"/>
              <a:t>Тело метода можно определить уже после того, как класс станет полным типом, в этом случае можно будет использовать его методы и принимать/возвращать объекты по значению</a:t>
            </a:r>
            <a:r>
              <a:rPr lang="en-US" sz="1300" dirty="0"/>
              <a:t>;</a:t>
            </a:r>
          </a:p>
          <a:p>
            <a:pPr marL="0" indent="0">
              <a:lnSpc>
                <a:spcPct val="100000"/>
              </a:lnSpc>
              <a:buNone/>
            </a:pPr>
            <a:endParaRPr lang="en-US" sz="1300" dirty="0"/>
          </a:p>
          <a:p>
            <a:pPr marL="0" indent="0">
              <a:lnSpc>
                <a:spcPct val="100000"/>
              </a:lnSpc>
              <a:buNone/>
            </a:pPr>
            <a:r>
              <a:rPr lang="ru-RU" sz="1300" dirty="0"/>
              <a:t>Если в этом примере определить тело внутри класса </a:t>
            </a:r>
            <a:r>
              <a:rPr lang="en-US" sz="1300" dirty="0"/>
              <a:t>A</a:t>
            </a:r>
            <a:r>
              <a:rPr lang="ru-RU" sz="1300" dirty="0"/>
              <a:t>, то использование методов класса </a:t>
            </a:r>
            <a:r>
              <a:rPr lang="en-US" sz="1300" dirty="0"/>
              <a:t>B </a:t>
            </a:r>
            <a:r>
              <a:rPr lang="ru-RU" sz="1300" dirty="0"/>
              <a:t>будет недоступно и передать объект класса </a:t>
            </a:r>
            <a:r>
              <a:rPr lang="en-US" sz="1300" dirty="0"/>
              <a:t>B </a:t>
            </a:r>
            <a:r>
              <a:rPr lang="ru-RU" sz="1300" dirty="0"/>
              <a:t>в методы можно будет только по указателю или ссылке.</a:t>
            </a:r>
          </a:p>
        </p:txBody>
      </p:sp>
    </p:spTree>
    <p:extLst>
      <p:ext uri="{BB962C8B-B14F-4D97-AF65-F5344CB8AC3E}">
        <p14:creationId xmlns:p14="http://schemas.microsoft.com/office/powerpoint/2010/main" val="89686968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02768"/>
            <a:ext cx="10515599" cy="4574195"/>
          </a:xfrm>
        </p:spPr>
        <p:txBody>
          <a:bodyPr lIns="14400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5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5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create_A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5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5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create_A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Создаём объект</a:t>
            </a:r>
            <a:endParaRPr lang="ru-RU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delete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    // </a:t>
            </a:r>
            <a:r>
              <a:rPr lang="ru-RU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Удаляем объект</a:t>
            </a:r>
            <a:endParaRPr lang="ru-RU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 </a:t>
            </a:r>
            <a:r>
              <a:rPr lang="en-US" sz="15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5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"+"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5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~A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 </a:t>
            </a:r>
            <a:r>
              <a:rPr lang="en-US" sz="15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5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"-"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5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5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create_A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2F118968-1D91-E1F5-1097-64D5AF47FA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rmAutofit/>
          </a:bodyPr>
          <a:lstStyle/>
          <a:p>
            <a:r>
              <a:rPr lang="ru-RU" sz="4000" dirty="0"/>
              <a:t>Удаление переменных неполного типа</a:t>
            </a:r>
          </a:p>
        </p:txBody>
      </p:sp>
      <p:sp>
        <p:nvSpPr>
          <p:cNvPr id="5" name="Скругленный прямоугольник 4">
            <a:extLst>
              <a:ext uri="{FF2B5EF4-FFF2-40B4-BE49-F238E27FC236}">
                <a16:creationId xmlns:a16="http://schemas.microsoft.com/office/drawing/2014/main" id="{B3E7D494-6952-863D-85F9-5B8806B8BE8A}"/>
              </a:ext>
            </a:extLst>
          </p:cNvPr>
          <p:cNvSpPr/>
          <p:nvPr/>
        </p:nvSpPr>
        <p:spPr>
          <a:xfrm>
            <a:off x="7366571" y="1602766"/>
            <a:ext cx="3987227" cy="3287733"/>
          </a:xfrm>
          <a:prstGeom prst="roundRect">
            <a:avLst>
              <a:gd name="adj" fmla="val 1742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ru-RU" sz="1300" dirty="0"/>
              <a:t>Удаление объектов неполного типа может сопровождаться проблемами в том случае, если на момент удаления тип всё ещё остаётся неполным</a:t>
            </a:r>
            <a:r>
              <a:rPr lang="en-US" sz="1300" dirty="0"/>
              <a:t>;</a:t>
            </a:r>
          </a:p>
          <a:p>
            <a:pPr marL="0" indent="0">
              <a:lnSpc>
                <a:spcPct val="100000"/>
              </a:lnSpc>
              <a:buNone/>
            </a:pPr>
            <a:endParaRPr lang="en-US" sz="1300" dirty="0"/>
          </a:p>
          <a:p>
            <a:pPr marL="0" indent="0">
              <a:lnSpc>
                <a:spcPct val="100000"/>
              </a:lnSpc>
              <a:buNone/>
            </a:pPr>
            <a:r>
              <a:rPr lang="ru-RU" sz="1300" dirty="0"/>
              <a:t>Обычно компилятор покажет предупреждение, но не ошибку, т.е. код будет работать, но с непредсказуемыми последствиями</a:t>
            </a:r>
            <a:r>
              <a:rPr lang="en-US" sz="1300" dirty="0"/>
              <a:t>;</a:t>
            </a:r>
          </a:p>
          <a:p>
            <a:pPr marL="0" indent="0">
              <a:lnSpc>
                <a:spcPct val="100000"/>
              </a:lnSpc>
              <a:buNone/>
            </a:pPr>
            <a:endParaRPr lang="en-US" sz="1300" dirty="0"/>
          </a:p>
          <a:p>
            <a:pPr marL="0" indent="0">
              <a:lnSpc>
                <a:spcPct val="100000"/>
              </a:lnSpc>
              <a:buNone/>
            </a:pPr>
            <a:r>
              <a:rPr lang="ru-RU" sz="1300" dirty="0"/>
              <a:t>В этом примере видно, удаление объекта происходит ещё до того, как объявится тело класса А. Это приведёт к тому, что деструктор класса А не будет вызван (хотя память будет освобождена).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ru-RU" sz="1300" dirty="0"/>
              <a:t>Здесь мы просто не увидим сообщение на экране, но если деструктор делает что-то более важное, то он не будет выполнено и может сломать всю логику работы кода.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93507615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EA8A94F-5D16-6464-2E03-6765A264B0C8}"/>
              </a:ext>
            </a:extLst>
          </p:cNvPr>
          <p:cNvSpPr txBox="1">
            <a:spLocks/>
          </p:cNvSpPr>
          <p:nvPr/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4400" dirty="0"/>
              <a:t>Устройство объекта в памяти</a:t>
            </a:r>
          </a:p>
        </p:txBody>
      </p:sp>
    </p:spTree>
    <p:extLst>
      <p:ext uri="{BB962C8B-B14F-4D97-AF65-F5344CB8AC3E}">
        <p14:creationId xmlns:p14="http://schemas.microsoft.com/office/powerpoint/2010/main" val="356718545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rmAutofit/>
          </a:bodyPr>
          <a:lstStyle/>
          <a:p>
            <a:r>
              <a:rPr lang="ru-RU" sz="4000" dirty="0"/>
              <a:t>Объект в памяти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2220"/>
            <a:ext cx="4668748" cy="4594743"/>
          </a:xfrm>
        </p:spPr>
        <p:txBody>
          <a:bodyPr>
            <a:noAutofit/>
          </a:bodyPr>
          <a:lstStyle/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{};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endParaRPr lang="en-US" sz="1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267F99"/>
                </a:solidFill>
                <a:latin typeface="Consolas" panose="020B0609020204030204" pitchFamily="49" charset="0"/>
              </a:rPr>
              <a:t>D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1080"/>
                </a:solidFill>
                <a:latin typeface="Consolas" panose="020B0609020204030204" pitchFamily="49" charset="0"/>
              </a:rPr>
              <a:t>value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200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virtual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795E26"/>
                </a:solidFill>
                <a:latin typeface="Consolas" panose="020B0609020204030204" pitchFamily="49" charset="0"/>
              </a:rPr>
              <a:t>print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1080"/>
                </a:solidFill>
                <a:latin typeface="Consolas" panose="020B0609020204030204" pitchFamily="49" charset="0"/>
              </a:rPr>
              <a:t>value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){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200" dirty="0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en-US" sz="1200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1080"/>
                </a:solidFill>
                <a:latin typeface="Consolas" panose="020B0609020204030204" pitchFamily="49" charset="0"/>
              </a:rPr>
              <a:t>value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en-US" sz="1200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Объект 2">
            <a:extLst>
              <a:ext uri="{FF2B5EF4-FFF2-40B4-BE49-F238E27FC236}">
                <a16:creationId xmlns:a16="http://schemas.microsoft.com/office/drawing/2014/main" id="{A60D7D44-3406-F906-8D63-6C4C2689499E}"/>
              </a:ext>
            </a:extLst>
          </p:cNvPr>
          <p:cNvSpPr txBox="1">
            <a:spLocks/>
          </p:cNvSpPr>
          <p:nvPr/>
        </p:nvSpPr>
        <p:spPr>
          <a:xfrm>
            <a:off x="5506948" y="1582220"/>
            <a:ext cx="5846852" cy="459474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267F99"/>
                </a:solidFill>
                <a:latin typeface="Consolas" panose="020B0609020204030204" pitchFamily="49" charset="0"/>
              </a:rPr>
              <a:t>E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1080"/>
                </a:solidFill>
                <a:latin typeface="Consolas" panose="020B0609020204030204" pitchFamily="49" charset="0"/>
              </a:rPr>
              <a:t>value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200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static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rgbClr val="001080"/>
                </a:solidFill>
                <a:latin typeface="Consolas" panose="020B0609020204030204" pitchFamily="49" charset="0"/>
              </a:rPr>
              <a:t>svalue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  <a:b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267F99"/>
                </a:solidFill>
                <a:latin typeface="Consolas" panose="020B0609020204030204" pitchFamily="49" charset="0"/>
              </a:rPr>
              <a:t>E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en-US" sz="1200" dirty="0">
                <a:solidFill>
                  <a:srgbClr val="001080"/>
                </a:solidFill>
                <a:latin typeface="Consolas" panose="020B0609020204030204" pitchFamily="49" charset="0"/>
              </a:rPr>
              <a:t>svalue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200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"A: "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A: 1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"B: "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B: 4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"C: "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C: 4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"D: "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D: 16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"E: "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E: 4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Скругленный прямоугольник 4">
            <a:extLst>
              <a:ext uri="{FF2B5EF4-FFF2-40B4-BE49-F238E27FC236}">
                <a16:creationId xmlns:a16="http://schemas.microsoft.com/office/drawing/2014/main" id="{EC5A1C44-BC31-1EF9-F00D-58BCE0F826CB}"/>
              </a:ext>
            </a:extLst>
          </p:cNvPr>
          <p:cNvSpPr/>
          <p:nvPr/>
        </p:nvSpPr>
        <p:spPr>
          <a:xfrm>
            <a:off x="5589140" y="4448711"/>
            <a:ext cx="5013790" cy="1921266"/>
          </a:xfrm>
          <a:prstGeom prst="roundRect">
            <a:avLst>
              <a:gd name="adj" fmla="val 1742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ru-RU" sz="1200" dirty="0"/>
              <a:t>Всё, что было сказано про устройство в памяти структур справедливо и для классов</a:t>
            </a:r>
            <a:r>
              <a:rPr lang="en-US" sz="1200" dirty="0"/>
              <a:t>;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200" dirty="0"/>
              <a:t>- </a:t>
            </a:r>
            <a:r>
              <a:rPr lang="ru-RU" sz="1200" dirty="0"/>
              <a:t>Объект пустого класса занимает в памяти 1 байт, только для того, чтобы его можно было адресовать (меньше не получится)</a:t>
            </a:r>
            <a:r>
              <a:rPr lang="en-US" sz="1200" dirty="0"/>
              <a:t>;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200" dirty="0"/>
              <a:t>- </a:t>
            </a:r>
            <a:r>
              <a:rPr lang="ru-RU" sz="1200" dirty="0"/>
              <a:t>Место в экземпляре класса занимают только поля</a:t>
            </a:r>
            <a:r>
              <a:rPr lang="en-US" sz="1200" dirty="0"/>
              <a:t>;</a:t>
            </a:r>
          </a:p>
          <a:p>
            <a:r>
              <a:rPr lang="en-US" sz="1200" dirty="0"/>
              <a:t>- </a:t>
            </a:r>
            <a:r>
              <a:rPr lang="ru-RU" sz="1200" dirty="0"/>
              <a:t>Статические поля не занимают места в экземплярах класса</a:t>
            </a:r>
            <a:r>
              <a:rPr lang="en-US" sz="1200" dirty="0"/>
              <a:t>;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200" dirty="0"/>
              <a:t>- </a:t>
            </a:r>
            <a:r>
              <a:rPr lang="ru-RU" sz="1200" dirty="0"/>
              <a:t>Методы не занимают в памяти объекта никакого места</a:t>
            </a:r>
            <a:r>
              <a:rPr lang="en-US" sz="1200" dirty="0"/>
              <a:t>;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200" dirty="0"/>
              <a:t>- </a:t>
            </a:r>
            <a:r>
              <a:rPr lang="ru-RU" sz="1200" dirty="0"/>
              <a:t>Если в классе появляется ходьбы один виртуальный метод, то в объекты такого класса добавляется скрытое поле – указатель на таблицу виртуальных методов</a:t>
            </a:r>
            <a:r>
              <a:rPr lang="en-US" sz="1200" dirty="0"/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1713831226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EA8A94F-5D16-6464-2E03-6765A264B0C8}"/>
              </a:ext>
            </a:extLst>
          </p:cNvPr>
          <p:cNvSpPr txBox="1">
            <a:spLocks/>
          </p:cNvSpPr>
          <p:nvPr/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4400" dirty="0"/>
              <a:t>Разделение кода класса</a:t>
            </a:r>
            <a:r>
              <a:rPr lang="en-US" sz="4400" dirty="0"/>
              <a:t> </a:t>
            </a:r>
            <a:r>
              <a:rPr lang="ru-RU" sz="4400" dirty="0"/>
              <a:t>на файлы</a:t>
            </a:r>
          </a:p>
        </p:txBody>
      </p:sp>
    </p:spTree>
    <p:extLst>
      <p:ext uri="{BB962C8B-B14F-4D97-AF65-F5344CB8AC3E}">
        <p14:creationId xmlns:p14="http://schemas.microsoft.com/office/powerpoint/2010/main" val="174290419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rmAutofit/>
          </a:bodyPr>
          <a:lstStyle/>
          <a:p>
            <a:r>
              <a:rPr lang="ru-RU" sz="4000" dirty="0"/>
              <a:t>Разделение кода класса на файлы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b="0" i="0" u="none" strike="noStrike" dirty="0">
                <a:solidFill>
                  <a:srgbClr val="24292F"/>
                </a:solidFill>
                <a:effectLst/>
              </a:rPr>
              <a:t>В языке С++ используется раздельная компиляция кода. Т.е</a:t>
            </a:r>
            <a:r>
              <a:rPr lang="ru-RU" sz="1600" dirty="0">
                <a:solidFill>
                  <a:srgbClr val="24292F"/>
                </a:solidFill>
              </a:rPr>
              <a:t>. каждый .</a:t>
            </a:r>
            <a:r>
              <a:rPr lang="en-US" sz="1600" dirty="0" err="1">
                <a:solidFill>
                  <a:srgbClr val="24292F"/>
                </a:solidFill>
              </a:rPr>
              <a:t>cpp</a:t>
            </a:r>
            <a:r>
              <a:rPr lang="en-US" sz="1600" dirty="0">
                <a:solidFill>
                  <a:srgbClr val="24292F"/>
                </a:solidFill>
              </a:rPr>
              <a:t> </a:t>
            </a:r>
            <a:r>
              <a:rPr lang="ru-RU" sz="1600" dirty="0">
                <a:solidFill>
                  <a:srgbClr val="24292F"/>
                </a:solidFill>
              </a:rPr>
              <a:t>файл компилируется в объектный файл отдельно от остальных. Основная причина такого разделение – </a:t>
            </a:r>
            <a:r>
              <a:rPr lang="ru-RU" sz="1600" b="1" dirty="0">
                <a:solidFill>
                  <a:srgbClr val="24292F"/>
                </a:solidFill>
              </a:rPr>
              <a:t>долгая компиляция </a:t>
            </a:r>
            <a:r>
              <a:rPr lang="ru-RU" sz="1600" dirty="0">
                <a:solidFill>
                  <a:srgbClr val="24292F"/>
                </a:solidFill>
              </a:rPr>
              <a:t>кода и попытка ускорить её за счёт разделения на несвязанные блоки.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b="0" i="0" u="none" strike="noStrike" dirty="0">
              <a:solidFill>
                <a:srgbClr val="24292F"/>
              </a:solidFill>
              <a:effectLst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Если мы размещаем весь класс в </a:t>
            </a:r>
            <a:r>
              <a:rPr lang="en-US" sz="1600" dirty="0">
                <a:solidFill>
                  <a:srgbClr val="24292F"/>
                </a:solidFill>
              </a:rPr>
              <a:t>.h </a:t>
            </a:r>
            <a:r>
              <a:rPr lang="ru-RU" sz="1600" dirty="0">
                <a:solidFill>
                  <a:srgbClr val="24292F"/>
                </a:solidFill>
              </a:rPr>
              <a:t>файле, то каждый </a:t>
            </a:r>
            <a:r>
              <a:rPr lang="en-US" sz="1600" dirty="0">
                <a:solidFill>
                  <a:srgbClr val="24292F"/>
                </a:solidFill>
              </a:rPr>
              <a:t>.</a:t>
            </a:r>
            <a:r>
              <a:rPr lang="en-US" sz="1600" dirty="0" err="1">
                <a:solidFill>
                  <a:srgbClr val="24292F"/>
                </a:solidFill>
              </a:rPr>
              <a:t>cpp</a:t>
            </a:r>
            <a:r>
              <a:rPr lang="en-US" sz="1600" dirty="0">
                <a:solidFill>
                  <a:srgbClr val="24292F"/>
                </a:solidFill>
              </a:rPr>
              <a:t> </a:t>
            </a:r>
            <a:r>
              <a:rPr lang="ru-RU" sz="1600" dirty="0">
                <a:solidFill>
                  <a:srgbClr val="24292F"/>
                </a:solidFill>
              </a:rPr>
              <a:t>файл который будет использовать наш класс нужно будет перекомпилировать при внесении любых изменений в наш класс.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b="0" i="0" u="none" strike="noStrike" dirty="0">
                <a:solidFill>
                  <a:srgbClr val="24292F"/>
                </a:solidFill>
                <a:effectLst/>
              </a:rPr>
              <a:t>Чтобы уменьшить количество перекомпиляций код класса обычно разделяют на 2 фай</a:t>
            </a:r>
            <a:r>
              <a:rPr lang="ru-RU" sz="1600" dirty="0">
                <a:solidFill>
                  <a:srgbClr val="24292F"/>
                </a:solidFill>
              </a:rPr>
              <a:t>ла:</a:t>
            </a: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ru-RU" sz="1600" b="0" i="0" u="none" strike="noStrike" dirty="0">
                <a:solidFill>
                  <a:srgbClr val="24292F"/>
                </a:solidFill>
                <a:effectLst/>
              </a:rPr>
              <a:t>интерфейс класса. Объявляет поля и методы без реализации. Размещается в </a:t>
            </a:r>
            <a:r>
              <a:rPr lang="en-US" sz="1600" dirty="0">
                <a:solidFill>
                  <a:srgbClr val="24292F"/>
                </a:solidFill>
              </a:rPr>
              <a:t>.h </a:t>
            </a:r>
            <a:r>
              <a:rPr lang="ru-RU" sz="1600" dirty="0">
                <a:solidFill>
                  <a:srgbClr val="24292F"/>
                </a:solidFill>
              </a:rPr>
              <a:t>файле</a:t>
            </a:r>
            <a:r>
              <a:rPr lang="en-US" sz="1600" b="0" i="0" u="none" strike="noStrike" dirty="0">
                <a:solidFill>
                  <a:srgbClr val="24292F"/>
                </a:solidFill>
                <a:effectLst/>
              </a:rPr>
              <a:t>;</a:t>
            </a: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ru-RU" sz="1600" dirty="0">
                <a:solidFill>
                  <a:srgbClr val="24292F"/>
                </a:solidFill>
              </a:rPr>
              <a:t>р</a:t>
            </a:r>
            <a:r>
              <a:rPr lang="ru-RU" sz="1600" b="0" i="0" u="none" strike="noStrike" dirty="0">
                <a:solidFill>
                  <a:srgbClr val="24292F"/>
                </a:solidFill>
                <a:effectLst/>
              </a:rPr>
              <a:t>еализация класса. Здесь прописывается реализация всех методов и инициализация статических полей</a:t>
            </a:r>
            <a:r>
              <a:rPr lang="en-US" sz="1600" dirty="0">
                <a:solidFill>
                  <a:srgbClr val="24292F"/>
                </a:solidFill>
              </a:rPr>
              <a:t>. </a:t>
            </a:r>
            <a:r>
              <a:rPr lang="ru-RU" sz="1600" b="0" i="0" u="none" strike="noStrike" dirty="0">
                <a:solidFill>
                  <a:srgbClr val="24292F"/>
                </a:solidFill>
                <a:effectLst/>
              </a:rPr>
              <a:t>Размещается в </a:t>
            </a:r>
            <a:r>
              <a:rPr lang="en-US" sz="1600" dirty="0">
                <a:solidFill>
                  <a:srgbClr val="24292F"/>
                </a:solidFill>
              </a:rPr>
              <a:t>.</a:t>
            </a:r>
            <a:r>
              <a:rPr lang="en-US" sz="1600" dirty="0" err="1">
                <a:solidFill>
                  <a:srgbClr val="24292F"/>
                </a:solidFill>
              </a:rPr>
              <a:t>cpp</a:t>
            </a:r>
            <a:r>
              <a:rPr lang="en-US" sz="1600" dirty="0">
                <a:solidFill>
                  <a:srgbClr val="24292F"/>
                </a:solidFill>
              </a:rPr>
              <a:t> </a:t>
            </a:r>
            <a:r>
              <a:rPr lang="ru-RU" sz="1600" dirty="0">
                <a:solidFill>
                  <a:srgbClr val="24292F"/>
                </a:solidFill>
              </a:rPr>
              <a:t>файле</a:t>
            </a:r>
            <a:r>
              <a:rPr lang="en-US" sz="1600" b="0" i="0" u="none" strike="noStrike" dirty="0">
                <a:solidFill>
                  <a:srgbClr val="24292F"/>
                </a:solidFill>
                <a:effectLst/>
              </a:rPr>
              <a:t>;</a:t>
            </a:r>
          </a:p>
          <a:p>
            <a:pPr>
              <a:lnSpc>
                <a:spcPct val="110000"/>
              </a:lnSpc>
              <a:spcBef>
                <a:spcPts val="0"/>
              </a:spcBef>
            </a:pPr>
            <a:endParaRPr lang="en-US" sz="1600" b="0" i="0" u="none" strike="noStrike" dirty="0">
              <a:solidFill>
                <a:srgbClr val="24292F"/>
              </a:solidFill>
              <a:effectLst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b="0" i="0" u="none" strike="noStrike" dirty="0">
                <a:solidFill>
                  <a:srgbClr val="24292F"/>
                </a:solidFill>
                <a:effectLst/>
              </a:rPr>
              <a:t>Таким образом можно свободно вносить изменения в реализацию к</a:t>
            </a:r>
            <a:r>
              <a:rPr lang="ru-RU" sz="1600" dirty="0">
                <a:solidFill>
                  <a:srgbClr val="24292F"/>
                </a:solidFill>
              </a:rPr>
              <a:t>ласса и перекомпилировать придётся только один </a:t>
            </a:r>
            <a:r>
              <a:rPr lang="en-US" sz="1600" dirty="0">
                <a:solidFill>
                  <a:srgbClr val="24292F"/>
                </a:solidFill>
              </a:rPr>
              <a:t>.</a:t>
            </a:r>
            <a:r>
              <a:rPr lang="en-US" sz="1600" dirty="0" err="1">
                <a:solidFill>
                  <a:srgbClr val="24292F"/>
                </a:solidFill>
              </a:rPr>
              <a:t>cpp</a:t>
            </a:r>
            <a:r>
              <a:rPr lang="ru-RU" sz="1600" dirty="0">
                <a:solidFill>
                  <a:srgbClr val="24292F"/>
                </a:solidFill>
              </a:rPr>
              <a:t>  файл. Внесение изменений в интерфейс класса приведёт к необходимости перекомпилировать все файлы.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b="0" i="0" u="none" strike="noStrike" dirty="0">
              <a:solidFill>
                <a:srgbClr val="24292F"/>
              </a:solidFill>
              <a:effectLst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b="0" i="0" u="none" strike="noStrike" dirty="0">
                <a:solidFill>
                  <a:srgbClr val="24292F"/>
                </a:solidFill>
                <a:effectLst/>
              </a:rPr>
              <a:t>В качестве второй причины такого разделения может быть желание разработчика </a:t>
            </a:r>
            <a:r>
              <a:rPr lang="ru-RU" sz="1600" b="1" i="0" u="none" strike="noStrike" dirty="0">
                <a:solidFill>
                  <a:srgbClr val="24292F"/>
                </a:solidFill>
                <a:effectLst/>
              </a:rPr>
              <a:t>скрыть исходный код </a:t>
            </a:r>
            <a:r>
              <a:rPr lang="ru-RU" sz="1600" b="0" i="0" u="none" strike="noStrike" dirty="0">
                <a:solidFill>
                  <a:srgbClr val="24292F"/>
                </a:solidFill>
                <a:effectLst/>
              </a:rPr>
              <a:t>реализации своего класса. Т.е. </a:t>
            </a:r>
            <a:r>
              <a:rPr lang="ru-RU" sz="1600" dirty="0">
                <a:solidFill>
                  <a:srgbClr val="24292F"/>
                </a:solidFill>
              </a:rPr>
              <a:t>разработчик может предоставлять потребителю пачку </a:t>
            </a:r>
            <a:r>
              <a:rPr lang="en-US" sz="1600" dirty="0">
                <a:solidFill>
                  <a:srgbClr val="24292F"/>
                </a:solidFill>
              </a:rPr>
              <a:t>.h </a:t>
            </a:r>
            <a:r>
              <a:rPr lang="ru-RU" sz="1600" dirty="0">
                <a:solidFill>
                  <a:srgbClr val="24292F"/>
                </a:solidFill>
              </a:rPr>
              <a:t>файлов с исходным кодом интерфейса класса и уже скомпилированный объектный файл, а не исходный </a:t>
            </a:r>
            <a:r>
              <a:rPr lang="en-US" sz="1600" dirty="0">
                <a:solidFill>
                  <a:srgbClr val="24292F"/>
                </a:solidFill>
              </a:rPr>
              <a:t>.</a:t>
            </a:r>
            <a:r>
              <a:rPr lang="en-US" sz="1600" dirty="0" err="1">
                <a:solidFill>
                  <a:srgbClr val="24292F"/>
                </a:solidFill>
              </a:rPr>
              <a:t>cpp</a:t>
            </a:r>
            <a:r>
              <a:rPr lang="en-US" sz="1600" dirty="0">
                <a:solidFill>
                  <a:srgbClr val="24292F"/>
                </a:solidFill>
              </a:rPr>
              <a:t> </a:t>
            </a:r>
            <a:r>
              <a:rPr lang="ru-RU" sz="1600" dirty="0">
                <a:solidFill>
                  <a:srgbClr val="24292F"/>
                </a:solidFill>
              </a:rPr>
              <a:t>файл.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b="0" i="0" u="none" strike="noStrike" dirty="0">
                <a:solidFill>
                  <a:srgbClr val="24292F"/>
                </a:solidFill>
                <a:effectLst/>
              </a:rPr>
              <a:t>Третьей причиной разделения кода на несколько файлов можно назвать желание повысить </a:t>
            </a:r>
            <a:r>
              <a:rPr lang="ru-RU" sz="1600" b="1" i="0" u="none" strike="noStrike" dirty="0">
                <a:solidFill>
                  <a:srgbClr val="24292F"/>
                </a:solidFill>
                <a:effectLst/>
              </a:rPr>
              <a:t>структурированность</a:t>
            </a:r>
            <a:r>
              <a:rPr lang="ru-RU" sz="1600" b="0" i="0" u="none" strike="noStrike" dirty="0">
                <a:solidFill>
                  <a:srgbClr val="24292F"/>
                </a:solidFill>
                <a:effectLst/>
              </a:rPr>
              <a:t> своег</a:t>
            </a:r>
            <a:r>
              <a:rPr lang="ru-RU" sz="1600" dirty="0">
                <a:solidFill>
                  <a:srgbClr val="24292F"/>
                </a:solidFill>
              </a:rPr>
              <a:t>о кода. </a:t>
            </a:r>
            <a:endParaRPr lang="ru-RU" sz="1600" b="0" i="0" u="none" strike="noStrike" dirty="0">
              <a:solidFill>
                <a:srgbClr val="24292F"/>
              </a:solidFill>
              <a:effectLst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Общепринятой практикой является выделения под каждый класс отдельной пары </a:t>
            </a:r>
            <a:r>
              <a:rPr lang="en-US" sz="1600" dirty="0">
                <a:solidFill>
                  <a:srgbClr val="24292F"/>
                </a:solidFill>
              </a:rPr>
              <a:t>.h </a:t>
            </a:r>
            <a:r>
              <a:rPr lang="ru-RU" sz="1600" dirty="0">
                <a:solidFill>
                  <a:srgbClr val="24292F"/>
                </a:solidFill>
              </a:rPr>
              <a:t>и </a:t>
            </a:r>
            <a:r>
              <a:rPr lang="en-US" sz="1600" dirty="0">
                <a:solidFill>
                  <a:srgbClr val="24292F"/>
                </a:solidFill>
              </a:rPr>
              <a:t>.</a:t>
            </a:r>
            <a:r>
              <a:rPr lang="en-US" sz="1600" dirty="0" err="1">
                <a:solidFill>
                  <a:srgbClr val="24292F"/>
                </a:solidFill>
              </a:rPr>
              <a:t>cpp</a:t>
            </a:r>
            <a:r>
              <a:rPr lang="ru-RU" sz="1600" dirty="0">
                <a:solidFill>
                  <a:srgbClr val="24292F"/>
                </a:solidFill>
              </a:rPr>
              <a:t> файлов</a:t>
            </a:r>
            <a:r>
              <a:rPr lang="en-US" sz="1600" dirty="0">
                <a:solidFill>
                  <a:srgbClr val="24292F"/>
                </a:solidFill>
              </a:rPr>
              <a:t>.</a:t>
            </a:r>
            <a:endParaRPr lang="ru-RU" sz="1600" dirty="0">
              <a:solidFill>
                <a:srgbClr val="24292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578788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rmAutofit/>
          </a:bodyPr>
          <a:lstStyle/>
          <a:p>
            <a:r>
              <a:rPr lang="ru-RU" sz="4000" dirty="0"/>
              <a:t>Разделение кода класса на файлы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2220"/>
            <a:ext cx="4668748" cy="4594743"/>
          </a:xfrm>
        </p:spPr>
        <p:txBody>
          <a:bodyPr>
            <a:noAutofit/>
          </a:bodyPr>
          <a:lstStyle/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{};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endParaRPr lang="en-US" sz="1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267F99"/>
                </a:solidFill>
                <a:latin typeface="Consolas" panose="020B0609020204030204" pitchFamily="49" charset="0"/>
              </a:rPr>
              <a:t>D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1080"/>
                </a:solidFill>
                <a:latin typeface="Consolas" panose="020B0609020204030204" pitchFamily="49" charset="0"/>
              </a:rPr>
              <a:t>value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200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virtual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795E26"/>
                </a:solidFill>
                <a:latin typeface="Consolas" panose="020B0609020204030204" pitchFamily="49" charset="0"/>
              </a:rPr>
              <a:t>print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1080"/>
                </a:solidFill>
                <a:latin typeface="Consolas" panose="020B0609020204030204" pitchFamily="49" charset="0"/>
              </a:rPr>
              <a:t>value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){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200" dirty="0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en-US" sz="1200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1080"/>
                </a:solidFill>
                <a:latin typeface="Consolas" panose="020B0609020204030204" pitchFamily="49" charset="0"/>
              </a:rPr>
              <a:t>value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en-US" sz="1200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Объект 2">
            <a:extLst>
              <a:ext uri="{FF2B5EF4-FFF2-40B4-BE49-F238E27FC236}">
                <a16:creationId xmlns:a16="http://schemas.microsoft.com/office/drawing/2014/main" id="{A60D7D44-3406-F906-8D63-6C4C2689499E}"/>
              </a:ext>
            </a:extLst>
          </p:cNvPr>
          <p:cNvSpPr txBox="1">
            <a:spLocks/>
          </p:cNvSpPr>
          <p:nvPr/>
        </p:nvSpPr>
        <p:spPr>
          <a:xfrm>
            <a:off x="5506948" y="1582220"/>
            <a:ext cx="5846852" cy="459474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267F99"/>
                </a:solidFill>
                <a:latin typeface="Consolas" panose="020B0609020204030204" pitchFamily="49" charset="0"/>
              </a:rPr>
              <a:t>E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1080"/>
                </a:solidFill>
                <a:latin typeface="Consolas" panose="020B0609020204030204" pitchFamily="49" charset="0"/>
              </a:rPr>
              <a:t>value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200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static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rgbClr val="001080"/>
                </a:solidFill>
                <a:latin typeface="Consolas" panose="020B0609020204030204" pitchFamily="49" charset="0"/>
              </a:rPr>
              <a:t>svalue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  <a:b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267F99"/>
                </a:solidFill>
                <a:latin typeface="Consolas" panose="020B0609020204030204" pitchFamily="49" charset="0"/>
              </a:rPr>
              <a:t>E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en-US" sz="1200" dirty="0">
                <a:solidFill>
                  <a:srgbClr val="001080"/>
                </a:solidFill>
                <a:latin typeface="Consolas" panose="020B0609020204030204" pitchFamily="49" charset="0"/>
              </a:rPr>
              <a:t>svalue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200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"A: "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A: 1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"B: "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B: 4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"C: "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C: 4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"D: "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D: 16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"E: "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E: 4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Скругленный прямоугольник 4">
            <a:extLst>
              <a:ext uri="{FF2B5EF4-FFF2-40B4-BE49-F238E27FC236}">
                <a16:creationId xmlns:a16="http://schemas.microsoft.com/office/drawing/2014/main" id="{EC5A1C44-BC31-1EF9-F00D-58BCE0F826CB}"/>
              </a:ext>
            </a:extLst>
          </p:cNvPr>
          <p:cNvSpPr/>
          <p:nvPr/>
        </p:nvSpPr>
        <p:spPr>
          <a:xfrm>
            <a:off x="5589140" y="4448711"/>
            <a:ext cx="5013790" cy="1921266"/>
          </a:xfrm>
          <a:prstGeom prst="roundRect">
            <a:avLst>
              <a:gd name="adj" fmla="val 1742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ru-RU" sz="1200" dirty="0"/>
              <a:t>Всё, что было сказано про устройство в памяти структур справедливо и для классов</a:t>
            </a:r>
            <a:r>
              <a:rPr lang="en-US" sz="1200" dirty="0"/>
              <a:t>;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200" dirty="0"/>
              <a:t>- </a:t>
            </a:r>
            <a:r>
              <a:rPr lang="ru-RU" sz="1200" dirty="0"/>
              <a:t>Объект пустого класса занимает в памяти 1 байт, только для того, чтобы его можно было адресовать (меньше не получится)</a:t>
            </a:r>
            <a:r>
              <a:rPr lang="en-US" sz="1200" dirty="0"/>
              <a:t>;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200" dirty="0"/>
              <a:t>- </a:t>
            </a:r>
            <a:r>
              <a:rPr lang="ru-RU" sz="1200" dirty="0"/>
              <a:t>Место в экземпляре класса занимают только поля</a:t>
            </a:r>
            <a:r>
              <a:rPr lang="en-US" sz="1200" dirty="0"/>
              <a:t>;</a:t>
            </a:r>
          </a:p>
          <a:p>
            <a:r>
              <a:rPr lang="en-US" sz="1200" dirty="0"/>
              <a:t>- </a:t>
            </a:r>
            <a:r>
              <a:rPr lang="ru-RU" sz="1200" dirty="0"/>
              <a:t>Статические поля не занимают места в экземплярах класса</a:t>
            </a:r>
            <a:r>
              <a:rPr lang="en-US" sz="1200" dirty="0"/>
              <a:t>;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200" dirty="0"/>
              <a:t>- </a:t>
            </a:r>
            <a:r>
              <a:rPr lang="ru-RU" sz="1200" dirty="0"/>
              <a:t>Методы не занимают в памяти объекта никакого места</a:t>
            </a:r>
            <a:r>
              <a:rPr lang="en-US" sz="1200" dirty="0"/>
              <a:t>;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200" dirty="0"/>
              <a:t>- </a:t>
            </a:r>
            <a:r>
              <a:rPr lang="ru-RU" sz="1200" dirty="0"/>
              <a:t>Если в классе появляется ходьбы один виртуальный метод, то в объекты такого класса добавляется скрытое поле – указатель на таблицу виртуальных методов</a:t>
            </a:r>
            <a:r>
              <a:rPr lang="en-US" sz="1200" dirty="0"/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264528063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2F118968-1D91-E1F5-1097-64D5AF47FA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rmAutofit/>
          </a:bodyPr>
          <a:lstStyle/>
          <a:p>
            <a:r>
              <a:rPr lang="ru-RU" sz="4000" dirty="0"/>
              <a:t>Разделение кода класса на файлы</a:t>
            </a:r>
          </a:p>
        </p:txBody>
      </p:sp>
      <p:sp>
        <p:nvSpPr>
          <p:cNvPr id="5" name="Скругленный прямоугольник 4">
            <a:extLst>
              <a:ext uri="{FF2B5EF4-FFF2-40B4-BE49-F238E27FC236}">
                <a16:creationId xmlns:a16="http://schemas.microsoft.com/office/drawing/2014/main" id="{9345BEAB-0267-84C8-62BA-FD9088F9146C}"/>
              </a:ext>
            </a:extLst>
          </p:cNvPr>
          <p:cNvSpPr/>
          <p:nvPr/>
        </p:nvSpPr>
        <p:spPr>
          <a:xfrm>
            <a:off x="958104" y="1690688"/>
            <a:ext cx="3654134" cy="2254588"/>
          </a:xfrm>
          <a:prstGeom prst="roundRect">
            <a:avLst>
              <a:gd name="adj" fmla="val 3491"/>
            </a:avLst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r"/>
            <a:r>
              <a:rPr lang="en-US" sz="1200" b="1" dirty="0" err="1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point.h</a:t>
            </a:r>
            <a:endParaRPr lang="en-US" sz="1200" b="1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endParaRPr lang="en-US" sz="1200" b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other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~Point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6" name="Скругленный прямоугольник 4">
            <a:extLst>
              <a:ext uri="{FF2B5EF4-FFF2-40B4-BE49-F238E27FC236}">
                <a16:creationId xmlns:a16="http://schemas.microsoft.com/office/drawing/2014/main" id="{5DC4F367-DD34-7422-3D3E-749DA20B0C5E}"/>
              </a:ext>
            </a:extLst>
          </p:cNvPr>
          <p:cNvSpPr/>
          <p:nvPr/>
        </p:nvSpPr>
        <p:spPr>
          <a:xfrm>
            <a:off x="6013846" y="1690688"/>
            <a:ext cx="5339954" cy="3595955"/>
          </a:xfrm>
          <a:prstGeom prst="roundRect">
            <a:avLst>
              <a:gd name="adj" fmla="val 961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r"/>
            <a:r>
              <a:rPr lang="en-US" sz="1200" b="1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point.cpp</a:t>
            </a:r>
          </a:p>
          <a:p>
            <a:endParaRPr lang="en-US" sz="1200" b="0" dirty="0">
              <a:solidFill>
                <a:srgbClr val="AF00D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2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point.h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endParaRPr lang="en-US" sz="1200" dirty="0">
              <a:solidFill>
                <a:srgbClr val="267F99"/>
              </a:solidFill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):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"Created Point("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")"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other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other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"Copying Point("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")"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~Point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"Destroyed Point("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")"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9" name="Скругленный прямоугольник 4">
            <a:extLst>
              <a:ext uri="{FF2B5EF4-FFF2-40B4-BE49-F238E27FC236}">
                <a16:creationId xmlns:a16="http://schemas.microsoft.com/office/drawing/2014/main" id="{2710FCC5-9035-76D5-F87A-0CDF593B9D62}"/>
              </a:ext>
            </a:extLst>
          </p:cNvPr>
          <p:cNvSpPr/>
          <p:nvPr/>
        </p:nvSpPr>
        <p:spPr>
          <a:xfrm>
            <a:off x="838200" y="4920410"/>
            <a:ext cx="3774038" cy="1453306"/>
          </a:xfrm>
          <a:prstGeom prst="roundRect">
            <a:avLst>
              <a:gd name="adj" fmla="val 3491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r"/>
            <a:r>
              <a:rPr lang="en-US" sz="1200" b="1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main.cpp</a:t>
            </a:r>
          </a:p>
          <a:p>
            <a:endParaRPr lang="fr-FR" sz="1200" b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2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point.h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endParaRPr lang="fr-FR" sz="12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fr-FR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fr-F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</a:t>
            </a:r>
          </a:p>
          <a:p>
            <a:r>
              <a:rPr lang="fr-F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fr-F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fr-F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50</a:t>
            </a:r>
            <a:r>
              <a:rPr lang="fr-F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fr-F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cxnSp>
        <p:nvCxnSpPr>
          <p:cNvPr id="11" name="Прямая со стрелкой 10">
            <a:extLst>
              <a:ext uri="{FF2B5EF4-FFF2-40B4-BE49-F238E27FC236}">
                <a16:creationId xmlns:a16="http://schemas.microsoft.com/office/drawing/2014/main" id="{977A8B57-8187-9813-3051-DCD4FB7878F6}"/>
              </a:ext>
            </a:extLst>
          </p:cNvPr>
          <p:cNvCxnSpPr>
            <a:cxnSpLocks/>
          </p:cNvCxnSpPr>
          <p:nvPr/>
        </p:nvCxnSpPr>
        <p:spPr>
          <a:xfrm>
            <a:off x="4777483" y="2383604"/>
            <a:ext cx="109933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Прямая со стрелкой 12">
            <a:extLst>
              <a:ext uri="{FF2B5EF4-FFF2-40B4-BE49-F238E27FC236}">
                <a16:creationId xmlns:a16="http://schemas.microsoft.com/office/drawing/2014/main" id="{8DA6B443-1B11-EE5F-0D1B-59B60248F243}"/>
              </a:ext>
            </a:extLst>
          </p:cNvPr>
          <p:cNvCxnSpPr>
            <a:cxnSpLocks/>
          </p:cNvCxnSpPr>
          <p:nvPr/>
        </p:nvCxnSpPr>
        <p:spPr>
          <a:xfrm>
            <a:off x="2672156" y="4068565"/>
            <a:ext cx="0" cy="7089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103672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2F118968-1D91-E1F5-1097-64D5AF47FA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rmAutofit/>
          </a:bodyPr>
          <a:lstStyle/>
          <a:p>
            <a:r>
              <a:rPr lang="ru-RU" sz="4000" dirty="0"/>
              <a:t>Идиома </a:t>
            </a:r>
            <a:r>
              <a:rPr lang="en-US" sz="4000" dirty="0" err="1"/>
              <a:t>Pimpl</a:t>
            </a:r>
            <a:r>
              <a:rPr lang="en-US" sz="4000" dirty="0"/>
              <a:t> (Pointer to implementation)</a:t>
            </a:r>
            <a:endParaRPr lang="ru-RU" sz="4000" dirty="0"/>
          </a:p>
        </p:txBody>
      </p:sp>
      <p:sp>
        <p:nvSpPr>
          <p:cNvPr id="2" name="Объект 2">
            <a:extLst>
              <a:ext uri="{FF2B5EF4-FFF2-40B4-BE49-F238E27FC236}">
                <a16:creationId xmlns:a16="http://schemas.microsoft.com/office/drawing/2014/main" id="{BA51CD86-C117-8B75-B618-6AF317F26C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2220"/>
            <a:ext cx="4668748" cy="4594743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):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printer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Printer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Printer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printer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Скругленный прямоугольник 4">
            <a:extLst>
              <a:ext uri="{FF2B5EF4-FFF2-40B4-BE49-F238E27FC236}">
                <a16:creationId xmlns:a16="http://schemas.microsoft.com/office/drawing/2014/main" id="{104F4B9E-D54F-D9C2-D945-6A941746CE51}"/>
              </a:ext>
            </a:extLst>
          </p:cNvPr>
          <p:cNvSpPr/>
          <p:nvPr/>
        </p:nvSpPr>
        <p:spPr>
          <a:xfrm>
            <a:off x="6226138" y="1690685"/>
            <a:ext cx="4294599" cy="4486277"/>
          </a:xfrm>
          <a:prstGeom prst="roundRect">
            <a:avLst>
              <a:gd name="adj" fmla="val 1742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ru-RU" sz="1300" dirty="0"/>
              <a:t>Есть класс, который использует другой класс как часть своего объявления (не обязательно вложенный).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ru-RU" sz="1300" dirty="0"/>
              <a:t>В таком виде любое изменение в используемом классе приведёт к необходимости перекомпилировать </a:t>
            </a:r>
            <a:r>
              <a:rPr lang="ru-RU" sz="1300" b="1" dirty="0"/>
              <a:t>все</a:t>
            </a:r>
            <a:r>
              <a:rPr lang="ru-RU" sz="1300" dirty="0"/>
              <a:t> файлы использующие данный класс, даже если мы разделим код класса на 2 файла как ранее.</a:t>
            </a:r>
          </a:p>
          <a:p>
            <a:pPr marL="0" indent="0">
              <a:lnSpc>
                <a:spcPct val="100000"/>
              </a:lnSpc>
              <a:buNone/>
            </a:pPr>
            <a:endParaRPr lang="ru-RU" sz="1300" dirty="0"/>
          </a:p>
          <a:p>
            <a:pPr marL="0" indent="0">
              <a:lnSpc>
                <a:spcPct val="100000"/>
              </a:lnSpc>
              <a:buNone/>
            </a:pPr>
            <a:r>
              <a:rPr lang="ru-RU" sz="1300" dirty="0"/>
              <a:t>Чтобы избавится от зависимости от реализации вспомогательного класса нам поможет идиома </a:t>
            </a:r>
            <a:r>
              <a:rPr lang="en-US" sz="1300" dirty="0" err="1"/>
              <a:t>pimpl</a:t>
            </a:r>
            <a:r>
              <a:rPr lang="en-US" sz="1300" dirty="0"/>
              <a:t>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ru-RU" sz="1300" dirty="0"/>
              <a:t>Суть идиомы заключается в том, чтобы заменить в интерфейсе (</a:t>
            </a:r>
            <a:r>
              <a:rPr lang="en-US" sz="1300" dirty="0"/>
              <a:t>.h </a:t>
            </a:r>
            <a:r>
              <a:rPr lang="ru-RU" sz="1300" dirty="0"/>
              <a:t>файл) вспомогательные классы на указатели (ссылки) на эти классы, а всё что касается реализации перенести в .</a:t>
            </a:r>
            <a:r>
              <a:rPr lang="en-US" sz="1300" dirty="0" err="1"/>
              <a:t>cpp</a:t>
            </a:r>
            <a:r>
              <a:rPr lang="en-US" sz="1300" dirty="0"/>
              <a:t> </a:t>
            </a:r>
            <a:r>
              <a:rPr lang="ru-RU" sz="1300" dirty="0"/>
              <a:t>файлы.</a:t>
            </a:r>
            <a:endParaRPr lang="en-US" sz="1300" dirty="0"/>
          </a:p>
          <a:p>
            <a:pPr marL="0" indent="0">
              <a:lnSpc>
                <a:spcPct val="100000"/>
              </a:lnSpc>
              <a:buNone/>
            </a:pPr>
            <a:endParaRPr lang="en-US" sz="1300" dirty="0"/>
          </a:p>
          <a:p>
            <a:pPr marL="0" indent="0">
              <a:lnSpc>
                <a:spcPct val="100000"/>
              </a:lnSpc>
              <a:buNone/>
            </a:pPr>
            <a:r>
              <a:rPr lang="ru-RU" sz="1300" dirty="0"/>
              <a:t>После такого разделения код использующий наш класс больше не будет требовать перекомпиляции при изменении вспомогательного класса, т.к. он не будет знать о деталях его реализации.</a:t>
            </a:r>
          </a:p>
          <a:p>
            <a:pPr marL="0" indent="0">
              <a:lnSpc>
                <a:spcPct val="100000"/>
              </a:lnSpc>
              <a:buNone/>
            </a:pPr>
            <a:endParaRPr lang="ru-RU" sz="1300" dirty="0"/>
          </a:p>
          <a:p>
            <a:pPr marL="0" indent="0">
              <a:lnSpc>
                <a:spcPct val="100000"/>
              </a:lnSpc>
              <a:buNone/>
            </a:pPr>
            <a:r>
              <a:rPr lang="ru-RU" sz="1300" dirty="0"/>
              <a:t>Такой подход часть используют при разработке кроссплатформенных библиотек, или библиотек которые хотят скрыть исходный код своих классов.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275425175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2F118968-1D91-E1F5-1097-64D5AF47FA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rmAutofit/>
          </a:bodyPr>
          <a:lstStyle/>
          <a:p>
            <a:r>
              <a:rPr lang="ru-RU" sz="4000" dirty="0"/>
              <a:t>Идиома </a:t>
            </a:r>
            <a:r>
              <a:rPr lang="en-US" sz="4000" dirty="0" err="1"/>
              <a:t>Pimpl</a:t>
            </a:r>
            <a:r>
              <a:rPr lang="en-US" sz="4000" dirty="0"/>
              <a:t> (Pointer to implementation)</a:t>
            </a:r>
            <a:endParaRPr lang="ru-RU" sz="4000" dirty="0"/>
          </a:p>
        </p:txBody>
      </p:sp>
      <p:sp>
        <p:nvSpPr>
          <p:cNvPr id="5" name="Скругленный прямоугольник 4">
            <a:extLst>
              <a:ext uri="{FF2B5EF4-FFF2-40B4-BE49-F238E27FC236}">
                <a16:creationId xmlns:a16="http://schemas.microsoft.com/office/drawing/2014/main" id="{9345BEAB-0267-84C8-62BA-FD9088F9146C}"/>
              </a:ext>
            </a:extLst>
          </p:cNvPr>
          <p:cNvSpPr/>
          <p:nvPr/>
        </p:nvSpPr>
        <p:spPr>
          <a:xfrm>
            <a:off x="958104" y="1690687"/>
            <a:ext cx="3654134" cy="2553449"/>
          </a:xfrm>
          <a:prstGeom prst="roundRect">
            <a:avLst>
              <a:gd name="adj" fmla="val 3491"/>
            </a:avLst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r"/>
            <a:r>
              <a:rPr lang="en-US" sz="1200" b="1" dirty="0" err="1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point.h</a:t>
            </a:r>
            <a:endParaRPr lang="en-US" sz="1200" b="1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endParaRPr lang="en-US" sz="1200" b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~Point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Printer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Неполный тип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Printer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printer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6" name="Скругленный прямоугольник 4">
            <a:extLst>
              <a:ext uri="{FF2B5EF4-FFF2-40B4-BE49-F238E27FC236}">
                <a16:creationId xmlns:a16="http://schemas.microsoft.com/office/drawing/2014/main" id="{5DC4F367-DD34-7422-3D3E-749DA20B0C5E}"/>
              </a:ext>
            </a:extLst>
          </p:cNvPr>
          <p:cNvSpPr/>
          <p:nvPr/>
        </p:nvSpPr>
        <p:spPr>
          <a:xfrm>
            <a:off x="6013846" y="1690688"/>
            <a:ext cx="5339954" cy="4155308"/>
          </a:xfrm>
          <a:prstGeom prst="roundRect">
            <a:avLst>
              <a:gd name="adj" fmla="val 961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r"/>
            <a:r>
              <a:rPr lang="en-US" sz="1200" b="1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point.cpp</a:t>
            </a:r>
          </a:p>
          <a:p>
            <a:endParaRPr lang="en-US" sz="1200" b="0" dirty="0">
              <a:solidFill>
                <a:srgbClr val="AF00D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2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point.h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endParaRPr lang="en-US" sz="1200" dirty="0">
              <a:solidFill>
                <a:srgbClr val="267F99"/>
              </a:solidFill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Printer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),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printer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Printer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printer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~Point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delete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printer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Скругленный прямоугольник 4">
            <a:extLst>
              <a:ext uri="{FF2B5EF4-FFF2-40B4-BE49-F238E27FC236}">
                <a16:creationId xmlns:a16="http://schemas.microsoft.com/office/drawing/2014/main" id="{2710FCC5-9035-76D5-F87A-0CDF593B9D62}"/>
              </a:ext>
            </a:extLst>
          </p:cNvPr>
          <p:cNvSpPr/>
          <p:nvPr/>
        </p:nvSpPr>
        <p:spPr>
          <a:xfrm>
            <a:off x="838200" y="4920409"/>
            <a:ext cx="3774038" cy="1655052"/>
          </a:xfrm>
          <a:prstGeom prst="roundRect">
            <a:avLst>
              <a:gd name="adj" fmla="val 3491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r"/>
            <a:r>
              <a:rPr lang="en-US" sz="1200" b="1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main.cpp</a:t>
            </a:r>
          </a:p>
          <a:p>
            <a:endParaRPr lang="fr-FR" sz="1200" b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2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point.h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endParaRPr lang="fr-FR" sz="12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cxnSp>
        <p:nvCxnSpPr>
          <p:cNvPr id="11" name="Прямая со стрелкой 10">
            <a:extLst>
              <a:ext uri="{FF2B5EF4-FFF2-40B4-BE49-F238E27FC236}">
                <a16:creationId xmlns:a16="http://schemas.microsoft.com/office/drawing/2014/main" id="{977A8B57-8187-9813-3051-DCD4FB7878F6}"/>
              </a:ext>
            </a:extLst>
          </p:cNvPr>
          <p:cNvCxnSpPr>
            <a:cxnSpLocks/>
          </p:cNvCxnSpPr>
          <p:nvPr/>
        </p:nvCxnSpPr>
        <p:spPr>
          <a:xfrm>
            <a:off x="4777483" y="2383604"/>
            <a:ext cx="109933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Прямая со стрелкой 12">
            <a:extLst>
              <a:ext uri="{FF2B5EF4-FFF2-40B4-BE49-F238E27FC236}">
                <a16:creationId xmlns:a16="http://schemas.microsoft.com/office/drawing/2014/main" id="{8DA6B443-1B11-EE5F-0D1B-59B60248F243}"/>
              </a:ext>
            </a:extLst>
          </p:cNvPr>
          <p:cNvCxnSpPr>
            <a:cxnSpLocks/>
          </p:cNvCxnSpPr>
          <p:nvPr/>
        </p:nvCxnSpPr>
        <p:spPr>
          <a:xfrm>
            <a:off x="2672156" y="4387065"/>
            <a:ext cx="0" cy="3904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84182710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EA8A94F-5D16-6464-2E03-6765A264B0C8}"/>
              </a:ext>
            </a:extLst>
          </p:cNvPr>
          <p:cNvSpPr txBox="1">
            <a:spLocks/>
          </p:cNvSpPr>
          <p:nvPr/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4400" dirty="0"/>
              <a:t>Перегрузка операторов</a:t>
            </a:r>
          </a:p>
        </p:txBody>
      </p:sp>
    </p:spTree>
    <p:extLst>
      <p:ext uri="{BB962C8B-B14F-4D97-AF65-F5344CB8AC3E}">
        <p14:creationId xmlns:p14="http://schemas.microsoft.com/office/powerpoint/2010/main" val="1517480353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rmAutofit/>
          </a:bodyPr>
          <a:lstStyle/>
          <a:p>
            <a:r>
              <a:rPr lang="ru-RU" sz="4000" dirty="0"/>
              <a:t>Перегрузка операторов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В C++17 стандарт разрешает перегружать следующие операторы: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  <a:latin typeface="Consolas" panose="020B0609020204030204" pitchFamily="49" charset="0"/>
              </a:rPr>
              <a:t>+, -, *, /, %, ^, &amp;, |, ~, !, ,, =, &lt;, &gt;, &lt;=, &gt;=, ++, –-, &lt;&lt;, &gt;&gt;, ==, !=, &amp;&amp;, ||, +=, -=, /=, %=, ^=, &amp;=, |=, *=, &lt;&lt;=, &gt;&gt;=, [], (), -&gt;, -&gt;*, </a:t>
            </a:r>
            <a:r>
              <a:rPr lang="ru-RU" sz="1600" dirty="0" err="1">
                <a:solidFill>
                  <a:srgbClr val="24292F"/>
                </a:solidFill>
                <a:latin typeface="Consolas" panose="020B0609020204030204" pitchFamily="49" charset="0"/>
              </a:rPr>
              <a:t>new</a:t>
            </a:r>
            <a:r>
              <a:rPr lang="ru-RU" sz="1600" dirty="0">
                <a:solidFill>
                  <a:srgbClr val="24292F"/>
                </a:solidFill>
                <a:latin typeface="Consolas" panose="020B0609020204030204" pitchFamily="49" charset="0"/>
              </a:rPr>
              <a:t>, </a:t>
            </a:r>
            <a:r>
              <a:rPr lang="ru-RU" sz="1600" dirty="0" err="1">
                <a:solidFill>
                  <a:srgbClr val="24292F"/>
                </a:solidFill>
                <a:latin typeface="Consolas" panose="020B0609020204030204" pitchFamily="49" charset="0"/>
              </a:rPr>
              <a:t>new</a:t>
            </a:r>
            <a:r>
              <a:rPr lang="ru-RU" sz="1600" dirty="0">
                <a:solidFill>
                  <a:srgbClr val="24292F"/>
                </a:solidFill>
                <a:latin typeface="Consolas" panose="020B0609020204030204" pitchFamily="49" charset="0"/>
              </a:rPr>
              <a:t>[], </a:t>
            </a:r>
            <a:r>
              <a:rPr lang="ru-RU" sz="1600" dirty="0" err="1">
                <a:solidFill>
                  <a:srgbClr val="24292F"/>
                </a:solidFill>
                <a:latin typeface="Consolas" panose="020B0609020204030204" pitchFamily="49" charset="0"/>
              </a:rPr>
              <a:t>delete</a:t>
            </a:r>
            <a:r>
              <a:rPr lang="ru-RU" sz="1600" dirty="0">
                <a:solidFill>
                  <a:srgbClr val="24292F"/>
                </a:solidFill>
                <a:latin typeface="Consolas" panose="020B0609020204030204" pitchFamily="49" charset="0"/>
              </a:rPr>
              <a:t>, </a:t>
            </a:r>
            <a:r>
              <a:rPr lang="ru-RU" sz="1600" dirty="0" err="1">
                <a:solidFill>
                  <a:srgbClr val="24292F"/>
                </a:solidFill>
                <a:latin typeface="Consolas" panose="020B0609020204030204" pitchFamily="49" charset="0"/>
              </a:rPr>
              <a:t>delete</a:t>
            </a:r>
            <a:r>
              <a:rPr lang="ru-RU" sz="1600" dirty="0">
                <a:solidFill>
                  <a:srgbClr val="24292F"/>
                </a:solidFill>
                <a:latin typeface="Consolas" panose="020B0609020204030204" pitchFamily="49" charset="0"/>
              </a:rPr>
              <a:t>[]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- Оператор преобразования к заданному типу (</a:t>
            </a:r>
            <a:r>
              <a:rPr lang="en-US" sz="1600" dirty="0">
                <a:solidFill>
                  <a:srgbClr val="24292F"/>
                </a:solidFill>
              </a:rPr>
              <a:t>user-defined conversion function</a:t>
            </a:r>
            <a:r>
              <a:rPr lang="ru-RU" sz="1600" dirty="0">
                <a:solidFill>
                  <a:srgbClr val="24292F"/>
                </a:solidFill>
              </a:rPr>
              <a:t>)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- Оператор литерала (</a:t>
            </a:r>
            <a:r>
              <a:rPr lang="en-US" sz="1600" dirty="0">
                <a:solidFill>
                  <a:srgbClr val="24292F"/>
                </a:solidFill>
              </a:rPr>
              <a:t>user-defined literal</a:t>
            </a:r>
            <a:r>
              <a:rPr lang="ru-RU" sz="1600" dirty="0">
                <a:solidFill>
                  <a:srgbClr val="24292F"/>
                </a:solidFill>
              </a:rPr>
              <a:t>)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- Перегруженный оператор </a:t>
            </a:r>
            <a:r>
              <a:rPr lang="ru-RU" sz="1600" dirty="0" err="1">
                <a:solidFill>
                  <a:srgbClr val="24292F"/>
                </a:solidFill>
                <a:latin typeface="Consolas" panose="020B0609020204030204" pitchFamily="49" charset="0"/>
              </a:rPr>
              <a:t>co_await</a:t>
            </a:r>
            <a:r>
              <a:rPr lang="ru-RU" sz="1600" dirty="0">
                <a:solidFill>
                  <a:srgbClr val="24292F"/>
                </a:solidFill>
                <a:latin typeface="Consolas" panose="020B0609020204030204" pitchFamily="49" charset="0"/>
              </a:rPr>
              <a:t> </a:t>
            </a:r>
            <a:r>
              <a:rPr lang="ru-RU" sz="1600" dirty="0">
                <a:solidFill>
                  <a:srgbClr val="24292F"/>
                </a:solidFill>
              </a:rPr>
              <a:t>для использования в выражениях </a:t>
            </a:r>
            <a:r>
              <a:rPr lang="ru-RU" sz="1600" dirty="0" err="1">
                <a:solidFill>
                  <a:srgbClr val="24292F"/>
                </a:solidFill>
                <a:latin typeface="Consolas" panose="020B0609020204030204" pitchFamily="49" charset="0"/>
              </a:rPr>
              <a:t>co_await</a:t>
            </a:r>
            <a:r>
              <a:rPr lang="ru-RU" sz="1600" dirty="0">
                <a:solidFill>
                  <a:srgbClr val="24292F"/>
                </a:solidFill>
                <a:latin typeface="Consolas" panose="020B0609020204030204" pitchFamily="49" charset="0"/>
              </a:rPr>
              <a:t> </a:t>
            </a:r>
            <a:r>
              <a:rPr lang="ru-RU" sz="1600" dirty="0">
                <a:solidFill>
                  <a:srgbClr val="24292F"/>
                </a:solidFill>
              </a:rPr>
              <a:t>(с С++11)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- Оператор трёхстороннего сравнения, названный «космическим кораблем»: </a:t>
            </a:r>
            <a:r>
              <a:rPr lang="ru-RU" sz="1600" dirty="0">
                <a:solidFill>
                  <a:srgbClr val="24292F"/>
                </a:solidFill>
                <a:latin typeface="Consolas" panose="020B0609020204030204" pitchFamily="49" charset="0"/>
              </a:rPr>
              <a:t>&lt;=&gt;</a:t>
            </a:r>
            <a:r>
              <a:rPr lang="ru-RU" sz="1600" dirty="0">
                <a:solidFill>
                  <a:srgbClr val="24292F"/>
                </a:solidFill>
              </a:rPr>
              <a:t> (с С++20)</a:t>
            </a: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Следующие операторы перегрузить нельзя: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  <a:latin typeface="Consolas" panose="020B0609020204030204" pitchFamily="49" charset="0"/>
              </a:rPr>
              <a:t>::</a:t>
            </a:r>
            <a:r>
              <a:rPr lang="ru-RU" sz="1600" dirty="0">
                <a:solidFill>
                  <a:srgbClr val="24292F"/>
                </a:solidFill>
              </a:rPr>
              <a:t> (разрешение области видимости)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  <a:latin typeface="Consolas" panose="020B0609020204030204" pitchFamily="49" charset="0"/>
              </a:rPr>
              <a:t>. </a:t>
            </a:r>
            <a:r>
              <a:rPr lang="ru-RU" sz="1600" dirty="0">
                <a:solidFill>
                  <a:srgbClr val="24292F"/>
                </a:solidFill>
              </a:rPr>
              <a:t>(оператор доступа к членам класса)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  <a:latin typeface="Consolas" panose="020B0609020204030204" pitchFamily="49" charset="0"/>
              </a:rPr>
              <a:t>.*</a:t>
            </a:r>
            <a:r>
              <a:rPr lang="ru-RU" sz="1600" dirty="0">
                <a:solidFill>
                  <a:srgbClr val="24292F"/>
                </a:solidFill>
              </a:rPr>
              <a:t> (оператор доступа к членам класса через указатель на объект класса)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  <a:latin typeface="Consolas" panose="020B0609020204030204" pitchFamily="49" charset="0"/>
              </a:rPr>
              <a:t>?:</a:t>
            </a:r>
            <a:r>
              <a:rPr lang="ru-RU" sz="1600" dirty="0">
                <a:solidFill>
                  <a:srgbClr val="24292F"/>
                </a:solidFill>
              </a:rPr>
              <a:t> (тернарный условный оператор)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 err="1">
                <a:solidFill>
                  <a:srgbClr val="24292F"/>
                </a:solidFill>
                <a:latin typeface="Consolas" panose="020B0609020204030204" pitchFamily="49" charset="0"/>
              </a:rPr>
              <a:t>sizeof</a:t>
            </a:r>
            <a:r>
              <a:rPr lang="ru-RU" sz="1600" dirty="0">
                <a:solidFill>
                  <a:srgbClr val="24292F"/>
                </a:solidFill>
              </a:rPr>
              <a:t> (оператор получения размера типа)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 err="1">
                <a:solidFill>
                  <a:srgbClr val="24292F"/>
                </a:solidFill>
                <a:latin typeface="Consolas" panose="020B0609020204030204" pitchFamily="49" charset="0"/>
              </a:rPr>
              <a:t>typeid</a:t>
            </a:r>
            <a:r>
              <a:rPr lang="ru-RU" sz="1600" dirty="0">
                <a:solidFill>
                  <a:srgbClr val="24292F"/>
                </a:solidFill>
              </a:rPr>
              <a:t> (оператор получения информации о типе)</a:t>
            </a:r>
          </a:p>
        </p:txBody>
      </p:sp>
    </p:spTree>
    <p:extLst>
      <p:ext uri="{BB962C8B-B14F-4D97-AF65-F5344CB8AC3E}">
        <p14:creationId xmlns:p14="http://schemas.microsoft.com/office/powerpoint/2010/main" val="396238104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rmAutofit/>
          </a:bodyPr>
          <a:lstStyle/>
          <a:p>
            <a:r>
              <a:rPr lang="ru-RU" sz="4000" dirty="0"/>
              <a:t>Перегрузка операторов – ограничения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ru-RU" sz="1600" dirty="0">
                <a:solidFill>
                  <a:srgbClr val="24292F"/>
                </a:solidFill>
              </a:rPr>
              <a:t>Новые операторы, такие как </a:t>
            </a:r>
            <a:r>
              <a:rPr lang="ru-RU" sz="1600" dirty="0">
                <a:solidFill>
                  <a:srgbClr val="24292F"/>
                </a:solidFill>
                <a:latin typeface="Consolas" panose="020B0609020204030204" pitchFamily="49" charset="0"/>
              </a:rPr>
              <a:t>**, &lt;&gt; , &amp;|</a:t>
            </a:r>
            <a:r>
              <a:rPr lang="ru-RU" sz="1600" dirty="0">
                <a:solidFill>
                  <a:srgbClr val="24292F"/>
                </a:solidFill>
              </a:rPr>
              <a:t> и т.д. не могут быть созданы</a:t>
            </a:r>
            <a:r>
              <a:rPr lang="en-US" sz="1600" dirty="0">
                <a:solidFill>
                  <a:srgbClr val="24292F"/>
                </a:solidFill>
              </a:rPr>
              <a:t>;</a:t>
            </a:r>
            <a:endParaRPr lang="ru-RU" sz="1600" dirty="0">
              <a:solidFill>
                <a:srgbClr val="24292F"/>
              </a:solidFill>
            </a:endParaRPr>
          </a:p>
          <a:p>
            <a:pPr>
              <a:lnSpc>
                <a:spcPct val="110000"/>
              </a:lnSpc>
              <a:spcBef>
                <a:spcPts val="0"/>
              </a:spcBef>
            </a:pPr>
            <a:endParaRPr lang="en-US" sz="1600" dirty="0">
              <a:solidFill>
                <a:srgbClr val="24292F"/>
              </a:solidFill>
            </a:endParaRP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ru-RU" sz="1600" dirty="0">
                <a:solidFill>
                  <a:srgbClr val="24292F"/>
                </a:solidFill>
              </a:rPr>
              <a:t>Арность, приоритет и ассоциативность операторов, перегрузке не меняются (нельзя изменить в принципе)</a:t>
            </a:r>
            <a:r>
              <a:rPr lang="en-US" sz="1600" dirty="0">
                <a:solidFill>
                  <a:srgbClr val="24292F"/>
                </a:solidFill>
              </a:rPr>
              <a:t>;</a:t>
            </a:r>
            <a:endParaRPr lang="ru-RU" sz="1600" dirty="0">
              <a:solidFill>
                <a:srgbClr val="24292F"/>
              </a:solidFill>
            </a:endParaRPr>
          </a:p>
          <a:p>
            <a:pPr>
              <a:lnSpc>
                <a:spcPct val="110000"/>
              </a:lnSpc>
              <a:spcBef>
                <a:spcPts val="0"/>
              </a:spcBef>
            </a:pPr>
            <a:endParaRPr lang="ru-RU" sz="1600" dirty="0">
              <a:solidFill>
                <a:srgbClr val="24292F"/>
              </a:solidFill>
            </a:endParaRP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ru-RU" sz="1600" dirty="0">
                <a:solidFill>
                  <a:srgbClr val="24292F"/>
                </a:solidFill>
              </a:rPr>
              <a:t>Перегрузить оператор для встроенного типа данных нельзя, можно только для пользовательских, т.е. у перегрузки оператора хотя бы один операндов должен быть пользовательского типа</a:t>
            </a:r>
            <a:r>
              <a:rPr lang="en-US" sz="1600" dirty="0">
                <a:solidFill>
                  <a:srgbClr val="24292F"/>
                </a:solidFill>
              </a:rPr>
              <a:t>;</a:t>
            </a:r>
            <a:r>
              <a:rPr lang="ru-RU" sz="1600" dirty="0">
                <a:solidFill>
                  <a:srgbClr val="24292F"/>
                </a:solidFill>
              </a:rPr>
              <a:t> </a:t>
            </a:r>
            <a:endParaRPr lang="en-US" sz="1600" dirty="0">
              <a:solidFill>
                <a:srgbClr val="24292F"/>
              </a:solidFill>
            </a:endParaRPr>
          </a:p>
          <a:p>
            <a:pPr>
              <a:lnSpc>
                <a:spcPct val="110000"/>
              </a:lnSpc>
              <a:spcBef>
                <a:spcPts val="0"/>
              </a:spcBef>
            </a:pPr>
            <a:endParaRPr lang="en-US" sz="1600" dirty="0">
              <a:solidFill>
                <a:srgbClr val="24292F"/>
              </a:solidFill>
            </a:endParaRP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ru-RU" sz="1600" dirty="0">
                <a:solidFill>
                  <a:srgbClr val="24292F"/>
                </a:solidFill>
              </a:rPr>
              <a:t>Операторы могут быть перегружены и как отдельные функции</a:t>
            </a:r>
            <a:r>
              <a:rPr lang="en-US" sz="1600" dirty="0">
                <a:solidFill>
                  <a:srgbClr val="24292F"/>
                </a:solidFill>
              </a:rPr>
              <a:t> (</a:t>
            </a:r>
            <a:r>
              <a:rPr lang="ru-RU" sz="1600" dirty="0">
                <a:solidFill>
                  <a:srgbClr val="24292F"/>
                </a:solidFill>
              </a:rPr>
              <a:t>не все</a:t>
            </a:r>
            <a:r>
              <a:rPr lang="en-US" sz="1600" dirty="0">
                <a:solidFill>
                  <a:srgbClr val="24292F"/>
                </a:solidFill>
              </a:rPr>
              <a:t>)</a:t>
            </a:r>
            <a:r>
              <a:rPr lang="ru-RU" sz="1600" dirty="0">
                <a:solidFill>
                  <a:srgbClr val="24292F"/>
                </a:solidFill>
              </a:rPr>
              <a:t>, и как функции-члены класса</a:t>
            </a:r>
            <a:r>
              <a:rPr lang="en-US" sz="1600" dirty="0">
                <a:solidFill>
                  <a:srgbClr val="24292F"/>
                </a:solidFill>
              </a:rPr>
              <a:t>;</a:t>
            </a: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ru-RU" sz="1600" dirty="0">
                <a:solidFill>
                  <a:srgbClr val="24292F"/>
                </a:solidFill>
              </a:rPr>
              <a:t>Перегрузки операторов </a:t>
            </a:r>
            <a:r>
              <a:rPr lang="ru-RU" sz="1600" dirty="0">
                <a:solidFill>
                  <a:srgbClr val="24292F"/>
                </a:solidFill>
                <a:latin typeface="Consolas" panose="020B0609020204030204" pitchFamily="49" charset="0"/>
              </a:rPr>
              <a:t>&amp;&amp;</a:t>
            </a:r>
            <a:r>
              <a:rPr lang="ru-RU" sz="1600" dirty="0">
                <a:solidFill>
                  <a:srgbClr val="24292F"/>
                </a:solidFill>
              </a:rPr>
              <a:t> и </a:t>
            </a:r>
            <a:r>
              <a:rPr lang="ru-RU" sz="1600" dirty="0">
                <a:solidFill>
                  <a:srgbClr val="24292F"/>
                </a:solidFill>
                <a:latin typeface="Consolas" panose="020B0609020204030204" pitchFamily="49" charset="0"/>
              </a:rPr>
              <a:t>||</a:t>
            </a:r>
            <a:r>
              <a:rPr lang="ru-RU" sz="1600" dirty="0">
                <a:solidFill>
                  <a:srgbClr val="24292F"/>
                </a:solidFill>
              </a:rPr>
              <a:t> теряют ленивое поведение, т.е. перегруженные версии вычисляют оба своих операнда</a:t>
            </a:r>
            <a:r>
              <a:rPr lang="en-US" sz="1600" dirty="0">
                <a:solidFill>
                  <a:srgbClr val="24292F"/>
                </a:solidFill>
              </a:rPr>
              <a:t>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ru-RU" sz="1600" dirty="0">
                <a:solidFill>
                  <a:srgbClr val="24292F"/>
                </a:solidFill>
              </a:rPr>
              <a:t>Перегрузка оператора </a:t>
            </a:r>
            <a:r>
              <a:rPr lang="ru-RU" sz="1600" dirty="0">
                <a:solidFill>
                  <a:srgbClr val="24292F"/>
                </a:solidFill>
                <a:latin typeface="Consolas" panose="020B0609020204030204" pitchFamily="49" charset="0"/>
              </a:rPr>
              <a:t>-&gt;</a:t>
            </a:r>
            <a:r>
              <a:rPr lang="ru-RU" sz="1600" dirty="0">
                <a:solidFill>
                  <a:srgbClr val="24292F"/>
                </a:solidFill>
              </a:rPr>
              <a:t> должна возвращать либо указатель на класс (структуру, объединение), либо тип, для которого перегружен оператор </a:t>
            </a:r>
            <a:r>
              <a:rPr lang="ru-RU" sz="1600" dirty="0">
                <a:solidFill>
                  <a:srgbClr val="24292F"/>
                </a:solidFill>
                <a:latin typeface="Consolas" panose="020B0609020204030204" pitchFamily="49" charset="0"/>
              </a:rPr>
              <a:t>-&gt;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ru-RU" sz="1600" dirty="0">
                <a:solidFill>
                  <a:srgbClr val="24292F"/>
                </a:solidFill>
              </a:rPr>
              <a:t>При перегрузке оператора рекомендуется учитывать ожидания пользователя класса. Например если перегрузить оператор </a:t>
            </a:r>
            <a:r>
              <a:rPr lang="en-US" sz="1600" dirty="0">
                <a:solidFill>
                  <a:srgbClr val="24292F"/>
                </a:solidFill>
              </a:rPr>
              <a:t>+</a:t>
            </a:r>
            <a:r>
              <a:rPr lang="ru-RU" sz="1600" dirty="0">
                <a:solidFill>
                  <a:srgbClr val="24292F"/>
                </a:solidFill>
              </a:rPr>
              <a:t>, но внутри прописать код вычитания, то для пользователя будет сюрприз.</a:t>
            </a:r>
            <a:endParaRPr lang="en-US" sz="1600" dirty="0">
              <a:solidFill>
                <a:srgbClr val="24292F"/>
              </a:solidFill>
            </a:endParaRPr>
          </a:p>
          <a:p>
            <a:pPr>
              <a:lnSpc>
                <a:spcPct val="110000"/>
              </a:lnSpc>
              <a:spcBef>
                <a:spcPts val="0"/>
              </a:spcBef>
            </a:pPr>
            <a:endParaRPr lang="ru-RU" sz="1600" dirty="0">
              <a:solidFill>
                <a:srgbClr val="24292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4960169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rmAutofit/>
          </a:bodyPr>
          <a:lstStyle/>
          <a:p>
            <a:r>
              <a:rPr lang="ru-RU" sz="4000" dirty="0"/>
              <a:t>Как можно перегрузить оператор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Операторы можно перегружать в двух вариантах: как функцию-член и как свободную (не-член) функцию.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Четыре оператора можно перегрузить только как функцию-член — это </a:t>
            </a:r>
            <a:r>
              <a:rPr lang="ru-RU" sz="1600" dirty="0">
                <a:solidFill>
                  <a:srgbClr val="24292F"/>
                </a:solidFill>
                <a:latin typeface="Consolas" panose="020B0609020204030204" pitchFamily="49" charset="0"/>
              </a:rPr>
              <a:t>=, -&gt;, [], ()</a:t>
            </a:r>
            <a:r>
              <a:rPr lang="ru-RU" sz="1600" dirty="0">
                <a:solidFill>
                  <a:srgbClr val="24292F"/>
                </a:solidFill>
              </a:rPr>
              <a:t>.  Для перечислений операторы можно перегружать только как свободные функции.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ru-RU" sz="1600" dirty="0">
                <a:solidFill>
                  <a:srgbClr val="24292F"/>
                </a:solidFill>
              </a:rPr>
              <a:t>Для того, чтобы перегрузить оператор как функцию-член необходимо объявить нестатическую функцию-член с именем </a:t>
            </a:r>
            <a:r>
              <a:rPr lang="ru-RU" sz="1600" dirty="0" err="1">
                <a:solidFill>
                  <a:srgbClr val="24292F"/>
                </a:solidFill>
              </a:rPr>
              <a:t>operator</a:t>
            </a:r>
            <a:r>
              <a:rPr lang="ru-RU" sz="1600" dirty="0">
                <a:solidFill>
                  <a:srgbClr val="24292F"/>
                </a:solidFill>
              </a:rPr>
              <a:t>@, где @ символ(ы) оператора. В случае перегрузки унарного оператора эта функция не должна иметь параметров, а в случае бинарного должна иметь ровно один параметр. В случае перегрузки оператора () эта функция может иметь произвольное число параметров.</a:t>
            </a:r>
          </a:p>
          <a:p>
            <a:pPr>
              <a:lnSpc>
                <a:spcPct val="110000"/>
              </a:lnSpc>
              <a:spcBef>
                <a:spcPts val="0"/>
              </a:spcBef>
            </a:pPr>
            <a:endParaRPr lang="ru-RU" sz="1600" dirty="0">
              <a:solidFill>
                <a:srgbClr val="24292F"/>
              </a:solidFill>
            </a:endParaRP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ru-RU" sz="1600" dirty="0">
                <a:solidFill>
                  <a:srgbClr val="24292F"/>
                </a:solidFill>
              </a:rPr>
              <a:t>Для того, чтобы перегрузить оператор как свободную (не-член) функцию, необходимо объявить функцию с именем </a:t>
            </a:r>
            <a:r>
              <a:rPr lang="ru-RU" sz="1600" dirty="0" err="1">
                <a:solidFill>
                  <a:srgbClr val="24292F"/>
                </a:solidFill>
              </a:rPr>
              <a:t>operator</a:t>
            </a:r>
            <a:r>
              <a:rPr lang="ru-RU" sz="1600" dirty="0">
                <a:solidFill>
                  <a:srgbClr val="24292F"/>
                </a:solidFill>
              </a:rPr>
              <a:t>@, где @ символ(ы) оператора. В случае перегрузки унарного оператора, эта функция должна иметь один параметр, а в случае бинарного должна иметь два параметра. 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00119443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rmAutofit/>
          </a:bodyPr>
          <a:lstStyle/>
          <a:p>
            <a:r>
              <a:rPr lang="ru-RU" sz="4000" dirty="0"/>
              <a:t>Перегрузка как свободная функция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486275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sz="1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Integer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Integer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):</a:t>
            </a:r>
            <a:r>
              <a:rPr lang="en-US" sz="10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friend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Integer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operator+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Integer</a:t>
            </a: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lhs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Integer</a:t>
            </a: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rhs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friend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0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ostream</a:t>
            </a: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operator&lt;&lt;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0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ostream</a:t>
            </a: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Integer</a:t>
            </a: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obj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value;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b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Integer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operator+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Integer</a:t>
            </a: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lhs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Integer</a:t>
            </a: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rhs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Integer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lhs</a:t>
            </a:r>
            <a:r>
              <a:rPr lang="en-US" sz="10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sz="1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rhs</a:t>
            </a:r>
            <a:r>
              <a:rPr lang="en-US" sz="10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0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ostream</a:t>
            </a: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operator&lt;&lt;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0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ostream</a:t>
            </a: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Integer</a:t>
            </a: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obj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out &lt;&lt; </a:t>
            </a:r>
            <a:r>
              <a:rPr lang="en-US" sz="1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obj</a:t>
            </a:r>
            <a:r>
              <a:rPr lang="en-US" sz="10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out;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b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Integer </a:t>
            </a:r>
            <a:r>
              <a:rPr lang="en-US" sz="10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0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Integer </a:t>
            </a:r>
            <a:r>
              <a:rPr lang="en-US" sz="10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0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 = a + b;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0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c &lt;&lt; </a:t>
            </a:r>
            <a:r>
              <a:rPr lang="en-US" sz="1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0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Скругленный прямоугольник 4">
            <a:extLst>
              <a:ext uri="{FF2B5EF4-FFF2-40B4-BE49-F238E27FC236}">
                <a16:creationId xmlns:a16="http://schemas.microsoft.com/office/drawing/2014/main" id="{0B104B82-4CB7-0E87-BF9F-66B377EDF378}"/>
              </a:ext>
            </a:extLst>
          </p:cNvPr>
          <p:cNvSpPr/>
          <p:nvPr/>
        </p:nvSpPr>
        <p:spPr>
          <a:xfrm>
            <a:off x="6811765" y="1690686"/>
            <a:ext cx="4294599" cy="1905269"/>
          </a:xfrm>
          <a:prstGeom prst="roundRect">
            <a:avLst>
              <a:gd name="adj" fmla="val 1742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ru-RU" sz="1300" dirty="0"/>
              <a:t>В этом примере операторы + и </a:t>
            </a:r>
            <a:r>
              <a:rPr lang="en-US" sz="1300" dirty="0"/>
              <a:t>&lt;&lt; </a:t>
            </a:r>
            <a:r>
              <a:rPr lang="ru-RU" sz="1300" dirty="0"/>
              <a:t>перегружены как свободные функции, но для доступа с приватному полю они были добавлены в объявление класса как друзья (хотя это и не обязательное условие перегрузки)</a:t>
            </a:r>
            <a:r>
              <a:rPr lang="en-US" sz="1300" dirty="0"/>
              <a:t>;</a:t>
            </a:r>
            <a:endParaRPr lang="ru-RU" sz="1300" dirty="0"/>
          </a:p>
          <a:p>
            <a:pPr marL="0" indent="0">
              <a:lnSpc>
                <a:spcPct val="100000"/>
              </a:lnSpc>
              <a:buNone/>
            </a:pPr>
            <a:endParaRPr lang="ru-RU" sz="1300" dirty="0"/>
          </a:p>
          <a:p>
            <a:pPr marL="0" indent="0">
              <a:lnSpc>
                <a:spcPct val="100000"/>
              </a:lnSpc>
              <a:buNone/>
            </a:pPr>
            <a:r>
              <a:rPr lang="ru-RU" sz="1300" dirty="0"/>
              <a:t>Параметры операторов и возвращаемы типы могут отличаться. Здесь они выбраны такими, чтобы работать таким же образом как и операторы для встроенных типов</a:t>
            </a:r>
            <a:r>
              <a:rPr lang="en-US" sz="1300" dirty="0"/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231533234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rmAutofit/>
          </a:bodyPr>
          <a:lstStyle/>
          <a:p>
            <a:r>
              <a:rPr lang="ru-RU" sz="4000" dirty="0"/>
              <a:t>Перегрузка как функция</a:t>
            </a:r>
            <a:r>
              <a:rPr lang="en-US" sz="4000" dirty="0"/>
              <a:t>-</a:t>
            </a:r>
            <a:r>
              <a:rPr lang="ru-RU" sz="4000" dirty="0"/>
              <a:t>член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51398"/>
            <a:ext cx="10515600" cy="4625565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sz="11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Integer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1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Integer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):</a:t>
            </a:r>
            <a:r>
              <a:rPr lang="en-US" sz="11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1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Integer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operator+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Integer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other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1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Integer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sz="11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sz="11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other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1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friend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1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ostream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operator&lt;&lt;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1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1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ostream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Integer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obj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1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value;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1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1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ostream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operator&lt;&lt;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1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1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ostream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Integer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obj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out &lt;&lt; </a:t>
            </a:r>
            <a:r>
              <a:rPr lang="en-US" sz="11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obj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1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1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out;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b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Integer </a:t>
            </a:r>
            <a:r>
              <a:rPr lang="en-US" sz="11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1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Integer </a:t>
            </a:r>
            <a:r>
              <a:rPr lang="en-US" sz="11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1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 = a + b;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1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c &lt;&lt; </a:t>
            </a:r>
            <a:r>
              <a:rPr lang="en-US" sz="11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Скругленный прямоугольник 4">
            <a:extLst>
              <a:ext uri="{FF2B5EF4-FFF2-40B4-BE49-F238E27FC236}">
                <a16:creationId xmlns:a16="http://schemas.microsoft.com/office/drawing/2014/main" id="{0B104B82-4CB7-0E87-BF9F-66B377EDF378}"/>
              </a:ext>
            </a:extLst>
          </p:cNvPr>
          <p:cNvSpPr/>
          <p:nvPr/>
        </p:nvSpPr>
        <p:spPr>
          <a:xfrm>
            <a:off x="7059201" y="1591317"/>
            <a:ext cx="4294599" cy="2342508"/>
          </a:xfrm>
          <a:prstGeom prst="roundRect">
            <a:avLst>
              <a:gd name="adj" fmla="val 1742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ru-RU" sz="1300" dirty="0"/>
              <a:t>Здесь оператор + перегружен как метод класса</a:t>
            </a:r>
            <a:r>
              <a:rPr lang="en-US" sz="1300" dirty="0"/>
              <a:t>;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ru-RU" sz="1300" dirty="0"/>
              <a:t>Т.к. оператор + бинарный, у него один параметр – правый относительно оператора. В качестве правого оператора используется </a:t>
            </a:r>
            <a:r>
              <a:rPr lang="en-US" sz="1300" dirty="0"/>
              <a:t>this;</a:t>
            </a:r>
          </a:p>
          <a:p>
            <a:pPr marL="0" indent="0">
              <a:lnSpc>
                <a:spcPct val="100000"/>
              </a:lnSpc>
              <a:buNone/>
            </a:pPr>
            <a:endParaRPr lang="en-US" sz="1300" dirty="0"/>
          </a:p>
          <a:p>
            <a:pPr marL="0" indent="0">
              <a:lnSpc>
                <a:spcPct val="100000"/>
              </a:lnSpc>
              <a:buNone/>
            </a:pPr>
            <a:r>
              <a:rPr lang="ru-RU" sz="1300" dirty="0"/>
              <a:t>По этой причине оператор </a:t>
            </a:r>
            <a:r>
              <a:rPr lang="en-US" sz="1300" dirty="0"/>
              <a:t>&lt;&lt; </a:t>
            </a:r>
            <a:r>
              <a:rPr lang="ru-RU" sz="1300" dirty="0"/>
              <a:t>здесь перегрузить как метод класса невозможно, т.к. он ждёт в качестве правого оператора </a:t>
            </a:r>
            <a:r>
              <a:rPr lang="en-US" sz="1300" dirty="0"/>
              <a:t>std::</a:t>
            </a:r>
            <a:r>
              <a:rPr lang="en-US" sz="1300" dirty="0" err="1"/>
              <a:t>ostream</a:t>
            </a:r>
            <a:r>
              <a:rPr lang="en-US" sz="1300" dirty="0"/>
              <a:t>&amp;</a:t>
            </a:r>
            <a:r>
              <a:rPr lang="ru-RU" sz="1300" dirty="0"/>
              <a:t>.</a:t>
            </a:r>
          </a:p>
          <a:p>
            <a:pPr marL="0" indent="0">
              <a:lnSpc>
                <a:spcPct val="100000"/>
              </a:lnSpc>
              <a:buNone/>
            </a:pPr>
            <a:endParaRPr lang="ru-RU" sz="1300" dirty="0"/>
          </a:p>
          <a:p>
            <a:pPr marL="0" indent="0">
              <a:lnSpc>
                <a:spcPct val="100000"/>
              </a:lnSpc>
              <a:buNone/>
            </a:pPr>
            <a:r>
              <a:rPr lang="ru-RU" sz="1300" dirty="0"/>
              <a:t>Другие перегрузки оператора </a:t>
            </a:r>
            <a:r>
              <a:rPr lang="en-US" sz="1300" dirty="0"/>
              <a:t>&lt;&lt; </a:t>
            </a:r>
            <a:r>
              <a:rPr lang="ru-RU" sz="1300" dirty="0"/>
              <a:t>возможно реализовать как методы класса.</a:t>
            </a:r>
          </a:p>
        </p:txBody>
      </p:sp>
    </p:spTree>
    <p:extLst>
      <p:ext uri="{BB962C8B-B14F-4D97-AF65-F5344CB8AC3E}">
        <p14:creationId xmlns:p14="http://schemas.microsoft.com/office/powerpoint/2010/main" val="3967050315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rmAutofit/>
          </a:bodyPr>
          <a:lstStyle/>
          <a:p>
            <a:r>
              <a:rPr lang="ru-RU" sz="4000" dirty="0"/>
              <a:t>Перегрузка как функция</a:t>
            </a:r>
            <a:r>
              <a:rPr lang="en-US" sz="4000" dirty="0"/>
              <a:t>-</a:t>
            </a:r>
            <a:r>
              <a:rPr lang="ru-RU" sz="4000" dirty="0"/>
              <a:t>член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486275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Matrix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Matrix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rowCount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colCount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RowProxy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RowProxy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operator[]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RowProxy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operator[]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operator[]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b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Matrix </a:t>
            </a:r>
            <a:r>
              <a:rPr lang="en-US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mtx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 = </a:t>
            </a:r>
            <a:r>
              <a:rPr lang="en-US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mtx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mtx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3.14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Скругленный прямоугольник 4">
            <a:extLst>
              <a:ext uri="{FF2B5EF4-FFF2-40B4-BE49-F238E27FC236}">
                <a16:creationId xmlns:a16="http://schemas.microsoft.com/office/drawing/2014/main" id="{0B104B82-4CB7-0E87-BF9F-66B377EDF378}"/>
              </a:ext>
            </a:extLst>
          </p:cNvPr>
          <p:cNvSpPr/>
          <p:nvPr/>
        </p:nvSpPr>
        <p:spPr>
          <a:xfrm>
            <a:off x="6811765" y="1690686"/>
            <a:ext cx="4294599" cy="1494303"/>
          </a:xfrm>
          <a:prstGeom prst="roundRect">
            <a:avLst>
              <a:gd name="adj" fmla="val 1742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ru-RU" sz="1300" dirty="0"/>
              <a:t>Это классический пример реализации двумерного массива.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ru-RU" sz="1300" dirty="0"/>
              <a:t>У класса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Matrix</a:t>
            </a:r>
            <a:r>
              <a:rPr lang="ru-RU" sz="1200" b="0" dirty="0">
                <a:solidFill>
                  <a:srgbClr val="267F99"/>
                </a:solidFill>
                <a:effectLst/>
              </a:rPr>
              <a:t> </a:t>
            </a:r>
            <a:r>
              <a:rPr lang="ru-RU" sz="1300" dirty="0"/>
              <a:t>перегружен оператор </a:t>
            </a:r>
            <a:r>
              <a:rPr lang="en-US" sz="1300" dirty="0">
                <a:latin typeface="Consolas" panose="020B0609020204030204" pitchFamily="49" charset="0"/>
              </a:rPr>
              <a:t>[]</a:t>
            </a:r>
            <a:r>
              <a:rPr lang="en-US" sz="1300" dirty="0"/>
              <a:t> </a:t>
            </a:r>
            <a:r>
              <a:rPr lang="ru-RU" sz="1300" dirty="0"/>
              <a:t>который возвращает прокси объект вложенного класса </a:t>
            </a:r>
            <a:r>
              <a:rPr lang="en-US" sz="12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RowProxy</a:t>
            </a:r>
            <a:r>
              <a:rPr lang="en-US" sz="1200" b="0" dirty="0">
                <a:solidFill>
                  <a:schemeClr val="tx1"/>
                </a:solidFill>
                <a:effectLst/>
              </a:rPr>
              <a:t>;</a:t>
            </a:r>
            <a:endParaRPr lang="ru-RU" sz="1200" b="0" dirty="0">
              <a:solidFill>
                <a:schemeClr val="tx1"/>
              </a:solidFill>
              <a:effectLst/>
            </a:endParaRPr>
          </a:p>
          <a:p>
            <a:r>
              <a:rPr lang="ru-RU" sz="1300" dirty="0"/>
              <a:t> У вложенного класса </a:t>
            </a:r>
            <a:r>
              <a:rPr lang="en-US" sz="12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RowProxy</a:t>
            </a:r>
            <a:r>
              <a:rPr lang="ru-RU" sz="1200" b="0" dirty="0">
                <a:solidFill>
                  <a:srgbClr val="267F99"/>
                </a:solidFill>
                <a:effectLst/>
              </a:rPr>
              <a:t> </a:t>
            </a:r>
            <a:r>
              <a:rPr lang="ru-RU" sz="1300" dirty="0"/>
              <a:t>тоже перегружен оператор </a:t>
            </a:r>
            <a:r>
              <a:rPr lang="en-US" sz="1300" dirty="0">
                <a:latin typeface="Consolas" panose="020B0609020204030204" pitchFamily="49" charset="0"/>
              </a:rPr>
              <a:t>[]</a:t>
            </a:r>
            <a:r>
              <a:rPr lang="en-US" sz="1300" dirty="0"/>
              <a:t> </a:t>
            </a:r>
            <a:r>
              <a:rPr lang="ru-RU" sz="1300" dirty="0"/>
              <a:t>который возвращает ссылку на элемент матрицы.</a:t>
            </a:r>
            <a:endParaRPr lang="ru-RU" sz="1200" b="0" dirty="0">
              <a:solidFill>
                <a:srgbClr val="267F99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ru-RU" sz="1300" dirty="0"/>
          </a:p>
        </p:txBody>
      </p:sp>
    </p:spTree>
    <p:extLst>
      <p:ext uri="{BB962C8B-B14F-4D97-AF65-F5344CB8AC3E}">
        <p14:creationId xmlns:p14="http://schemas.microsoft.com/office/powerpoint/2010/main" val="1230221977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rmAutofit/>
          </a:bodyPr>
          <a:lstStyle/>
          <a:p>
            <a:r>
              <a:rPr lang="ru-RU" sz="4000" dirty="0"/>
              <a:t>Способы вызова перегруженного оператора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486275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Integer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5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Integer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):</a:t>
            </a:r>
            <a:r>
              <a:rPr lang="en-US" sz="105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5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Integer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operator+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Integer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other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05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Integer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sz="105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sz="105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other</a:t>
            </a:r>
            <a:r>
              <a:rPr lang="en-US" sz="105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05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friend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05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ostream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operator&lt;&lt;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05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05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ostream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Integer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obj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value;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05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05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ostream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operator&lt;&lt;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05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05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ostream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Integer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obj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out &lt;&lt; </a:t>
            </a:r>
            <a:r>
              <a:rPr lang="en-US" sz="105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obj</a:t>
            </a:r>
            <a:r>
              <a:rPr lang="en-US" sz="105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05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5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out;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b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Integer </a:t>
            </a:r>
            <a:r>
              <a:rPr lang="en-US" sz="105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05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Integer </a:t>
            </a:r>
            <a:r>
              <a:rPr lang="en-US" sz="105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05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 = </a:t>
            </a:r>
            <a:r>
              <a:rPr lang="en-US" sz="105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05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05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operator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+(b);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operator&lt;&lt;(</a:t>
            </a:r>
            <a:r>
              <a:rPr lang="en-US" sz="105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05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c).</a:t>
            </a:r>
            <a:r>
              <a:rPr lang="en-US" sz="105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operator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&lt;&lt;(</a:t>
            </a:r>
            <a:r>
              <a:rPr lang="en-US" sz="105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05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Скругленный прямоугольник 4">
            <a:extLst>
              <a:ext uri="{FF2B5EF4-FFF2-40B4-BE49-F238E27FC236}">
                <a16:creationId xmlns:a16="http://schemas.microsoft.com/office/drawing/2014/main" id="{0B104B82-4CB7-0E87-BF9F-66B377EDF378}"/>
              </a:ext>
            </a:extLst>
          </p:cNvPr>
          <p:cNvSpPr/>
          <p:nvPr/>
        </p:nvSpPr>
        <p:spPr>
          <a:xfrm>
            <a:off x="6811765" y="1690686"/>
            <a:ext cx="4294599" cy="1494303"/>
          </a:xfrm>
          <a:prstGeom prst="roundRect">
            <a:avLst>
              <a:gd name="adj" fmla="val 1742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ru-RU" sz="1300" b="0" dirty="0">
                <a:solidFill>
                  <a:schemeClr val="tx1"/>
                </a:solidFill>
                <a:effectLst/>
              </a:rPr>
              <a:t>Оператор может быть вызван ка</a:t>
            </a:r>
            <a:r>
              <a:rPr lang="ru-RU" sz="1300" dirty="0">
                <a:solidFill>
                  <a:schemeClr val="tx1"/>
                </a:solidFill>
              </a:rPr>
              <a:t>к обычный оператор и как функция или методы класса с передачей ей аргументов.</a:t>
            </a:r>
            <a:endParaRPr lang="ru-RU" sz="1200" b="0" dirty="0">
              <a:solidFill>
                <a:schemeClr val="tx1"/>
              </a:solidFill>
              <a:effectLst/>
            </a:endParaRPr>
          </a:p>
          <a:p>
            <a:pPr marL="0" indent="0">
              <a:lnSpc>
                <a:spcPct val="100000"/>
              </a:lnSpc>
              <a:buNone/>
            </a:pPr>
            <a:endParaRPr lang="ru-RU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47847067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rmAutofit/>
          </a:bodyPr>
          <a:lstStyle/>
          <a:p>
            <a:r>
              <a:rPr lang="ru-RU" sz="4000" dirty="0"/>
              <a:t>Оператор присваивания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486275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ru-RU" sz="1800" b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8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8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копирующий конструктор</a:t>
            </a:r>
            <a:endParaRPr lang="en-US" sz="18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8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src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endParaRPr lang="ru-RU" sz="1800" dirty="0">
              <a:solidFill>
                <a:srgbClr val="008000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8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8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перемещающий конструктор</a:t>
            </a:r>
            <a:endParaRPr lang="ru-RU" sz="18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8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8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&amp;&amp;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src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8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8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endParaRPr lang="ru-RU" sz="1800" b="0" dirty="0">
              <a:solidFill>
                <a:srgbClr val="008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ru-RU" sz="1800" b="0" dirty="0">
              <a:solidFill>
                <a:srgbClr val="008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8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8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оператор копирующего присваивания</a:t>
            </a:r>
            <a:br>
              <a:rPr lang="ru-RU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ru-RU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8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operator=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src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18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</a:t>
            </a:r>
            <a:endParaRPr lang="ru-RU" sz="1800" b="0" dirty="0">
              <a:solidFill>
                <a:srgbClr val="008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8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8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оператор перемещающего присваивания</a:t>
            </a:r>
            <a:endParaRPr lang="ru-RU" sz="18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8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operator=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8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&amp;&amp;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src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8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sz="18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4" name="Скругленный прямоугольник 4">
            <a:extLst>
              <a:ext uri="{FF2B5EF4-FFF2-40B4-BE49-F238E27FC236}">
                <a16:creationId xmlns:a16="http://schemas.microsoft.com/office/drawing/2014/main" id="{0B104B82-4CB7-0E87-BF9F-66B377EDF378}"/>
              </a:ext>
            </a:extLst>
          </p:cNvPr>
          <p:cNvSpPr/>
          <p:nvPr/>
        </p:nvSpPr>
        <p:spPr>
          <a:xfrm>
            <a:off x="6811765" y="1690686"/>
            <a:ext cx="4294599" cy="3579957"/>
          </a:xfrm>
          <a:prstGeom prst="roundRect">
            <a:avLst>
              <a:gd name="adj" fmla="val 1742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ru-RU" sz="1300" b="0" dirty="0">
                <a:solidFill>
                  <a:schemeClr val="tx1"/>
                </a:solidFill>
                <a:effectLst/>
              </a:rPr>
              <a:t>Оператор присваивания можно реализовать только, как функцию-член, которая должна иметь ровно один параметр. Тип этого параметра произвольный, соответственно, перегрузок может быть несколько, для разных типов параметра.</a:t>
            </a:r>
          </a:p>
          <a:p>
            <a:pPr marL="0" indent="0">
              <a:lnSpc>
                <a:spcPct val="100000"/>
              </a:lnSpc>
              <a:buNone/>
            </a:pPr>
            <a:endParaRPr lang="ru-RU" sz="1300" dirty="0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ru-RU" sz="1300" dirty="0">
                <a:solidFill>
                  <a:schemeClr val="tx1"/>
                </a:solidFill>
              </a:rPr>
              <a:t>Если описать семантику присваивания «на пальцах», то присваивание должно полностью освободить все текущие ресурсы, которыми владеет объект (левый операнд), и на его месте создать новый объект, определяемый правым операндом.</a:t>
            </a:r>
          </a:p>
          <a:p>
            <a:pPr marL="0" indent="0">
              <a:lnSpc>
                <a:spcPct val="100000"/>
              </a:lnSpc>
              <a:buNone/>
            </a:pPr>
            <a:endParaRPr lang="ru-RU" sz="1300" dirty="0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ru-RU" sz="1300" dirty="0">
                <a:solidFill>
                  <a:schemeClr val="tx1"/>
                </a:solidFill>
              </a:rPr>
              <a:t>Среди операторов присваивания выделяются два стандартных — оператор копирующего присваивания и оператор перемещающего присваивания, которые соответствуют копирующему конструктору и перемещающему конструктору.</a:t>
            </a:r>
          </a:p>
        </p:txBody>
      </p:sp>
    </p:spTree>
    <p:extLst>
      <p:ext uri="{BB962C8B-B14F-4D97-AF65-F5344CB8AC3E}">
        <p14:creationId xmlns:p14="http://schemas.microsoft.com/office/powerpoint/2010/main" val="4007750856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rmAutofit/>
          </a:bodyPr>
          <a:lstStyle/>
          <a:p>
            <a:r>
              <a:rPr lang="ru-RU" sz="4000" dirty="0"/>
              <a:t>Оператор копирующего присваивания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486275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8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8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sz="8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8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8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8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8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8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(value);</a:t>
            </a:r>
            <a:r>
              <a:rPr lang="en-US" sz="8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8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Выделяем память</a:t>
            </a:r>
            <a:endParaRPr lang="ru-RU" sz="8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8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8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8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"Created Point("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*</a:t>
            </a:r>
            <a:r>
              <a:rPr lang="en-US" sz="8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8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")"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8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8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8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8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8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other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sz="8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8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(*</a:t>
            </a:r>
            <a:r>
              <a:rPr lang="en-US" sz="8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other</a:t>
            </a:r>
            <a:r>
              <a:rPr lang="en-US" sz="8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8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8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8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Выделяем память для копии</a:t>
            </a:r>
            <a:endParaRPr lang="ru-RU" sz="8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8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8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8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"Copying Point("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*</a:t>
            </a:r>
            <a:r>
              <a:rPr lang="en-US" sz="8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8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")"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8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8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8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/*</a:t>
            </a:r>
            <a:endParaRPr lang="en-US" sz="8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8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Point&amp; operator=(const Point&amp; other){</a:t>
            </a:r>
            <a:endParaRPr lang="en-US" sz="8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8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if (this != &amp;other){</a:t>
            </a:r>
            <a:endParaRPr lang="en-US" sz="8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8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    delete this-&gt;</a:t>
            </a:r>
            <a:r>
              <a:rPr lang="en-US" sz="8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8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;              // </a:t>
            </a:r>
            <a:r>
              <a:rPr lang="ru-RU" sz="8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Освобождаем память</a:t>
            </a:r>
            <a:endParaRPr lang="ru-RU" sz="8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8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8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this-&gt;</a:t>
            </a:r>
            <a:r>
              <a:rPr lang="en-US" sz="8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8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= new int(*</a:t>
            </a:r>
            <a:r>
              <a:rPr lang="en-US" sz="8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other.i</a:t>
            </a:r>
            <a:r>
              <a:rPr lang="en-US" sz="8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); // </a:t>
            </a:r>
            <a:r>
              <a:rPr lang="ru-RU" sz="8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Выделяем память для копии</a:t>
            </a:r>
            <a:endParaRPr lang="ru-RU" sz="8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8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8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sz="8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8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&lt;&lt; "operator= Point(" &lt;&lt; *</a:t>
            </a:r>
            <a:r>
              <a:rPr lang="en-US" sz="8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8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&lt;&lt; ")" &lt;&lt; std::</a:t>
            </a:r>
            <a:r>
              <a:rPr lang="en-US" sz="8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8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sz="8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8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}</a:t>
            </a:r>
            <a:endParaRPr lang="en-US" sz="8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8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return *this;</a:t>
            </a:r>
            <a:endParaRPr lang="en-US" sz="8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8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}*/</a:t>
            </a:r>
            <a:endParaRPr lang="en-US" sz="8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8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~Point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8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8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8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"Destroyed Point("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*</a:t>
            </a:r>
            <a:r>
              <a:rPr lang="en-US" sz="8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8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")"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8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8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8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delete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8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8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// </a:t>
            </a:r>
            <a:r>
              <a:rPr lang="ru-RU" sz="8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Освобождаем память</a:t>
            </a:r>
            <a:endParaRPr lang="ru-RU" sz="8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8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8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Point </a:t>
            </a:r>
            <a:r>
              <a:rPr lang="en-US" sz="8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p1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8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Point </a:t>
            </a:r>
            <a:r>
              <a:rPr lang="en-US" sz="8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p2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(p1);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p2 = p1;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8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Скругленный прямоугольник 4">
            <a:extLst>
              <a:ext uri="{FF2B5EF4-FFF2-40B4-BE49-F238E27FC236}">
                <a16:creationId xmlns:a16="http://schemas.microsoft.com/office/drawing/2014/main" id="{0B104B82-4CB7-0E87-BF9F-66B377EDF378}"/>
              </a:ext>
            </a:extLst>
          </p:cNvPr>
          <p:cNvSpPr/>
          <p:nvPr/>
        </p:nvSpPr>
        <p:spPr>
          <a:xfrm>
            <a:off x="6811765" y="1690685"/>
            <a:ext cx="4294599" cy="4802189"/>
          </a:xfrm>
          <a:prstGeom prst="roundRect">
            <a:avLst>
              <a:gd name="adj" fmla="val 1742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ru-RU" sz="1300" dirty="0">
                <a:solidFill>
                  <a:schemeClr val="tx1"/>
                </a:solidFill>
              </a:rPr>
              <a:t>В этом примере без оператора присваивания объекты будут работать не правильно;</a:t>
            </a:r>
          </a:p>
          <a:p>
            <a:pPr marL="0" indent="0">
              <a:lnSpc>
                <a:spcPct val="100000"/>
              </a:lnSpc>
              <a:buNone/>
            </a:pPr>
            <a:endParaRPr lang="ru-RU" sz="1300" dirty="0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ru-RU" sz="1300" dirty="0">
                <a:solidFill>
                  <a:schemeClr val="tx1"/>
                </a:solidFill>
              </a:rPr>
              <a:t>Как говорилось выше, стандартная реализация оператора присваивания выполняет побайтовое копирование полей простых типов.</a:t>
            </a:r>
            <a:br>
              <a:rPr lang="ru-RU" sz="1300" dirty="0">
                <a:solidFill>
                  <a:schemeClr val="tx1"/>
                </a:solidFill>
              </a:rPr>
            </a:br>
            <a:r>
              <a:rPr lang="ru-RU" sz="1300" dirty="0">
                <a:solidFill>
                  <a:schemeClr val="tx1"/>
                </a:solidFill>
              </a:rPr>
              <a:t>В данном случае оба объекта будут указывать на один и тот же участок памяти выделенный в момент создания первого объекта.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ru-RU" sz="1300" dirty="0">
                <a:solidFill>
                  <a:schemeClr val="tx1"/>
                </a:solidFill>
              </a:rPr>
              <a:t>На этапе удаления (в деструкторе), первый удаляемый объект освободит память выделенную под i, а второй попробуют освободить уже освобождённую память поворотно, что недопустимо;</a:t>
            </a:r>
          </a:p>
          <a:p>
            <a:pPr marL="0" indent="0">
              <a:lnSpc>
                <a:spcPct val="100000"/>
              </a:lnSpc>
              <a:buNone/>
            </a:pPr>
            <a:endParaRPr lang="ru-RU" sz="1300" dirty="0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ru-RU" sz="1300" dirty="0">
                <a:solidFill>
                  <a:schemeClr val="tx1"/>
                </a:solidFill>
              </a:rPr>
              <a:t>Если </a:t>
            </a:r>
            <a:r>
              <a:rPr lang="ru-RU" sz="1300" dirty="0" err="1">
                <a:solidFill>
                  <a:schemeClr val="tx1"/>
                </a:solidFill>
              </a:rPr>
              <a:t>раскомментировать</a:t>
            </a:r>
            <a:r>
              <a:rPr lang="ru-RU" sz="1300" dirty="0">
                <a:solidFill>
                  <a:schemeClr val="tx1"/>
                </a:solidFill>
              </a:rPr>
              <a:t> оператор присваивания, то для каждой копии будет выделен свой собственный блок памяти, который затем корректно будет освобождён деструктором</a:t>
            </a:r>
            <a:r>
              <a:rPr lang="en-US" sz="1300" dirty="0">
                <a:solidFill>
                  <a:schemeClr val="tx1"/>
                </a:solidFill>
              </a:rPr>
              <a:t>;</a:t>
            </a:r>
            <a:endParaRPr lang="ru-RU" sz="1300" dirty="0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endParaRPr lang="ru-RU" sz="1300" dirty="0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ru-RU" sz="1300" dirty="0">
                <a:solidFill>
                  <a:schemeClr val="tx1"/>
                </a:solidFill>
              </a:rPr>
              <a:t>Если в операторе присваивания убрать проверку на присваивания себе, то память с данными будет освобождена, а на его место придёт случайный фрагмент памяти с мусорным значением.</a:t>
            </a:r>
          </a:p>
        </p:txBody>
      </p:sp>
    </p:spTree>
    <p:extLst>
      <p:ext uri="{BB962C8B-B14F-4D97-AF65-F5344CB8AC3E}">
        <p14:creationId xmlns:p14="http://schemas.microsoft.com/office/powerpoint/2010/main" val="3743128255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rmAutofit/>
          </a:bodyPr>
          <a:lstStyle/>
          <a:p>
            <a:r>
              <a:rPr lang="ru-RU" sz="4000" dirty="0"/>
              <a:t>Идиома </a:t>
            </a:r>
            <a:r>
              <a:rPr lang="en-US" sz="4000" dirty="0"/>
              <a:t>copy-and-swap</a:t>
            </a:r>
            <a:endParaRPr lang="ru-RU" sz="4000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486275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9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9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9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9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9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Выделяем память</a:t>
            </a:r>
            <a:endParaRPr lang="ru-RU" sz="9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9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9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"Created Point("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9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")"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9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other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sz="9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9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(*</a:t>
            </a:r>
            <a:r>
              <a:rPr lang="en-US" sz="9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other</a:t>
            </a:r>
            <a:r>
              <a:rPr lang="en-US" sz="9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9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9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9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Выделяем память для копии</a:t>
            </a:r>
            <a:endParaRPr lang="ru-RU" sz="9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9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9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"Copying Point("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9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")"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9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operator=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other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9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temp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9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other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9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swap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(*</a:t>
            </a: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temp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9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~Point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9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9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"Destroyed Point("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9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")"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9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9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delete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9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// </a:t>
            </a:r>
            <a:r>
              <a:rPr lang="ru-RU" sz="9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Освобождаем память</a:t>
            </a:r>
            <a:endParaRPr lang="ru-RU" sz="9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friend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swap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9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first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second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9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swap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9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first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second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9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swap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swap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9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first</a:t>
            </a:r>
            <a:r>
              <a:rPr lang="en-US" sz="9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9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second</a:t>
            </a:r>
            <a:r>
              <a:rPr lang="en-US" sz="9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9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Скругленный прямоугольник 4">
            <a:extLst>
              <a:ext uri="{FF2B5EF4-FFF2-40B4-BE49-F238E27FC236}">
                <a16:creationId xmlns:a16="http://schemas.microsoft.com/office/drawing/2014/main" id="{0B104B82-4CB7-0E87-BF9F-66B377EDF378}"/>
              </a:ext>
            </a:extLst>
          </p:cNvPr>
          <p:cNvSpPr/>
          <p:nvPr/>
        </p:nvSpPr>
        <p:spPr>
          <a:xfrm>
            <a:off x="6811765" y="1530849"/>
            <a:ext cx="4294599" cy="5065160"/>
          </a:xfrm>
          <a:prstGeom prst="roundRect">
            <a:avLst>
              <a:gd name="adj" fmla="val 1742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ru-RU" sz="1300" dirty="0">
                <a:solidFill>
                  <a:schemeClr val="tx1"/>
                </a:solidFill>
              </a:rPr>
              <a:t>Ручная реализация оператора присваивания страдает от нескольких проблем, в том числе от лишнего копирования кода</a:t>
            </a:r>
            <a:r>
              <a:rPr lang="en-US" sz="1300" dirty="0">
                <a:solidFill>
                  <a:schemeClr val="tx1"/>
                </a:solidFill>
              </a:rPr>
              <a:t>;</a:t>
            </a:r>
          </a:p>
          <a:p>
            <a:pPr marL="0" indent="0">
              <a:lnSpc>
                <a:spcPct val="100000"/>
              </a:lnSpc>
              <a:buNone/>
            </a:pPr>
            <a:endParaRPr lang="en-US" sz="1300" dirty="0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ru-RU" sz="1300" dirty="0">
                <a:solidFill>
                  <a:schemeClr val="tx1"/>
                </a:solidFill>
              </a:rPr>
              <a:t>Идиома </a:t>
            </a:r>
            <a:r>
              <a:rPr lang="en-US" sz="1300" dirty="0">
                <a:solidFill>
                  <a:schemeClr val="tx1"/>
                </a:solidFill>
              </a:rPr>
              <a:t>copy-and-swap </a:t>
            </a:r>
            <a:r>
              <a:rPr lang="ru-RU" sz="1300" dirty="0">
                <a:solidFill>
                  <a:schemeClr val="tx1"/>
                </a:solidFill>
              </a:rPr>
              <a:t>определяет способ реализации оператора присваивания лишённого этих проблем, но в том случае, если у вас реализованы конструктор копирования и функция</a:t>
            </a:r>
            <a:r>
              <a:rPr lang="en-US" sz="1300" dirty="0">
                <a:solidFill>
                  <a:schemeClr val="tx1"/>
                </a:solidFill>
              </a:rPr>
              <a:t>/</a:t>
            </a:r>
            <a:r>
              <a:rPr lang="ru-RU" sz="1300" dirty="0">
                <a:solidFill>
                  <a:schemeClr val="tx1"/>
                </a:solidFill>
              </a:rPr>
              <a:t>метод </a:t>
            </a:r>
            <a:r>
              <a:rPr lang="en-US" sz="1300" dirty="0">
                <a:solidFill>
                  <a:schemeClr val="tx1"/>
                </a:solidFill>
              </a:rPr>
              <a:t>swap(</a:t>
            </a:r>
            <a:r>
              <a:rPr lang="ru-RU" sz="1300" dirty="0">
                <a:solidFill>
                  <a:schemeClr val="tx1"/>
                </a:solidFill>
              </a:rPr>
              <a:t>последний не всегда обязателен</a:t>
            </a:r>
            <a:r>
              <a:rPr lang="en-US" sz="1300" dirty="0">
                <a:solidFill>
                  <a:schemeClr val="tx1"/>
                </a:solidFill>
              </a:rPr>
              <a:t>);</a:t>
            </a:r>
          </a:p>
          <a:p>
            <a:pPr marL="0" indent="0">
              <a:lnSpc>
                <a:spcPct val="100000"/>
              </a:lnSpc>
              <a:buNone/>
            </a:pPr>
            <a:endParaRPr lang="en-US" sz="1300" dirty="0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ru-RU" sz="1300" dirty="0">
                <a:solidFill>
                  <a:schemeClr val="tx1"/>
                </a:solidFill>
              </a:rPr>
              <a:t>В данном примере основное тело оператора присваивания можно заменить на два действия: создание временной копии объекта который присваиваем и затем обмен текущего объекта с временной копией</a:t>
            </a:r>
            <a:r>
              <a:rPr lang="en-US" sz="1300" dirty="0">
                <a:solidFill>
                  <a:schemeClr val="tx1"/>
                </a:solidFill>
              </a:rPr>
              <a:t>;</a:t>
            </a:r>
          </a:p>
          <a:p>
            <a:pPr marL="0" indent="0">
              <a:lnSpc>
                <a:spcPct val="100000"/>
              </a:lnSpc>
              <a:buNone/>
            </a:pPr>
            <a:endParaRPr lang="en-US" sz="1300" dirty="0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ru-RU" sz="1300" dirty="0">
                <a:solidFill>
                  <a:schemeClr val="tx1"/>
                </a:solidFill>
              </a:rPr>
              <a:t>Если поменять параметр оператора присваивания с ссылки на значение, то от копирования тоже можно будет избавится (параметр-значение и так копия):</a:t>
            </a:r>
          </a:p>
          <a:p>
            <a:pPr marL="0" indent="0">
              <a:lnSpc>
                <a:spcPct val="100000"/>
              </a:lnSpc>
              <a:buNone/>
            </a:pPr>
            <a:endParaRPr lang="ru-RU" sz="1300" dirty="0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operator=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other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swap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(*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other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buNone/>
            </a:pPr>
            <a:endParaRPr lang="ru-RU" sz="1300" dirty="0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endParaRPr lang="ru-RU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54740859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rmAutofit/>
          </a:bodyPr>
          <a:lstStyle/>
          <a:p>
            <a:r>
              <a:rPr lang="ru-RU" sz="4000" dirty="0"/>
              <a:t>Оператор преобразования типа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486275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Counter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Counter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value = number;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operator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sz="14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value;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value;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Counter counter{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25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 = counter;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//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преобразуем от 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Counter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 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int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n &lt;&lt; </a:t>
            </a:r>
            <a:r>
              <a:rPr lang="en-US" sz="14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       // 25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или так</a:t>
            </a: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 {counter};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m &lt;&lt; </a:t>
            </a:r>
            <a:r>
              <a:rPr lang="en-US" sz="14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       // 25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Скругленный прямоугольник 4">
            <a:extLst>
              <a:ext uri="{FF2B5EF4-FFF2-40B4-BE49-F238E27FC236}">
                <a16:creationId xmlns:a16="http://schemas.microsoft.com/office/drawing/2014/main" id="{0B104B82-4CB7-0E87-BF9F-66B377EDF378}"/>
              </a:ext>
            </a:extLst>
          </p:cNvPr>
          <p:cNvSpPr/>
          <p:nvPr/>
        </p:nvSpPr>
        <p:spPr>
          <a:xfrm>
            <a:off x="6811765" y="1690688"/>
            <a:ext cx="4294599" cy="4319694"/>
          </a:xfrm>
          <a:prstGeom prst="roundRect">
            <a:avLst>
              <a:gd name="adj" fmla="val 1742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ru-RU" sz="1400" b="0" i="0" dirty="0">
                <a:solidFill>
                  <a:srgbClr val="000000"/>
                </a:solidFill>
                <a:effectLst/>
                <a:latin typeface="-apple-system"/>
              </a:rPr>
              <a:t>C++ позволяет определить функцию оператора преобразования из типа текущего класса в другой тип</a:t>
            </a:r>
            <a:r>
              <a:rPr lang="en-US" sz="1400" b="0" i="0" dirty="0">
                <a:solidFill>
                  <a:srgbClr val="000000"/>
                </a:solidFill>
                <a:effectLst/>
                <a:latin typeface="-apple-system"/>
              </a:rPr>
              <a:t>;</a:t>
            </a:r>
          </a:p>
          <a:p>
            <a:pPr marL="0" indent="0">
              <a:lnSpc>
                <a:spcPct val="100000"/>
              </a:lnSpc>
              <a:buNone/>
            </a:pPr>
            <a:endParaRPr lang="en-US" sz="1400" dirty="0">
              <a:solidFill>
                <a:srgbClr val="000000"/>
              </a:solidFill>
              <a:latin typeface="-apple-system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ru-RU" sz="1400" dirty="0">
                <a:solidFill>
                  <a:srgbClr val="000000"/>
                </a:solidFill>
                <a:latin typeface="-apple-system"/>
              </a:rPr>
              <a:t>Тип </a:t>
            </a:r>
            <a:r>
              <a:rPr lang="ru-RU" sz="1400" b="0" i="0" dirty="0">
                <a:solidFill>
                  <a:srgbClr val="000000"/>
                </a:solidFill>
                <a:effectLst/>
                <a:latin typeface="-apple-system"/>
              </a:rPr>
              <a:t>возвращаемого значения у оператора не указывается, поскольку целевой тип всегда подразумевается в имени функции</a:t>
            </a:r>
            <a:r>
              <a:rPr lang="en-US" sz="1400" b="0" i="0" dirty="0">
                <a:solidFill>
                  <a:srgbClr val="000000"/>
                </a:solidFill>
                <a:effectLst/>
                <a:latin typeface="-apple-system"/>
              </a:rPr>
              <a:t>;</a:t>
            </a:r>
          </a:p>
          <a:p>
            <a:pPr marL="0" indent="0">
              <a:lnSpc>
                <a:spcPct val="100000"/>
              </a:lnSpc>
              <a:buNone/>
            </a:pPr>
            <a:endParaRPr lang="en-US" sz="1400" dirty="0">
              <a:solidFill>
                <a:srgbClr val="000000"/>
              </a:solidFill>
              <a:latin typeface="-apple-system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ru-RU" sz="1400" b="0" i="0" dirty="0">
                <a:solidFill>
                  <a:srgbClr val="000000"/>
                </a:solidFill>
                <a:effectLst/>
                <a:latin typeface="-apple-system"/>
              </a:rPr>
              <a:t>В отличие от большинства операторов, операторы преобразования должны быть определены только как функции-члены класса. Их нельзя определить как обычные функции</a:t>
            </a:r>
            <a:r>
              <a:rPr lang="en-US" sz="1400" b="0" i="0" dirty="0">
                <a:solidFill>
                  <a:srgbClr val="000000"/>
                </a:solidFill>
                <a:effectLst/>
                <a:latin typeface="-apple-system"/>
              </a:rPr>
              <a:t>;</a:t>
            </a:r>
          </a:p>
          <a:p>
            <a:pPr marL="0" indent="0">
              <a:lnSpc>
                <a:spcPct val="100000"/>
              </a:lnSpc>
              <a:buNone/>
            </a:pPr>
            <a:endParaRPr lang="en-US" sz="1400" dirty="0">
              <a:solidFill>
                <a:srgbClr val="000000"/>
              </a:solidFill>
              <a:latin typeface="-apple-system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ru-RU" sz="1300" dirty="0">
                <a:solidFill>
                  <a:schemeClr val="tx1"/>
                </a:solidFill>
              </a:rPr>
              <a:t>Оператор преобразования типа будет применятся как в явных преобразованиях </a:t>
            </a:r>
            <a:r>
              <a:rPr lang="en-US" sz="1300" dirty="0" err="1">
                <a:solidFill>
                  <a:schemeClr val="tx1"/>
                </a:solidFill>
              </a:rPr>
              <a:t>static_cast</a:t>
            </a:r>
            <a:r>
              <a:rPr lang="en-US" sz="1300" dirty="0">
                <a:solidFill>
                  <a:schemeClr val="tx1"/>
                </a:solidFill>
              </a:rPr>
              <a:t> </a:t>
            </a:r>
            <a:r>
              <a:rPr lang="ru-RU" sz="1300" dirty="0">
                <a:solidFill>
                  <a:schemeClr val="tx1"/>
                </a:solidFill>
              </a:rPr>
              <a:t>или в стиле Си, так и в неявных</a:t>
            </a:r>
            <a:r>
              <a:rPr lang="en-US" sz="1300" dirty="0">
                <a:solidFill>
                  <a:schemeClr val="tx1"/>
                </a:solidFill>
              </a:rPr>
              <a:t>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ru-RU" sz="1300" dirty="0">
                <a:solidFill>
                  <a:schemeClr val="tx1"/>
                </a:solidFill>
              </a:rPr>
              <a:t>Чтобы отключить неявные преобразования можно воспользоваться ключевым словом </a:t>
            </a:r>
            <a:r>
              <a:rPr lang="en-US" sz="1300" dirty="0">
                <a:solidFill>
                  <a:schemeClr val="tx1"/>
                </a:solidFill>
              </a:rPr>
              <a:t>explicit;</a:t>
            </a:r>
          </a:p>
        </p:txBody>
      </p:sp>
    </p:spTree>
    <p:extLst>
      <p:ext uri="{BB962C8B-B14F-4D97-AF65-F5344CB8AC3E}">
        <p14:creationId xmlns:p14="http://schemas.microsoft.com/office/powerpoint/2010/main" val="1300433978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rmAutofit/>
          </a:bodyPr>
          <a:lstStyle/>
          <a:p>
            <a:r>
              <a:rPr lang="ru-RU" sz="4000" dirty="0"/>
              <a:t>Оператор круглые скобки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486275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en-US" sz="14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operator()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4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message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message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operator()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 </a:t>
            </a:r>
          </a:p>
          <a:p>
            <a:pPr marL="0" indent="0">
              <a:spcBef>
                <a:spcPts val="0"/>
              </a:spcBef>
              <a:buNone/>
            </a:pPr>
            <a:b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operator()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val1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val2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val1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", 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val2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 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//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определяем объект функции</a:t>
            </a: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sz="14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"Hello"</a:t>
            </a:r>
            <a:r>
              <a:rPr lang="en-US" sz="14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выполняем как функцию</a:t>
            </a: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sz="14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4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 //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выполняем как функцию</a:t>
            </a: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sz="14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14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//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выполняем как функцию</a:t>
            </a: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Скругленный прямоугольник 4">
            <a:extLst>
              <a:ext uri="{FF2B5EF4-FFF2-40B4-BE49-F238E27FC236}">
                <a16:creationId xmlns:a16="http://schemas.microsoft.com/office/drawing/2014/main" id="{0B104B82-4CB7-0E87-BF9F-66B377EDF378}"/>
              </a:ext>
            </a:extLst>
          </p:cNvPr>
          <p:cNvSpPr/>
          <p:nvPr/>
        </p:nvSpPr>
        <p:spPr>
          <a:xfrm>
            <a:off x="6811765" y="1530849"/>
            <a:ext cx="4294599" cy="2928135"/>
          </a:xfrm>
          <a:prstGeom prst="roundRect">
            <a:avLst>
              <a:gd name="adj" fmla="val 1742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ru-RU" sz="1300" dirty="0">
                <a:solidFill>
                  <a:schemeClr val="tx1"/>
                </a:solidFill>
              </a:rPr>
              <a:t>Этот оператор можно реализовать только как функцию-член. Он может иметь любое число параметров любого типа, тип возвращаемого значения также произвольный. Классы, с перегруженным оператором (), называются функциональными, их экземпляры называются функциональными объектами или функторами.</a:t>
            </a:r>
          </a:p>
          <a:p>
            <a:pPr marL="0" indent="0">
              <a:lnSpc>
                <a:spcPct val="100000"/>
              </a:lnSpc>
              <a:buNone/>
            </a:pPr>
            <a:endParaRPr lang="ru-RU" sz="1300" dirty="0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ru-RU" sz="1300" dirty="0">
                <a:solidFill>
                  <a:schemeClr val="tx1"/>
                </a:solidFill>
              </a:rPr>
              <a:t>Лямбда-функции это синтаксический сахар вокруг функторов, т.е. лямбды == функторы.</a:t>
            </a:r>
          </a:p>
          <a:p>
            <a:pPr marL="0" indent="0">
              <a:lnSpc>
                <a:spcPct val="100000"/>
              </a:lnSpc>
              <a:buNone/>
            </a:pPr>
            <a:endParaRPr lang="ru-RU" sz="1300" dirty="0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ru-RU" sz="1300" dirty="0">
                <a:solidFill>
                  <a:schemeClr val="tx1"/>
                </a:solidFill>
              </a:rPr>
              <a:t>Функциональный класс может иметь несколько вариантов перегрузки оператора (), с разными параметрами. Такие классы и соответствующие объекты можно назвать мультифункциональными.</a:t>
            </a:r>
          </a:p>
        </p:txBody>
      </p:sp>
    </p:spTree>
    <p:extLst>
      <p:ext uri="{BB962C8B-B14F-4D97-AF65-F5344CB8AC3E}">
        <p14:creationId xmlns:p14="http://schemas.microsoft.com/office/powerpoint/2010/main" val="2872032862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rmAutofit/>
          </a:bodyPr>
          <a:lstStyle/>
          <a:p>
            <a:r>
              <a:rPr lang="ru-RU" sz="4000" dirty="0"/>
              <a:t>Подробнее о перегрузке операторов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en-US" sz="2000" dirty="0">
                <a:solidFill>
                  <a:srgbClr val="24292F"/>
                </a:solidFill>
              </a:rPr>
              <a:t>Operator overloading</a:t>
            </a:r>
            <a:r>
              <a:rPr lang="ru-RU" sz="2000" dirty="0">
                <a:solidFill>
                  <a:srgbClr val="24292F"/>
                </a:solidFill>
              </a:rPr>
              <a:t>: </a:t>
            </a:r>
            <a:r>
              <a:rPr lang="en-US" sz="2000" dirty="0">
                <a:solidFill>
                  <a:srgbClr val="24292F"/>
                </a:solidFill>
                <a:hlinkClick r:id="rId2"/>
              </a:rPr>
              <a:t>https://en.cppreference.com/w/cpp/language/operators</a:t>
            </a:r>
            <a:endParaRPr lang="ru-RU" sz="2000" dirty="0">
              <a:solidFill>
                <a:srgbClr val="24292F"/>
              </a:solidFill>
            </a:endParaRP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ru-RU" sz="2000" dirty="0">
                <a:solidFill>
                  <a:srgbClr val="24292F"/>
                </a:solidFill>
              </a:rPr>
              <a:t>Перегрузка в C++. Часть II. Перегрузка операторов: </a:t>
            </a:r>
            <a:r>
              <a:rPr lang="en-US" sz="2000" dirty="0">
                <a:solidFill>
                  <a:srgbClr val="24292F"/>
                </a:solidFill>
                <a:hlinkClick r:id="rId3"/>
              </a:rPr>
              <a:t>https://habr.com/ru/articles/489666/</a:t>
            </a:r>
            <a:endParaRPr lang="ru-RU" sz="2000" dirty="0">
              <a:solidFill>
                <a:srgbClr val="24292F"/>
              </a:solidFill>
            </a:endParaRP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en-US" sz="2000" dirty="0">
                <a:solidFill>
                  <a:srgbClr val="24292F"/>
                </a:solidFill>
              </a:rPr>
              <a:t>What is the copy-and-swap idiom?</a:t>
            </a:r>
            <a:r>
              <a:rPr lang="ru-RU" sz="2000" dirty="0">
                <a:solidFill>
                  <a:srgbClr val="24292F"/>
                </a:solidFill>
              </a:rPr>
              <a:t> (ответ): </a:t>
            </a:r>
            <a:r>
              <a:rPr lang="en-US" sz="2000" dirty="0">
                <a:solidFill>
                  <a:srgbClr val="24292F"/>
                </a:solidFill>
                <a:hlinkClick r:id="rId4"/>
              </a:rPr>
              <a:t>https://stackoverflow.com/a/3279550</a:t>
            </a:r>
            <a:endParaRPr lang="ru-RU" sz="2000" dirty="0">
              <a:solidFill>
                <a:srgbClr val="24292F"/>
              </a:solidFill>
            </a:endParaRPr>
          </a:p>
          <a:p>
            <a:pPr>
              <a:lnSpc>
                <a:spcPct val="110000"/>
              </a:lnSpc>
              <a:spcBef>
                <a:spcPts val="0"/>
              </a:spcBef>
            </a:pPr>
            <a:endParaRPr lang="ru-RU" sz="2000" dirty="0">
              <a:solidFill>
                <a:srgbClr val="24292F"/>
              </a:solidFill>
            </a:endParaRPr>
          </a:p>
          <a:p>
            <a:pPr>
              <a:lnSpc>
                <a:spcPct val="110000"/>
              </a:lnSpc>
              <a:spcBef>
                <a:spcPts val="0"/>
              </a:spcBef>
            </a:pPr>
            <a:endParaRPr lang="ru-RU" sz="2000" dirty="0">
              <a:solidFill>
                <a:srgbClr val="24292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93189862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3233</TotalTime>
  <Words>14914</Words>
  <Application>Microsoft Office PowerPoint</Application>
  <PresentationFormat>Широкоэкранный</PresentationFormat>
  <Paragraphs>1655</Paragraphs>
  <Slides>86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86</vt:i4>
      </vt:variant>
    </vt:vector>
  </HeadingPairs>
  <TitlesOfParts>
    <vt:vector size="93" baseType="lpstr">
      <vt:lpstr>-apple-system</vt:lpstr>
      <vt:lpstr>Arial</vt:lpstr>
      <vt:lpstr>Calibri</vt:lpstr>
      <vt:lpstr>Calibri Light</vt:lpstr>
      <vt:lpstr>Consolas</vt:lpstr>
      <vt:lpstr>NeverMind Hand</vt:lpstr>
      <vt:lpstr>Тема Office</vt:lpstr>
      <vt:lpstr>Алгоритмизация и программирование</vt:lpstr>
      <vt:lpstr>Язык математиков и инженеров</vt:lpstr>
      <vt:lpstr>Язык бизнеса</vt:lpstr>
      <vt:lpstr>ООП</vt:lpstr>
      <vt:lpstr>Презентация PowerPoint</vt:lpstr>
      <vt:lpstr>Презентация PowerPoint</vt:lpstr>
      <vt:lpstr>Презентация PowerPoint</vt:lpstr>
      <vt:lpstr>Презентация PowerPoint</vt:lpstr>
      <vt:lpstr>Основные принципы ООП</vt:lpstr>
      <vt:lpstr>Поддержка ООП в С++</vt:lpstr>
      <vt:lpstr>Какие бывают поля – поля объекта</vt:lpstr>
      <vt:lpstr>Какие бывают поля – поля объекта</vt:lpstr>
      <vt:lpstr>Какие бывают поля – поля класса</vt:lpstr>
      <vt:lpstr>Какие бывают поля – поля класса</vt:lpstr>
      <vt:lpstr>Поля класса – особенности определения</vt:lpstr>
      <vt:lpstr>Какие бывают методы – методы объекта</vt:lpstr>
      <vt:lpstr>Метод объекта – вызов метода</vt:lpstr>
      <vt:lpstr>Методы объекта – доступ к другим членам класса из тела метода</vt:lpstr>
      <vt:lpstr>Методы объекта – параметры</vt:lpstr>
      <vt:lpstr>Константные методы объекта</vt:lpstr>
      <vt:lpstr>Методы объекта – доступ к другим членам класса из тела константного метода</vt:lpstr>
      <vt:lpstr>Константные объекты - Семантическая константность и синтаксическая константность</vt:lpstr>
      <vt:lpstr>mutable</vt:lpstr>
      <vt:lpstr>Методы объекта – специальные методы</vt:lpstr>
      <vt:lpstr>Какие бывают методы – методы класса</vt:lpstr>
      <vt:lpstr>Методы класса – вызов метода</vt:lpstr>
      <vt:lpstr>Доступ к другим членам класса из тела статического метода</vt:lpstr>
      <vt:lpstr>Методы класса – параметры</vt:lpstr>
      <vt:lpstr>Методы класса – способы определения</vt:lpstr>
      <vt:lpstr>Презентация PowerPoint</vt:lpstr>
      <vt:lpstr>Презентация PowerPoint</vt:lpstr>
      <vt:lpstr>Конструктор</vt:lpstr>
      <vt:lpstr>Конструктор по умолчанию</vt:lpstr>
      <vt:lpstr>Конструктор с одним параметром</vt:lpstr>
      <vt:lpstr>Делегирующий конструктор</vt:lpstr>
      <vt:lpstr>Инициализация полей</vt:lpstr>
      <vt:lpstr>Инициализация полей-констант и ссылок</vt:lpstr>
      <vt:lpstr>Инициализация полей в точке объявления</vt:lpstr>
      <vt:lpstr>Презентация PowerPoint</vt:lpstr>
      <vt:lpstr>Деструктор</vt:lpstr>
      <vt:lpstr>Презентация PowerPoint</vt:lpstr>
      <vt:lpstr>Конструктор копирования</vt:lpstr>
      <vt:lpstr>Конструктор копирования</vt:lpstr>
      <vt:lpstr>Передача объектов в функцию</vt:lpstr>
      <vt:lpstr>Возврат объекта из функции</vt:lpstr>
      <vt:lpstr>Возврат локального объекта из функции</vt:lpstr>
      <vt:lpstr>Презентация PowerPoint</vt:lpstr>
      <vt:lpstr>Конструктор перемещения</vt:lpstr>
      <vt:lpstr>Презентация PowerPoint</vt:lpstr>
      <vt:lpstr>default</vt:lpstr>
      <vt:lpstr>delete</vt:lpstr>
      <vt:lpstr>Презентация PowerPoint</vt:lpstr>
      <vt:lpstr>Спецификаторы доступа</vt:lpstr>
      <vt:lpstr>Спецификаторы доступа</vt:lpstr>
      <vt:lpstr>Ключевое слово friend - функция</vt:lpstr>
      <vt:lpstr>Ключевое слово friend - класс</vt:lpstr>
      <vt:lpstr>Вложенные (nested) классы</vt:lpstr>
      <vt:lpstr>Вложенные (nested) классы</vt:lpstr>
      <vt:lpstr>Презентация PowerPoint</vt:lpstr>
      <vt:lpstr>Неполный тип</vt:lpstr>
      <vt:lpstr>Класс использующий себя как поле</vt:lpstr>
      <vt:lpstr>Перекрёстное использование</vt:lpstr>
      <vt:lpstr>Использование в методах</vt:lpstr>
      <vt:lpstr>Удаление переменных неполного типа</vt:lpstr>
      <vt:lpstr>Презентация PowerPoint</vt:lpstr>
      <vt:lpstr>Объект в памяти</vt:lpstr>
      <vt:lpstr>Презентация PowerPoint</vt:lpstr>
      <vt:lpstr>Разделение кода класса на файлы</vt:lpstr>
      <vt:lpstr>Разделение кода класса на файлы</vt:lpstr>
      <vt:lpstr>Разделение кода класса на файлы</vt:lpstr>
      <vt:lpstr>Идиома Pimpl (Pointer to implementation)</vt:lpstr>
      <vt:lpstr>Идиома Pimpl (Pointer to implementation)</vt:lpstr>
      <vt:lpstr>Презентация PowerPoint</vt:lpstr>
      <vt:lpstr>Перегрузка операторов</vt:lpstr>
      <vt:lpstr>Перегрузка операторов – ограничения</vt:lpstr>
      <vt:lpstr>Как можно перегрузить оператор</vt:lpstr>
      <vt:lpstr>Перегрузка как свободная функция</vt:lpstr>
      <vt:lpstr>Перегрузка как функция-член</vt:lpstr>
      <vt:lpstr>Перегрузка как функция-член</vt:lpstr>
      <vt:lpstr>Способы вызова перегруженного оператора</vt:lpstr>
      <vt:lpstr>Оператор присваивания</vt:lpstr>
      <vt:lpstr>Оператор копирующего присваивания</vt:lpstr>
      <vt:lpstr>Идиома copy-and-swap</vt:lpstr>
      <vt:lpstr>Оператор преобразования типа</vt:lpstr>
      <vt:lpstr>Оператор круглые скобки</vt:lpstr>
      <vt:lpstr>Подробнее о перегрузке операторов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Professional</dc:creator>
  <cp:lastModifiedBy>Professional</cp:lastModifiedBy>
  <cp:revision>395</cp:revision>
  <dcterms:created xsi:type="dcterms:W3CDTF">2022-09-17T16:00:43Z</dcterms:created>
  <dcterms:modified xsi:type="dcterms:W3CDTF">2025-10-30T03:14:57Z</dcterms:modified>
</cp:coreProperties>
</file>