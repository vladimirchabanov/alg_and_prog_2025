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435" r:id="rId3"/>
    <p:sldId id="436" r:id="rId4"/>
    <p:sldId id="437" r:id="rId5"/>
    <p:sldId id="490" r:id="rId6"/>
    <p:sldId id="487" r:id="rId7"/>
    <p:sldId id="488" r:id="rId8"/>
    <p:sldId id="489" r:id="rId9"/>
    <p:sldId id="307" r:id="rId10"/>
    <p:sldId id="527" r:id="rId11"/>
    <p:sldId id="356" r:id="rId12"/>
    <p:sldId id="357" r:id="rId13"/>
    <p:sldId id="358" r:id="rId14"/>
    <p:sldId id="359" r:id="rId15"/>
    <p:sldId id="361" r:id="rId16"/>
    <p:sldId id="528" r:id="rId17"/>
    <p:sldId id="362" r:id="rId18"/>
    <p:sldId id="529" r:id="rId19"/>
    <p:sldId id="530" r:id="rId20"/>
    <p:sldId id="365" r:id="rId21"/>
    <p:sldId id="367" r:id="rId22"/>
    <p:sldId id="531" r:id="rId23"/>
    <p:sldId id="325" r:id="rId24"/>
    <p:sldId id="381" r:id="rId25"/>
    <p:sldId id="373" r:id="rId26"/>
    <p:sldId id="382" r:id="rId27"/>
    <p:sldId id="384" r:id="rId28"/>
    <p:sldId id="533" r:id="rId29"/>
    <p:sldId id="532" r:id="rId30"/>
    <p:sldId id="385" r:id="rId31"/>
    <p:sldId id="416" r:id="rId32"/>
    <p:sldId id="429" r:id="rId33"/>
    <p:sldId id="430" r:id="rId34"/>
    <p:sldId id="395" r:id="rId35"/>
    <p:sldId id="396" r:id="rId36"/>
    <p:sldId id="534" r:id="rId37"/>
    <p:sldId id="535" r:id="rId38"/>
    <p:sldId id="400" r:id="rId39"/>
    <p:sldId id="402" r:id="rId40"/>
    <p:sldId id="405" r:id="rId41"/>
    <p:sldId id="406" r:id="rId42"/>
    <p:sldId id="407" r:id="rId43"/>
    <p:sldId id="408" r:id="rId44"/>
    <p:sldId id="410" r:id="rId45"/>
    <p:sldId id="411" r:id="rId46"/>
    <p:sldId id="412" r:id="rId47"/>
    <p:sldId id="413" r:id="rId48"/>
    <p:sldId id="419" r:id="rId49"/>
    <p:sldId id="420" r:id="rId50"/>
    <p:sldId id="434" r:id="rId5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60" autoAdjust="0"/>
    <p:restoredTop sz="94660"/>
  </p:normalViewPr>
  <p:slideViewPr>
    <p:cSldViewPr snapToGrid="0">
      <p:cViewPr varScale="1">
        <p:scale>
          <a:sx n="86" d="100"/>
          <a:sy n="86" d="100"/>
        </p:scale>
        <p:origin x="432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A8DA07-F16D-B69B-14A0-7418829B71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4B3408F-C035-7F86-E532-B954222B04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C57AC3-650B-F8BF-09C8-C2B4DCF5D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02.11.2025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25080A7-D173-D34E-D987-E2C0D226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89F0AEA-F271-E44D-94AC-243C2E0D3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057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0891F9-3476-AFE5-6F5E-3F6F34953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018E34-1152-017B-392E-EC5AF886F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E6B264-13E2-2D5F-75D0-68AB7CE59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02.11.2025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9F410B0-1B06-0F94-EF8F-6FA03AC97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2BC443-9DF8-7811-4F50-DA0939A2C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809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BB0E42-F26B-36E2-773A-5304DE8E2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70D50AC-8755-6F61-DE6D-718C5790F6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19F538-368E-46C8-6A0B-73E271187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02.11.2025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3814CB-16AC-34F1-BD55-C50011C47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2C7843-79DC-CD5D-6D5F-64D2C2E8A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7258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42D8AA-77C9-6CF3-B23C-060CF9A58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AA2B99-F80E-BA07-D1F9-3C064028AB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52856C9-4F89-DF11-6470-C211857335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7DFBB0F-B9D7-A90B-517E-16E12B228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02.11.2025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3C37F6E-1F4C-532F-0447-20BD32FC4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EEC7790-8BEB-A53E-96DA-59A20A267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4065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49CB15-C3CC-FC8F-4267-77F81CB56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0EB9DDC-5705-3392-3A7F-B93CB61E5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0E84CF1-DE2E-70BA-ACCD-77EF4A52F9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C525FDA-E12E-5810-A164-BD0B3009F0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3155AC6-2DE0-9644-8874-5C573FD637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030CBA1-E9C4-65D8-3F54-9C4327D31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02.11.2025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F279D99-E15E-B520-A991-2EC66A292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72153C6-95A4-8AB3-96F5-7545958C5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5266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813BC6-745F-95A9-F0A9-5D3F0117D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CD8FD2A-5A7C-06F8-BA11-FEEC2B2AE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02.11.2025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D2B2300-90F1-8EE1-7A1B-9E065770B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D84C6DD-ED50-4B35-179E-27063A1D5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817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AEB7D92-DC5A-0240-10C9-26EA015DC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02.11.2025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DC8479B-E009-4084-DC5E-8C0C58FD0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A1C52AC-6679-DDE2-EAB6-B90CA53E1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4433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ED1796-E9D7-5349-C5F0-0F6219031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4F04D9-CF54-2F53-1E1D-513D11518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466DECA-58B4-D9CA-A32D-E551C29501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73B75B1-5F06-22C7-2744-E67592E6A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02.11.2025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A59913B-8E29-FDEA-AD42-E6C129E28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A6341C7-ACF3-27A9-D41E-A81E34A26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5692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12B9E6-90A4-8F78-CEE1-18AC161EB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634F4B9-4857-D367-1A7E-378A1261D3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15942A2-88A4-A456-BA8F-817EB03F4B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8534529-81F3-E5CC-F7D5-302D2CBE1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02.11.2025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3B7EC93-E8EE-A4C6-C2D9-F55147722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51F8081-862B-8E61-8D8F-DB05F660C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1343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D43101-E793-1814-4501-14D47ED3D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8BDF28E-053E-8207-289B-815750ED36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10BEA8-5DA4-8A74-2DB9-E89C620D9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02.11.2025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44EB9A-EC5F-78B3-1922-55441952E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BA7CAC-00E8-85DE-A274-DF1FD1A60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7149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3CE06E1-A559-DC12-8662-7F99C8E103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48BA418-DCB5-B785-79A6-5998ED0DE4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C71EC3E-DBBD-CD2F-8DC1-BB7902D3C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02.11.2025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0BBC658-E40F-8E05-ABE2-042431F36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F6B605-74F8-AA8D-86C6-78196C1EE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2128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CBF59-2F6E-7D92-8A20-0252AACE2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9722C2E-80F7-9376-442A-D3077DAF0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4D304D-BEEF-15F0-D934-036B464557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A991E7-4DC9-4E0A-97D8-D75A75B67893}" type="datetimeFigureOut">
              <a:rPr lang="ru-RU" smtClean="0"/>
              <a:t>02.11.2025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CDAF6ED-B9AA-6C8C-C90F-3CCDC274B8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2593123-3CF9-7A37-5654-90498C0463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5354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habr.com/ru/companies/avito/articles/743332/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7BC063-3831-522D-21D8-6B1239819E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8774" y="944237"/>
            <a:ext cx="10434452" cy="2387600"/>
          </a:xfrm>
        </p:spPr>
        <p:txBody>
          <a:bodyPr>
            <a:normAutofit/>
          </a:bodyPr>
          <a:lstStyle/>
          <a:p>
            <a:r>
              <a:rPr lang="ru-RU" sz="4800" b="1" dirty="0"/>
              <a:t>Алгоритмизация и программирование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A5FC3D9-C83F-5AC8-94FD-3ED4616559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30788"/>
            <a:ext cx="9144000" cy="1655762"/>
          </a:xfrm>
        </p:spPr>
        <p:txBody>
          <a:bodyPr>
            <a:normAutofit/>
          </a:bodyPr>
          <a:lstStyle/>
          <a:p>
            <a:r>
              <a:rPr lang="ru-RU" sz="3200" dirty="0"/>
              <a:t>Лекция 7</a:t>
            </a:r>
            <a:r>
              <a:rPr lang="en-US" sz="3200" dirty="0"/>
              <a:t> (Go)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65375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2823"/>
            <a:ext cx="10515600" cy="720000"/>
          </a:xfrm>
        </p:spPr>
        <p:txBody>
          <a:bodyPr anchor="ctr">
            <a:normAutofit/>
          </a:bodyPr>
          <a:lstStyle/>
          <a:p>
            <a:r>
              <a:rPr lang="ru-RU" sz="4000" dirty="0"/>
              <a:t>Язык математиков и инженеров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0000"/>
            <a:ext cx="10800000" cy="4860000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000" dirty="0">
                <a:latin typeface="Consolas" panose="020B0609020204030204" pitchFamily="49" charset="0"/>
              </a:rPr>
              <a:t>Процедурное программирование – последовательность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ru-RU" sz="2000" dirty="0">
                <a:latin typeface="Consolas" panose="020B0609020204030204" pitchFamily="49" charset="0"/>
              </a:rPr>
              <a:t>вызовов процедур</a:t>
            </a:r>
            <a:r>
              <a:rPr lang="en-US" sz="2000" dirty="0">
                <a:latin typeface="Consolas" panose="020B0609020204030204" pitchFamily="49" charset="0"/>
              </a:rPr>
              <a:t>/</a:t>
            </a:r>
            <a:r>
              <a:rPr lang="ru-RU" sz="2000" dirty="0">
                <a:latin typeface="Consolas" panose="020B0609020204030204" pitchFamily="49" charset="0"/>
              </a:rPr>
              <a:t>функций: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000" b="0" dirty="0">
                <a:effectLst/>
                <a:latin typeface="Consolas" panose="020B0609020204030204" pitchFamily="49" charset="0"/>
              </a:rPr>
              <a:t>Функциональное программирование – набор утверждений</a:t>
            </a:r>
            <a:r>
              <a:rPr lang="ru-RU" sz="2000" dirty="0">
                <a:latin typeface="Consolas" panose="020B0609020204030204" pitchFamily="49" charset="0"/>
              </a:rPr>
              <a:t>: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sz="2000" b="0" dirty="0"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factorial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B76B01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B76B01"/>
                </a:solidFill>
                <a:effectLst/>
                <a:latin typeface="Consolas" panose="020B0609020204030204" pitchFamily="49" charset="0"/>
              </a:rPr>
              <a:t>Integer</a:t>
            </a:r>
            <a:endParaRPr lang="ru-RU" altLang="ru-RU" sz="2000" dirty="0">
              <a:solidFill>
                <a:srgbClr val="0F1115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factorial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Consolas" panose="020B0609020204030204" pitchFamily="49" charset="0"/>
              </a:rPr>
              <a:t>1</a:t>
            </a:r>
            <a:endParaRPr lang="ru-RU" altLang="ru-RU" sz="2000" dirty="0">
              <a:solidFill>
                <a:srgbClr val="0F1115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factorial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 n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 n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factorial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n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ru-RU" altLang="ru-RU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000" b="0" dirty="0">
              <a:effectLst/>
              <a:latin typeface="Consolas" panose="020B0609020204030204" pitchFamily="49" charset="0"/>
            </a:endParaRP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709815C6-305C-4EB5-AF83-FE61427649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490" b="24601"/>
          <a:stretch/>
        </p:blipFill>
        <p:spPr bwMode="auto">
          <a:xfrm>
            <a:off x="981075" y="1850743"/>
            <a:ext cx="10315575" cy="2426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4744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2823"/>
            <a:ext cx="10515600" cy="720000"/>
          </a:xfrm>
        </p:spPr>
        <p:txBody>
          <a:bodyPr anchor="ctr">
            <a:normAutofit/>
          </a:bodyPr>
          <a:lstStyle/>
          <a:p>
            <a:r>
              <a:rPr lang="ru-RU" sz="4000" dirty="0"/>
              <a:t>Язык бизнеса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0000"/>
            <a:ext cx="10800000" cy="4860000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b="1" dirty="0">
              <a:solidFill>
                <a:srgbClr val="0F1115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600" b="1" i="0" dirty="0"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Клиент открывает депозитный счёт с начальной суммой 1000 рублей</a:t>
            </a:r>
            <a:r>
              <a:rPr lang="en-US" sz="1600" b="1" dirty="0">
                <a:solidFill>
                  <a:srgbClr val="0F1115"/>
                </a:solidFill>
                <a:latin typeface="Consolas" panose="020B0609020204030204" pitchFamily="49" charset="0"/>
              </a:rPr>
              <a:t>:</a:t>
            </a:r>
            <a:endParaRPr lang="ru-RU" sz="1600" dirty="0">
              <a:solidFill>
                <a:srgbClr val="0F1115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initial_amount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1000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open_deposit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client_id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initial_amount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процедурный стиль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client.open_deposit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initial_amount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  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ООП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F1115"/>
                </a:solidFill>
                <a:latin typeface="Consolas" panose="020B0609020204030204" pitchFamily="49" charset="0"/>
              </a:rPr>
              <a:t>Клиент (</a:t>
            </a:r>
            <a:r>
              <a:rPr lang="en-US" sz="1600" b="1" dirty="0" err="1">
                <a:solidFill>
                  <a:srgbClr val="0F1115"/>
                </a:solidFill>
                <a:latin typeface="Consolas" panose="020B0609020204030204" pitchFamily="49" charset="0"/>
              </a:rPr>
              <a:t>alex</a:t>
            </a:r>
            <a:r>
              <a:rPr lang="ru-RU" sz="1600" b="1" dirty="0">
                <a:solidFill>
                  <a:srgbClr val="0F1115"/>
                </a:solidFill>
                <a:latin typeface="Consolas" panose="020B0609020204030204" pitchFamily="49" charset="0"/>
              </a:rPr>
              <a:t>)</a:t>
            </a:r>
            <a:r>
              <a:rPr lang="en-US" sz="1600" b="1" dirty="0">
                <a:solidFill>
                  <a:srgbClr val="0F1115"/>
                </a:solidFill>
                <a:latin typeface="Consolas" panose="020B0609020204030204" pitchFamily="49" charset="0"/>
              </a:rPr>
              <a:t> </a:t>
            </a:r>
            <a:r>
              <a:rPr lang="ru-RU" sz="1600" b="1" dirty="0">
                <a:solidFill>
                  <a:srgbClr val="0F1115"/>
                </a:solidFill>
                <a:latin typeface="Consolas" panose="020B0609020204030204" pitchFamily="49" charset="0"/>
              </a:rPr>
              <a:t>п</a:t>
            </a:r>
            <a:r>
              <a:rPr lang="ru-RU" sz="1600" b="1" dirty="0"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ереводит клиенту (</a:t>
            </a:r>
            <a:r>
              <a:rPr lang="en-US" sz="1600" b="1" dirty="0"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anna</a:t>
            </a:r>
            <a:r>
              <a:rPr lang="ru-RU" sz="1600" b="1" dirty="0"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600" b="1" dirty="0"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 500 </a:t>
            </a:r>
            <a:r>
              <a:rPr lang="ru-RU" sz="1600" b="1" dirty="0"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рублей</a:t>
            </a:r>
            <a:r>
              <a:rPr lang="en-US" sz="1600" b="1" dirty="0"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:</a:t>
            </a:r>
            <a:endParaRPr lang="ru-RU" sz="1600" b="1" dirty="0">
              <a:solidFill>
                <a:srgbClr val="0F1115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transfer_money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alex_id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anna_id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процедурный стиль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alex.transfer_to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(anna,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          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ООП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F1115"/>
                </a:solidFill>
                <a:latin typeface="Consolas" panose="020B0609020204030204" pitchFamily="49" charset="0"/>
              </a:rPr>
              <a:t>Если клиенту разрешён перевод в размере 1000 рублей, то ...</a:t>
            </a:r>
            <a:r>
              <a:rPr lang="en-US" sz="1600" b="1" dirty="0"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:</a:t>
            </a:r>
            <a:endParaRPr lang="ru-RU" sz="1600" b="1" dirty="0">
              <a:solidFill>
                <a:srgbClr val="0F1115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get_transaction_status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(transaction(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client_id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10000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"RUB"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== ALLOWED {...}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процедурный 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client.transaction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10000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"RUB"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is_allowed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{...}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ООП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1181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2823"/>
            <a:ext cx="10515600" cy="720000"/>
          </a:xfrm>
        </p:spPr>
        <p:txBody>
          <a:bodyPr anchor="ctr">
            <a:normAutofit/>
          </a:bodyPr>
          <a:lstStyle/>
          <a:p>
            <a:r>
              <a:rPr lang="ru-RU" sz="4000" dirty="0"/>
              <a:t>ООП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0000"/>
            <a:ext cx="10800000" cy="4860000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sz="1800" dirty="0">
              <a:solidFill>
                <a:srgbClr val="0F1115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sz="1800" dirty="0">
              <a:solidFill>
                <a:srgbClr val="0F1115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800" dirty="0">
                <a:solidFill>
                  <a:srgbClr val="0F1115"/>
                </a:solidFill>
                <a:latin typeface="Consolas" panose="020B0609020204030204" pitchFamily="49" charset="0"/>
              </a:rPr>
              <a:t>Как видно, теперь вместо данных простых типов </a:t>
            </a: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</a:rPr>
              <a:t>int</a:t>
            </a:r>
            <a:r>
              <a:rPr lang="ru-RU" sz="1800" dirty="0">
                <a:solidFill>
                  <a:srgbClr val="0F1115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</a:rPr>
              <a:t>float64</a:t>
            </a:r>
            <a:r>
              <a:rPr lang="en-US" sz="1800" dirty="0">
                <a:solidFill>
                  <a:srgbClr val="0F1115"/>
                </a:solidFill>
                <a:latin typeface="Consolas" panose="020B0609020204030204" pitchFamily="49" charset="0"/>
              </a:rPr>
              <a:t> </a:t>
            </a:r>
            <a:r>
              <a:rPr lang="ru-RU" sz="1800" dirty="0">
                <a:solidFill>
                  <a:srgbClr val="0F1115"/>
                </a:solidFill>
                <a:latin typeface="Consolas" panose="020B0609020204030204" pitchFamily="49" charset="0"/>
              </a:rPr>
              <a:t>и </a:t>
            </a:r>
            <a:r>
              <a:rPr lang="ru-RU" sz="1800" dirty="0" err="1">
                <a:solidFill>
                  <a:srgbClr val="0F1115"/>
                </a:solidFill>
                <a:latin typeface="Consolas" panose="020B0609020204030204" pitchFamily="49" charset="0"/>
              </a:rPr>
              <a:t>т.д</a:t>
            </a:r>
            <a:r>
              <a:rPr lang="ru-RU" sz="1800" dirty="0">
                <a:solidFill>
                  <a:srgbClr val="0F1115"/>
                </a:solidFill>
                <a:latin typeface="Consolas" panose="020B0609020204030204" pitchFamily="49" charset="0"/>
              </a:rPr>
              <a:t> и функций оперирующих этими данными мы хотим использовать программные сущности </a:t>
            </a: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</a:rPr>
              <a:t>client</a:t>
            </a:r>
            <a:r>
              <a:rPr lang="ru-RU" sz="1800" dirty="0">
                <a:solidFill>
                  <a:srgbClr val="0F1115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</a:rPr>
              <a:t>bank</a:t>
            </a:r>
            <a:r>
              <a:rPr lang="ru-RU" sz="1800" dirty="0">
                <a:solidFill>
                  <a:srgbClr val="0F1115"/>
                </a:solidFill>
                <a:latin typeface="Consolas" panose="020B0609020204030204" pitchFamily="49" charset="0"/>
              </a:rPr>
              <a:t> и т.д. которые</a:t>
            </a:r>
            <a:r>
              <a:rPr lang="en-US" sz="1800" dirty="0">
                <a:solidFill>
                  <a:srgbClr val="0F1115"/>
                </a:solidFill>
                <a:latin typeface="Consolas" panose="020B0609020204030204" pitchFamily="49" charset="0"/>
              </a:rPr>
              <a:t> </a:t>
            </a:r>
            <a:r>
              <a:rPr lang="ru-RU" sz="1800" dirty="0">
                <a:solidFill>
                  <a:srgbClr val="0F1115"/>
                </a:solidFill>
                <a:latin typeface="Consolas" panose="020B0609020204030204" pitchFamily="49" charset="0"/>
              </a:rPr>
              <a:t>обладают некоторым собственным набором операций (поведение) и обладают всей необходимой информацией, для осуществления этих операций (состояние).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sz="1800" dirty="0">
              <a:solidFill>
                <a:srgbClr val="0F1115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800" dirty="0">
                <a:solidFill>
                  <a:srgbClr val="0F1115"/>
                </a:solidFill>
                <a:latin typeface="Consolas" panose="020B0609020204030204" pitchFamily="49" charset="0"/>
              </a:rPr>
              <a:t>Такую программную сущность будем называть </a:t>
            </a:r>
            <a:r>
              <a:rPr lang="ru-RU" sz="1800" b="1" dirty="0">
                <a:solidFill>
                  <a:srgbClr val="0F1115"/>
                </a:solidFill>
                <a:latin typeface="Consolas" panose="020B0609020204030204" pitchFamily="49" charset="0"/>
              </a:rPr>
              <a:t>объектом</a:t>
            </a:r>
            <a:r>
              <a:rPr lang="ru-RU" sz="1800" dirty="0">
                <a:solidFill>
                  <a:srgbClr val="0F1115"/>
                </a:solidFill>
                <a:latin typeface="Consolas" panose="020B0609020204030204" pitchFamily="49" charset="0"/>
              </a:rPr>
              <a:t>, а тип данных, который описывает объект будем называть </a:t>
            </a:r>
            <a:r>
              <a:rPr lang="ru-RU" sz="1800" b="1" dirty="0">
                <a:solidFill>
                  <a:srgbClr val="0F1115"/>
                </a:solidFill>
                <a:latin typeface="Consolas" panose="020B0609020204030204" pitchFamily="49" charset="0"/>
              </a:rPr>
              <a:t>классом</a:t>
            </a:r>
            <a:r>
              <a:rPr lang="ru-RU" sz="1800" dirty="0">
                <a:solidFill>
                  <a:srgbClr val="0F1115"/>
                </a:solidFill>
                <a:latin typeface="Consolas" panose="020B0609020204030204" pitchFamily="49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800" dirty="0"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Стиль программирования, при котором </a:t>
            </a:r>
            <a:r>
              <a:rPr lang="ru-RU" sz="1800" dirty="0">
                <a:solidFill>
                  <a:srgbClr val="0F1115"/>
                </a:solidFill>
                <a:latin typeface="Consolas" panose="020B0609020204030204" pitchFamily="49" charset="0"/>
              </a:rPr>
              <a:t>код состоит из взаимодействующих друг с другом объектов будем называть объектно-ориентированным стилем программирования.</a:t>
            </a:r>
            <a:endParaRPr lang="ru-RU" sz="1800" dirty="0">
              <a:solidFill>
                <a:srgbClr val="0F1115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6917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KRON\Desktop\82538408_baca37836799c0f28904a305baab7a7c_8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3813" y="1196635"/>
            <a:ext cx="7104375" cy="5226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DAE0F068-B1C8-4639-A851-BF375D1F9B0D}"/>
              </a:ext>
            </a:extLst>
          </p:cNvPr>
          <p:cNvSpPr txBox="1">
            <a:spLocks/>
          </p:cNvSpPr>
          <p:nvPr/>
        </p:nvSpPr>
        <p:spPr>
          <a:xfrm>
            <a:off x="838200" y="342823"/>
            <a:ext cx="10515600" cy="720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Класс</a:t>
            </a:r>
          </a:p>
        </p:txBody>
      </p:sp>
    </p:spTree>
    <p:extLst>
      <p:ext uri="{BB962C8B-B14F-4D97-AF65-F5344CB8AC3E}">
        <p14:creationId xmlns:p14="http://schemas.microsoft.com/office/powerpoint/2010/main" val="4111712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KRON\Desktop\88381012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6000" y="1097250"/>
            <a:ext cx="864000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591941E9-FD0A-4B05-990A-67CC7735C44A}"/>
              </a:ext>
            </a:extLst>
          </p:cNvPr>
          <p:cNvSpPr txBox="1">
            <a:spLocks/>
          </p:cNvSpPr>
          <p:nvPr/>
        </p:nvSpPr>
        <p:spPr>
          <a:xfrm>
            <a:off x="838200" y="342823"/>
            <a:ext cx="10515600" cy="720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Объекта класса Кот</a:t>
            </a:r>
          </a:p>
        </p:txBody>
      </p:sp>
    </p:spTree>
    <p:extLst>
      <p:ext uri="{BB962C8B-B14F-4D97-AF65-F5344CB8AC3E}">
        <p14:creationId xmlns:p14="http://schemas.microsoft.com/office/powerpoint/2010/main" val="335520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KRON\Desktop\KFpm7jJ655ErYIh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4169" y="1107427"/>
            <a:ext cx="8403663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8D5E36EF-786A-4F89-8683-CC3C4FEB3B97}"/>
              </a:ext>
            </a:extLst>
          </p:cNvPr>
          <p:cNvSpPr txBox="1">
            <a:spLocks/>
          </p:cNvSpPr>
          <p:nvPr/>
        </p:nvSpPr>
        <p:spPr>
          <a:xfrm>
            <a:off x="838200" y="342823"/>
            <a:ext cx="10515600" cy="720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Объекта класса Кот</a:t>
            </a:r>
          </a:p>
        </p:txBody>
      </p:sp>
    </p:spTree>
    <p:extLst>
      <p:ext uri="{BB962C8B-B14F-4D97-AF65-F5344CB8AC3E}">
        <p14:creationId xmlns:p14="http://schemas.microsoft.com/office/powerpoint/2010/main" val="2586406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KRON\Desktop\luxfon.com_2875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6000" y="1126328"/>
            <a:ext cx="864000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33177B32-3463-46B7-8762-436E40516EB7}"/>
              </a:ext>
            </a:extLst>
          </p:cNvPr>
          <p:cNvSpPr txBox="1">
            <a:spLocks/>
          </p:cNvSpPr>
          <p:nvPr/>
        </p:nvSpPr>
        <p:spPr>
          <a:xfrm>
            <a:off x="838200" y="342823"/>
            <a:ext cx="10515600" cy="720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Объекта класса Кот</a:t>
            </a:r>
          </a:p>
        </p:txBody>
      </p:sp>
    </p:spTree>
    <p:extLst>
      <p:ext uri="{BB962C8B-B14F-4D97-AF65-F5344CB8AC3E}">
        <p14:creationId xmlns:p14="http://schemas.microsoft.com/office/powerpoint/2010/main" val="2148515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Объект 18">
            <a:extLst>
              <a:ext uri="{FF2B5EF4-FFF2-40B4-BE49-F238E27FC236}">
                <a16:creationId xmlns:a16="http://schemas.microsoft.com/office/drawing/2014/main" id="{67034ED1-B87B-F9B8-2679-E793E00CE2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1203" y="3139575"/>
            <a:ext cx="5184876" cy="3359588"/>
          </a:xfr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32272DE2-219D-437E-8C52-39198D38F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2823"/>
            <a:ext cx="10515600" cy="720000"/>
          </a:xfrm>
        </p:spPr>
        <p:txBody>
          <a:bodyPr anchor="ctr">
            <a:normAutofit/>
          </a:bodyPr>
          <a:lstStyle/>
          <a:p>
            <a:r>
              <a:rPr lang="ru-RU" sz="4000" dirty="0"/>
              <a:t>Основные принципы ООП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49DFF854-074E-4067-B232-0105CC8BDC89}"/>
              </a:ext>
            </a:extLst>
          </p:cNvPr>
          <p:cNvSpPr txBox="1">
            <a:spLocks/>
          </p:cNvSpPr>
          <p:nvPr/>
        </p:nvSpPr>
        <p:spPr>
          <a:xfrm>
            <a:off x="838200" y="1440000"/>
            <a:ext cx="10800000" cy="4860000"/>
          </a:xfrm>
          <a:prstGeom prst="rect">
            <a:avLst/>
          </a:prstGeom>
        </p:spPr>
        <p:txBody>
          <a:bodyPr vert="horz" lIns="14400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0F1115"/>
                </a:solidFill>
                <a:latin typeface="Consolas" panose="020B0609020204030204" pitchFamily="49" charset="0"/>
              </a:rPr>
              <a:t>ООП – это набор идей и реализация этих идей в разных языках программирования отличается в соответствии с идеологией и возможностями самого языка. Несмотря на это, существует набор принципов которые должен поддерживать язык, чтобы называться ООП языком.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600" dirty="0">
                <a:solidFill>
                  <a:srgbClr val="0F1115"/>
                </a:solidFill>
                <a:latin typeface="Consolas" panose="020B0609020204030204" pitchFamily="49" charset="0"/>
              </a:rPr>
              <a:t>В зависимости от источников, основные принципы ООП отличаются как по количеству, так и по составу, но обычно выделяют 3 основных принципа (часто сюда добавляют ещё абстракцию):</a:t>
            </a:r>
          </a:p>
        </p:txBody>
      </p:sp>
    </p:spTree>
    <p:extLst>
      <p:ext uri="{BB962C8B-B14F-4D97-AF65-F5344CB8AC3E}">
        <p14:creationId xmlns:p14="http://schemas.microsoft.com/office/powerpoint/2010/main" val="4120539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32272DE2-219D-437E-8C52-39198D38F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2823"/>
            <a:ext cx="10515600" cy="720000"/>
          </a:xfrm>
        </p:spPr>
        <p:txBody>
          <a:bodyPr anchor="ctr">
            <a:normAutofit/>
          </a:bodyPr>
          <a:lstStyle/>
          <a:p>
            <a:r>
              <a:rPr lang="ru-RU" sz="4000" dirty="0"/>
              <a:t>Поддержка ООП в </a:t>
            </a:r>
            <a:r>
              <a:rPr lang="en-US" sz="4000" dirty="0"/>
              <a:t>Go</a:t>
            </a:r>
            <a:endParaRPr lang="ru-RU" sz="4000" dirty="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49DFF854-074E-4067-B232-0105CC8BDC89}"/>
              </a:ext>
            </a:extLst>
          </p:cNvPr>
          <p:cNvSpPr txBox="1">
            <a:spLocks/>
          </p:cNvSpPr>
          <p:nvPr/>
        </p:nvSpPr>
        <p:spPr>
          <a:xfrm>
            <a:off x="838200" y="1440000"/>
            <a:ext cx="10800000" cy="4860000"/>
          </a:xfrm>
          <a:prstGeom prst="rect">
            <a:avLst/>
          </a:prstGeom>
        </p:spPr>
        <p:txBody>
          <a:bodyPr vert="horz" lIns="14400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500" dirty="0">
                <a:solidFill>
                  <a:srgbClr val="000000"/>
                </a:solidFill>
                <a:latin typeface="Consolas" panose="020B0609020204030204" pitchFamily="49" charset="0"/>
              </a:rPr>
              <a:t>По формальным признакам Go не является объектно-ориентированным языком (как Java или C++), т.к. не поддерживает некоторые принципы ООП в их классическом понимании. Несмотря на это,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sz="1500" dirty="0">
                <a:solidFill>
                  <a:srgbClr val="000000"/>
                </a:solidFill>
                <a:latin typeface="Consolas" panose="020B0609020204030204" pitchFamily="49" charset="0"/>
              </a:rPr>
              <a:t>в 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Go </a:t>
            </a:r>
            <a:r>
              <a:rPr lang="ru-RU" sz="1500" dirty="0">
                <a:solidFill>
                  <a:srgbClr val="000000"/>
                </a:solidFill>
                <a:latin typeface="Consolas" panose="020B0609020204030204" pitchFamily="49" charset="0"/>
              </a:rPr>
              <a:t>присутствует всё необходимое, чтобы писать код в ООП стиле.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500" dirty="0">
                <a:solidFill>
                  <a:srgbClr val="000000"/>
                </a:solidFill>
                <a:latin typeface="Consolas" panose="020B0609020204030204" pitchFamily="49" charset="0"/>
              </a:rPr>
              <a:t>В Go структуры используются для определения типов данных, которые могут содержать поля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sz="1500" dirty="0">
                <a:solidFill>
                  <a:srgbClr val="000000"/>
                </a:solidFill>
                <a:latin typeface="Consolas" panose="020B0609020204030204" pitchFamily="49" charset="0"/>
              </a:rPr>
              <a:t>и к структурам можно привязывать методы: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ru-RU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Cat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ru-RU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Метод для структуры </a:t>
            </a:r>
            <a:r>
              <a:rPr 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Cat</a:t>
            </a: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5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(c Cat) 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SayHello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indent="0"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Мур"</a:t>
            </a:r>
            <a:r>
              <a:rPr lang="ru-RU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ru-RU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500" dirty="0">
                <a:solidFill>
                  <a:srgbClr val="000000"/>
                </a:solidFill>
                <a:latin typeface="Consolas" panose="020B0609020204030204" pitchFamily="49" charset="0"/>
              </a:rPr>
              <a:t>Состояние объекта при этом описывается при помощи полей структуры, а поведение реализуется при помощи методов.</a:t>
            </a: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6515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 anchor="ctr">
            <a:normAutofit/>
          </a:bodyPr>
          <a:lstStyle/>
          <a:p>
            <a:r>
              <a:rPr lang="ru-RU" sz="4000" dirty="0"/>
              <a:t>Какие бывают поля</a:t>
            </a:r>
            <a:r>
              <a:rPr lang="en-US" sz="4000" dirty="0"/>
              <a:t> – </a:t>
            </a:r>
            <a:r>
              <a:rPr lang="ru-RU" sz="4000" dirty="0"/>
              <a:t>поля объекта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9999"/>
            <a:ext cx="10800000" cy="4860000"/>
          </a:xfrm>
        </p:spPr>
        <p:txBody>
          <a:bodyPr lIns="144000">
            <a:noAutofit/>
          </a:bodyPr>
          <a:lstStyle/>
          <a:p>
            <a:pPr marL="0" indent="0">
              <a:buNone/>
            </a:pPr>
            <a:endParaRPr lang="en-US" sz="18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8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Point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x1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Поле-значение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x2 *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Поле-указатель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Address  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Анонимное поле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OnTemperatureChange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float64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Поле-функция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600"/>
              </a:spcBef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Тип данных может быть любым, не только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. Константных полей не бывает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93424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 anchor="t">
            <a:normAutofit/>
          </a:bodyPr>
          <a:lstStyle/>
          <a:p>
            <a:r>
              <a:rPr lang="ru-RU" sz="4000" dirty="0"/>
              <a:t>Какие бывают поля</a:t>
            </a:r>
            <a:r>
              <a:rPr lang="en-US" sz="4000" dirty="0"/>
              <a:t> – </a:t>
            </a:r>
            <a:r>
              <a:rPr lang="ru-RU" sz="4000" dirty="0"/>
              <a:t>поля объекта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0000"/>
            <a:ext cx="10800000" cy="4860000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fmt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Point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x, y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p1, p2 = Point{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 Point{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fmt.Printf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"p1: [%d, %d]\n"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p1.x, p1.y)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fmt.Printf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"p2: [%d, %d]\n"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p2.x, p2.y)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Скругленный прямоугольник 4">
            <a:extLst>
              <a:ext uri="{FF2B5EF4-FFF2-40B4-BE49-F238E27FC236}">
                <a16:creationId xmlns:a16="http://schemas.microsoft.com/office/drawing/2014/main" id="{A2EF0BCA-1563-EF9D-4730-AFCFB02C641B}"/>
              </a:ext>
            </a:extLst>
          </p:cNvPr>
          <p:cNvSpPr/>
          <p:nvPr/>
        </p:nvSpPr>
        <p:spPr>
          <a:xfrm>
            <a:off x="7408719" y="1825625"/>
            <a:ext cx="3945082" cy="2164484"/>
          </a:xfrm>
          <a:prstGeom prst="roundRect">
            <a:avLst>
              <a:gd name="adj" fmla="val 5145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dirty="0"/>
              <a:t>Каждый </a:t>
            </a:r>
            <a:r>
              <a:rPr lang="ru-RU" b="1" dirty="0"/>
              <a:t>объект</a:t>
            </a:r>
            <a:r>
              <a:rPr lang="ru-RU" dirty="0"/>
              <a:t> имеет собственный, не зависящий от других, набор полей объекта</a:t>
            </a:r>
            <a:r>
              <a:rPr lang="en-US" dirty="0"/>
              <a:t>;</a:t>
            </a:r>
            <a:endParaRPr lang="ru-RU" dirty="0"/>
          </a:p>
          <a:p>
            <a:endParaRPr lang="ru-RU" dirty="0"/>
          </a:p>
          <a:p>
            <a:r>
              <a:rPr lang="ru-RU" dirty="0"/>
              <a:t>Доступ к полям объекта происходит через точечную нотацию с указанием нужного </a:t>
            </a:r>
            <a:r>
              <a:rPr lang="ru-RU" b="1" dirty="0"/>
              <a:t>объекта</a:t>
            </a:r>
            <a:r>
              <a:rPr lang="en-US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383214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 anchor="t">
            <a:normAutofit/>
          </a:bodyPr>
          <a:lstStyle/>
          <a:p>
            <a:r>
              <a:rPr lang="ru-RU" sz="4000" dirty="0"/>
              <a:t>Какие бывают поля</a:t>
            </a:r>
            <a:r>
              <a:rPr lang="en-US" sz="4000" dirty="0"/>
              <a:t> – </a:t>
            </a:r>
            <a:r>
              <a:rPr lang="ru-RU" sz="4000" dirty="0"/>
              <a:t>поля "класса"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0000"/>
            <a:ext cx="10800000" cy="4860000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800" b="0" dirty="0">
                <a:effectLst/>
                <a:latin typeface="Consolas" panose="020B0609020204030204" pitchFamily="49" charset="0"/>
              </a:rPr>
              <a:t>Аналогов полей класса (</a:t>
            </a:r>
            <a:r>
              <a:rPr lang="en-US" sz="1800" dirty="0">
                <a:latin typeface="Consolas" panose="020B0609020204030204" pitchFamily="49" charset="0"/>
              </a:rPr>
              <a:t>static </a:t>
            </a:r>
            <a:r>
              <a:rPr lang="ru-RU" sz="1800" dirty="0">
                <a:latin typeface="Consolas" panose="020B0609020204030204" pitchFamily="49" charset="0"/>
              </a:rPr>
              <a:t>полей </a:t>
            </a:r>
            <a:r>
              <a:rPr lang="ru-RU" sz="1800" b="0" dirty="0">
                <a:effectLst/>
                <a:latin typeface="Consolas" panose="020B0609020204030204" pitchFamily="49" charset="0"/>
              </a:rPr>
              <a:t>как в С++) в </a:t>
            </a:r>
            <a:r>
              <a:rPr lang="en-US" sz="1800" b="0" dirty="0">
                <a:effectLst/>
                <a:latin typeface="Consolas" panose="020B0609020204030204" pitchFamily="49" charset="0"/>
              </a:rPr>
              <a:t>Go </a:t>
            </a:r>
            <a:r>
              <a:rPr lang="ru-RU" sz="1800" b="0" dirty="0">
                <a:effectLst/>
                <a:latin typeface="Consolas" panose="020B0609020204030204" pitchFamily="49" charset="0"/>
              </a:rPr>
              <a:t>нет, поэтому далее будем говорить просто "поле" подразумевая обычное поле структуры.</a:t>
            </a:r>
            <a:endParaRPr lang="en-US" sz="1800" dirty="0">
              <a:latin typeface="Consolas" panose="020B0609020204030204" pitchFamily="49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800" dirty="0">
                <a:latin typeface="Consolas" panose="020B0609020204030204" pitchFamily="49" charset="0"/>
              </a:rPr>
              <a:t>Если очень хочется, то можно вынести класс в отдельный пакет и воспользоваться переменными/константами уровня пакета:</a:t>
            </a:r>
          </a:p>
          <a:p>
            <a:pPr marL="0" indent="0">
              <a:spcBef>
                <a:spcPts val="600"/>
              </a:spcBef>
              <a:buNone/>
            </a:pPr>
            <a:endParaRPr lang="ru-RU" sz="18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company</a:t>
            </a:r>
          </a:p>
          <a:p>
            <a:pPr marL="0" indent="0">
              <a:spcBef>
                <a:spcPts val="600"/>
              </a:spcBef>
              <a:buNone/>
            </a:pP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Общее для всех экземпляров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Name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TechCorp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EmployeeCount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Employee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name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поле экземпляра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id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поле экземпляра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600"/>
              </a:spcBef>
              <a:buNone/>
            </a:pP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50952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Какие бывают поля</a:t>
            </a:r>
            <a:r>
              <a:rPr lang="en-US" sz="4000" dirty="0"/>
              <a:t> – </a:t>
            </a:r>
            <a:r>
              <a:rPr lang="ru-RU" sz="4000" dirty="0"/>
              <a:t>"поля класса</a:t>
            </a:r>
            <a:r>
              <a:rPr lang="en-US" sz="4000" dirty="0"/>
              <a:t>"</a:t>
            </a:r>
            <a:endParaRPr lang="ru-RU" sz="4000" dirty="0"/>
          </a:p>
        </p:txBody>
      </p:sp>
      <p:sp>
        <p:nvSpPr>
          <p:cNvPr id="4" name="Скругленный прямоугольник 4">
            <a:extLst>
              <a:ext uri="{FF2B5EF4-FFF2-40B4-BE49-F238E27FC236}">
                <a16:creationId xmlns:a16="http://schemas.microsoft.com/office/drawing/2014/main" id="{A2EF0BCA-1563-EF9D-4730-AFCFB02C641B}"/>
              </a:ext>
            </a:extLst>
          </p:cNvPr>
          <p:cNvSpPr/>
          <p:nvPr/>
        </p:nvSpPr>
        <p:spPr>
          <a:xfrm>
            <a:off x="8001591" y="1884551"/>
            <a:ext cx="3684887" cy="1550019"/>
          </a:xfrm>
          <a:prstGeom prst="roundRect">
            <a:avLst>
              <a:gd name="adj" fmla="val 5145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Доступ к переменным/константам уровня пакета происходит при помощи точечной нотации с указанием названия пакета.</a:t>
            </a:r>
          </a:p>
          <a:p>
            <a:r>
              <a:rPr lang="ru-RU" sz="1400" dirty="0"/>
              <a:t>Доступ возможен, если идентификатор экспортируем, т.е. начинается с заглавной буквы.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1417F2E-ACCD-417C-AC42-9650245CBA5C}"/>
              </a:ext>
            </a:extLst>
          </p:cNvPr>
          <p:cNvSpPr/>
          <p:nvPr/>
        </p:nvSpPr>
        <p:spPr>
          <a:xfrm>
            <a:off x="838200" y="1382751"/>
            <a:ext cx="7002967" cy="26879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r"/>
            <a:r>
              <a:rPr lang="ru-RU" sz="1000" dirty="0">
                <a:solidFill>
                  <a:schemeClr val="tx1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chemeClr val="tx1"/>
                </a:solidFill>
                <a:latin typeface="Consolas" panose="020B0609020204030204" pitchFamily="49" charset="0"/>
              </a:rPr>
              <a:t>./</a:t>
            </a:r>
            <a:r>
              <a:rPr lang="en-US" sz="10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company/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company.go</a:t>
            </a:r>
            <a:r>
              <a:rPr lang="ru-RU" sz="10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000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endParaRPr lang="en-US" sz="10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company</a:t>
            </a:r>
          </a:p>
          <a:p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Общее для всех экземпляров</a:t>
            </a:r>
            <a:endParaRPr lang="ru-RU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Name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TechCorp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EmployeeCount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Employee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name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поле экземпляра</a:t>
            </a:r>
            <a:endParaRPr lang="ru-RU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id  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US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поле экземпляра</a:t>
            </a:r>
            <a:endParaRPr lang="ru-RU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ru-RU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NewEmployee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(name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*Employee {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EmployeeCount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 </a:t>
            </a:r>
            <a:r>
              <a:rPr lang="en-US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модифицируем "статическое поле"</a:t>
            </a:r>
            <a:endParaRPr lang="ru-RU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&amp;Employee{name: name, id: 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EmployeeCount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ru-RU" sz="100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2123445-2B92-4AC7-97D7-4A69848A21A1}"/>
              </a:ext>
            </a:extLst>
          </p:cNvPr>
          <p:cNvSpPr/>
          <p:nvPr/>
        </p:nvSpPr>
        <p:spPr>
          <a:xfrm>
            <a:off x="838200" y="4170554"/>
            <a:ext cx="8919117" cy="23301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r"/>
            <a:r>
              <a:rPr lang="ru-RU" sz="1050" dirty="0">
                <a:solidFill>
                  <a:schemeClr val="tx1"/>
                </a:solidFill>
                <a:latin typeface="Consolas" panose="020B0609020204030204" pitchFamily="49" charset="0"/>
              </a:rPr>
              <a:t>"</a:t>
            </a:r>
            <a:r>
              <a:rPr lang="en-US" sz="1050" dirty="0" err="1">
                <a:solidFill>
                  <a:schemeClr val="tx1"/>
                </a:solidFill>
                <a:latin typeface="Consolas" panose="020B0609020204030204" pitchFamily="49" charset="0"/>
              </a:rPr>
              <a:t>main</a:t>
            </a:r>
            <a:r>
              <a:rPr lang="en-US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.go</a:t>
            </a:r>
            <a:r>
              <a:rPr lang="ru-RU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050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endParaRPr lang="en-US" sz="105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</a:t>
            </a:r>
          </a:p>
          <a:p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05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fmt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"project/company"</a:t>
            </a:r>
            <a:r>
              <a:rPr lang="ru-RU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050" dirty="0">
                <a:solidFill>
                  <a:srgbClr val="008000"/>
                </a:solidFill>
                <a:latin typeface="Consolas" panose="020B0609020204030204" pitchFamily="49" charset="0"/>
              </a:rPr>
              <a:t>импортируем наша пакет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company.NewEmployee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"John"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company.NewEmployee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"Mary"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fmt.Printf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Название компании: %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s; </a:t>
            </a:r>
            <a:r>
              <a:rPr lang="ru-RU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Количество сотрудников: %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d"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company.Name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company.EmployeeCount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53140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Какие бывают методы</a:t>
            </a:r>
            <a:r>
              <a:rPr lang="en-US" sz="4000" dirty="0"/>
              <a:t> – </a:t>
            </a:r>
            <a:r>
              <a:rPr lang="ru-RU" sz="4000" dirty="0"/>
              <a:t>методы объекта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39999"/>
            <a:ext cx="11004395" cy="4860000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400" b="1" dirty="0">
                <a:effectLst/>
                <a:latin typeface="Consolas" panose="020B0609020204030204" pitchFamily="49" charset="0"/>
              </a:rPr>
              <a:t>В </a:t>
            </a:r>
            <a:r>
              <a:rPr lang="en-US" sz="1400" b="1" dirty="0">
                <a:effectLst/>
                <a:latin typeface="Consolas" panose="020B0609020204030204" pitchFamily="49" charset="0"/>
              </a:rPr>
              <a:t>Go </a:t>
            </a:r>
            <a:r>
              <a:rPr lang="ru-RU" sz="1400" b="1" dirty="0">
                <a:effectLst/>
                <a:latin typeface="Consolas" panose="020B0609020204030204" pitchFamily="49" charset="0"/>
              </a:rPr>
              <a:t>есть только обычные методы (не константные и не виртуальные), которые могут отличаться по типу Ресивера (получателя</a:t>
            </a:r>
            <a:r>
              <a:rPr lang="en-US" sz="1400" b="1" dirty="0">
                <a:latin typeface="Consolas" panose="020B0609020204030204" pitchFamily="49" charset="0"/>
              </a:rPr>
              <a:t> -</a:t>
            </a:r>
            <a:r>
              <a:rPr lang="ru-RU" sz="1400" b="1" dirty="0">
                <a:effectLst/>
                <a:latin typeface="Consolas" panose="020B0609020204030204" pitchFamily="49" charset="0"/>
              </a:rPr>
              <a:t> аналог </a:t>
            </a:r>
            <a:r>
              <a:rPr lang="en-US" sz="1400" b="1" dirty="0">
                <a:effectLst/>
                <a:latin typeface="Consolas" panose="020B0609020204030204" pitchFamily="49" charset="0"/>
              </a:rPr>
              <a:t>this </a:t>
            </a:r>
            <a:r>
              <a:rPr lang="ru-RU" sz="1400" b="1" dirty="0">
                <a:effectLst/>
                <a:latin typeface="Consolas" panose="020B0609020204030204" pitchFamily="49" charset="0"/>
              </a:rPr>
              <a:t>из</a:t>
            </a:r>
            <a:r>
              <a:rPr lang="en-US" sz="1400" b="1" dirty="0">
                <a:effectLst/>
                <a:latin typeface="Consolas" panose="020B0609020204030204" pitchFamily="49" charset="0"/>
              </a:rPr>
              <a:t> C++</a:t>
            </a:r>
            <a:r>
              <a:rPr lang="ru-RU" sz="1400" b="1" dirty="0">
                <a:effectLst/>
                <a:latin typeface="Consolas" panose="020B0609020204030204" pitchFamily="49" charset="0"/>
              </a:rPr>
              <a:t>)</a:t>
            </a:r>
            <a:r>
              <a:rPr lang="en-US" sz="1400" b="1" dirty="0">
                <a:latin typeface="Consolas" panose="020B0609020204030204" pitchFamily="49" charset="0"/>
              </a:rPr>
              <a:t>:</a:t>
            </a:r>
            <a:endParaRPr lang="ru-RU" sz="1400" b="1" dirty="0"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4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Point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Метод для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 На то, что это метод для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указывает ресивер перед именем метода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(p Point) String()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"Point"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Можно добавлять методы для любых типов, не только для структур:</a:t>
            </a:r>
            <a:endParaRPr lang="en-US" sz="14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Свой тип на основе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Метод для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MyInt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(p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String()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MyInt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При таком объявлении методы не наследуются:</a:t>
            </a:r>
            <a:endParaRPr lang="en-US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Point  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Нет методов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35433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Тип ресивера при объявлении метода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9999"/>
            <a:ext cx="10800000" cy="4860000"/>
          </a:xfrm>
        </p:spPr>
        <p:txBody>
          <a:bodyPr lIns="144000">
            <a:noAutofit/>
          </a:bodyPr>
          <a:lstStyle/>
          <a:p>
            <a:pPr marL="0" indent="0"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Point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x, y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Ресивер по значению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(p Point)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GetX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p.x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Ресивер по указателю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(p *Point)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SetX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p.x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x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Скругленный прямоугольник 4">
            <a:extLst>
              <a:ext uri="{FF2B5EF4-FFF2-40B4-BE49-F238E27FC236}">
                <a16:creationId xmlns:a16="http://schemas.microsoft.com/office/drawing/2014/main" id="{834CCD45-85EF-413E-A3F1-4186909A6BFF}"/>
              </a:ext>
            </a:extLst>
          </p:cNvPr>
          <p:cNvSpPr/>
          <p:nvPr/>
        </p:nvSpPr>
        <p:spPr>
          <a:xfrm>
            <a:off x="5369903" y="3189245"/>
            <a:ext cx="4521229" cy="981312"/>
          </a:xfrm>
          <a:prstGeom prst="roundRect">
            <a:avLst>
              <a:gd name="adj" fmla="val 5145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Работает с копией объекта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quote-cjk-patch"/>
              </a:rPr>
              <a:t>;</a:t>
            </a:r>
            <a:endParaRPr lang="ru-RU" sz="1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Изменения в методе не влияют на оригинал</a:t>
            </a:r>
            <a:r>
              <a:rPr lang="en-US" sz="1400" dirty="0">
                <a:solidFill>
                  <a:srgbClr val="0F1115"/>
                </a:solidFill>
                <a:latin typeface="quote-cjk-patch"/>
              </a:rPr>
              <a:t>.</a:t>
            </a:r>
            <a:endParaRPr lang="ru-RU" sz="14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C0F2DFF8-1A4C-4808-93E1-B9BAFE706C90}"/>
              </a:ext>
            </a:extLst>
          </p:cNvPr>
          <p:cNvSpPr/>
          <p:nvPr/>
        </p:nvSpPr>
        <p:spPr>
          <a:xfrm>
            <a:off x="5369901" y="4847060"/>
            <a:ext cx="4521229" cy="981312"/>
          </a:xfrm>
          <a:prstGeom prst="roundRect">
            <a:avLst>
              <a:gd name="adj" fmla="val 5145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Работает непосредственно с объектом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quote-cjk-patch"/>
              </a:rPr>
              <a:t>;</a:t>
            </a:r>
            <a:endParaRPr lang="ru-RU" sz="1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Может модифицировать поля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quote-cjk-patch"/>
              </a:rPr>
              <a:t>;</a:t>
            </a:r>
            <a:endParaRPr lang="ru-RU" sz="1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Эффективнее для больших (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quote-cjk-patch"/>
              </a:rPr>
              <a:t>&gt; </a:t>
            </a:r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64 байт) структур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quote-cjk-patch"/>
              </a:rPr>
              <a:t> (</a:t>
            </a:r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нет копирования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quote-cjk-patch"/>
              </a:rPr>
              <a:t>);</a:t>
            </a:r>
            <a:endParaRPr lang="ru-RU" sz="14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6" name="Скругленный прямоугольник 4">
            <a:extLst>
              <a:ext uri="{FF2B5EF4-FFF2-40B4-BE49-F238E27FC236}">
                <a16:creationId xmlns:a16="http://schemas.microsoft.com/office/drawing/2014/main" id="{15AE0B0E-A0F6-46EB-A737-B8EA320C3941}"/>
              </a:ext>
            </a:extLst>
          </p:cNvPr>
          <p:cNvSpPr/>
          <p:nvPr/>
        </p:nvSpPr>
        <p:spPr>
          <a:xfrm>
            <a:off x="5369903" y="1379026"/>
            <a:ext cx="4521229" cy="981312"/>
          </a:xfrm>
          <a:prstGeom prst="roundRect">
            <a:avLst>
              <a:gd name="adj" fmla="val 5145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В 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quote-cjk-patch"/>
              </a:rPr>
              <a:t>Go </a:t>
            </a:r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нет перегрузки, в том числе и по типу ресивера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quote-cjk-patch"/>
              </a:rPr>
              <a:t>;</a:t>
            </a:r>
          </a:p>
          <a:p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Для единообразия все методы типа часто объявляют с одним типом ресивера (обычно по указателю)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quote-cjk-patch"/>
              </a:rPr>
              <a:t>;</a:t>
            </a:r>
            <a:endParaRPr lang="ru-RU" sz="1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ru-RU" sz="1400" dirty="0">
                <a:solidFill>
                  <a:srgbClr val="0F1115"/>
                </a:solidFill>
                <a:latin typeface="quote-cjk-patch"/>
              </a:rPr>
              <a:t>Имя ресивера обычно соответствует первой букве типа.</a:t>
            </a:r>
            <a:endParaRPr lang="ru-RU" sz="14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395932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Метод объекта </a:t>
            </a:r>
            <a:r>
              <a:rPr lang="en-US" sz="4000" dirty="0"/>
              <a:t>– </a:t>
            </a:r>
            <a:r>
              <a:rPr lang="ru-RU" sz="4000" dirty="0"/>
              <a:t>вызов метода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439999"/>
            <a:ext cx="10800000" cy="4860000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1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fmt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Point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(p *Point)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simpleMethodPtr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1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simpleMethodPtr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(p Point)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simpleMethod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1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simpleMethod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 Point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p.simpleMethod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p.simpleMethodPtr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Go </a:t>
            </a:r>
            <a:r>
              <a:rPr lang="ru-RU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автоматически берет адрес значения при вызове метода с ресивером по указателю</a:t>
            </a:r>
            <a:endParaRPr lang="ru-RU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Point{}.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simpleMethod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Point{}.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simpleMethodPtr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</a:t>
            </a:r>
            <a:endParaRPr lang="ru-RU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ru-RU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pPrt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*Point = &amp;Point{}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pPrt.simpleMethod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Go </a:t>
            </a:r>
            <a:r>
              <a:rPr lang="ru-RU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автоматически разыменовывает указатель при вызове метода с ресивером по значению</a:t>
            </a:r>
            <a:endParaRPr lang="ru-RU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pPrt.simpleMethodPtr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(&amp;Point{}).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simpleMethod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(&amp;Point{}).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simpleMethodPtr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Скругленный прямоугольник 4">
            <a:extLst>
              <a:ext uri="{FF2B5EF4-FFF2-40B4-BE49-F238E27FC236}">
                <a16:creationId xmlns:a16="http://schemas.microsoft.com/office/drawing/2014/main" id="{1EB007C5-5DA8-B288-A536-40CA04D92FFF}"/>
              </a:ext>
            </a:extLst>
          </p:cNvPr>
          <p:cNvSpPr/>
          <p:nvPr/>
        </p:nvSpPr>
        <p:spPr>
          <a:xfrm>
            <a:off x="7408718" y="2693268"/>
            <a:ext cx="3764804" cy="964332"/>
          </a:xfrm>
          <a:prstGeom prst="roundRect">
            <a:avLst>
              <a:gd name="adj" fmla="val 5145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Доступ к методам происходит через точечную нотацию, независимо от ресивера, с указанием </a:t>
            </a:r>
            <a:r>
              <a:rPr lang="ru-RU" sz="1400" b="1" dirty="0"/>
              <a:t>объекта (указателя на объект)</a:t>
            </a:r>
            <a:r>
              <a:rPr lang="ru-RU" sz="1400" dirty="0"/>
              <a:t> у которого вызывается метод</a:t>
            </a:r>
            <a:r>
              <a:rPr lang="en-US" sz="1400" dirty="0"/>
              <a:t>.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179245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 fontScale="90000"/>
          </a:bodyPr>
          <a:lstStyle/>
          <a:p>
            <a:r>
              <a:rPr lang="ru-RU" sz="4000" dirty="0"/>
              <a:t>Метод объекта </a:t>
            </a:r>
            <a:r>
              <a:rPr lang="en-US" sz="4000" dirty="0"/>
              <a:t>– </a:t>
            </a:r>
            <a:r>
              <a:rPr lang="ru-RU" sz="4000" dirty="0"/>
              <a:t>вызов метода через интерфейс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439999"/>
            <a:ext cx="10800000" cy="4860000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fmt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Printer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ToString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Point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Ресивер по указателю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(p *Point)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ToString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"Point"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 Point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pPrt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*Point = &amp;Point{}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priner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Printer = p  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priner.ToString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priner2 Printer =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pPrt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(priner2.ToString())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Скругленный прямоугольник 4">
            <a:extLst>
              <a:ext uri="{FF2B5EF4-FFF2-40B4-BE49-F238E27FC236}">
                <a16:creationId xmlns:a16="http://schemas.microsoft.com/office/drawing/2014/main" id="{1EB007C5-5DA8-B288-A536-40CA04D92FFF}"/>
              </a:ext>
            </a:extLst>
          </p:cNvPr>
          <p:cNvSpPr/>
          <p:nvPr/>
        </p:nvSpPr>
        <p:spPr>
          <a:xfrm>
            <a:off x="7364114" y="3276322"/>
            <a:ext cx="3764804" cy="1053542"/>
          </a:xfrm>
          <a:prstGeom prst="roundRect">
            <a:avLst>
              <a:gd name="adj" fmla="val 5145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Метод привязывается к ресиверу.</a:t>
            </a:r>
          </a:p>
          <a:p>
            <a:r>
              <a:rPr lang="ru-RU" sz="1400" dirty="0"/>
              <a:t>В данном случае у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ru-RU" sz="1400" b="0" dirty="0">
                <a:solidFill>
                  <a:srgbClr val="000000"/>
                </a:solidFill>
                <a:effectLst/>
              </a:rPr>
              <a:t> нет методов, а у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*Point</a:t>
            </a:r>
            <a:r>
              <a:rPr lang="ru-RU" sz="1400" b="0" dirty="0">
                <a:solidFill>
                  <a:srgbClr val="000000"/>
                </a:solidFill>
                <a:effectLst/>
              </a:rPr>
              <a:t>, есть метод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ToString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000000"/>
                </a:solidFill>
                <a:effectLst/>
              </a:rPr>
              <a:t> </a:t>
            </a:r>
            <a:r>
              <a:rPr lang="ru-RU" sz="1400" b="0" dirty="0">
                <a:solidFill>
                  <a:srgbClr val="000000"/>
                </a:solidFill>
                <a:effectLst/>
              </a:rPr>
              <a:t>поэтому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rgbClr val="000000"/>
                </a:solidFill>
              </a:rPr>
              <a:t> </a:t>
            </a:r>
            <a:r>
              <a:rPr lang="ru-RU" sz="1400" dirty="0">
                <a:solidFill>
                  <a:srgbClr val="000000"/>
                </a:solidFill>
              </a:rPr>
              <a:t>НЕ реализует интерфейс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Printer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524785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Метод объекта </a:t>
            </a:r>
            <a:r>
              <a:rPr lang="en-US" sz="4000" dirty="0"/>
              <a:t>– </a:t>
            </a:r>
            <a:r>
              <a:rPr lang="ru-RU" sz="4000" dirty="0"/>
              <a:t>аналог виртуальных методов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439999"/>
            <a:ext cx="10800000" cy="4860000"/>
          </a:xfrm>
        </p:spPr>
        <p:txBody>
          <a:bodyPr lIns="144000">
            <a:noAutofit/>
          </a:bodyPr>
          <a:lstStyle/>
          <a:p>
            <a:pPr marL="0" indent="0" algn="just">
              <a:lnSpc>
                <a:spcPct val="120000"/>
              </a:lnSpc>
              <a:spcBef>
                <a:spcPts val="100"/>
              </a:spcBef>
              <a:buNone/>
            </a:pPr>
            <a:r>
              <a:rPr lang="ru-RU" sz="1600" b="0" dirty="0">
                <a:effectLst/>
                <a:latin typeface="Consolas" panose="020B0609020204030204" pitchFamily="49" charset="0"/>
              </a:rPr>
              <a:t>В С++ виртуальные методы обеспечивают возможность динамического полиморфизма. </a:t>
            </a:r>
            <a:r>
              <a:rPr lang="ru-RU" sz="1600" dirty="0">
                <a:latin typeface="Consolas" panose="020B0609020204030204" pitchFamily="49" charset="0"/>
              </a:rPr>
              <a:t>В </a:t>
            </a:r>
            <a:r>
              <a:rPr lang="en-US" sz="1600" dirty="0">
                <a:latin typeface="Consolas" panose="020B0609020204030204" pitchFamily="49" charset="0"/>
              </a:rPr>
              <a:t>Go </a:t>
            </a:r>
            <a:r>
              <a:rPr lang="ru-RU" sz="1600" dirty="0">
                <a:latin typeface="Consolas" panose="020B0609020204030204" pitchFamily="49" charset="0"/>
              </a:rPr>
              <a:t>такой функционал обеспечивается при помощи интерфейсов, поэтому в </a:t>
            </a:r>
            <a:r>
              <a:rPr lang="en-US" sz="1600" dirty="0">
                <a:latin typeface="Consolas" panose="020B0609020204030204" pitchFamily="49" charset="0"/>
              </a:rPr>
              <a:t>Go </a:t>
            </a:r>
            <a:r>
              <a:rPr lang="ru-RU" sz="1600" dirty="0">
                <a:latin typeface="Consolas" panose="020B0609020204030204" pitchFamily="49" charset="0"/>
              </a:rPr>
              <a:t>нет необходимости в наличии виртуальных методов.</a:t>
            </a:r>
          </a:p>
          <a:p>
            <a:pPr marL="0" indent="0">
              <a:lnSpc>
                <a:spcPct val="120000"/>
              </a:lnSpc>
              <a:spcBef>
                <a:spcPts val="100"/>
              </a:spcBef>
              <a:buNone/>
            </a:pPr>
            <a:endParaRPr lang="ru-RU" sz="1600" b="0" dirty="0"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Writer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Write([]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byte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100"/>
              </a:spcBef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foo(w Writer){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... */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pPr marL="0" indent="0">
              <a:lnSpc>
                <a:spcPct val="120000"/>
              </a:lnSpc>
              <a:spcBef>
                <a:spcPts val="100"/>
              </a:spcBef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File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... */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pPr marL="0" indent="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(f *File) Write(data []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byte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... */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pPr marL="0" indent="0">
              <a:lnSpc>
                <a:spcPct val="120000"/>
              </a:lnSpc>
              <a:spcBef>
                <a:spcPts val="100"/>
              </a:spcBef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Buffer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... */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pPr marL="0" indent="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(b *Buffer) Write(data []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byte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... */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pPr marL="0" indent="0">
              <a:lnSpc>
                <a:spcPct val="120000"/>
              </a:lnSpc>
              <a:spcBef>
                <a:spcPts val="100"/>
              </a:spcBef>
              <a:buNone/>
            </a:pPr>
            <a:endParaRPr lang="en-US" sz="1600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7" name="Скругленный прямоугольник 4">
            <a:extLst>
              <a:ext uri="{FF2B5EF4-FFF2-40B4-BE49-F238E27FC236}">
                <a16:creationId xmlns:a16="http://schemas.microsoft.com/office/drawing/2014/main" id="{1EB007C5-5DA8-B288-A536-40CA04D92FFF}"/>
              </a:ext>
            </a:extLst>
          </p:cNvPr>
          <p:cNvSpPr/>
          <p:nvPr/>
        </p:nvSpPr>
        <p:spPr>
          <a:xfrm>
            <a:off x="7348653" y="2720897"/>
            <a:ext cx="4194717" cy="1784195"/>
          </a:xfrm>
          <a:prstGeom prst="roundRect">
            <a:avLst>
              <a:gd name="adj" fmla="val 5145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500" dirty="0"/>
              <a:t>Если передать в функцию 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ru-RU" sz="1500" b="0" dirty="0">
                <a:solidFill>
                  <a:srgbClr val="000000"/>
                </a:solidFill>
                <a:effectLst/>
              </a:rPr>
              <a:t>, как аргумент, экземпляр </a:t>
            </a:r>
            <a:r>
              <a:rPr lang="ru-RU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ru-RU" sz="1500" b="0" dirty="0">
                <a:solidFill>
                  <a:srgbClr val="000000"/>
                </a:solidFill>
                <a:effectLst/>
              </a:rPr>
              <a:t>, то будет вызван его метод 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ru-RU" sz="1500" dirty="0">
                <a:solidFill>
                  <a:srgbClr val="000000"/>
                </a:solidFill>
              </a:rPr>
              <a:t>, если </a:t>
            </a:r>
            <a:r>
              <a:rPr lang="ru-RU" sz="1500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Buffer</a:t>
            </a:r>
            <a:r>
              <a:rPr lang="ru-RU" sz="1500" b="0" dirty="0">
                <a:solidFill>
                  <a:srgbClr val="000000"/>
                </a:solidFill>
                <a:effectLst/>
              </a:rPr>
              <a:t>, то его метод. Т.е. реализация метода 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ru-RU" sz="1500" b="0" dirty="0">
                <a:solidFill>
                  <a:srgbClr val="000000"/>
                </a:solidFill>
                <a:effectLst/>
              </a:rPr>
              <a:t> не зафиксирована статически, а будет определятся динамически в зависимости от фактического типа переданного объекта.</a:t>
            </a:r>
          </a:p>
        </p:txBody>
      </p:sp>
    </p:spTree>
    <p:extLst>
      <p:ext uri="{BB962C8B-B14F-4D97-AF65-F5344CB8AC3E}">
        <p14:creationId xmlns:p14="http://schemas.microsoft.com/office/powerpoint/2010/main" val="14632229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 fontScale="90000"/>
          </a:bodyPr>
          <a:lstStyle/>
          <a:p>
            <a:r>
              <a:rPr lang="ru-RU" sz="3200" dirty="0"/>
              <a:t>Методы объекта </a:t>
            </a:r>
            <a:r>
              <a:rPr lang="en-US" sz="3200" dirty="0"/>
              <a:t>– </a:t>
            </a:r>
            <a:r>
              <a:rPr lang="ru-RU" sz="3200" dirty="0"/>
              <a:t>доступ к другим членам класса</a:t>
            </a:r>
            <a:r>
              <a:rPr lang="en-US" sz="3200" dirty="0"/>
              <a:t> </a:t>
            </a:r>
            <a:r>
              <a:rPr lang="ru-RU" sz="3200" dirty="0"/>
              <a:t>из тела метода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439999"/>
            <a:ext cx="10800000" cy="4860000"/>
          </a:xfrm>
        </p:spPr>
        <p:txBody>
          <a:bodyPr lIns="144000">
            <a:noAutofit/>
          </a:bodyPr>
          <a:lstStyle/>
          <a:p>
            <a:pPr marL="0" indent="0"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Point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x, y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(p *Point)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p.x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(p *Point)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fmt.Sprintf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"X: %d; Y: %d"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p.x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p.GetY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Скругленный прямоугольник 4">
            <a:extLst>
              <a:ext uri="{FF2B5EF4-FFF2-40B4-BE49-F238E27FC236}">
                <a16:creationId xmlns:a16="http://schemas.microsoft.com/office/drawing/2014/main" id="{1EB007C5-5DA8-B288-A536-40CA04D92FFF}"/>
              </a:ext>
            </a:extLst>
          </p:cNvPr>
          <p:cNvSpPr/>
          <p:nvPr/>
        </p:nvSpPr>
        <p:spPr>
          <a:xfrm>
            <a:off x="7531379" y="3273136"/>
            <a:ext cx="3945082" cy="707850"/>
          </a:xfrm>
          <a:prstGeom prst="roundRect">
            <a:avLst>
              <a:gd name="adj" fmla="val 5145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В теле метода</a:t>
            </a:r>
            <a:r>
              <a:rPr lang="ru-RU" sz="1400" b="1" dirty="0"/>
              <a:t> </a:t>
            </a:r>
            <a:r>
              <a:rPr lang="ru-RU" sz="1400" dirty="0"/>
              <a:t>можно получить доступ к любым полям и методам структуры</a:t>
            </a:r>
            <a:r>
              <a:rPr lang="en-US" sz="14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710921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Какие бывают методы</a:t>
            </a:r>
            <a:r>
              <a:rPr lang="en-US" sz="4000" dirty="0"/>
              <a:t> – </a:t>
            </a:r>
            <a:r>
              <a:rPr lang="ru-RU" sz="4000" dirty="0"/>
              <a:t>"методы класса"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9999"/>
            <a:ext cx="10800000" cy="4860000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800" b="0" dirty="0">
                <a:effectLst/>
                <a:latin typeface="Consolas" panose="020B0609020204030204" pitchFamily="49" charset="0"/>
              </a:rPr>
              <a:t>Аналогов методов класса (</a:t>
            </a:r>
            <a:r>
              <a:rPr lang="en-US" sz="1800" dirty="0">
                <a:latin typeface="Consolas" panose="020B0609020204030204" pitchFamily="49" charset="0"/>
              </a:rPr>
              <a:t>static </a:t>
            </a:r>
            <a:r>
              <a:rPr lang="ru-RU" sz="1800" dirty="0">
                <a:latin typeface="Consolas" panose="020B0609020204030204" pitchFamily="49" charset="0"/>
              </a:rPr>
              <a:t>методов </a:t>
            </a:r>
            <a:r>
              <a:rPr lang="ru-RU" sz="1800" b="0" dirty="0">
                <a:effectLst/>
                <a:latin typeface="Consolas" panose="020B0609020204030204" pitchFamily="49" charset="0"/>
              </a:rPr>
              <a:t>как в С++) в </a:t>
            </a:r>
            <a:r>
              <a:rPr lang="en-US" sz="1800" b="0" dirty="0">
                <a:effectLst/>
                <a:latin typeface="Consolas" panose="020B0609020204030204" pitchFamily="49" charset="0"/>
              </a:rPr>
              <a:t>Go </a:t>
            </a:r>
            <a:r>
              <a:rPr lang="ru-RU" sz="1800" b="0" dirty="0">
                <a:effectLst/>
                <a:latin typeface="Consolas" panose="020B0609020204030204" pitchFamily="49" charset="0"/>
              </a:rPr>
              <a:t>нет, поэтому далее будем говорить просто "метод" подразумевая обычный метод структуры или другого пользовательского типа.</a:t>
            </a:r>
            <a:endParaRPr lang="en-US" sz="1800" dirty="0">
              <a:latin typeface="Consolas" panose="020B0609020204030204" pitchFamily="49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800" dirty="0">
                <a:latin typeface="Consolas" panose="020B0609020204030204" pitchFamily="49" charset="0"/>
              </a:rPr>
              <a:t>Если очень хочется, то можно вынести класс в отдельный пакет и воспользоваться простыми функциями уровня пакета:</a:t>
            </a:r>
          </a:p>
          <a:p>
            <a:pPr marL="0" indent="0">
              <a:buNone/>
            </a:pPr>
            <a:endParaRPr lang="ru-RU" sz="18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company</a:t>
            </a:r>
          </a:p>
          <a:p>
            <a:pPr marL="0" indent="0">
              <a:buNone/>
            </a:pP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Общее для всех экземпляров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Name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TechCorp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Name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894074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Какие бывают методы</a:t>
            </a:r>
            <a:r>
              <a:rPr lang="en-US" sz="4000" dirty="0"/>
              <a:t> – </a:t>
            </a:r>
            <a:r>
              <a:rPr lang="ru-RU" sz="4000" dirty="0"/>
              <a:t>"методы класса"</a:t>
            </a:r>
          </a:p>
        </p:txBody>
      </p:sp>
      <p:sp>
        <p:nvSpPr>
          <p:cNvPr id="4" name="Скругленный прямоугольник 4">
            <a:extLst>
              <a:ext uri="{FF2B5EF4-FFF2-40B4-BE49-F238E27FC236}">
                <a16:creationId xmlns:a16="http://schemas.microsoft.com/office/drawing/2014/main" id="{A2EF0BCA-1563-EF9D-4730-AFCFB02C641B}"/>
              </a:ext>
            </a:extLst>
          </p:cNvPr>
          <p:cNvSpPr/>
          <p:nvPr/>
        </p:nvSpPr>
        <p:spPr>
          <a:xfrm>
            <a:off x="8001591" y="1884551"/>
            <a:ext cx="3684887" cy="1550019"/>
          </a:xfrm>
          <a:prstGeom prst="roundRect">
            <a:avLst>
              <a:gd name="adj" fmla="val 5145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Доступ к функциям уровня пакета происходит при помощи точечной нотации с указанием названия пакета.</a:t>
            </a:r>
          </a:p>
          <a:p>
            <a:r>
              <a:rPr lang="ru-RU" sz="1400" dirty="0"/>
              <a:t>Доступ возможен, если идентификатор экспортируем, т.е. начинается с заглавной буквы.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1417F2E-ACCD-417C-AC42-9650245CBA5C}"/>
              </a:ext>
            </a:extLst>
          </p:cNvPr>
          <p:cNvSpPr/>
          <p:nvPr/>
        </p:nvSpPr>
        <p:spPr>
          <a:xfrm>
            <a:off x="838200" y="1382751"/>
            <a:ext cx="7002967" cy="29773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endParaRPr lang="en-US" sz="10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company</a:t>
            </a:r>
            <a:r>
              <a:rPr lang="ru-RU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                                                   </a:t>
            </a:r>
            <a:r>
              <a:rPr lang="ru-RU" sz="1000" dirty="0">
                <a:solidFill>
                  <a:schemeClr val="tx1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chemeClr val="tx1"/>
                </a:solidFill>
                <a:latin typeface="Consolas" panose="020B0609020204030204" pitchFamily="49" charset="0"/>
              </a:rPr>
              <a:t>./</a:t>
            </a:r>
            <a:r>
              <a:rPr lang="en-US" sz="10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company/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company.go</a:t>
            </a:r>
            <a:r>
              <a:rPr lang="ru-RU" sz="10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Общее для всех экземпляров</a:t>
            </a:r>
            <a:endParaRPr lang="ru-RU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Name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TechCorp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EmployeeCount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Name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Employee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name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поле экземпляра</a:t>
            </a:r>
            <a:endParaRPr lang="ru-RU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id  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US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поле экземпляра</a:t>
            </a:r>
            <a:endParaRPr lang="ru-RU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ru-RU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NewEmployee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(name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*Employee {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EmployeeCount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 </a:t>
            </a:r>
            <a:r>
              <a:rPr lang="en-US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модифицируем "статическое поле"</a:t>
            </a:r>
            <a:endParaRPr lang="ru-RU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&amp;Employee{name: name, id: 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EmployeeCount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2123445-2B92-4AC7-97D7-4A69848A21A1}"/>
              </a:ext>
            </a:extLst>
          </p:cNvPr>
          <p:cNvSpPr/>
          <p:nvPr/>
        </p:nvSpPr>
        <p:spPr>
          <a:xfrm>
            <a:off x="838200" y="4493940"/>
            <a:ext cx="8919117" cy="20067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r"/>
            <a:r>
              <a:rPr lang="ru-RU" sz="1050" dirty="0">
                <a:solidFill>
                  <a:schemeClr val="tx1"/>
                </a:solidFill>
                <a:latin typeface="Consolas" panose="020B0609020204030204" pitchFamily="49" charset="0"/>
              </a:rPr>
              <a:t>"</a:t>
            </a:r>
            <a:r>
              <a:rPr lang="en-US" sz="1050" dirty="0" err="1">
                <a:solidFill>
                  <a:schemeClr val="tx1"/>
                </a:solidFill>
                <a:latin typeface="Consolas" panose="020B0609020204030204" pitchFamily="49" charset="0"/>
              </a:rPr>
              <a:t>main</a:t>
            </a:r>
            <a:r>
              <a:rPr lang="en-US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.go</a:t>
            </a:r>
            <a:r>
              <a:rPr lang="ru-RU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050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endParaRPr lang="en-US" sz="105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</a:t>
            </a:r>
          </a:p>
          <a:p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05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fmt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"project/company"</a:t>
            </a:r>
            <a:r>
              <a:rPr lang="ru-RU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050" dirty="0">
                <a:solidFill>
                  <a:srgbClr val="008000"/>
                </a:solidFill>
                <a:latin typeface="Consolas" panose="020B0609020204030204" pitchFamily="49" charset="0"/>
              </a:rPr>
              <a:t>импортируем наша пакет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fmt.Printf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Название компании: %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s"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company.GetName</a:t>
            </a:r>
            <a:r>
              <a:rPr lang="ru-RU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519311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EA8A94F-5D16-6464-2E03-6765A264B0C8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400" dirty="0"/>
              <a:t>Специальные методы</a:t>
            </a:r>
          </a:p>
        </p:txBody>
      </p:sp>
    </p:spTree>
    <p:extLst>
      <p:ext uri="{BB962C8B-B14F-4D97-AF65-F5344CB8AC3E}">
        <p14:creationId xmlns:p14="http://schemas.microsoft.com/office/powerpoint/2010/main" val="11110838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EA8A94F-5D16-6464-2E03-6765A264B0C8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400" dirty="0"/>
              <a:t>Конструктор</a:t>
            </a:r>
          </a:p>
        </p:txBody>
      </p:sp>
    </p:spTree>
    <p:extLst>
      <p:ext uri="{BB962C8B-B14F-4D97-AF65-F5344CB8AC3E}">
        <p14:creationId xmlns:p14="http://schemas.microsoft.com/office/powerpoint/2010/main" val="14001560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21862"/>
            <a:ext cx="10515599" cy="4455102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User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name  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email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Аналог конструктора</a:t>
            </a:r>
            <a:endParaRPr lang="ru-RU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NewUser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(name, email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*User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&amp;User{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name:  name,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email: email,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Аналог второго конструктора</a:t>
            </a:r>
            <a:endParaRPr lang="ru-RU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NewAdminUser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(email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*User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&amp;User{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name:  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"admin"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email: email,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user :=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NewUser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"Alice"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"alice@example.com"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admin :=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NewAdminUser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"admin@example.com"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Скругленный прямоугольник 4">
            <a:extLst>
              <a:ext uri="{FF2B5EF4-FFF2-40B4-BE49-F238E27FC236}">
                <a16:creationId xmlns:a16="http://schemas.microsoft.com/office/drawing/2014/main" id="{1EB007C5-5DA8-B288-A536-40CA04D92FFF}"/>
              </a:ext>
            </a:extLst>
          </p:cNvPr>
          <p:cNvSpPr/>
          <p:nvPr/>
        </p:nvSpPr>
        <p:spPr>
          <a:xfrm>
            <a:off x="7699664" y="2051824"/>
            <a:ext cx="3654134" cy="3612996"/>
          </a:xfrm>
          <a:prstGeom prst="roundRect">
            <a:avLst>
              <a:gd name="adj" fmla="val 349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В </a:t>
            </a:r>
            <a:r>
              <a:rPr lang="en-US" sz="1400" dirty="0"/>
              <a:t>Go </a:t>
            </a:r>
            <a:r>
              <a:rPr lang="ru-RU" sz="1400" dirty="0"/>
              <a:t>нет понятия – конструктор, вместо этого, за инициализацию полей структуры отвечают специальные фабричные функции, у которых в качестве возвращаемого значения указывается либо экземпляр, либо указатель на экземпляр структуры</a:t>
            </a:r>
            <a:r>
              <a:rPr lang="en-US" sz="1400" dirty="0"/>
              <a:t>;</a:t>
            </a:r>
            <a:endParaRPr lang="ru-RU" sz="1400" dirty="0"/>
          </a:p>
          <a:p>
            <a:pPr marL="0" indent="0">
              <a:lnSpc>
                <a:spcPct val="100000"/>
              </a:lnSpc>
              <a:buNone/>
            </a:pPr>
            <a:endParaRPr lang="ru-RU" sz="14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400" dirty="0"/>
              <a:t>Эти функции, обычно, начинаются с </a:t>
            </a:r>
            <a:r>
              <a:rPr lang="en-US" sz="1400" dirty="0"/>
              <a:t>New (</a:t>
            </a:r>
            <a:r>
              <a:rPr lang="ru-RU" sz="1400" dirty="0"/>
              <a:t>с заглавной буквы</a:t>
            </a:r>
            <a:r>
              <a:rPr lang="en-US" sz="1400" dirty="0"/>
              <a:t>)</a:t>
            </a:r>
            <a:r>
              <a:rPr lang="ru-RU" sz="1400" dirty="0"/>
              <a:t> и далее идёт имя структуры.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400" dirty="0"/>
          </a:p>
          <a:p>
            <a:r>
              <a:rPr lang="ru-RU" sz="1400" dirty="0"/>
              <a:t>Т.к. в </a:t>
            </a:r>
            <a:r>
              <a:rPr lang="en-US" sz="1400" dirty="0"/>
              <a:t>Go </a:t>
            </a:r>
            <a:r>
              <a:rPr lang="ru-RU" sz="1400" dirty="0"/>
              <a:t>отсутствует перегрузка, то при необходимости иметь несколько "конструкторов" используются разные имена.</a:t>
            </a:r>
            <a:endParaRPr lang="en-US" sz="1400" dirty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F118968-1D91-E1F5-1097-64D5AF47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720000"/>
          </a:xfrm>
        </p:spPr>
        <p:txBody>
          <a:bodyPr/>
          <a:lstStyle/>
          <a:p>
            <a:r>
              <a:rPr lang="ru-RU" sz="4000" dirty="0"/>
              <a:t>Конструктор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596258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EA8A94F-5D16-6464-2E03-6765A264B0C8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400" dirty="0"/>
              <a:t>Деструктор</a:t>
            </a:r>
          </a:p>
        </p:txBody>
      </p:sp>
    </p:spTree>
    <p:extLst>
      <p:ext uri="{BB962C8B-B14F-4D97-AF65-F5344CB8AC3E}">
        <p14:creationId xmlns:p14="http://schemas.microsoft.com/office/powerpoint/2010/main" val="19709974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36496"/>
            <a:ext cx="10515599" cy="4605278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DatabaseConnection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conn   *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sql.DB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closed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DatabaseConnection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Close()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db.closed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nil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db.closed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db.conn.Close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Использование с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defer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processData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&amp;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DatabaseConnection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db.Close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Гарантированное закрытие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Работа с базой данных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nil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Скругленный прямоугольник 4">
            <a:extLst>
              <a:ext uri="{FF2B5EF4-FFF2-40B4-BE49-F238E27FC236}">
                <a16:creationId xmlns:a16="http://schemas.microsoft.com/office/drawing/2014/main" id="{1EB007C5-5DA8-B288-A536-40CA04D92FFF}"/>
              </a:ext>
            </a:extLst>
          </p:cNvPr>
          <p:cNvSpPr/>
          <p:nvPr/>
        </p:nvSpPr>
        <p:spPr>
          <a:xfrm>
            <a:off x="7699664" y="2586037"/>
            <a:ext cx="3654134" cy="2231291"/>
          </a:xfrm>
          <a:prstGeom prst="roundRect">
            <a:avLst>
              <a:gd name="adj" fmla="val 349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В </a:t>
            </a:r>
            <a:r>
              <a:rPr lang="en-US" sz="1300" dirty="0"/>
              <a:t>Go </a:t>
            </a:r>
            <a:r>
              <a:rPr lang="ru-RU" sz="1300" dirty="0"/>
              <a:t>нет понятия деструктор – вместо этого, за корректное освобождение ресурсов отвечает сборщик мусора, и при необходимости, специальный метод (обычно </a:t>
            </a:r>
            <a:r>
              <a:rPr lang="en-US" sz="1300" dirty="0"/>
              <a:t>Close</a:t>
            </a:r>
            <a:r>
              <a:rPr lang="ru-RU" sz="1300" dirty="0"/>
              <a:t>, но может быть любым)</a:t>
            </a:r>
            <a:r>
              <a:rPr lang="en-US" sz="1300" dirty="0"/>
              <a:t> </a:t>
            </a:r>
            <a:r>
              <a:rPr lang="ru-RU" sz="1300" dirty="0"/>
              <a:t>вызванный при помощи </a:t>
            </a:r>
            <a:r>
              <a:rPr lang="en-US" sz="1300" dirty="0"/>
              <a:t>defer;</a:t>
            </a:r>
            <a:endParaRPr lang="ru-RU" sz="1300" dirty="0"/>
          </a:p>
          <a:p>
            <a:pPr marL="0" indent="0">
              <a:lnSpc>
                <a:spcPct val="100000"/>
              </a:lnSpc>
              <a:buNone/>
            </a:pPr>
            <a:endParaRPr lang="ru-RU" sz="13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400" b="0" i="0" dirty="0">
                <a:solidFill>
                  <a:srgbClr val="000000"/>
                </a:solidFill>
                <a:effectLst/>
                <a:latin typeface="-apple-system"/>
              </a:rPr>
              <a:t>Оператор </a:t>
            </a:r>
            <a:r>
              <a:rPr lang="ru-RU" sz="1400" b="1" i="0" dirty="0" err="1">
                <a:solidFill>
                  <a:srgbClr val="000000"/>
                </a:solidFill>
                <a:effectLst/>
                <a:latin typeface="-apple-system"/>
              </a:rPr>
              <a:t>defer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-apple-system"/>
              </a:rPr>
              <a:t> обеспечивает выполнение отложенных функций даже в случае ошибки или вызова функции </a:t>
            </a:r>
            <a:r>
              <a:rPr lang="ru-RU" sz="1400" b="1" i="0" dirty="0" err="1">
                <a:solidFill>
                  <a:srgbClr val="000000"/>
                </a:solidFill>
                <a:effectLst/>
                <a:latin typeface="-apple-system"/>
              </a:rPr>
              <a:t>panic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-apple-system"/>
              </a:rPr>
              <a:t>, </a:t>
            </a:r>
            <a:r>
              <a:rPr lang="ru-RU" sz="1400" dirty="0">
                <a:solidFill>
                  <a:srgbClr val="000000"/>
                </a:solidFill>
                <a:latin typeface="-apple-system"/>
              </a:rPr>
              <a:t>гарантируя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-apple-system"/>
              </a:rPr>
              <a:t> освобождение ресурсов.</a:t>
            </a:r>
            <a:endParaRPr lang="en-US" sz="1400" b="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F118968-1D91-E1F5-1097-64D5AF47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Деструктор</a:t>
            </a:r>
          </a:p>
        </p:txBody>
      </p:sp>
    </p:spTree>
    <p:extLst>
      <p:ext uri="{BB962C8B-B14F-4D97-AF65-F5344CB8AC3E}">
        <p14:creationId xmlns:p14="http://schemas.microsoft.com/office/powerpoint/2010/main" val="11104334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36496"/>
            <a:ext cx="10515599" cy="4605278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FileHandler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file *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os.File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fh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FileHandler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Close()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fh.file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nil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fh.file.Close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nil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WithFile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(filename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handler </a:t>
            </a:r>
            <a:r>
              <a:rPr lang="en-US" sz="105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(*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FileHandler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fh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&amp;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FileHandler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err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error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fh.file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err =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os.Open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(filename)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err !=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nil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err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defer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fh.Close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Автоматическая очистка</a:t>
            </a:r>
            <a:endParaRPr lang="ru-RU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handler(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fh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Использование</a:t>
            </a:r>
            <a:endParaRPr lang="ru-RU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err :=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WithFile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"data.txt"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5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fh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FileHandler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Работа с файлом</a:t>
            </a:r>
            <a:endParaRPr lang="ru-RU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nil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</a:t>
            </a:r>
          </a:p>
        </p:txBody>
      </p:sp>
      <p:sp>
        <p:nvSpPr>
          <p:cNvPr id="7" name="Скругленный прямоугольник 4">
            <a:extLst>
              <a:ext uri="{FF2B5EF4-FFF2-40B4-BE49-F238E27FC236}">
                <a16:creationId xmlns:a16="http://schemas.microsoft.com/office/drawing/2014/main" id="{1EB007C5-5DA8-B288-A536-40CA04D92FFF}"/>
              </a:ext>
            </a:extLst>
          </p:cNvPr>
          <p:cNvSpPr/>
          <p:nvPr/>
        </p:nvSpPr>
        <p:spPr>
          <a:xfrm>
            <a:off x="7259444" y="2531328"/>
            <a:ext cx="4094354" cy="2375208"/>
          </a:xfrm>
          <a:prstGeom prst="roundRect">
            <a:avLst>
              <a:gd name="adj" fmla="val 349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u-RU" sz="1300" b="1" dirty="0"/>
              <a:t>Внимание!</a:t>
            </a:r>
            <a:r>
              <a:rPr lang="ru-RU" sz="1300" dirty="0"/>
              <a:t>  </a:t>
            </a:r>
            <a:r>
              <a:rPr lang="ru-RU" sz="1400" b="0" i="0" dirty="0">
                <a:solidFill>
                  <a:srgbClr val="000000"/>
                </a:solidFill>
                <a:effectLst/>
              </a:rPr>
              <a:t>Оператор </a:t>
            </a:r>
            <a:r>
              <a:rPr lang="ru-RU" sz="1400" b="1" i="0" dirty="0" err="1">
                <a:solidFill>
                  <a:srgbClr val="000000"/>
                </a:solidFill>
                <a:effectLst/>
              </a:rPr>
              <a:t>defer</a:t>
            </a:r>
            <a:r>
              <a:rPr lang="ru-RU" sz="1400" b="0" i="0" dirty="0">
                <a:solidFill>
                  <a:srgbClr val="000000"/>
                </a:solidFill>
                <a:effectLst/>
              </a:rPr>
              <a:t> </a:t>
            </a:r>
            <a:r>
              <a:rPr lang="ru-RU" sz="1400" dirty="0">
                <a:solidFill>
                  <a:srgbClr val="000000"/>
                </a:solidFill>
              </a:rPr>
              <a:t>отработает только при завершении функции, но не при выходе из текущей области видимости</a:t>
            </a:r>
            <a:r>
              <a:rPr lang="ru-RU" sz="1400" b="0" i="0" dirty="0">
                <a:solidFill>
                  <a:srgbClr val="000000"/>
                </a:solidFill>
                <a:effectLst/>
              </a:rPr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ru-RU" sz="1400" dirty="0">
              <a:solidFill>
                <a:srgbClr val="00000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sz="1400" b="0" i="0" dirty="0">
                <a:solidFill>
                  <a:srgbClr val="000000"/>
                </a:solidFill>
                <a:effectLst/>
              </a:rPr>
              <a:t>Чтобы не откладывать освобождение на </a:t>
            </a:r>
            <a:r>
              <a:rPr lang="ru-RU" sz="1400" dirty="0">
                <a:solidFill>
                  <a:srgbClr val="000000"/>
                </a:solidFill>
              </a:rPr>
              <a:t>потом м</a:t>
            </a:r>
            <a:r>
              <a:rPr lang="ru-RU" sz="1400" b="0" i="0" dirty="0">
                <a:solidFill>
                  <a:srgbClr val="000000"/>
                </a:solidFill>
                <a:effectLst/>
              </a:rPr>
              <a:t>ожно воспользоваться лямбда функцией или создать аналог </a:t>
            </a:r>
            <a:r>
              <a:rPr lang="en-US" sz="1400" b="0" i="0" dirty="0">
                <a:solidFill>
                  <a:srgbClr val="000000"/>
                </a:solidFill>
                <a:effectLst/>
              </a:rPr>
              <a:t>Python </a:t>
            </a:r>
            <a:r>
              <a:rPr lang="ru-RU" sz="1400" b="0" i="0" dirty="0">
                <a:solidFill>
                  <a:srgbClr val="000000"/>
                </a:solidFill>
                <a:effectLst/>
              </a:rPr>
              <a:t>конструкции </a:t>
            </a:r>
            <a:r>
              <a:rPr lang="en-US" sz="1400" b="1" i="0" dirty="0">
                <a:solidFill>
                  <a:srgbClr val="000000"/>
                </a:solidFill>
                <a:effectLst/>
              </a:rPr>
              <a:t>with: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400" b="1" dirty="0">
              <a:solidFill>
                <a:srgbClr val="000000"/>
              </a:solidFill>
              <a:latin typeface="-apple-system"/>
            </a:endParaRPr>
          </a:p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open(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'file.txt'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'r'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file: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content =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file.read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4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F118968-1D91-E1F5-1097-64D5AF47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Деструктор - паттерн "</a:t>
            </a:r>
            <a:r>
              <a:rPr lang="en-US" sz="4000" dirty="0" err="1"/>
              <a:t>WithCleanup</a:t>
            </a:r>
            <a:r>
              <a:rPr lang="en-US" sz="4000" dirty="0"/>
              <a:t>"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19307899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36496"/>
            <a:ext cx="10515599" cy="4605278"/>
          </a:xfrm>
        </p:spPr>
        <p:txBody>
          <a:bodyPr lIns="144000">
            <a:noAutofit/>
          </a:bodyPr>
          <a:lstStyle/>
          <a:p>
            <a:pPr marL="0" indent="0"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"runtime"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Resource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data []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byte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NewResource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*Resource {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r := &amp;Resource{data: make([]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byte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1024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)}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Установка </a:t>
            </a:r>
            <a:r>
              <a:rPr lang="ru-RU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финализатора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runtime.SetFinalizer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(r,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(r *Resource) {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"Resource finalized"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Очистка ресурсов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})</a:t>
            </a:r>
          </a:p>
          <a:p>
            <a:pPr marL="0" indent="0">
              <a:buNone/>
            </a:pP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buNone/>
            </a:pP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Скругленный прямоугольник 4">
            <a:extLst>
              <a:ext uri="{FF2B5EF4-FFF2-40B4-BE49-F238E27FC236}">
                <a16:creationId xmlns:a16="http://schemas.microsoft.com/office/drawing/2014/main" id="{1EB007C5-5DA8-B288-A536-40CA04D92FFF}"/>
              </a:ext>
            </a:extLst>
          </p:cNvPr>
          <p:cNvSpPr/>
          <p:nvPr/>
        </p:nvSpPr>
        <p:spPr>
          <a:xfrm>
            <a:off x="7699664" y="2586037"/>
            <a:ext cx="3654134" cy="2365104"/>
          </a:xfrm>
          <a:prstGeom prst="roundRect">
            <a:avLst>
              <a:gd name="adj" fmla="val 349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u-RU" sz="1300" b="0" i="0" dirty="0">
                <a:solidFill>
                  <a:srgbClr val="000000"/>
                </a:solidFill>
                <a:effectLst/>
                <a:latin typeface="-apple-system"/>
              </a:rPr>
              <a:t>Когда сборщик мусора Go готов собрать объект, оставшийся без ссылок, предварительно вызывается </a:t>
            </a:r>
            <a:r>
              <a:rPr lang="ru-RU" sz="1300" b="0" i="0" dirty="0" err="1">
                <a:solidFill>
                  <a:srgbClr val="000000"/>
                </a:solidFill>
                <a:effectLst/>
                <a:latin typeface="-apple-system"/>
              </a:rPr>
              <a:t>финализатор</a:t>
            </a:r>
            <a:r>
              <a:rPr lang="ru-RU" sz="1300" b="0" i="0" dirty="0">
                <a:solidFill>
                  <a:srgbClr val="000000"/>
                </a:solidFill>
                <a:effectLst/>
                <a:latin typeface="-apple-system"/>
              </a:rPr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ru-RU" sz="1300" dirty="0">
              <a:solidFill>
                <a:srgbClr val="000000"/>
              </a:solidFill>
              <a:latin typeface="-apple-system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sz="1300" b="0" i="0" dirty="0">
                <a:solidFill>
                  <a:srgbClr val="000000"/>
                </a:solidFill>
                <a:effectLst/>
                <a:latin typeface="-apple-system"/>
              </a:rPr>
              <a:t>Обычно не рекомендуется использовать </a:t>
            </a:r>
            <a:r>
              <a:rPr lang="ru-RU" sz="1300" b="0" i="0" dirty="0" err="1">
                <a:solidFill>
                  <a:srgbClr val="000000"/>
                </a:solidFill>
                <a:effectLst/>
                <a:latin typeface="-apple-system"/>
              </a:rPr>
              <a:t>финализаторы</a:t>
            </a:r>
            <a:r>
              <a:rPr lang="ru-RU" sz="1300" b="0" i="0" dirty="0">
                <a:solidFill>
                  <a:srgbClr val="000000"/>
                </a:solidFill>
                <a:effectLst/>
                <a:latin typeface="-apple-system"/>
              </a:rPr>
              <a:t>, а в случае использования обязательно документировать этот факт.</a:t>
            </a:r>
          </a:p>
          <a:p>
            <a:pPr marL="0" indent="0">
              <a:lnSpc>
                <a:spcPct val="100000"/>
              </a:lnSpc>
              <a:buNone/>
            </a:pPr>
            <a:endParaRPr lang="ru-RU" sz="1300" dirty="0">
              <a:solidFill>
                <a:srgbClr val="000000"/>
              </a:solidFill>
              <a:latin typeface="-apple-system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sz="1300" b="0" i="0" dirty="0" err="1">
                <a:solidFill>
                  <a:srgbClr val="000000"/>
                </a:solidFill>
                <a:effectLst/>
                <a:latin typeface="-apple-system"/>
              </a:rPr>
              <a:t>Финализаторы</a:t>
            </a:r>
            <a:r>
              <a:rPr lang="ru-RU" sz="1300" b="0" i="0" dirty="0">
                <a:solidFill>
                  <a:srgbClr val="000000"/>
                </a:solidFill>
                <a:effectLst/>
                <a:latin typeface="-apple-system"/>
              </a:rPr>
              <a:t> могут быть полезны при работе с кодом выделяющим память вручную, например с библиотеками языка С.</a:t>
            </a:r>
            <a:endParaRPr lang="en-US" sz="1400" b="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F118968-1D91-E1F5-1097-64D5AF47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Деструктор - </a:t>
            </a:r>
            <a:r>
              <a:rPr lang="ru-RU" sz="4000" dirty="0" err="1"/>
              <a:t>финализатор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12294377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EA8A94F-5D16-6464-2E03-6765A264B0C8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400" dirty="0"/>
              <a:t>Конструктор копирования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12423266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75790"/>
            <a:ext cx="10515599" cy="4401173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ComplexStruct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Name    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Scores   []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Metadata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Метод для глубокого копирования</a:t>
            </a:r>
            <a:endParaRPr lang="ru-RU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(cs *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ComplexStruct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DeepCopy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*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ComplexStruct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copy := &amp;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ComplexStruct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Name: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cs.Name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Копирование слайса</a:t>
            </a:r>
            <a:endParaRPr lang="ru-RU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cs.Scores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nil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copy.Scores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make([]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cs.Scores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copy(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copy.Scores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cs.Scores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Копирование мапы</a:t>
            </a:r>
            <a:endParaRPr lang="ru-RU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cs.Metadata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nil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copy.Metadata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make(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k, v :=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cs.Metadata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copy.Metadata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[k] = v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copy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Фабричный метод для создания копий</a:t>
            </a:r>
            <a:endParaRPr lang="ru-RU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CopyComplexStruct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(original *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ComplexStruct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*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ComplexStruct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original.DeepCopy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Скругленный прямоугольник 4">
            <a:extLst>
              <a:ext uri="{FF2B5EF4-FFF2-40B4-BE49-F238E27FC236}">
                <a16:creationId xmlns:a16="http://schemas.microsoft.com/office/drawing/2014/main" id="{1EB007C5-5DA8-B288-A536-40CA04D92FFF}"/>
              </a:ext>
            </a:extLst>
          </p:cNvPr>
          <p:cNvSpPr/>
          <p:nvPr/>
        </p:nvSpPr>
        <p:spPr>
          <a:xfrm>
            <a:off x="7471317" y="2542477"/>
            <a:ext cx="3882481" cy="2163337"/>
          </a:xfrm>
          <a:prstGeom prst="roundRect">
            <a:avLst>
              <a:gd name="adj" fmla="val 349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ru-RU" sz="1200" dirty="0"/>
              <a:t>Понятия конструктор копирования в </a:t>
            </a:r>
            <a:r>
              <a:rPr lang="en-US" sz="1200" dirty="0"/>
              <a:t>Go </a:t>
            </a:r>
            <a:r>
              <a:rPr lang="ru-RU" sz="1200" dirty="0"/>
              <a:t>не существует. Для простого (побайтового) копирования используется обычное присваивание</a:t>
            </a:r>
            <a:r>
              <a:rPr lang="en-US" sz="1200" dirty="0"/>
              <a:t>. </a:t>
            </a:r>
            <a:r>
              <a:rPr lang="ru-RU" sz="1200" dirty="0"/>
              <a:t>Для глубокого копирования стандартный способ отсутствует.</a:t>
            </a:r>
          </a:p>
          <a:p>
            <a:pPr marL="0" indent="0">
              <a:lnSpc>
                <a:spcPct val="100000"/>
              </a:lnSpc>
              <a:buNone/>
            </a:pPr>
            <a:endParaRPr lang="ru-RU" sz="12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200" dirty="0"/>
              <a:t>Часто "создадут" собственные методы для правильного копирования, которые называют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DeepCopy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или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Clone.</a:t>
            </a:r>
            <a:endParaRPr lang="ru-RU" sz="1200" dirty="0"/>
          </a:p>
          <a:p>
            <a:pPr marL="0" indent="0">
              <a:lnSpc>
                <a:spcPct val="100000"/>
              </a:lnSpc>
              <a:buNone/>
            </a:pPr>
            <a:endParaRPr lang="ru-RU" sz="12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200" dirty="0"/>
              <a:t>Существует ряд пакетов помогающий в этом вопросе: </a:t>
            </a:r>
            <a:r>
              <a:rPr lang="en-US" sz="1200" dirty="0">
                <a:hlinkClick r:id="rId2"/>
              </a:rPr>
              <a:t>https://habr.com/ru/companies/avito/articles/743332/</a:t>
            </a:r>
            <a:endParaRPr lang="ru-RU" sz="1200" dirty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F118968-1D91-E1F5-1097-64D5AF47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Конструктор копирования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28005033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EA8A94F-5D16-6464-2E03-6765A264B0C8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400" dirty="0"/>
              <a:t>Конструктор перемещения</a:t>
            </a:r>
          </a:p>
        </p:txBody>
      </p:sp>
    </p:spTree>
    <p:extLst>
      <p:ext uri="{BB962C8B-B14F-4D97-AF65-F5344CB8AC3E}">
        <p14:creationId xmlns:p14="http://schemas.microsoft.com/office/powerpoint/2010/main" val="245911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Конструктор перемещения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ru-RU" sz="1800" dirty="0"/>
          </a:p>
          <a:p>
            <a:pPr marL="0" indent="0">
              <a:lnSpc>
                <a:spcPct val="100000"/>
              </a:lnSpc>
              <a:buNone/>
            </a:pPr>
            <a:endParaRPr lang="ru-RU" sz="1800" dirty="0"/>
          </a:p>
          <a:p>
            <a:pPr marL="0" indent="0">
              <a:lnSpc>
                <a:spcPct val="100000"/>
              </a:lnSpc>
              <a:buNone/>
            </a:pPr>
            <a:endParaRPr lang="ru-RU" sz="18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800" dirty="0"/>
              <a:t>Понятия конструктор перемещения в </a:t>
            </a:r>
            <a:r>
              <a:rPr lang="en-US" sz="1800" dirty="0"/>
              <a:t>Go </a:t>
            </a:r>
            <a:r>
              <a:rPr lang="ru-RU" sz="1800" dirty="0"/>
              <a:t>не существует. В </a:t>
            </a:r>
            <a:r>
              <a:rPr lang="en-US" sz="1800" dirty="0"/>
              <a:t>Go </a:t>
            </a:r>
            <a:r>
              <a:rPr lang="ru-RU" sz="1800" dirty="0"/>
              <a:t>отсутствуют механизмы при помощи которых можно было бы реализовать функционал подобный конструктору перемещения.</a:t>
            </a:r>
          </a:p>
        </p:txBody>
      </p:sp>
    </p:spTree>
    <p:extLst>
      <p:ext uri="{BB962C8B-B14F-4D97-AF65-F5344CB8AC3E}">
        <p14:creationId xmlns:p14="http://schemas.microsoft.com/office/powerpoint/2010/main" val="13555780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EA8A94F-5D16-6464-2E03-6765A264B0C8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400" dirty="0"/>
              <a:t>Спецификаторы доступа</a:t>
            </a:r>
          </a:p>
        </p:txBody>
      </p:sp>
    </p:spTree>
    <p:extLst>
      <p:ext uri="{BB962C8B-B14F-4D97-AF65-F5344CB8AC3E}">
        <p14:creationId xmlns:p14="http://schemas.microsoft.com/office/powerpoint/2010/main" val="6412642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02768"/>
            <a:ext cx="10515599" cy="4574195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/>
              <a:t>В </a:t>
            </a:r>
            <a:r>
              <a:rPr lang="en-US" sz="2000" dirty="0"/>
              <a:t>Go</a:t>
            </a:r>
            <a:r>
              <a:rPr lang="ru-RU" sz="2000" dirty="0"/>
              <a:t> отсутствуют спецификаторы областей видимости аналогичные спецификаторам С++ (</a:t>
            </a:r>
            <a:r>
              <a:rPr lang="ru-RU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, </a:t>
            </a:r>
            <a:r>
              <a:rPr lang="ru-RU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ru-RU" sz="2000" dirty="0"/>
              <a:t>)</a:t>
            </a:r>
            <a:r>
              <a:rPr lang="en-US" sz="2000" dirty="0"/>
              <a:t>.</a:t>
            </a:r>
            <a:r>
              <a:rPr lang="ru-RU" sz="2000" dirty="0"/>
              <a:t> Вместо этого используется 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система контроля доступа, основанная на </a:t>
            </a:r>
            <a:r>
              <a:rPr lang="ru-RU" sz="2000" b="1" i="0" dirty="0">
                <a:solidFill>
                  <a:srgbClr val="0F1115"/>
                </a:solidFill>
                <a:effectLst/>
                <a:latin typeface="quote-cjk-patch"/>
              </a:rPr>
              <a:t>регистре первой буквы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 идентификатора.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>
              <a:solidFill>
                <a:srgbClr val="0F1115"/>
              </a:solidFill>
              <a:latin typeface="quote-cjk-patch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solidFill>
                  <a:srgbClr val="0F1115"/>
                </a:solidFill>
                <a:latin typeface="quote-cjk-patch"/>
              </a:rPr>
              <a:t>Второй механизм – интерфейсы, которые предоставляют доступ только к методам и только к тем, которые описаны в интерфейсе.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/>
              <a:t>В третьих можно использовать </a:t>
            </a:r>
            <a:r>
              <a:rPr lang="ru-RU" sz="2000" dirty="0">
                <a:solidFill>
                  <a:srgbClr val="0F1115"/>
                </a:solidFill>
                <a:effectLst/>
                <a:latin typeface="quote-cjk-patch"/>
              </a:rPr>
              <a:t>контроль доступа через пакетную организацию. Т.е. поместив пакет</a:t>
            </a:r>
            <a:r>
              <a:rPr lang="ru-RU" sz="2000" dirty="0">
                <a:solidFill>
                  <a:srgbClr val="0F1115"/>
                </a:solidFill>
                <a:latin typeface="quote-cjk-patch"/>
              </a:rPr>
              <a:t>ы</a:t>
            </a:r>
            <a:r>
              <a:rPr lang="ru-RU" sz="2000" dirty="0">
                <a:solidFill>
                  <a:srgbClr val="0F1115"/>
                </a:solidFill>
                <a:effectLst/>
                <a:latin typeface="quote-cjk-patch"/>
              </a:rPr>
              <a:t> в каталог "</a:t>
            </a:r>
            <a:r>
              <a:rPr lang="en-US" sz="2000" dirty="0">
                <a:solidFill>
                  <a:srgbClr val="0F1115"/>
                </a:solidFill>
                <a:effectLst/>
                <a:latin typeface="quote-cjk-patch"/>
              </a:rPr>
              <a:t>internal</a:t>
            </a:r>
            <a:r>
              <a:rPr lang="ru-RU" sz="2000" dirty="0">
                <a:solidFill>
                  <a:srgbClr val="0F1115"/>
                </a:solidFill>
                <a:effectLst/>
                <a:latin typeface="quote-cjk-patch"/>
              </a:rPr>
              <a:t>" можно сделать их доступными только внутри текущего пакета и </a:t>
            </a:r>
            <a:r>
              <a:rPr lang="ru-RU" sz="2000" dirty="0" err="1">
                <a:solidFill>
                  <a:srgbClr val="0F1115"/>
                </a:solidFill>
                <a:effectLst/>
                <a:latin typeface="quote-cjk-patch"/>
              </a:rPr>
              <a:t>подпакетов</a:t>
            </a:r>
            <a:r>
              <a:rPr lang="ru-RU" sz="2000" dirty="0">
                <a:solidFill>
                  <a:srgbClr val="0F1115"/>
                </a:solidFill>
                <a:effectLst/>
                <a:latin typeface="quote-cjk-patch"/>
              </a:rPr>
              <a:t>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0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F118968-1D91-E1F5-1097-64D5AF47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Спецификаторы доступа</a:t>
            </a:r>
          </a:p>
        </p:txBody>
      </p:sp>
    </p:spTree>
    <p:extLst>
      <p:ext uri="{BB962C8B-B14F-4D97-AF65-F5344CB8AC3E}">
        <p14:creationId xmlns:p14="http://schemas.microsoft.com/office/powerpoint/2010/main" val="24426490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02768"/>
            <a:ext cx="5257801" cy="4574195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mypkg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Публичная структура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User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Name   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Публичное поле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Email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Публичное поле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secret 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Приватное поле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Публичный метод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(u *User)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u.Name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Публичная функция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NewUser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(name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*User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&amp;User{Name: name}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Публичная константа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MaxUsers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F118968-1D91-E1F5-1097-64D5AF47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Управление доступом – </a:t>
            </a:r>
            <a:r>
              <a:rPr lang="ru-RU" sz="4000" i="0" dirty="0">
                <a:solidFill>
                  <a:srgbClr val="0F1115"/>
                </a:solidFill>
                <a:effectLst/>
              </a:rPr>
              <a:t>регистр первой буквы </a:t>
            </a:r>
            <a:endParaRPr lang="ru-RU" sz="4000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158FB6FD-2B11-49EB-BC84-65FFB68836EE}"/>
              </a:ext>
            </a:extLst>
          </p:cNvPr>
          <p:cNvSpPr txBox="1">
            <a:spLocks/>
          </p:cNvSpPr>
          <p:nvPr/>
        </p:nvSpPr>
        <p:spPr>
          <a:xfrm>
            <a:off x="6095999" y="1602767"/>
            <a:ext cx="5257801" cy="4574195"/>
          </a:xfrm>
          <a:prstGeom prst="rect">
            <a:avLst/>
          </a:prstGeom>
        </p:spPr>
        <p:txBody>
          <a:bodyPr vert="horz" lIns="14400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Приватный метод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func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(u *User)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setName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(name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u.Name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name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Приватная функция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func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validateEmail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(email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strings.Contains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(email,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"@"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Приватная переменная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userCount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8013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02768"/>
            <a:ext cx="10515600" cy="4574195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storage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Публичный интерфейс</a:t>
            </a:r>
            <a:endParaRPr lang="ru-RU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Storage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Save(key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data []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byte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error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Load(key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([]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byte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/**********************************************************/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Приватная реализация</a:t>
            </a:r>
            <a:endParaRPr lang="ru-RU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fileStorage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basePath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(fs *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fileStorage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Save(key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data []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byte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реализация</a:t>
            </a:r>
            <a:endParaRPr lang="ru-RU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nil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(fs *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fileStorage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Load(key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([]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byte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реализация</a:t>
            </a:r>
            <a:endParaRPr lang="ru-RU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nil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nil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Фабричная функция возвращает интерфейс, скрывая реализацию</a:t>
            </a:r>
            <a:endParaRPr lang="ru-RU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NewFileStorage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(path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Storage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fileStorage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basePath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path}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F118968-1D91-E1F5-1097-64D5AF47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Управление доступом – интерфейсы</a:t>
            </a:r>
          </a:p>
        </p:txBody>
      </p:sp>
    </p:spTree>
    <p:extLst>
      <p:ext uri="{BB962C8B-B14F-4D97-AF65-F5344CB8AC3E}">
        <p14:creationId xmlns:p14="http://schemas.microsoft.com/office/powerpoint/2010/main" val="23331513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F118968-1D91-E1F5-1097-64D5AF47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Управление доступом – пакетная организация</a:t>
            </a: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B3E7D494-6952-863D-85F9-5B8806B8BE8A}"/>
              </a:ext>
            </a:extLst>
          </p:cNvPr>
          <p:cNvSpPr/>
          <p:nvPr/>
        </p:nvSpPr>
        <p:spPr>
          <a:xfrm>
            <a:off x="6235394" y="1643815"/>
            <a:ext cx="5064510" cy="2010228"/>
          </a:xfrm>
          <a:prstGeom prst="roundRect">
            <a:avLst>
              <a:gd name="adj" fmla="val 1742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Структура: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project/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├── go.mod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├──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main.go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└── auth/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    ├── internal/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    │   └── hasher/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    │       └──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hasher.go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    └──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auth.go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79A28BE-DACB-4379-BF7C-8676EB9017F8}"/>
              </a:ext>
            </a:extLst>
          </p:cNvPr>
          <p:cNvSpPr/>
          <p:nvPr/>
        </p:nvSpPr>
        <p:spPr>
          <a:xfrm>
            <a:off x="6127596" y="3924272"/>
            <a:ext cx="5172308" cy="25639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r">
              <a:buNone/>
            </a:pPr>
            <a:r>
              <a:rPr lang="ru-RU" sz="1100" dirty="0">
                <a:solidFill>
                  <a:schemeClr val="tx1"/>
                </a:solidFill>
                <a:latin typeface="Consolas" panose="020B0609020204030204" pitchFamily="49" charset="0"/>
              </a:rPr>
              <a:t>"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49" charset="0"/>
              </a:rPr>
              <a:t>project/auth/internal/hasher/</a:t>
            </a:r>
            <a:r>
              <a:rPr lang="en-US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hasher.go</a:t>
            </a:r>
            <a:r>
              <a:rPr lang="ru-RU" sz="1100" dirty="0">
                <a:solidFill>
                  <a:schemeClr val="tx1"/>
                </a:solidFill>
                <a:latin typeface="Consolas" panose="020B0609020204030204" pitchFamily="49" charset="0"/>
              </a:rPr>
              <a:t>"</a:t>
            </a:r>
          </a:p>
          <a:p>
            <a:pPr marL="0" indent="0">
              <a:buNone/>
            </a:pPr>
            <a:r>
              <a:rPr lang="en-US" sz="11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hasher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Доступно только внутри </a:t>
            </a: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auth </a:t>
            </a:r>
            <a:r>
              <a:rPr lang="ru-RU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 его </a:t>
            </a:r>
            <a:r>
              <a:rPr lang="ru-RU" sz="11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подпакетов</a:t>
            </a:r>
            <a:endParaRPr lang="ru-RU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Hasher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secret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NewHasher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(secret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*Hasher {</a:t>
            </a:r>
          </a:p>
          <a:p>
            <a:pPr marL="0" indent="0"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&amp;Hasher{secret: secret}</a:t>
            </a:r>
          </a:p>
          <a:p>
            <a:pPr marL="0" indent="0"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(h *Hasher) Hash(password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"hashed:"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password</a:t>
            </a:r>
          </a:p>
          <a:p>
            <a:pPr marL="0" indent="0"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594F7A2-ED01-4E1F-9E23-1A60BD82FECF}"/>
              </a:ext>
            </a:extLst>
          </p:cNvPr>
          <p:cNvSpPr/>
          <p:nvPr/>
        </p:nvSpPr>
        <p:spPr>
          <a:xfrm>
            <a:off x="838199" y="4081345"/>
            <a:ext cx="5172308" cy="24115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r">
              <a:buNone/>
            </a:pPr>
            <a:r>
              <a:rPr 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project/auth/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auth.go</a:t>
            </a:r>
            <a:r>
              <a:rPr 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"</a:t>
            </a:r>
          </a:p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auth</a:t>
            </a: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fmt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"project/auth/internal/hasher"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Print()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fmt.Sprint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hasher.NewHasher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"123"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AEB3496-66CD-4001-BF79-458F45787A96}"/>
              </a:ext>
            </a:extLst>
          </p:cNvPr>
          <p:cNvSpPr/>
          <p:nvPr/>
        </p:nvSpPr>
        <p:spPr>
          <a:xfrm>
            <a:off x="838198" y="1588060"/>
            <a:ext cx="5172307" cy="24115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r">
              <a:buNone/>
            </a:pPr>
            <a:r>
              <a:rPr 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project/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main.go</a:t>
            </a:r>
            <a:r>
              <a:rPr 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"</a:t>
            </a:r>
          </a:p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</a:t>
            </a: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"project/auth"</a:t>
            </a:r>
          </a:p>
          <a:p>
            <a:r>
              <a:rPr lang="ru-RU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"project/auth/internal/hasher"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Ошибка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auth.Print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393640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EA8A94F-5D16-6464-2E03-6765A264B0C8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400" dirty="0"/>
              <a:t>Неполный тип</a:t>
            </a:r>
          </a:p>
        </p:txBody>
      </p:sp>
    </p:spTree>
    <p:extLst>
      <p:ext uri="{BB962C8B-B14F-4D97-AF65-F5344CB8AC3E}">
        <p14:creationId xmlns:p14="http://schemas.microsoft.com/office/powerpoint/2010/main" val="791041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Неполный тип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800" b="0" i="0" dirty="0">
              <a:solidFill>
                <a:srgbClr val="0F1115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800" dirty="0">
              <a:solidFill>
                <a:srgbClr val="0F1115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800" b="0" i="0" dirty="0">
              <a:solidFill>
                <a:srgbClr val="0F1115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800" dirty="0">
              <a:solidFill>
                <a:srgbClr val="0F1115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800" b="0" i="0" dirty="0"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В Go нет прямого аналога</a:t>
            </a:r>
            <a:r>
              <a:rPr lang="ru-RU" sz="1800" i="0" dirty="0"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 неполных типов (</a:t>
            </a:r>
            <a:r>
              <a:rPr lang="ru-RU" sz="1800" i="0" dirty="0" err="1"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incomplete</a:t>
            </a:r>
            <a:r>
              <a:rPr lang="ru-RU" sz="1800" i="0" dirty="0"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800" i="0" dirty="0" err="1"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types</a:t>
            </a:r>
            <a:r>
              <a:rPr lang="ru-RU" sz="1800" i="0" dirty="0"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) из C++, т.к. область видимости идентификаторов объявленных внутри пакета – весь пакет, а идентификаторы импортируемые из других пакетов импортируются в самом верху файла, т.е. нет такой точки выше которой идентификатор не виден, а ниже которой виден.</a:t>
            </a:r>
            <a:endParaRPr lang="ru-RU" i="0" u="none" strike="noStrike" dirty="0">
              <a:solidFill>
                <a:srgbClr val="24292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64471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02768"/>
            <a:ext cx="10515599" cy="4574195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Нельзя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Node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data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next Node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Следующая </a:t>
            </a:r>
            <a:r>
              <a:rPr lang="ru-RU" sz="20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нода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Так можно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Node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data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next *Node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Следующая </a:t>
            </a:r>
            <a:r>
              <a:rPr lang="ru-RU" sz="20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нода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F118968-1D91-E1F5-1097-64D5AF47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Использование себя как поля</a:t>
            </a: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B3E7D494-6952-863D-85F9-5B8806B8BE8A}"/>
              </a:ext>
            </a:extLst>
          </p:cNvPr>
          <p:cNvSpPr/>
          <p:nvPr/>
        </p:nvSpPr>
        <p:spPr>
          <a:xfrm>
            <a:off x="7366571" y="1602767"/>
            <a:ext cx="3987227" cy="1541877"/>
          </a:xfrm>
          <a:prstGeom prst="roundRect">
            <a:avLst>
              <a:gd name="adj" fmla="val 1742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Структура не может использовать себя в качестве своего же поля, потому что это приведёт к бесконечному рекурсивному выделению памяти под объект такой структуры</a:t>
            </a:r>
            <a:r>
              <a:rPr lang="en-US" sz="130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endParaRPr lang="ru-RU" sz="13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Структура может использовать указатель на себя как поле, как возвращаемый тип или параметр метода.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3299096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02768"/>
            <a:ext cx="10515599" cy="4574195"/>
          </a:xfrm>
        </p:spPr>
        <p:txBody>
          <a:bodyPr lIns="144000">
            <a:noAutofit/>
          </a:bodyPr>
          <a:lstStyle/>
          <a:p>
            <a:pPr marL="0" indent="0">
              <a:buNone/>
            </a:pP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b_field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</a:t>
            </a:r>
          </a:p>
          <a:p>
            <a:pPr marL="0" indent="0"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a_field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</a:t>
            </a:r>
          </a:p>
          <a:p>
            <a:pPr marL="0" indent="0"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/**************** </a:t>
            </a:r>
            <a:r>
              <a:rPr lang="ru-RU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компилятор разрешает циклические зависимости</a:t>
            </a:r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*****************/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b_field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*B</a:t>
            </a:r>
          </a:p>
          <a:p>
            <a:pPr marL="0" indent="0"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a_field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*A</a:t>
            </a:r>
          </a:p>
          <a:p>
            <a:pPr marL="0" indent="0"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F118968-1D91-E1F5-1097-64D5AF47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Решение циклических зависимостей</a:t>
            </a:r>
          </a:p>
        </p:txBody>
      </p:sp>
    </p:spTree>
    <p:extLst>
      <p:ext uri="{BB962C8B-B14F-4D97-AF65-F5344CB8AC3E}">
        <p14:creationId xmlns:p14="http://schemas.microsoft.com/office/powerpoint/2010/main" val="35792096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02768"/>
            <a:ext cx="10515599" cy="4574195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fmt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(a *A) method(param B)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param.value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value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 = B{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a.method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(b)  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10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F118968-1D91-E1F5-1097-64D5AF47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Использование в методах</a:t>
            </a:r>
          </a:p>
        </p:txBody>
      </p:sp>
    </p:spTree>
    <p:extLst>
      <p:ext uri="{BB962C8B-B14F-4D97-AF65-F5344CB8AC3E}">
        <p14:creationId xmlns:p14="http://schemas.microsoft.com/office/powerpoint/2010/main" val="8968696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EA8A94F-5D16-6464-2E03-6765A264B0C8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400" dirty="0"/>
              <a:t>Устройство объекта в памяти</a:t>
            </a:r>
          </a:p>
        </p:txBody>
      </p:sp>
    </p:spTree>
    <p:extLst>
      <p:ext uri="{BB962C8B-B14F-4D97-AF65-F5344CB8AC3E}">
        <p14:creationId xmlns:p14="http://schemas.microsoft.com/office/powerpoint/2010/main" val="35671854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Объект в памяти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2220"/>
            <a:ext cx="4668748" cy="4594743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fmt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"unsafe"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value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value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(c *C) String()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fmt.Sprint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c.value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A60D7D44-3406-F906-8D63-6C4C2689499E}"/>
              </a:ext>
            </a:extLst>
          </p:cNvPr>
          <p:cNvSpPr txBox="1">
            <a:spLocks/>
          </p:cNvSpPr>
          <p:nvPr/>
        </p:nvSpPr>
        <p:spPr>
          <a:xfrm>
            <a:off x="5506948" y="1582220"/>
            <a:ext cx="5846852" cy="45947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 := A{}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 := B{}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 := C{}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"A: %d\n"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unsafe.Sizeof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(a))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A: 0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"B: %d\n"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unsafe.Sizeof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(b))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A: 8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"C: %d\n"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unsafe.Sizeof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(c))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A: 8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EC5A1C44-BC31-1EF9-F00D-58BCE0F826CB}"/>
              </a:ext>
            </a:extLst>
          </p:cNvPr>
          <p:cNvSpPr/>
          <p:nvPr/>
        </p:nvSpPr>
        <p:spPr>
          <a:xfrm>
            <a:off x="5506948" y="4751298"/>
            <a:ext cx="5187071" cy="524482"/>
          </a:xfrm>
          <a:prstGeom prst="roundRect">
            <a:avLst>
              <a:gd name="adj" fmla="val 1742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u-RU" sz="1400" dirty="0"/>
              <a:t>Место в</a:t>
            </a:r>
            <a:r>
              <a:rPr lang="en-US" sz="1400" dirty="0"/>
              <a:t> </a:t>
            </a:r>
            <a:r>
              <a:rPr lang="ru-RU" sz="1400" dirty="0"/>
              <a:t>экземпляре структуры занимают только поля</a:t>
            </a:r>
            <a:r>
              <a:rPr lang="en-US" sz="140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1400" dirty="0"/>
              <a:t>Методы не занимают в памяти объекта никакого места.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7138312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EA8A94F-5D16-6464-2E03-6765A264B0C8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400" dirty="0"/>
              <a:t>Разделение кода класса</a:t>
            </a:r>
            <a:r>
              <a:rPr lang="en-US" sz="4400" dirty="0"/>
              <a:t> </a:t>
            </a:r>
            <a:r>
              <a:rPr lang="ru-RU" sz="4400" dirty="0"/>
              <a:t>на файлы</a:t>
            </a:r>
          </a:p>
        </p:txBody>
      </p:sp>
    </p:spTree>
    <p:extLst>
      <p:ext uri="{BB962C8B-B14F-4D97-AF65-F5344CB8AC3E}">
        <p14:creationId xmlns:p14="http://schemas.microsoft.com/office/powerpoint/2010/main" val="174290419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Разделение кода на файлы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b="0" i="0" u="none" strike="noStrike" dirty="0">
                <a:solidFill>
                  <a:srgbClr val="24292F"/>
                </a:solidFill>
                <a:effectLst/>
              </a:rPr>
              <a:t>В </a:t>
            </a:r>
            <a:r>
              <a:rPr lang="en-US" sz="1600" b="0" i="0" u="none" strike="noStrike" dirty="0">
                <a:solidFill>
                  <a:srgbClr val="24292F"/>
                </a:solidFill>
                <a:effectLst/>
              </a:rPr>
              <a:t>Go </a:t>
            </a:r>
            <a:r>
              <a:rPr lang="ru-RU" sz="1600" b="0" i="0" u="none" strike="noStrike" dirty="0">
                <a:solidFill>
                  <a:srgbClr val="24292F"/>
                </a:solidFill>
                <a:effectLst/>
              </a:rPr>
              <a:t>код можно разделять на файлы. Если код принадлежит одному пакету, то область видимости идентификаторов распространяется на все файлы.</a:t>
            </a:r>
            <a:endParaRPr lang="ru-RU" sz="1600" dirty="0">
              <a:solidFill>
                <a:srgbClr val="24292F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EB8F3CF-D802-410A-92AB-6147ECE8504A}"/>
              </a:ext>
            </a:extLst>
          </p:cNvPr>
          <p:cNvSpPr/>
          <p:nvPr/>
        </p:nvSpPr>
        <p:spPr>
          <a:xfrm>
            <a:off x="938561" y="2759925"/>
            <a:ext cx="4168698" cy="331748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bank</a:t>
            </a: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Account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balance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owner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endParaRPr lang="ru-RU" sz="14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Конструктор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NewAccount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(owner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*Account 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&amp;Account{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owner:   owner,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balance: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A3A51ED-437B-4A5C-BD2F-567D6082C4C5}"/>
              </a:ext>
            </a:extLst>
          </p:cNvPr>
          <p:cNvSpPr/>
          <p:nvPr/>
        </p:nvSpPr>
        <p:spPr>
          <a:xfrm>
            <a:off x="5913863" y="2759924"/>
            <a:ext cx="5107258" cy="331748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bank</a:t>
            </a:r>
          </a:p>
          <a:p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(a *Account) Deposit(amount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amount &gt;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a.balance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amount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(a *Account) Withdraw(amount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amount &gt;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a.balance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amount 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a.balance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-= amount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578788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EA8A94F-5D16-6464-2E03-6765A264B0C8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400" dirty="0"/>
              <a:t>Перегрузка операторов</a:t>
            </a:r>
          </a:p>
        </p:txBody>
      </p:sp>
    </p:spTree>
    <p:extLst>
      <p:ext uri="{BB962C8B-B14F-4D97-AF65-F5344CB8AC3E}">
        <p14:creationId xmlns:p14="http://schemas.microsoft.com/office/powerpoint/2010/main" val="151748035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Перегрузка операторов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fmt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"sort"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Person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Name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Age  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ByAge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[]Person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(a 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ByAge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Len()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    {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(a)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(a 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ByAge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Swap(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j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    { a[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a[j] = a[j], a[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(a 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ByAge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Less(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j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a[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].Age &lt; a[j].Age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people := []Person{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Алексей"</a:t>
            </a:r>
            <a:r>
              <a:rPr lang="ru-RU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ru-RU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</a:t>
            </a:r>
            <a:r>
              <a:rPr lang="ru-RU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"Мария"</a:t>
            </a:r>
            <a:r>
              <a:rPr lang="ru-RU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25</a:t>
            </a:r>
            <a:r>
              <a:rPr lang="ru-RU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</a:t>
            </a:r>
            <a:r>
              <a:rPr lang="ru-RU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"Иван"</a:t>
            </a:r>
            <a:r>
              <a:rPr lang="ru-RU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35</a:t>
            </a:r>
            <a:r>
              <a:rPr lang="ru-RU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br>
              <a:rPr lang="ru-RU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sort.Sort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ByAge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(people))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(people) </a:t>
            </a:r>
            <a:r>
              <a:rPr lang="en-US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[{</a:t>
            </a:r>
            <a:r>
              <a:rPr lang="ru-RU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Мария 25} {Алексей 30} {Иван 35}]</a:t>
            </a:r>
            <a:endParaRPr lang="ru-RU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Скругленный прямоугольник 4">
            <a:extLst>
              <a:ext uri="{FF2B5EF4-FFF2-40B4-BE49-F238E27FC236}">
                <a16:creationId xmlns:a16="http://schemas.microsoft.com/office/drawing/2014/main" id="{DDC3B436-8CFA-429F-BA2F-ADF432DE4945}"/>
              </a:ext>
            </a:extLst>
          </p:cNvPr>
          <p:cNvSpPr/>
          <p:nvPr/>
        </p:nvSpPr>
        <p:spPr>
          <a:xfrm>
            <a:off x="6990185" y="3127200"/>
            <a:ext cx="3246634" cy="874094"/>
          </a:xfrm>
          <a:prstGeom prst="roundRect">
            <a:avLst>
              <a:gd name="adj" fmla="val 1742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100" b="0" i="0" dirty="0"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В Go напрямую</a:t>
            </a:r>
            <a:r>
              <a:rPr lang="ru-RU" sz="1100" dirty="0">
                <a:solidFill>
                  <a:srgbClr val="0F1115"/>
                </a:solidFill>
                <a:latin typeface="Consolas" panose="020B0609020204030204" pitchFamily="49" charset="0"/>
              </a:rPr>
              <a:t> нет</a:t>
            </a:r>
            <a:r>
              <a:rPr lang="ru-RU" sz="1100" b="0" i="0" dirty="0"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 перегрузка операторов, вместо этого обычно используются методы с соответствующими именами и/или интерфейсы</a:t>
            </a:r>
            <a:r>
              <a:rPr lang="en-US" sz="1100" dirty="0">
                <a:solidFill>
                  <a:srgbClr val="0F1115"/>
                </a:solidFill>
                <a:latin typeface="Consolas" panose="020B0609020204030204" pitchFamily="49" charset="0"/>
              </a:rPr>
              <a:t>.</a:t>
            </a:r>
            <a:endParaRPr lang="ru-RU" sz="1600" dirty="0">
              <a:solidFill>
                <a:srgbClr val="24292F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23810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Оператор преобразования типа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b="0" i="0" dirty="0">
              <a:solidFill>
                <a:srgbClr val="0F1115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0F1115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b="0" i="0" dirty="0">
              <a:solidFill>
                <a:srgbClr val="0F1115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0F1115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b="0" i="0" dirty="0">
              <a:solidFill>
                <a:srgbClr val="0F1115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0F1115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b="0" i="0" dirty="0"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В Go нет прямого аналога</a:t>
            </a:r>
            <a:r>
              <a:rPr lang="ru-RU" sz="1600" i="0" dirty="0"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ru-RU" sz="1600" dirty="0">
                <a:solidFill>
                  <a:srgbClr val="0F1115"/>
                </a:solidFill>
                <a:latin typeface="Consolas" panose="020B0609020204030204" pitchFamily="49" charset="0"/>
              </a:rPr>
              <a:t>преобразования</a:t>
            </a:r>
            <a:r>
              <a:rPr lang="ru-RU" sz="1600" i="0" dirty="0"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 типов для этих целей, как правило используются либо стандартные преобразования либо собственные методы.</a:t>
            </a:r>
            <a:endParaRPr lang="ru-RU" sz="1600" i="0" u="none" strike="noStrike" dirty="0">
              <a:solidFill>
                <a:srgbClr val="24292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043397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4326</TotalTime>
  <Words>5016</Words>
  <Application>Microsoft Office PowerPoint</Application>
  <PresentationFormat>Широкоэкранный</PresentationFormat>
  <Paragraphs>677</Paragraphs>
  <Slides>50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50</vt:i4>
      </vt:variant>
    </vt:vector>
  </HeadingPairs>
  <TitlesOfParts>
    <vt:vector size="57" baseType="lpstr">
      <vt:lpstr>-apple-system</vt:lpstr>
      <vt:lpstr>Arial</vt:lpstr>
      <vt:lpstr>Calibri</vt:lpstr>
      <vt:lpstr>Calibri Light</vt:lpstr>
      <vt:lpstr>Consolas</vt:lpstr>
      <vt:lpstr>quote-cjk-patch</vt:lpstr>
      <vt:lpstr>Тема Office</vt:lpstr>
      <vt:lpstr>Алгоритмизация и программирование</vt:lpstr>
      <vt:lpstr>Язык математиков и инженеров</vt:lpstr>
      <vt:lpstr>Язык бизнеса</vt:lpstr>
      <vt:lpstr>ООП</vt:lpstr>
      <vt:lpstr>Презентация PowerPoint</vt:lpstr>
      <vt:lpstr>Презентация PowerPoint</vt:lpstr>
      <vt:lpstr>Презентация PowerPoint</vt:lpstr>
      <vt:lpstr>Презентация PowerPoint</vt:lpstr>
      <vt:lpstr>Основные принципы ООП</vt:lpstr>
      <vt:lpstr>Поддержка ООП в Go</vt:lpstr>
      <vt:lpstr>Какие бывают поля – поля объекта</vt:lpstr>
      <vt:lpstr>Какие бывают поля – поля объекта</vt:lpstr>
      <vt:lpstr>Какие бывают поля – поля "класса"</vt:lpstr>
      <vt:lpstr>Какие бывают поля – "поля класса"</vt:lpstr>
      <vt:lpstr>Какие бывают методы – методы объекта</vt:lpstr>
      <vt:lpstr>Тип ресивера при объявлении метода</vt:lpstr>
      <vt:lpstr>Метод объекта – вызов метода</vt:lpstr>
      <vt:lpstr>Метод объекта – вызов метода через интерфейс</vt:lpstr>
      <vt:lpstr>Метод объекта – аналог виртуальных методов</vt:lpstr>
      <vt:lpstr>Методы объекта – доступ к другим членам класса из тела метода</vt:lpstr>
      <vt:lpstr>Какие бывают методы – "методы класса"</vt:lpstr>
      <vt:lpstr>Какие бывают методы – "методы класса"</vt:lpstr>
      <vt:lpstr>Презентация PowerPoint</vt:lpstr>
      <vt:lpstr>Презентация PowerPoint</vt:lpstr>
      <vt:lpstr>Конструктор</vt:lpstr>
      <vt:lpstr>Презентация PowerPoint</vt:lpstr>
      <vt:lpstr>Деструктор</vt:lpstr>
      <vt:lpstr>Деструктор - паттерн "WithCleanup"</vt:lpstr>
      <vt:lpstr>Деструктор - финализатор</vt:lpstr>
      <vt:lpstr>Презентация PowerPoint</vt:lpstr>
      <vt:lpstr>Конструктор копирования</vt:lpstr>
      <vt:lpstr>Презентация PowerPoint</vt:lpstr>
      <vt:lpstr>Конструктор перемещения</vt:lpstr>
      <vt:lpstr>Презентация PowerPoint</vt:lpstr>
      <vt:lpstr>Спецификаторы доступа</vt:lpstr>
      <vt:lpstr>Управление доступом – регистр первой буквы </vt:lpstr>
      <vt:lpstr>Управление доступом – интерфейсы</vt:lpstr>
      <vt:lpstr>Управление доступом – пакетная организация</vt:lpstr>
      <vt:lpstr>Презентация PowerPoint</vt:lpstr>
      <vt:lpstr>Неполный тип</vt:lpstr>
      <vt:lpstr>Использование себя как поля</vt:lpstr>
      <vt:lpstr>Решение циклических зависимостей</vt:lpstr>
      <vt:lpstr>Использование в методах</vt:lpstr>
      <vt:lpstr>Презентация PowerPoint</vt:lpstr>
      <vt:lpstr>Объект в памяти</vt:lpstr>
      <vt:lpstr>Презентация PowerPoint</vt:lpstr>
      <vt:lpstr>Разделение кода на файлы</vt:lpstr>
      <vt:lpstr>Презентация PowerPoint</vt:lpstr>
      <vt:lpstr>Перегрузка операторов</vt:lpstr>
      <vt:lpstr>Оператор преобразования типа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Professional</dc:creator>
  <cp:lastModifiedBy>Professional</cp:lastModifiedBy>
  <cp:revision>465</cp:revision>
  <dcterms:created xsi:type="dcterms:W3CDTF">2022-09-17T16:00:43Z</dcterms:created>
  <dcterms:modified xsi:type="dcterms:W3CDTF">2025-11-02T18:41:50Z</dcterms:modified>
</cp:coreProperties>
</file>