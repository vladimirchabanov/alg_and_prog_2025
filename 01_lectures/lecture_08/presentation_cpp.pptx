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564" r:id="rId3"/>
    <p:sldId id="606" r:id="rId4"/>
    <p:sldId id="607" r:id="rId5"/>
    <p:sldId id="608" r:id="rId6"/>
    <p:sldId id="639" r:id="rId7"/>
    <p:sldId id="649" r:id="rId8"/>
    <p:sldId id="518" r:id="rId9"/>
    <p:sldId id="567" r:id="rId10"/>
    <p:sldId id="595" r:id="rId11"/>
    <p:sldId id="570" r:id="rId12"/>
    <p:sldId id="598" r:id="rId13"/>
    <p:sldId id="596" r:id="rId14"/>
    <p:sldId id="597" r:id="rId15"/>
    <p:sldId id="650" r:id="rId16"/>
    <p:sldId id="599" r:id="rId17"/>
    <p:sldId id="651" r:id="rId18"/>
    <p:sldId id="600" r:id="rId19"/>
    <p:sldId id="640" r:id="rId20"/>
    <p:sldId id="601" r:id="rId21"/>
    <p:sldId id="603" r:id="rId22"/>
    <p:sldId id="602" r:id="rId23"/>
    <p:sldId id="572" r:id="rId24"/>
    <p:sldId id="364" r:id="rId25"/>
    <p:sldId id="571" r:id="rId26"/>
    <p:sldId id="573" r:id="rId27"/>
    <p:sldId id="522" r:id="rId28"/>
    <p:sldId id="530" r:id="rId29"/>
    <p:sldId id="531" r:id="rId30"/>
    <p:sldId id="575" r:id="rId31"/>
    <p:sldId id="574" r:id="rId32"/>
    <p:sldId id="576" r:id="rId33"/>
    <p:sldId id="528" r:id="rId34"/>
    <p:sldId id="523" r:id="rId35"/>
    <p:sldId id="532" r:id="rId36"/>
    <p:sldId id="524" r:id="rId37"/>
    <p:sldId id="525" r:id="rId38"/>
    <p:sldId id="535" r:id="rId39"/>
    <p:sldId id="537" r:id="rId40"/>
    <p:sldId id="538" r:id="rId41"/>
    <p:sldId id="540" r:id="rId42"/>
    <p:sldId id="577" r:id="rId43"/>
    <p:sldId id="539" r:id="rId44"/>
    <p:sldId id="652" r:id="rId45"/>
    <p:sldId id="653" r:id="rId46"/>
    <p:sldId id="529" r:id="rId47"/>
    <p:sldId id="578" r:id="rId48"/>
    <p:sldId id="579" r:id="rId49"/>
    <p:sldId id="581" r:id="rId50"/>
    <p:sldId id="582" r:id="rId51"/>
    <p:sldId id="654" r:id="rId52"/>
    <p:sldId id="672" r:id="rId53"/>
    <p:sldId id="325" r:id="rId54"/>
    <p:sldId id="621" r:id="rId55"/>
    <p:sldId id="611" r:id="rId56"/>
    <p:sldId id="374" r:id="rId57"/>
    <p:sldId id="612" r:id="rId58"/>
    <p:sldId id="613" r:id="rId59"/>
    <p:sldId id="614" r:id="rId60"/>
    <p:sldId id="615" r:id="rId61"/>
    <p:sldId id="616" r:id="rId62"/>
    <p:sldId id="618" r:id="rId63"/>
    <p:sldId id="619" r:id="rId64"/>
    <p:sldId id="620" r:id="rId65"/>
    <p:sldId id="622" r:id="rId66"/>
    <p:sldId id="623" r:id="rId67"/>
    <p:sldId id="624" r:id="rId68"/>
    <p:sldId id="625" r:id="rId69"/>
    <p:sldId id="626" r:id="rId70"/>
    <p:sldId id="627" r:id="rId71"/>
    <p:sldId id="630" r:id="rId72"/>
    <p:sldId id="631" r:id="rId73"/>
    <p:sldId id="633" r:id="rId74"/>
    <p:sldId id="635" r:id="rId75"/>
    <p:sldId id="636" r:id="rId76"/>
    <p:sldId id="416" r:id="rId77"/>
    <p:sldId id="637" r:id="rId78"/>
    <p:sldId id="430" r:id="rId79"/>
    <p:sldId id="638" r:id="rId80"/>
    <p:sldId id="584" r:id="rId81"/>
    <p:sldId id="585" r:id="rId82"/>
    <p:sldId id="658" r:id="rId83"/>
    <p:sldId id="641" r:id="rId84"/>
    <p:sldId id="655" r:id="rId85"/>
    <p:sldId id="656" r:id="rId86"/>
    <p:sldId id="642" r:id="rId87"/>
    <p:sldId id="643" r:id="rId88"/>
    <p:sldId id="657" r:id="rId89"/>
    <p:sldId id="644" r:id="rId90"/>
    <p:sldId id="645" r:id="rId91"/>
    <p:sldId id="646" r:id="rId92"/>
    <p:sldId id="583" r:id="rId93"/>
    <p:sldId id="587" r:id="rId94"/>
    <p:sldId id="647" r:id="rId95"/>
    <p:sldId id="533" r:id="rId96"/>
    <p:sldId id="534" r:id="rId97"/>
    <p:sldId id="648" r:id="rId98"/>
    <p:sldId id="659" r:id="rId99"/>
    <p:sldId id="660" r:id="rId100"/>
    <p:sldId id="661" r:id="rId101"/>
    <p:sldId id="662" r:id="rId102"/>
    <p:sldId id="676" r:id="rId103"/>
    <p:sldId id="673" r:id="rId104"/>
    <p:sldId id="674" r:id="rId105"/>
    <p:sldId id="675" r:id="rId106"/>
    <p:sldId id="663" r:id="rId107"/>
    <p:sldId id="664" r:id="rId108"/>
    <p:sldId id="665" r:id="rId109"/>
    <p:sldId id="671" r:id="rId110"/>
    <p:sldId id="670" r:id="rId111"/>
    <p:sldId id="666" r:id="rId112"/>
    <p:sldId id="667" r:id="rId113"/>
    <p:sldId id="668" r:id="rId114"/>
    <p:sldId id="669" r:id="rId115"/>
    <p:sldId id="677" r:id="rId116"/>
    <p:sldId id="590" r:id="rId117"/>
    <p:sldId id="678" r:id="rId118"/>
    <p:sldId id="679" r:id="rId119"/>
    <p:sldId id="680" r:id="rId120"/>
    <p:sldId id="681" r:id="rId1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DF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40" autoAdjust="0"/>
    <p:restoredTop sz="94660"/>
  </p:normalViewPr>
  <p:slideViewPr>
    <p:cSldViewPr snapToGrid="0">
      <p:cViewPr varScale="1">
        <p:scale>
          <a:sx n="90" d="100"/>
          <a:sy n="90" d="100"/>
        </p:scale>
        <p:origin x="18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8DA07-F16D-B69B-14A0-7418829B7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B3408F-C035-7F86-E532-B954222B0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C57AC3-650B-F8BF-09C8-C2B4DCF5D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5080A7-D173-D34E-D987-E2C0D226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9F0AEA-F271-E44D-94AC-243C2E0D3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57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0891F9-3476-AFE5-6F5E-3F6F3495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018E34-1152-017B-392E-EC5AF886F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E6B264-13E2-2D5F-75D0-68AB7CE59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F410B0-1B06-0F94-EF8F-6FA03AC97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2BC443-9DF8-7811-4F50-DA0939A2C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09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BB0E42-F26B-36E2-773A-5304DE8E2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0D50AC-8755-6F61-DE6D-718C5790F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19F538-368E-46C8-6A0B-73E271187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3814CB-16AC-34F1-BD55-C50011C4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2C7843-79DC-CD5D-6D5F-64D2C2E8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25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42D8AA-77C9-6CF3-B23C-060CF9A5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AA2B99-F80E-BA07-D1F9-3C064028A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2856C9-4F89-DF11-6470-C21185733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DFBB0F-B9D7-A90B-517E-16E12B22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C37F6E-1F4C-532F-0447-20BD32FC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EC7790-8BEB-A53E-96DA-59A20A267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06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9CB15-C3CC-FC8F-4267-77F81CB56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EB9DDC-5705-3392-3A7F-B93CB61E5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E84CF1-DE2E-70BA-ACCD-77EF4A52F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C525FDA-E12E-5810-A164-BD0B3009F0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3155AC6-2DE0-9644-8874-5C573FD63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030CBA1-E9C4-65D8-3F54-9C4327D31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F279D99-E15E-B520-A991-2EC66A292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72153C6-95A4-8AB3-96F5-7545958C5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26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13BC6-745F-95A9-F0A9-5D3F0117D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CD8FD2A-5A7C-06F8-BA11-FEEC2B2AE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2B2300-90F1-8EE1-7A1B-9E065770B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D84C6DD-ED50-4B35-179E-27063A1D5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81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AEB7D92-DC5A-0240-10C9-26EA015DC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DC8479B-E009-4084-DC5E-8C0C58FD0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1C52AC-6679-DDE2-EAB6-B90CA53E1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43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D1796-E9D7-5349-C5F0-0F621903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4F04D9-CF54-2F53-1E1D-513D11518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66DECA-58B4-D9CA-A32D-E551C2950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3B75B1-5F06-22C7-2744-E67592E6A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59913B-8E29-FDEA-AD42-E6C129E28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6341C7-ACF3-27A9-D41E-A81E34A26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692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12B9E6-90A4-8F78-CEE1-18AC161EB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634F4B9-4857-D367-1A7E-378A1261D3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15942A2-88A4-A456-BA8F-817EB03F4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534529-81F3-E5CC-F7D5-302D2CBE1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B7EC93-E8EE-A4C6-C2D9-F5514772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1F8081-862B-8E61-8D8F-DB05F660C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1343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D43101-E793-1814-4501-14D47ED3D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8BDF28E-053E-8207-289B-815750ED3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10BEA8-5DA4-8A74-2DB9-E89C620D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44EB9A-EC5F-78B3-1922-55441952E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BA7CAC-00E8-85DE-A274-DF1FD1A60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14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3CE06E1-A559-DC12-8662-7F99C8E103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48BA418-DCB5-B785-79A6-5998ED0DE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71EC3E-DBBD-CD2F-8DC1-BB7902D3C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BBC658-E40F-8E05-ABE2-042431F36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F6B605-74F8-AA8D-86C6-78196C1EE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128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Содержимое 2"/>
          <p:cNvSpPr>
            <a:spLocks noGrp="1"/>
          </p:cNvSpPr>
          <p:nvPr>
            <p:ph idx="1" hasCustomPrompt="1"/>
          </p:nvPr>
        </p:nvSpPr>
        <p:spPr>
          <a:xfrm>
            <a:off x="1583499" y="1600201"/>
            <a:ext cx="10273141" cy="4525963"/>
          </a:xfrm>
        </p:spPr>
        <p:txBody>
          <a:bodyPr/>
          <a:lstStyle>
            <a:lvl1pPr marL="0" indent="0">
              <a:buNone/>
              <a:defRPr sz="3200" b="0" i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10343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BF59-2F6E-7D92-8A20-0252AACE2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722C2E-80F7-9376-442A-D3077DAF0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4D304D-BEEF-15F0-D934-036B46455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991E7-4DC9-4E0A-97D8-D75A75B67893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DAF6ED-B9AA-6C8C-C90F-3CCDC274B8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593123-3CF9-7A37-5654-90498C046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354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ubtyping" TargetMode="External"/><Relationship Id="rId2" Type="http://schemas.openxmlformats.org/officeDocument/2006/relationships/hyperlink" Target="https://ru.wikipedia.org/wiki/&#1058;&#1080;&#1087;_&#1076;&#1072;&#1085;&#1085;&#1099;&#1093;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n.wikipedia.org/wiki/Liskov_substitution_principle" TargetMode="Externa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7BC063-3831-522D-21D8-6B1239819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8774" y="944237"/>
            <a:ext cx="10434452" cy="2387600"/>
          </a:xfrm>
        </p:spPr>
        <p:txBody>
          <a:bodyPr>
            <a:normAutofit/>
          </a:bodyPr>
          <a:lstStyle/>
          <a:p>
            <a:r>
              <a:rPr lang="ru-RU" sz="4800" b="1" dirty="0"/>
              <a:t>Алгоритмизация и программирование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A5FC3D9-C83F-5AC8-94FD-3ED461655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30788"/>
            <a:ext cx="9144000" cy="1655762"/>
          </a:xfrm>
        </p:spPr>
        <p:txBody>
          <a:bodyPr>
            <a:normAutofit/>
          </a:bodyPr>
          <a:lstStyle/>
          <a:p>
            <a:r>
              <a:rPr lang="ru-RU" sz="3200" dirty="0"/>
              <a:t>Лекция </a:t>
            </a:r>
            <a:r>
              <a:rPr lang="en-US" sz="3200" dirty="0"/>
              <a:t>8 (</a:t>
            </a:r>
            <a:r>
              <a:rPr lang="ru-RU" sz="3200" dirty="0"/>
              <a:t>С++</a:t>
            </a:r>
            <a:r>
              <a:rPr lang="en-US" sz="3200" dirty="0"/>
              <a:t>)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65375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218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Объектно-ориентрованная модель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E64645BC-E694-47EE-9A4E-80AB3725D2AD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</a:rPr>
              <a:t>Система состоит из полностью изолированных друг от друга объектов взаимодействующих только при помощи сообщений.</a:t>
            </a: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DA459F60-A07D-4281-B27F-0841E9C3E5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8950" y="3138695"/>
            <a:ext cx="6134100" cy="2305050"/>
          </a:xfrm>
        </p:spPr>
      </p:pic>
    </p:spTree>
    <p:extLst>
      <p:ext uri="{BB962C8B-B14F-4D97-AF65-F5344CB8AC3E}">
        <p14:creationId xmlns:p14="http://schemas.microsoft.com/office/powerpoint/2010/main" val="3411656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Классическая модель (сильная связность)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937488" cy="48600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b="1" dirty="0">
                <a:solidFill>
                  <a:srgbClr val="000000"/>
                </a:solidFill>
              </a:rPr>
              <a:t>Классическая модель:</a:t>
            </a:r>
            <a:r>
              <a:rPr lang="ru-RU" sz="1600" dirty="0">
                <a:solidFill>
                  <a:srgbClr val="000000"/>
                </a:solidFill>
              </a:rPr>
              <a:t> программа – это набор данных и функций, которые эти данные преобразуют. Вычисление – это применение функции к данным: </a:t>
            </a:r>
            <a:r>
              <a:rPr lang="ru-RU" sz="1600" dirty="0" err="1">
                <a:solidFill>
                  <a:srgbClr val="000000"/>
                </a:solidFill>
              </a:rPr>
              <a:t>do_something</a:t>
            </a:r>
            <a:r>
              <a:rPr lang="ru-RU" sz="1600" dirty="0">
                <a:solidFill>
                  <a:srgbClr val="000000"/>
                </a:solidFill>
              </a:rPr>
              <a:t>(</a:t>
            </a:r>
            <a:r>
              <a:rPr lang="en-US" sz="1600" dirty="0">
                <a:solidFill>
                  <a:srgbClr val="000000"/>
                </a:solidFill>
              </a:rPr>
              <a:t>data</a:t>
            </a:r>
            <a:r>
              <a:rPr lang="ru-RU" sz="1600" dirty="0">
                <a:solidFill>
                  <a:srgbClr val="000000"/>
                </a:solidFill>
              </a:rPr>
              <a:t>):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Предположим, что данные – это структура описывающая клиента банка. Если функция захочет поменять только ФИО, то она всё равно должна знать информацию о всей структуре, т.к. операции чтения и записи зависят от расположения полей в памяти. Любое изменение данных потребует перекомпиляции кода функций, которые эти данные используют, а их перекомпиляция потребует перекомпиляция кода всех, кто использует эти функции и т.д.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348D1A3-07C4-4B57-95CA-C7574104C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5050" y="2151604"/>
            <a:ext cx="7581900" cy="103822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05C20B9-AB1C-420F-B1E4-9F85990D23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09887" y="4700140"/>
            <a:ext cx="6372225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795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Объектная модель (слабая связность)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937488" cy="48600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b="1" dirty="0">
                <a:solidFill>
                  <a:srgbClr val="000000"/>
                </a:solidFill>
              </a:rPr>
              <a:t>ООП-модель:</a:t>
            </a:r>
            <a:r>
              <a:rPr lang="ru-RU" sz="1600" dirty="0">
                <a:solidFill>
                  <a:srgbClr val="000000"/>
                </a:solidFill>
              </a:rPr>
              <a:t> программа – это сеть объектов, которые обмениваются сообщениями. Вычисление – это обмен сообщениями: </a:t>
            </a:r>
            <a:r>
              <a:rPr lang="ru-RU" sz="1600" dirty="0" err="1">
                <a:solidFill>
                  <a:srgbClr val="000000"/>
                </a:solidFill>
              </a:rPr>
              <a:t>object.do_something</a:t>
            </a:r>
            <a:r>
              <a:rPr lang="ru-RU" sz="1600" dirty="0">
                <a:solidFill>
                  <a:srgbClr val="000000"/>
                </a:solidFill>
              </a:rPr>
              <a:t>().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В идеале, объекты могут посылать сообщения в общую очередь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ru-RU" sz="1600" dirty="0">
                <a:solidFill>
                  <a:srgbClr val="000000"/>
                </a:solidFill>
              </a:rPr>
              <a:t>и вообще не знать друг о друге ничего. Тот кто может отреагировать на сообщение увидит его в очереди и выполнит действие, а затем отправит ответное сообщение обратно в очередь: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B4BE7C-66F6-4188-B96C-2E301CA6F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1644" y="3245120"/>
            <a:ext cx="861060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272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Объектная модель (слабая связность)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937488" cy="48600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Чаще используется другая модель. Мы раскрываем только минимально необходимую информацию об объекте-поставщике услуги – только список сообщений на которые он умеет реагировать и объект-клиент будет зависеть только от этого списка, но не от самого объекта-поставщика. Поэтому никакое изменение объекта-поставщика (не влияющие на список сообщений) не приведёт к необходимости перекомпиляции объекта-клиента</a:t>
            </a:r>
            <a:r>
              <a:rPr lang="en-US" sz="1600" dirty="0">
                <a:solidFill>
                  <a:srgbClr val="000000"/>
                </a:solidFill>
              </a:rPr>
              <a:t>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Гарантируя неизменность списка сообщений, мы гарантируем независимость объектов друг от друга, а следовательно и возможность свободной их модификации: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846923B-8A60-4CB1-88FB-17D18331B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4165" y="3350941"/>
            <a:ext cx="5781675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093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Инкапсуляция</a:t>
            </a:r>
          </a:p>
        </p:txBody>
      </p:sp>
    </p:spTree>
    <p:extLst>
      <p:ext uri="{BB962C8B-B14F-4D97-AF65-F5344CB8AC3E}">
        <p14:creationId xmlns:p14="http://schemas.microsoft.com/office/powerpoint/2010/main" val="1969291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Инкапсуляция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800000" cy="48600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2000" dirty="0"/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Объект – сущность отделённая от внешнего "мира" границей. У объекта есть своё состояние и он сам решает менять ли его или нет, реагировать на сообщение или нет. </a:t>
            </a:r>
            <a:r>
              <a:rPr lang="ru-RU" sz="2000" dirty="0"/>
              <a:t>Состояние объекта и механизмы изменяющие его находятся внутри самого объекта – инкапсулированы в объекте.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2000" dirty="0"/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000" dirty="0"/>
              <a:t>Слово «инкапсуляция» происходит от латинского </a:t>
            </a:r>
            <a:r>
              <a:rPr lang="ru-RU" sz="2000" dirty="0" err="1"/>
              <a:t>in</a:t>
            </a:r>
            <a:r>
              <a:rPr lang="ru-RU" sz="2000" dirty="0"/>
              <a:t> (в) </a:t>
            </a:r>
            <a:r>
              <a:rPr lang="ru-RU" sz="2000" dirty="0" err="1"/>
              <a:t>capsula</a:t>
            </a:r>
            <a:r>
              <a:rPr lang="ru-RU" sz="2000" dirty="0"/>
              <a:t> (коробочка, оболочка) – процесс складывания в коробку</a:t>
            </a:r>
            <a:r>
              <a:rPr lang="en-US" sz="2000" dirty="0"/>
              <a:t>; </a:t>
            </a:r>
            <a:r>
              <a:rPr lang="ru-RU" sz="2000" dirty="0"/>
              <a:t>объединение в одну логическую единицу. В случае программирования эта логическая единица обычно называется класс.</a:t>
            </a:r>
          </a:p>
        </p:txBody>
      </p:sp>
    </p:spTree>
    <p:extLst>
      <p:ext uri="{BB962C8B-B14F-4D97-AF65-F5344CB8AC3E}">
        <p14:creationId xmlns:p14="http://schemas.microsoft.com/office/powerpoint/2010/main" val="2587780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9C71BEF-FBE3-4BF3-9C07-3F7CC0207B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649" y="1290106"/>
            <a:ext cx="8968965" cy="5040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07D5DFE2-3E0D-435B-9958-9490B3E5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Объект – </a:t>
            </a:r>
            <a:r>
              <a:rPr lang="ru-RU" sz="4000" dirty="0" err="1"/>
              <a:t>био</a:t>
            </a:r>
            <a:r>
              <a:rPr lang="ru-RU" sz="4000" dirty="0"/>
              <a:t> аналогия</a:t>
            </a:r>
          </a:p>
        </p:txBody>
      </p:sp>
    </p:spTree>
    <p:extLst>
      <p:ext uri="{BB962C8B-B14F-4D97-AF65-F5344CB8AC3E}">
        <p14:creationId xmlns:p14="http://schemas.microsoft.com/office/powerpoint/2010/main" val="197447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Инкапсуляция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800000" cy="48600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2000" dirty="0"/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2000" dirty="0"/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000" dirty="0"/>
              <a:t>Инкапсуляция – это один из основных принципов ООП.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schemeClr val="accent1"/>
                </a:solidFill>
              </a:rPr>
              <a:t>Принцип (основа, начало) – это идея которой люди руководствуются при выборе своего поведения. В нашем случае – философия проектирования класса и программной системы в целом.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000" dirty="0"/>
              <a:t>Т.е. разрабатывая программы, вы должны держать в голове идею разделения кода на компоненты, которые как можно меньше зависят от внешнего мира и которые предпосылают внешнему миру только необходимый минимум информации о себе.</a:t>
            </a:r>
          </a:p>
        </p:txBody>
      </p:sp>
    </p:spTree>
    <p:extLst>
      <p:ext uri="{BB962C8B-B14F-4D97-AF65-F5344CB8AC3E}">
        <p14:creationId xmlns:p14="http://schemas.microsoft.com/office/powerpoint/2010/main" val="3838400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Состояние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390"/>
            <a:ext cx="10800000" cy="501761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Предположим есть простая структура: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b="0" i="0" dirty="0">
              <a:solidFill>
                <a:srgbClr val="24292F"/>
              </a:solidFill>
              <a:effectLst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b="0" i="0" dirty="0">
              <a:solidFill>
                <a:srgbClr val="24292F"/>
              </a:solidFill>
              <a:effectLst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Любые комбинации значений 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и 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дают существующую точку в пространстве. Невозможно подобрать такие 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и 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ru-RU" sz="1600" dirty="0">
                <a:solidFill>
                  <a:srgbClr val="24292F"/>
                </a:solidFill>
              </a:rPr>
              <a:t>, чтобы структура стала не валидной.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600" b="0" i="0" dirty="0">
              <a:solidFill>
                <a:srgbClr val="24292F"/>
              </a:solidFill>
              <a:effectLst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Теперь рассмотрим вторую структуру: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600" b="0" i="0" dirty="0">
              <a:solidFill>
                <a:srgbClr val="24292F"/>
              </a:solidFill>
              <a:effectLst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600" b="0" i="0" dirty="0">
              <a:solidFill>
                <a:srgbClr val="24292F"/>
              </a:solidFill>
              <a:effectLst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Если добавить в вектор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holds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значения сумма которых превышает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account_balance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credit_limit</a:t>
            </a:r>
            <a:r>
              <a:rPr lang="ru-RU" sz="1600" b="0" dirty="0">
                <a:solidFill>
                  <a:srgbClr val="000000"/>
                </a:solidFill>
                <a:effectLst/>
              </a:rPr>
              <a:t>,</a:t>
            </a:r>
            <a:r>
              <a:rPr lang="en-US" sz="1600" b="0" dirty="0">
                <a:solidFill>
                  <a:srgbClr val="000000"/>
                </a:solidFill>
                <a:effectLst/>
              </a:rPr>
              <a:t> </a:t>
            </a:r>
            <a:r>
              <a:rPr lang="ru-RU" sz="1600" dirty="0">
                <a:solidFill>
                  <a:srgbClr val="000000"/>
                </a:solidFill>
              </a:rPr>
              <a:t>то структура перейдёт в недопустимое состояние. Аналогично, если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account_balance</a:t>
            </a:r>
            <a:r>
              <a:rPr lang="ru-RU" sz="1600" b="0" dirty="0">
                <a:solidFill>
                  <a:srgbClr val="000000"/>
                </a:solidFill>
                <a:effectLst/>
              </a:rPr>
              <a:t> сделать отрицательным и ещё много других комбинаций приведёт структуру в состояние изначально не предусмотренное разработчиками.</a:t>
            </a:r>
            <a:endParaRPr lang="en-US" sz="1600" b="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3481551" y="3933427"/>
            <a:ext cx="5513298" cy="1008000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BankCustomer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account_balance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Собственные средства на счете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credit_limit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Кредитный лимит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vector&lt;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holds;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Вектор замороженных сумм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B55D48E-B0EB-BBB1-EF64-DC04F05F9505}"/>
              </a:ext>
            </a:extLst>
          </p:cNvPr>
          <p:cNvSpPr/>
          <p:nvPr/>
        </p:nvSpPr>
        <p:spPr>
          <a:xfrm>
            <a:off x="4487646" y="1852954"/>
            <a:ext cx="2947433" cy="864000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Point{</a:t>
            </a:r>
          </a:p>
          <a:p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425757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Инвариант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937488" cy="486000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b="0" i="0" dirty="0">
                <a:solidFill>
                  <a:srgbClr val="000000"/>
                </a:solidFill>
                <a:effectLst/>
              </a:rPr>
              <a:t>Т.е. экземпляры второй структуры подчиняются некоторому набору </a:t>
            </a:r>
            <a:r>
              <a:rPr lang="ru-RU" sz="1600" b="1" i="0" dirty="0">
                <a:solidFill>
                  <a:srgbClr val="000000"/>
                </a:solidFill>
                <a:effectLst/>
              </a:rPr>
              <a:t>правил</a:t>
            </a:r>
            <a:r>
              <a:rPr lang="ru-RU" sz="1600" b="0" i="0" dirty="0">
                <a:solidFill>
                  <a:srgbClr val="000000"/>
                </a:solidFill>
                <a:effectLst/>
              </a:rPr>
              <a:t>, которые НЕ должны нарушаться на протяжении всего жизненного цикла экземпляра. Такие правила обычно называют</a:t>
            </a:r>
            <a:r>
              <a:rPr lang="ru-RU" sz="1600" dirty="0">
                <a:solidFill>
                  <a:srgbClr val="000000"/>
                </a:solidFill>
              </a:rPr>
              <a:t> инвариантами класса/объекта.</a:t>
            </a:r>
            <a:endParaRPr lang="ru-RU" sz="1600" b="0" i="0" dirty="0">
              <a:solidFill>
                <a:srgbClr val="000000"/>
              </a:solidFill>
              <a:effectLst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b="1" dirty="0">
                <a:solidFill>
                  <a:schemeClr val="accent1"/>
                </a:solidFill>
              </a:rPr>
              <a:t>Инвариант</a:t>
            </a:r>
            <a:r>
              <a:rPr lang="ru-RU" sz="1600" dirty="0">
                <a:solidFill>
                  <a:schemeClr val="accent1"/>
                </a:solidFill>
              </a:rPr>
              <a:t> — свойство, остающееся неизменным при любых преобразованиях экземпляра. Например, полная энергия замкнутой системы – инвариант.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b="0" i="0" dirty="0">
              <a:solidFill>
                <a:srgbClr val="000000"/>
              </a:solidFill>
              <a:effectLst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b="1" i="0" dirty="0">
                <a:solidFill>
                  <a:schemeClr val="accent1"/>
                </a:solidFill>
                <a:effectLst/>
              </a:rPr>
              <a:t>Жизненный цикл объекта </a:t>
            </a:r>
            <a:r>
              <a:rPr lang="ru-RU" sz="1600" dirty="0">
                <a:solidFill>
                  <a:schemeClr val="accent1"/>
                </a:solidFill>
              </a:rPr>
              <a:t>—</a:t>
            </a:r>
            <a:r>
              <a:rPr lang="ru-RU" sz="1600" b="0" i="0" dirty="0">
                <a:solidFill>
                  <a:schemeClr val="accent1"/>
                </a:solidFill>
                <a:effectLst/>
              </a:rPr>
              <a:t> это последовательность этапов существования экземпляра от момента его создания до уничтожения. Жизненный цикл состоит из: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600" b="0" i="0" dirty="0">
                <a:solidFill>
                  <a:schemeClr val="accent1"/>
                </a:solidFill>
                <a:effectLst/>
              </a:rPr>
              <a:t>Создание (выделение памяти и инициализация)</a:t>
            </a:r>
            <a:r>
              <a:rPr lang="en-US" sz="1600" b="0" i="0" dirty="0">
                <a:solidFill>
                  <a:schemeClr val="accent1"/>
                </a:solidFill>
                <a:effectLst/>
              </a:rPr>
              <a:t>;</a:t>
            </a:r>
            <a:endParaRPr lang="ru-RU" sz="1600" b="0" i="0" dirty="0">
              <a:solidFill>
                <a:schemeClr val="accent1"/>
              </a:solidFill>
              <a:effectLst/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600" b="0" i="0" dirty="0">
                <a:solidFill>
                  <a:schemeClr val="accent1"/>
                </a:solidFill>
                <a:effectLst/>
              </a:rPr>
              <a:t>Использование (работу с экземпляром)</a:t>
            </a:r>
            <a:r>
              <a:rPr lang="en-US" sz="1600" b="0" i="0" dirty="0">
                <a:solidFill>
                  <a:schemeClr val="accent1"/>
                </a:solidFill>
                <a:effectLst/>
              </a:rPr>
              <a:t>;</a:t>
            </a:r>
            <a:endParaRPr lang="ru-RU" sz="1600" b="0" i="0" dirty="0">
              <a:solidFill>
                <a:schemeClr val="accent1"/>
              </a:solidFill>
              <a:effectLst/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600" b="0" i="0" dirty="0">
                <a:solidFill>
                  <a:schemeClr val="accent1"/>
                </a:solidFill>
                <a:effectLst/>
              </a:rPr>
              <a:t>Уничтожение (вызов деструктора и освобождение памяти)</a:t>
            </a:r>
            <a:r>
              <a:rPr lang="en-US" sz="1600" dirty="0">
                <a:solidFill>
                  <a:schemeClr val="accent1"/>
                </a:solidFill>
              </a:rPr>
              <a:t>.</a:t>
            </a:r>
            <a:endParaRPr lang="ru-RU" sz="1600" b="0" i="0" dirty="0">
              <a:solidFill>
                <a:schemeClr val="accent1"/>
              </a:solidFill>
              <a:effectLst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Т.е. в процессе создания, использования и уничтожения экземпляра структуры должен производится контроль сохранения инвариантов.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chemeClr val="accent1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/>
              <a:t>Примеры инвариантов: сумма элементов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holds</a:t>
            </a:r>
            <a:r>
              <a:rPr lang="ru-RU" sz="16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&lt;= 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account_balance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credit_limit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account_balance</a:t>
            </a:r>
            <a:r>
              <a:rPr lang="ru-RU" sz="16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&gt;=</a:t>
            </a:r>
            <a:r>
              <a:rPr lang="ru-RU" sz="16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0; 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credit_limit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 &gt;=</a:t>
            </a:r>
            <a:r>
              <a:rPr lang="ru-RU" sz="16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0.</a:t>
            </a:r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579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218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Сообщения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E64645BC-E694-47EE-9A4E-80AB3725D2AD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800" dirty="0">
                <a:solidFill>
                  <a:srgbClr val="000000"/>
                </a:solidFill>
              </a:rPr>
              <a:t>В идеальной модели, внешняя система вообще ничего не знает про объект. На какие-то сообщения он реагирует, на какие-то нет. Это даёт возможность гибко менять объекты в процессе работы системы,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ru-RU" sz="1800" dirty="0">
                <a:solidFill>
                  <a:srgbClr val="000000"/>
                </a:solidFill>
              </a:rPr>
              <a:t>добавляя/удаляя или изменяя его реакцию на сообщения, и тем самым гибко менять саму систему. Но на практике реализовать такое довольно "дорого".</a:t>
            </a: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EBE42-5A23-4803-98CD-CDE1BA8284E6}"/>
              </a:ext>
            </a:extLst>
          </p:cNvPr>
          <p:cNvSpPr txBox="1"/>
          <p:nvPr/>
        </p:nvSpPr>
        <p:spPr>
          <a:xfrm>
            <a:off x="927410" y="3797518"/>
            <a:ext cx="360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forrest.sendMessage</a:t>
            </a:r>
            <a:r>
              <a:rPr lang="en-US" dirty="0">
                <a:latin typeface="Consolas" panose="020B0609020204030204" pitchFamily="49" charset="0"/>
              </a:rPr>
              <a:t>("run");</a:t>
            </a:r>
            <a:endParaRPr lang="ru-RU" dirty="0">
              <a:latin typeface="Consolas" panose="020B0609020204030204" pitchFamily="49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3DAADF-5B76-44E4-A029-88D07E25A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0426" y="2728125"/>
            <a:ext cx="3952875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875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218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Сообщения - интерфейс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E64645BC-E694-47EE-9A4E-80AB3725D2AD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800" dirty="0">
                <a:solidFill>
                  <a:srgbClr val="000000"/>
                </a:solidFill>
              </a:rPr>
              <a:t>Как правило мы заранее определяем список сообщений на которые объект должен реагировать и этот список называют интерфейсом</a:t>
            </a:r>
            <a:r>
              <a:rPr lang="en-US" sz="1800" dirty="0">
                <a:solidFill>
                  <a:srgbClr val="000000"/>
                </a:solidFill>
              </a:rPr>
              <a:t>. </a:t>
            </a:r>
            <a:r>
              <a:rPr lang="ru-RU" sz="1800" dirty="0">
                <a:solidFill>
                  <a:srgbClr val="000000"/>
                </a:solidFill>
              </a:rPr>
              <a:t>Никакие другие сообщения объекту в принципе послать невозможно.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ru-RU" sz="1800" dirty="0">
                <a:solidFill>
                  <a:srgbClr val="000000"/>
                </a:solidFill>
              </a:rPr>
              <a:t>Объектам-клиентам необходим этот список, чтобы понимать какие сообщения можно отправлять нашему объекту. Таким образом часть информации об объекте всё таки должна быть видна наружу:</a:t>
            </a: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502E60-D566-418F-8D69-C490B8586D47}"/>
              </a:ext>
            </a:extLst>
          </p:cNvPr>
          <p:cNvSpPr txBox="1"/>
          <p:nvPr/>
        </p:nvSpPr>
        <p:spPr>
          <a:xfrm>
            <a:off x="1317702" y="3087374"/>
            <a:ext cx="44251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Human{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speed;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состояние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run();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stop();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интерфейс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getSpeed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forrest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forrest.run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pic>
        <p:nvPicPr>
          <p:cNvPr id="18" name="Объект 17">
            <a:extLst>
              <a:ext uri="{FF2B5EF4-FFF2-40B4-BE49-F238E27FC236}">
                <a16:creationId xmlns:a16="http://schemas.microsoft.com/office/drawing/2014/main" id="{23F493A0-2AD8-496C-B799-223186D163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1423" y="2728125"/>
            <a:ext cx="3952875" cy="3571875"/>
          </a:xfrm>
        </p:spPr>
      </p:pic>
    </p:spTree>
    <p:extLst>
      <p:ext uri="{BB962C8B-B14F-4D97-AF65-F5344CB8AC3E}">
        <p14:creationId xmlns:p14="http://schemas.microsoft.com/office/powerpoint/2010/main" val="1588873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07D5DFE2-3E0D-435B-9958-9490B3E5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Autofit/>
          </a:bodyPr>
          <a:lstStyle/>
          <a:p>
            <a:r>
              <a:rPr lang="ru-RU" sz="3200" dirty="0"/>
              <a:t>Интерфейс клетки (реагирует только на </a:t>
            </a:r>
            <a:r>
              <a:rPr lang="ru-RU" sz="3200" dirty="0" err="1"/>
              <a:t>опред</a:t>
            </a:r>
            <a:r>
              <a:rPr lang="ru-RU" sz="3200" dirty="0"/>
              <a:t>. сообщения)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941DCDE-CF5C-4DDC-9873-7BF519F67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00" y="1964226"/>
            <a:ext cx="11160000" cy="337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985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218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Сообщения - реализация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E64645BC-E694-47EE-9A4E-80AB3725D2AD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</a:rPr>
              <a:t>Но вот то, как именно происходит реакция на сообщение объектам-клиентам знать не нужно, поэтому эта часть должна быть скрыта от них. Таким образом, хоть мы и не можем менять список сообщений на которые реагирует объект, мы можем менять саму реакцию.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502E60-D566-418F-8D69-C490B8586D47}"/>
              </a:ext>
            </a:extLst>
          </p:cNvPr>
          <p:cNvSpPr txBox="1"/>
          <p:nvPr/>
        </p:nvSpPr>
        <p:spPr>
          <a:xfrm>
            <a:off x="1261945" y="2944401"/>
            <a:ext cx="304242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Human::run(){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speed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Human::stop(){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speed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Human::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getSpeed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speed;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CF3C39FD-3D4B-4D3C-BBA5-B655C5AC6A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1681" y="2728125"/>
            <a:ext cx="3952875" cy="3571875"/>
          </a:xfrm>
        </p:spPr>
      </p:pic>
    </p:spTree>
    <p:extLst>
      <p:ext uri="{BB962C8B-B14F-4D97-AF65-F5344CB8AC3E}">
        <p14:creationId xmlns:p14="http://schemas.microsoft.com/office/powerpoint/2010/main" val="1507481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218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Контракт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E64645BC-E694-47EE-9A4E-80AB3725D2AD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</a:rPr>
              <a:t>Каждый метод взаимодействующий с внешней системой должен соблюдать набор правил. По аналогии с бизнесом этот набор правил называют Контрактом.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</a:rPr>
              <a:t>Контракт может включать в себя: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>
                <a:solidFill>
                  <a:srgbClr val="000000"/>
                </a:solidFill>
              </a:rPr>
              <a:t>Предусловия (</a:t>
            </a:r>
            <a:r>
              <a:rPr lang="en-US" sz="2000" dirty="0">
                <a:solidFill>
                  <a:srgbClr val="000000"/>
                </a:solidFill>
              </a:rPr>
              <a:t>requirements)</a:t>
            </a:r>
            <a:r>
              <a:rPr lang="ru-RU" sz="2000" dirty="0">
                <a:solidFill>
                  <a:srgbClr val="000000"/>
                </a:solidFill>
              </a:rPr>
              <a:t> – набор требований, которые мы предъявляем к внешней системе и к входным данным. Например: количество обращений в минуту, формат данных, размер, мин/мах значения и т.д. Если требования не исполнены, то метод не исполняет свои обязательства</a:t>
            </a:r>
            <a:r>
              <a:rPr lang="en-US" sz="2000" dirty="0">
                <a:solidFill>
                  <a:srgbClr val="000000"/>
                </a:solidFill>
              </a:rPr>
              <a:t> (</a:t>
            </a:r>
            <a:r>
              <a:rPr lang="ru-RU" sz="2000" dirty="0">
                <a:solidFill>
                  <a:srgbClr val="000000"/>
                </a:solidFill>
              </a:rPr>
              <a:t>тело</a:t>
            </a:r>
            <a:r>
              <a:rPr lang="en-US" sz="2000" dirty="0">
                <a:solidFill>
                  <a:srgbClr val="000000"/>
                </a:solidFill>
              </a:rPr>
              <a:t>)</a:t>
            </a:r>
            <a:r>
              <a:rPr lang="ru-RU" sz="2000" dirty="0">
                <a:solidFill>
                  <a:srgbClr val="000000"/>
                </a:solidFill>
              </a:rPr>
              <a:t>. Это наши требования мы должны их проверять</a:t>
            </a:r>
            <a:r>
              <a:rPr lang="en-US" sz="2000" dirty="0">
                <a:solidFill>
                  <a:srgbClr val="000000"/>
                </a:solidFill>
              </a:rPr>
              <a:t>;</a:t>
            </a:r>
            <a:endParaRPr lang="ru-RU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>
                <a:solidFill>
                  <a:srgbClr val="000000"/>
                </a:solidFill>
              </a:rPr>
              <a:t>Постусловия </a:t>
            </a:r>
            <a:r>
              <a:rPr lang="en-US" sz="2000" dirty="0">
                <a:solidFill>
                  <a:srgbClr val="000000"/>
                </a:solidFill>
              </a:rPr>
              <a:t>(guarantees)</a:t>
            </a:r>
            <a:r>
              <a:rPr lang="ru-RU" sz="2000" dirty="0">
                <a:solidFill>
                  <a:srgbClr val="000000"/>
                </a:solidFill>
              </a:rPr>
              <a:t> – набор гарантий, на которые внешняя система может рассчитывать вызывая метод. Например: формат результата, мин/мах значения результата, время работы метода и потребление памяти, исключения бросаемые методом и т.д. Это наши гарантии, мы должны их соблюдать</a:t>
            </a:r>
            <a:r>
              <a:rPr lang="en-US" sz="2000" dirty="0">
                <a:solidFill>
                  <a:srgbClr val="000000"/>
                </a:solidFill>
              </a:rPr>
              <a:t>;</a:t>
            </a:r>
            <a:endParaRPr lang="ru-RU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>
                <a:solidFill>
                  <a:srgbClr val="000000"/>
                </a:solidFill>
              </a:rPr>
              <a:t>Сохранение инвариантов класса. Чтобы там ни было мы должны сохранять инварианты и проектировать контракт предусматривая эту необходимость.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31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218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Контракт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E64645BC-E694-47EE-9A4E-80AB3725D2AD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</a:rPr>
              <a:t>Формулировать контракт лучше всего на естественном языке, т.к. таким образом вы однозначно описываете свои намерения и используете язык бизнеса понятный и программистам и специалистам предметникам.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</a:rPr>
              <a:t>Контракт должен быть сформулирован как можно конкретнее: «Сумма средств на счету клиента </a:t>
            </a:r>
            <a:r>
              <a:rPr lang="ru-RU" sz="2000" b="1" dirty="0">
                <a:solidFill>
                  <a:srgbClr val="000000"/>
                </a:solidFill>
              </a:rPr>
              <a:t>может</a:t>
            </a:r>
            <a:r>
              <a:rPr lang="ru-RU" sz="2000" dirty="0">
                <a:solidFill>
                  <a:srgbClr val="000000"/>
                </a:solidFill>
              </a:rPr>
              <a:t> быть больше нуля» - А может и не быть? А какие условия? и т.д.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</a:rPr>
              <a:t>Требование: </a:t>
            </a:r>
            <a:r>
              <a:rPr lang="en-US" sz="2000" dirty="0">
                <a:solidFill>
                  <a:srgbClr val="000000"/>
                </a:solidFill>
              </a:rPr>
              <a:t>amount &gt; 0</a:t>
            </a:r>
            <a:r>
              <a:rPr lang="ru-RU" sz="2000" dirty="0">
                <a:solidFill>
                  <a:srgbClr val="000000"/>
                </a:solidFill>
              </a:rPr>
              <a:t>. Название переменной или метода может быть выбрано неудачно, быть изменено в последствии, или просто отсутствовать для уменьшения дублирования кода. Текст: «Сумма средств на счету клиента должна быть больше нуля» чётко и однозначно даёт понять о предъявляемом требовании.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412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Инкапсуляция в С++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689404" cy="48600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4000"/>
              </a:lnSpc>
              <a:spcBef>
                <a:spcPts val="600"/>
              </a:spcBef>
              <a:buNone/>
            </a:pPr>
            <a:endParaRPr lang="ru-RU" sz="1800" b="0" i="0" dirty="0">
              <a:solidFill>
                <a:srgbClr val="000000"/>
              </a:solidFill>
              <a:effectLst/>
            </a:endParaRPr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None/>
            </a:pPr>
            <a:endParaRPr lang="ru-RU" sz="18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None/>
            </a:pPr>
            <a:r>
              <a:rPr lang="ru-RU" sz="1800" dirty="0">
                <a:solidFill>
                  <a:srgbClr val="000000"/>
                </a:solidFill>
              </a:rPr>
              <a:t>Обычно под</a:t>
            </a:r>
            <a:r>
              <a:rPr lang="ru-RU" sz="1800" b="0" i="0" dirty="0">
                <a:solidFill>
                  <a:srgbClr val="000000"/>
                </a:solidFill>
                <a:effectLst/>
              </a:rPr>
              <a:t> инкапсуляцией понимают: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</a:pPr>
            <a:r>
              <a:rPr lang="ru-RU" sz="1800" dirty="0">
                <a:solidFill>
                  <a:srgbClr val="000000"/>
                </a:solidFill>
              </a:rPr>
              <a:t>Объединение данных (состояние) и методов для работы с этими данными (реакция на сообщения, поведение) в одной логической единице. В С++ это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ru-RU" sz="1800" dirty="0">
                <a:solidFill>
                  <a:srgbClr val="000000"/>
                </a:solidFill>
              </a:rPr>
              <a:t>класс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ru-RU" sz="1800" dirty="0">
                <a:solidFill>
                  <a:srgbClr val="000000"/>
                </a:solidFill>
              </a:rPr>
              <a:t>и структура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struct</a:t>
            </a:r>
            <a:r>
              <a:rPr lang="ru-RU" sz="1800" dirty="0">
                <a:solidFill>
                  <a:srgbClr val="000000"/>
                </a:solidFill>
              </a:rPr>
              <a:t>. Состояние описывается полями класса, а поведение – методами</a:t>
            </a:r>
            <a:r>
              <a:rPr lang="en-US" sz="1800" dirty="0">
                <a:solidFill>
                  <a:srgbClr val="000000"/>
                </a:solidFill>
              </a:rPr>
              <a:t>;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</a:pPr>
            <a:r>
              <a:rPr lang="ru-RU" sz="1800" dirty="0">
                <a:solidFill>
                  <a:srgbClr val="000000"/>
                </a:solidFill>
              </a:rPr>
              <a:t>Ограничения доступа к членам класса со стороны внешних компонентов. Иногда говорят просто сокрытие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ru-RU" sz="1800" dirty="0">
                <a:solidFill>
                  <a:srgbClr val="000000"/>
                </a:solidFill>
              </a:rPr>
              <a:t>данных. В С++ за это отвечают модификаторы доступа: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public</a:t>
            </a:r>
            <a:r>
              <a:rPr lang="ru-RU" sz="1800" dirty="0">
                <a:solidFill>
                  <a:srgbClr val="000000"/>
                </a:solidFill>
              </a:rPr>
              <a:t>,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protected</a:t>
            </a:r>
            <a:r>
              <a:rPr lang="en-US" sz="1800" dirty="0">
                <a:solidFill>
                  <a:srgbClr val="000000"/>
                </a:solidFill>
              </a:rPr>
              <a:t>,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private</a:t>
            </a:r>
            <a:r>
              <a:rPr lang="ru-RU" sz="1800" dirty="0">
                <a:solidFill>
                  <a:srgbClr val="000000"/>
                </a:solidFill>
              </a:rPr>
              <a:t> и некоторые другие механизмы.</a:t>
            </a:r>
            <a:endParaRPr lang="en-US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050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Инкапсуляция в С++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689404" cy="486000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14000"/>
              </a:lnSpc>
              <a:spcBef>
                <a:spcPts val="600"/>
              </a:spcBef>
              <a:buNone/>
            </a:pPr>
            <a:r>
              <a:rPr lang="ru-RU" sz="1800" dirty="0">
                <a:solidFill>
                  <a:srgbClr val="000000"/>
                </a:solidFill>
              </a:rPr>
              <a:t>В С++ принято для класса создавать пару файлов: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00000"/>
                </a:solidFill>
                <a:highlight>
                  <a:srgbClr val="C0C0C0"/>
                </a:highlight>
              </a:rPr>
              <a:t>.h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ru-RU" sz="1800" dirty="0">
                <a:solidFill>
                  <a:srgbClr val="000000"/>
                </a:solidFill>
              </a:rPr>
              <a:t>– для размещения интерфейсной части класса. Затем этот файл подключается к клиентскому коду</a:t>
            </a:r>
            <a:r>
              <a:rPr lang="en-US" sz="1800" dirty="0">
                <a:solidFill>
                  <a:srgbClr val="000000"/>
                </a:solidFill>
              </a:rPr>
              <a:t>;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</a:pPr>
            <a:r>
              <a:rPr lang="en-US" sz="1800" b="0" i="0" dirty="0">
                <a:solidFill>
                  <a:srgbClr val="000000"/>
                </a:solidFill>
                <a:effectLst/>
                <a:highlight>
                  <a:srgbClr val="C0C0C0"/>
                </a:highlight>
              </a:rPr>
              <a:t>.</a:t>
            </a:r>
            <a:r>
              <a:rPr lang="en-US" sz="1800" b="0" i="0" dirty="0" err="1">
                <a:solidFill>
                  <a:srgbClr val="000000"/>
                </a:solidFill>
                <a:effectLst/>
                <a:highlight>
                  <a:srgbClr val="C0C0C0"/>
                </a:highlight>
              </a:rPr>
              <a:t>cpp</a:t>
            </a:r>
            <a:r>
              <a:rPr lang="en-US" sz="18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1800" dirty="0">
                <a:solidFill>
                  <a:srgbClr val="000000"/>
                </a:solidFill>
              </a:rPr>
              <a:t>– для размещения реализации методов класса. Этот файл может быть в виде исходников или скомпилирован в объектный файл или библиотеку.</a:t>
            </a:r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None/>
            </a:pPr>
            <a:r>
              <a:rPr lang="ru-RU" sz="1800" dirty="0">
                <a:solidFill>
                  <a:srgbClr val="000000"/>
                </a:solidFill>
              </a:rPr>
              <a:t>Такое разделение позволяет свободно изменять реализацию класса без необходимости изменять клиентский код. Если реализация собрана в динамическую библиотеку, то её достаточно заменить вообще без какого-либо изменения в клиентском приложении и без перекомпиляции программы. Если реализация в виде статической библиотеки, то достаточно выполнить фазу линковки, без изменения кода клиентского приложения.</a:t>
            </a:r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</a:rPr>
              <a:t>В качестве "бонуса", можно  не предоставлять исходный </a:t>
            </a:r>
            <a:r>
              <a:rPr lang="ru-RU" sz="1800" dirty="0">
                <a:solidFill>
                  <a:srgbClr val="000000"/>
                </a:solidFill>
              </a:rPr>
              <a:t>код реализации, а только скомпилированные бинарный файл.</a:t>
            </a:r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None/>
            </a:pPr>
            <a:endParaRPr lang="ru-RU" sz="1800" b="0" i="0" dirty="0">
              <a:solidFill>
                <a:srgbClr val="000000"/>
              </a:solidFill>
              <a:effectLst/>
            </a:endParaRPr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</a:rPr>
              <a:t>Для шаблонов классов так сделат</a:t>
            </a:r>
            <a:r>
              <a:rPr lang="ru-RU" sz="1800" dirty="0">
                <a:solidFill>
                  <a:srgbClr val="000000"/>
                </a:solidFill>
              </a:rPr>
              <a:t>ь не получится. Реализацию шаблона класса придётся размещать в </a:t>
            </a:r>
            <a:r>
              <a:rPr lang="en-US" sz="1800" dirty="0">
                <a:solidFill>
                  <a:srgbClr val="000000"/>
                </a:solidFill>
                <a:highlight>
                  <a:srgbClr val="C0C0C0"/>
                </a:highlight>
              </a:rPr>
              <a:t>.h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ru-RU" sz="1800" dirty="0">
                <a:solidFill>
                  <a:srgbClr val="000000"/>
                </a:solidFill>
              </a:rPr>
              <a:t>файле, т.к. компилятору она нужна для </a:t>
            </a:r>
            <a:r>
              <a:rPr lang="ru-RU" sz="1800" dirty="0" err="1">
                <a:solidFill>
                  <a:srgbClr val="000000"/>
                </a:solidFill>
              </a:rPr>
              <a:t>инстанцирования</a:t>
            </a:r>
            <a:r>
              <a:rPr lang="ru-RU" sz="1800" dirty="0">
                <a:solidFill>
                  <a:srgbClr val="000000"/>
                </a:solidFill>
              </a:rPr>
              <a:t>. Как обходной вариант можно </a:t>
            </a:r>
            <a:r>
              <a:rPr lang="ru-RU" sz="1800" dirty="0" err="1">
                <a:solidFill>
                  <a:srgbClr val="000000"/>
                </a:solidFill>
              </a:rPr>
              <a:t>инстанцировать</a:t>
            </a:r>
            <a:r>
              <a:rPr lang="ru-RU" sz="1800" dirty="0">
                <a:solidFill>
                  <a:srgbClr val="000000"/>
                </a:solidFill>
              </a:rPr>
              <a:t> класс вручную и тогда его реализацию можно перенести в </a:t>
            </a:r>
            <a:r>
              <a:rPr lang="en-US" sz="1800" dirty="0">
                <a:solidFill>
                  <a:srgbClr val="000000"/>
                </a:solidFill>
                <a:highlight>
                  <a:srgbClr val="C0C0C0"/>
                </a:highlight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C0C0C0"/>
                </a:highlight>
              </a:rPr>
              <a:t>cpp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ru-RU" sz="1800" dirty="0">
                <a:solidFill>
                  <a:srgbClr val="000000"/>
                </a:solidFill>
              </a:rPr>
              <a:t>файл.</a:t>
            </a:r>
            <a:endParaRPr lang="ru-RU" sz="1800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03873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Инкапсуляция в С++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1463463" y="1442321"/>
            <a:ext cx="3554869" cy="2328754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h</a:t>
            </a:r>
            <a:r>
              <a:rPr lang="en-US" sz="12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uman.cpp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human.h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2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Human::run(){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speed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Human::stop(){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speed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Human::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getSpeed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speed;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B55D48E-B0EB-BBB1-EF64-DC04F05F9505}"/>
              </a:ext>
            </a:extLst>
          </p:cNvPr>
          <p:cNvSpPr/>
          <p:nvPr/>
        </p:nvSpPr>
        <p:spPr>
          <a:xfrm>
            <a:off x="6725964" y="1442321"/>
            <a:ext cx="3554869" cy="1603926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2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human.h</a:t>
            </a:r>
            <a:endParaRPr lang="ru-RU" sz="1200" b="1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Human{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speed;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состояние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run();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stop();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интерфейс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getSpeed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ECE9AEA-5F13-4578-BF88-6759CC691428}"/>
              </a:ext>
            </a:extLst>
          </p:cNvPr>
          <p:cNvSpPr/>
          <p:nvPr/>
        </p:nvSpPr>
        <p:spPr>
          <a:xfrm>
            <a:off x="6725964" y="3632795"/>
            <a:ext cx="3554869" cy="1603926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client</a:t>
            </a:r>
            <a:r>
              <a:rPr lang="en-US" sz="12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.cpp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human.h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2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Human h1, h2;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h1.run();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h2.run();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FB206C11-9728-4E03-A6C6-54E94C23DB80}"/>
              </a:ext>
            </a:extLst>
          </p:cNvPr>
          <p:cNvCxnSpPr>
            <a:cxnSpLocks/>
          </p:cNvCxnSpPr>
          <p:nvPr/>
        </p:nvCxnSpPr>
        <p:spPr>
          <a:xfrm flipH="1">
            <a:off x="5152148" y="2244284"/>
            <a:ext cx="144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3A171320-D0B6-408C-B47F-C2D6E03E4E28}"/>
              </a:ext>
            </a:extLst>
          </p:cNvPr>
          <p:cNvCxnSpPr>
            <a:cxnSpLocks/>
          </p:cNvCxnSpPr>
          <p:nvPr/>
        </p:nvCxnSpPr>
        <p:spPr>
          <a:xfrm flipH="1">
            <a:off x="8503398" y="3159521"/>
            <a:ext cx="1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E22AA3B-178B-4DA3-B3F9-F635BEA783C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3600" y="5510559"/>
            <a:ext cx="867938" cy="86793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E142AB7-48B4-4CD3-9566-D4B8CAC81E0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118" y="3979710"/>
            <a:ext cx="867938" cy="86793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5C01534-01C6-4DEF-923B-F36D417F8152}"/>
              </a:ext>
            </a:extLst>
          </p:cNvPr>
          <p:cNvSpPr txBox="1"/>
          <p:nvPr/>
        </p:nvSpPr>
        <p:spPr>
          <a:xfrm>
            <a:off x="7139586" y="5666141"/>
            <a:ext cx="1734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Клиентский код</a:t>
            </a:r>
          </a:p>
          <a:p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Не изменяется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1AB818-4C60-42ED-AFE1-DFDB7D74ABFE}"/>
              </a:ext>
            </a:extLst>
          </p:cNvPr>
          <p:cNvSpPr txBox="1"/>
          <p:nvPr/>
        </p:nvSpPr>
        <p:spPr>
          <a:xfrm>
            <a:off x="1736599" y="4135291"/>
            <a:ext cx="16605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Реализация</a:t>
            </a:r>
          </a:p>
          <a:p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Можно менять</a:t>
            </a:r>
          </a:p>
        </p:txBody>
      </p:sp>
    </p:spTree>
    <p:extLst>
      <p:ext uri="{BB962C8B-B14F-4D97-AF65-F5344CB8AC3E}">
        <p14:creationId xmlns:p14="http://schemas.microsoft.com/office/powerpoint/2010/main" val="3129320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Идиома </a:t>
            </a:r>
            <a:r>
              <a:rPr lang="en-US" sz="4000" dirty="0" err="1"/>
              <a:t>Pimpl</a:t>
            </a:r>
            <a:r>
              <a:rPr lang="en-US" sz="4000" dirty="0"/>
              <a:t> (Pointer to Implementation) </a:t>
            </a:r>
            <a:r>
              <a:rPr lang="ru-RU" sz="4000" dirty="0"/>
              <a:t>в </a:t>
            </a:r>
            <a:r>
              <a:rPr lang="en-US" sz="4000" dirty="0"/>
              <a:t>C++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800000" cy="4860000"/>
          </a:xfrm>
        </p:spPr>
        <p:txBody>
          <a:bodyPr>
            <a:norm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</a:rPr>
              <a:t>Как видно, в предыдущем коде, в файле "</a:t>
            </a:r>
            <a:r>
              <a:rPr lang="en-US" sz="1800" b="0" i="0" dirty="0" err="1">
                <a:solidFill>
                  <a:srgbClr val="000000"/>
                </a:solidFill>
                <a:effectLst/>
              </a:rPr>
              <a:t>human.h</a:t>
            </a:r>
            <a:r>
              <a:rPr lang="ru-RU" sz="1800" b="0" i="0" dirty="0">
                <a:solidFill>
                  <a:srgbClr val="000000"/>
                </a:solidFill>
                <a:effectLst/>
              </a:rPr>
              <a:t>",</a:t>
            </a:r>
            <a:r>
              <a:rPr lang="en-US" sz="18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1800" b="0" i="0" dirty="0">
                <a:solidFill>
                  <a:srgbClr val="000000"/>
                </a:solidFill>
                <a:effectLst/>
              </a:rPr>
              <a:t>кроме интерфейса присутствует часть состояния объекта, что не очень хорошо с точки зрения принципа инкапсуляции. Т.к. при изменении переменных описывающих состояние объекта, придётся пересобрать пользовательский код. И кроме того, пользователь может "привязать" свой код к наличию именно этих переменных. </a:t>
            </a:r>
            <a:endParaRPr lang="en-US" sz="1800" b="0" i="0" dirty="0">
              <a:solidFill>
                <a:srgbClr val="000000"/>
              </a:solidFill>
              <a:effectLst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</a:rPr>
              <a:t>Классическим решением этой проблемы в С++ является идиома </a:t>
            </a:r>
            <a:r>
              <a:rPr lang="en-US" sz="1800" i="1" dirty="0"/>
              <a:t>Pointer to Implementation</a:t>
            </a:r>
            <a:r>
              <a:rPr lang="ru-RU" sz="1800" dirty="0"/>
              <a:t> (указатель на реализацию). Она обеспечивает очень хорошую инкапсуляцию.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endParaRPr lang="ru-RU" sz="1800" b="0" i="0" dirty="0">
              <a:solidFill>
                <a:srgbClr val="000000"/>
              </a:solidFill>
              <a:effectLst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sz="1800" dirty="0">
                <a:solidFill>
                  <a:srgbClr val="000000"/>
                </a:solidFill>
              </a:rPr>
              <a:t>Идея заключается в том, что основной класс мы называем реализацией (</a:t>
            </a:r>
            <a:r>
              <a:rPr lang="en-US" sz="1800" i="1" dirty="0" err="1">
                <a:solidFill>
                  <a:srgbClr val="000000"/>
                </a:solidFill>
              </a:rPr>
              <a:t>Impl</a:t>
            </a:r>
            <a:r>
              <a:rPr lang="ru-RU" sz="1800" dirty="0">
                <a:solidFill>
                  <a:srgbClr val="000000"/>
                </a:solidFill>
              </a:rPr>
              <a:t>)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ru-RU" sz="1800" dirty="0">
                <a:solidFill>
                  <a:srgbClr val="000000"/>
                </a:solidFill>
              </a:rPr>
              <a:t>и дополнительно создаём обёртку которая служит как интерфейс (обработчик сообщений от других объектов). Как правило обёртка под капотом просто вызывает соответствующие методы реализации и хранит указатель на реализацию. Нужен именно указатель, т.к. компилятору не нужно знать ничего о самом классе и поэтому мы можем полностью вынести его в </a:t>
            </a:r>
            <a:r>
              <a:rPr lang="en-US" sz="1800" dirty="0">
                <a:solidFill>
                  <a:srgbClr val="000000"/>
                </a:solidFill>
                <a:highlight>
                  <a:srgbClr val="C0C0C0"/>
                </a:highlight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C0C0C0"/>
                </a:highlight>
              </a:rPr>
              <a:t>cpp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ru-RU" sz="1800" dirty="0">
                <a:solidFill>
                  <a:srgbClr val="000000"/>
                </a:solidFill>
              </a:rPr>
              <a:t>файл или библиотеку.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endParaRPr lang="ru-RU" sz="1800" b="0" i="0" dirty="0">
              <a:solidFill>
                <a:srgbClr val="000000"/>
              </a:solidFill>
              <a:effectLst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sz="1800" dirty="0">
                <a:solidFill>
                  <a:srgbClr val="000000"/>
                </a:solidFill>
              </a:rPr>
              <a:t>Проблемы данного подхода: дополнительное разыменование указателя при каждом вызове</a:t>
            </a:r>
            <a:r>
              <a:rPr lang="en-US" sz="1800" dirty="0">
                <a:solidFill>
                  <a:srgbClr val="000000"/>
                </a:solidFill>
              </a:rPr>
              <a:t>; </a:t>
            </a:r>
            <a:r>
              <a:rPr lang="ru-RU" sz="1800" dirty="0">
                <a:solidFill>
                  <a:srgbClr val="000000"/>
                </a:solidFill>
              </a:rPr>
              <a:t>маленький шанс встраивания методов. </a:t>
            </a:r>
            <a:endParaRPr lang="ru-RU" sz="1800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67679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Инкапсуляция в С++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1263882" y="1370796"/>
            <a:ext cx="3554869" cy="5125859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h</a:t>
            </a:r>
            <a:r>
              <a:rPr lang="en-US" sz="12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uman.cpp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human.h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2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Human::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speed;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run()    { speed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 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stop()   { speed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  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getSpeed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speed;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Human::Human():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pimpl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Human::~Human(){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pimpl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Human::run(){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pimpl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-&gt;run();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Human::stop(){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pimpl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-&gt;stop();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Human::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getSpeed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pimpl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getSpeed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B55D48E-B0EB-BBB1-EF64-DC04F05F9505}"/>
              </a:ext>
            </a:extLst>
          </p:cNvPr>
          <p:cNvSpPr/>
          <p:nvPr/>
        </p:nvSpPr>
        <p:spPr>
          <a:xfrm>
            <a:off x="6230565" y="1375502"/>
            <a:ext cx="4588128" cy="2328754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2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human.h</a:t>
            </a:r>
            <a:endParaRPr lang="ru-RU" sz="1200" b="1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Human{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неполный тип. Просто объявление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pimpl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поле-указатель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Human();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~Human();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run();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stop();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getSpeed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ECE9AEA-5F13-4578-BF88-6759CC691428}"/>
              </a:ext>
            </a:extLst>
          </p:cNvPr>
          <p:cNvSpPr/>
          <p:nvPr/>
        </p:nvSpPr>
        <p:spPr>
          <a:xfrm>
            <a:off x="6230565" y="4888949"/>
            <a:ext cx="4588127" cy="1603926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client</a:t>
            </a:r>
            <a:r>
              <a:rPr lang="en-US" sz="12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.cpp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human.h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2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Human h1, h2;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h1.run();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h2.run();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4A78BF2A-9721-48A7-A3B2-C489C1F3E99D}"/>
              </a:ext>
            </a:extLst>
          </p:cNvPr>
          <p:cNvCxnSpPr>
            <a:cxnSpLocks/>
          </p:cNvCxnSpPr>
          <p:nvPr/>
        </p:nvCxnSpPr>
        <p:spPr>
          <a:xfrm>
            <a:off x="8008000" y="3791415"/>
            <a:ext cx="0" cy="10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C4F8DA59-29BD-45BF-95E9-5C088A40FBDA}"/>
              </a:ext>
            </a:extLst>
          </p:cNvPr>
          <p:cNvCxnSpPr>
            <a:cxnSpLocks/>
          </p:cNvCxnSpPr>
          <p:nvPr/>
        </p:nvCxnSpPr>
        <p:spPr>
          <a:xfrm flipH="1" flipV="1">
            <a:off x="4885657" y="2520176"/>
            <a:ext cx="126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584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Нотация </a:t>
            </a:r>
            <a:r>
              <a:rPr lang="en-US" sz="4000" dirty="0"/>
              <a:t>UML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800000" cy="48600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spcBef>
                <a:spcPts val="600"/>
              </a:spcBef>
              <a:buNone/>
            </a:pPr>
            <a:r>
              <a:rPr lang="ru-RU" sz="1400" dirty="0">
                <a:solidFill>
                  <a:srgbClr val="000000"/>
                </a:solidFill>
              </a:rPr>
              <a:t>В</a:t>
            </a:r>
            <a:r>
              <a:rPr lang="ru-RU" sz="1400" b="0" i="0" dirty="0">
                <a:solidFill>
                  <a:srgbClr val="000000"/>
                </a:solidFill>
                <a:effectLst/>
              </a:rPr>
              <a:t> нотации </a:t>
            </a:r>
            <a:r>
              <a:rPr lang="ru-RU" sz="1400" b="0" i="1" dirty="0">
                <a:solidFill>
                  <a:srgbClr val="000000"/>
                </a:solidFill>
                <a:effectLst/>
              </a:rPr>
              <a:t>UML</a:t>
            </a:r>
            <a:r>
              <a:rPr lang="ru-RU" sz="1400" b="0" i="0" dirty="0">
                <a:solidFill>
                  <a:srgbClr val="000000"/>
                </a:solidFill>
                <a:effectLst/>
              </a:rPr>
              <a:t> класс изображается в виде прямоугольника, который дополнительно может быть разделен горизонтальными линиями на секции. В этих секциях могут </a:t>
            </a:r>
            <a:r>
              <a:rPr lang="ru-RU" sz="1400" b="0" dirty="0">
                <a:solidFill>
                  <a:srgbClr val="000000"/>
                </a:solidFill>
                <a:effectLst/>
              </a:rPr>
              <a:t>указываться имя класса, атрибуты и операции класса.</a:t>
            </a: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buNone/>
            </a:pPr>
            <a:endParaRPr lang="ru-RU" sz="1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buNone/>
            </a:pPr>
            <a:endParaRPr lang="ru-RU" sz="1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buNone/>
            </a:pPr>
            <a:endParaRPr lang="ru-RU" sz="1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buNone/>
            </a:pPr>
            <a:endParaRPr lang="ru-RU" sz="1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buNone/>
            </a:pPr>
            <a:endParaRPr lang="ru-RU" sz="1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buNone/>
            </a:pPr>
            <a:endParaRPr lang="ru-RU" sz="1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buNone/>
            </a:pPr>
            <a:endParaRPr lang="ru-RU" sz="1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buNone/>
            </a:pPr>
            <a:endParaRPr lang="ru-RU" sz="1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buNone/>
            </a:pPr>
            <a:endParaRPr lang="ru-RU" sz="1400" dirty="0">
              <a:solidFill>
                <a:srgbClr val="000000"/>
              </a:solidFill>
            </a:endParaRPr>
          </a:p>
          <a:p>
            <a:pPr marL="0" indent="0" algn="l" fontAlgn="base">
              <a:spcBef>
                <a:spcPts val="600"/>
              </a:spcBef>
              <a:buNone/>
            </a:pPr>
            <a:r>
              <a:rPr lang="ru-RU" sz="1400" b="0" i="0" dirty="0">
                <a:solidFill>
                  <a:srgbClr val="222222"/>
                </a:solidFill>
                <a:effectLst/>
              </a:rPr>
              <a:t>В зависимости от параметра видимости элемент класса может быть:</a:t>
            </a:r>
          </a:p>
          <a:p>
            <a:pPr fontAlgn="base">
              <a:spcBef>
                <a:spcPts val="600"/>
              </a:spcBef>
            </a:pPr>
            <a:r>
              <a:rPr lang="ru-RU" sz="1400" b="0" i="0" dirty="0">
                <a:solidFill>
                  <a:srgbClr val="222222"/>
                </a:solidFill>
                <a:effectLst/>
              </a:rPr>
              <a:t>приватным (</a:t>
            </a:r>
            <a:r>
              <a:rPr lang="ru-RU" sz="1400" i="0" dirty="0" err="1">
                <a:effectLst/>
              </a:rPr>
              <a:t>private</a:t>
            </a:r>
            <a:r>
              <a:rPr lang="ru-RU" sz="1400" b="0" i="0" dirty="0">
                <a:solidFill>
                  <a:srgbClr val="222222"/>
                </a:solidFill>
                <a:effectLst/>
              </a:rPr>
              <a:t>, доступен только внутри класса) — задается символом «минус» (</a:t>
            </a:r>
            <a:r>
              <a:rPr lang="ru-RU" sz="1400" b="0" i="0" dirty="0">
                <a:solidFill>
                  <a:srgbClr val="2F3235"/>
                </a:solidFill>
                <a:effectLst/>
              </a:rPr>
              <a:t>-</a:t>
            </a:r>
            <a:r>
              <a:rPr lang="ru-RU" sz="1400" b="0" i="0" dirty="0">
                <a:solidFill>
                  <a:srgbClr val="222222"/>
                </a:solidFill>
                <a:effectLst/>
              </a:rPr>
              <a:t>), может отображаться в виде квадрата;</a:t>
            </a:r>
          </a:p>
          <a:p>
            <a:pPr fontAlgn="base">
              <a:spcBef>
                <a:spcPts val="600"/>
              </a:spcBef>
            </a:pPr>
            <a:r>
              <a:rPr lang="ru-RU" sz="1400" b="0" i="0" dirty="0">
                <a:solidFill>
                  <a:srgbClr val="222222"/>
                </a:solidFill>
                <a:effectLst/>
              </a:rPr>
              <a:t>защищенным (</a:t>
            </a:r>
            <a:r>
              <a:rPr lang="ru-RU" sz="1400" i="0" dirty="0" err="1">
                <a:effectLst/>
              </a:rPr>
              <a:t>protected</a:t>
            </a:r>
            <a:r>
              <a:rPr lang="ru-RU" sz="1400" b="0" i="0" dirty="0">
                <a:solidFill>
                  <a:srgbClr val="222222"/>
                </a:solidFill>
                <a:effectLst/>
              </a:rPr>
              <a:t>, доступен внутри класса, а также внутри классов-наследников) — задается символом «решетка» (</a:t>
            </a:r>
            <a:r>
              <a:rPr lang="ru-RU" sz="1400" b="0" i="0" dirty="0">
                <a:solidFill>
                  <a:srgbClr val="2F3235"/>
                </a:solidFill>
                <a:effectLst/>
              </a:rPr>
              <a:t>#</a:t>
            </a:r>
            <a:r>
              <a:rPr lang="ru-RU" sz="1400" b="0" i="0" dirty="0">
                <a:solidFill>
                  <a:srgbClr val="222222"/>
                </a:solidFill>
                <a:effectLst/>
              </a:rPr>
              <a:t>), может отображаться в виде ромба;</a:t>
            </a:r>
          </a:p>
          <a:p>
            <a:pPr fontAlgn="base">
              <a:spcBef>
                <a:spcPts val="600"/>
              </a:spcBef>
            </a:pPr>
            <a:r>
              <a:rPr lang="ru-RU" sz="1400" b="0" i="0" dirty="0">
                <a:solidFill>
                  <a:srgbClr val="222222"/>
                </a:solidFill>
                <a:effectLst/>
              </a:rPr>
              <a:t>открытым (</a:t>
            </a:r>
            <a:r>
              <a:rPr lang="ru-RU" sz="1400" i="0" dirty="0" err="1">
                <a:effectLst/>
              </a:rPr>
              <a:t>public</a:t>
            </a:r>
            <a:r>
              <a:rPr lang="ru-RU" sz="1400" b="0" i="0" dirty="0">
                <a:solidFill>
                  <a:srgbClr val="222222"/>
                </a:solidFill>
                <a:effectLst/>
              </a:rPr>
              <a:t>, доступен всем) — задается символом «плюс» (</a:t>
            </a:r>
            <a:r>
              <a:rPr lang="ru-RU" sz="1400" b="0" i="0" dirty="0">
                <a:solidFill>
                  <a:srgbClr val="2F3235"/>
                </a:solidFill>
                <a:effectLst/>
              </a:rPr>
              <a:t>+</a:t>
            </a:r>
            <a:r>
              <a:rPr lang="ru-RU" sz="1400" b="0" i="0" dirty="0">
                <a:solidFill>
                  <a:srgbClr val="222222"/>
                </a:solidFill>
                <a:effectLst/>
              </a:rPr>
              <a:t>), может отображаться в виде круга.</a:t>
            </a:r>
          </a:p>
          <a:p>
            <a:pPr marL="0" indent="0" algn="l" fontAlgn="base">
              <a:spcBef>
                <a:spcPts val="600"/>
              </a:spcBef>
              <a:buNone/>
            </a:pPr>
            <a:r>
              <a:rPr lang="ru-RU" sz="1400" b="0" i="0" dirty="0">
                <a:solidFill>
                  <a:srgbClr val="222222"/>
                </a:solidFill>
                <a:effectLst/>
              </a:rPr>
              <a:t>Виртуальный метод и имя абстрактного класса выделяются курсивом, а статический метод — подчеркивается.</a:t>
            </a: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buNone/>
            </a:pPr>
            <a:endParaRPr lang="ru-RU" sz="1400" dirty="0">
              <a:solidFill>
                <a:srgbClr val="000000"/>
              </a:solidFill>
            </a:endParaRPr>
          </a:p>
        </p:txBody>
      </p:sp>
      <p:pic>
        <p:nvPicPr>
          <p:cNvPr id="3074" name="Picture 2" descr="Варианты графического изображения класса на диаграмме классов">
            <a:extLst>
              <a:ext uri="{FF2B5EF4-FFF2-40B4-BE49-F238E27FC236}">
                <a16:creationId xmlns:a16="http://schemas.microsoft.com/office/drawing/2014/main" id="{A2164127-2E1F-4F6C-B2B7-E2906D56F3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56"/>
          <a:stretch/>
        </p:blipFill>
        <p:spPr bwMode="auto">
          <a:xfrm>
            <a:off x="1046357" y="2556541"/>
            <a:ext cx="4572000" cy="166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B2B1DABD-94F7-460C-929B-C469837BA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2733" y="2556541"/>
            <a:ext cx="4254423" cy="1636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429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ABADE69D-775C-71A5-F0B9-880D1BE051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036" y="1378189"/>
            <a:ext cx="7281927" cy="5114686"/>
          </a:xfr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3DEB698-1398-4FFB-A1C8-721A43A59F5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Отношения между классами в </a:t>
            </a:r>
            <a:r>
              <a:rPr lang="en-US" sz="4000" dirty="0"/>
              <a:t>UML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172397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Наследование</a:t>
            </a:r>
          </a:p>
        </p:txBody>
      </p:sp>
    </p:spTree>
    <p:extLst>
      <p:ext uri="{BB962C8B-B14F-4D97-AF65-F5344CB8AC3E}">
        <p14:creationId xmlns:p14="http://schemas.microsoft.com/office/powerpoint/2010/main" val="2866617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Наследование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800000" cy="48600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Наследование – это механизм создания новых объектов или классов на основе существующих объектов (</a:t>
            </a:r>
            <a:r>
              <a:rPr lang="ru-RU" sz="2000" dirty="0" err="1">
                <a:solidFill>
                  <a:srgbClr val="000000"/>
                </a:solidFill>
              </a:rPr>
              <a:t>прототипное</a:t>
            </a:r>
            <a:r>
              <a:rPr lang="ru-RU" sz="2000" dirty="0">
                <a:solidFill>
                  <a:srgbClr val="000000"/>
                </a:solidFill>
              </a:rPr>
              <a:t> наследование) или классов (наследование на основе классов).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Существующий класс называют: родительским классом, базовым классом, классом предком, супер-классом (</a:t>
            </a:r>
            <a:r>
              <a:rPr lang="en-US" sz="2000" dirty="0">
                <a:solidFill>
                  <a:srgbClr val="000000"/>
                </a:solidFill>
              </a:rPr>
              <a:t>super c </a:t>
            </a:r>
            <a:r>
              <a:rPr lang="ru-RU" sz="2000" dirty="0">
                <a:solidFill>
                  <a:srgbClr val="000000"/>
                </a:solidFill>
              </a:rPr>
              <a:t>лат. над, выше), надкласс</a:t>
            </a:r>
            <a:r>
              <a:rPr lang="en-US" sz="2000" dirty="0">
                <a:solidFill>
                  <a:srgbClr val="000000"/>
                </a:solidFill>
              </a:rPr>
              <a:t>;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Новый класс называют: дочерним, производным классом, классом наследником, подклассом.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8222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3D1A7EB2-079D-D5A0-F2B4-7769B1DC02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046" y="1624903"/>
            <a:ext cx="2030017" cy="4351338"/>
          </a:xfr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67B983A-520C-419A-B48E-42FF0B2E1A7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Наследование (обобщение)</a:t>
            </a:r>
            <a:r>
              <a:rPr lang="en-US" sz="4000" dirty="0"/>
              <a:t> </a:t>
            </a:r>
            <a:r>
              <a:rPr lang="ru-RU" sz="4000" dirty="0"/>
              <a:t>в </a:t>
            </a:r>
            <a:r>
              <a:rPr lang="en-US" sz="4000" dirty="0"/>
              <a:t>UML</a:t>
            </a:r>
            <a:endParaRPr lang="ru-RU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3D733B-7BB4-4202-A8A5-E647118C8474}"/>
              </a:ext>
            </a:extLst>
          </p:cNvPr>
          <p:cNvSpPr txBox="1"/>
          <p:nvPr/>
        </p:nvSpPr>
        <p:spPr>
          <a:xfrm>
            <a:off x="6311592" y="2241396"/>
            <a:ext cx="1610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Базовый класс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8FE7C2-5C9C-4B8F-BBB0-816449827E0E}"/>
              </a:ext>
            </a:extLst>
          </p:cNvPr>
          <p:cNvSpPr txBox="1"/>
          <p:nvPr/>
        </p:nvSpPr>
        <p:spPr>
          <a:xfrm>
            <a:off x="6311591" y="4847065"/>
            <a:ext cx="1829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Класс наследник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EA909F-330B-4046-AE9B-62486015A082}"/>
              </a:ext>
            </a:extLst>
          </p:cNvPr>
          <p:cNvSpPr txBox="1"/>
          <p:nvPr/>
        </p:nvSpPr>
        <p:spPr>
          <a:xfrm>
            <a:off x="6530898" y="3544230"/>
            <a:ext cx="3114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 закрашенный треугольник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B6D6D4F-9369-4778-AAB8-EEAAB683810C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5441796" y="3429000"/>
            <a:ext cx="1089102" cy="2998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5482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19A6A200-218F-6D50-148C-893DD1A4E7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6" b="10628"/>
          <a:stretch/>
        </p:blipFill>
        <p:spPr>
          <a:xfrm>
            <a:off x="1526966" y="613318"/>
            <a:ext cx="9479390" cy="5742878"/>
          </a:xfr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A5EA16C-18DA-4614-AF04-F32E779ED8B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Примеры наследования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41221110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4696BCFB-17C5-98EB-E0BD-9B18F11CDD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70" b="11453"/>
          <a:stretch/>
        </p:blipFill>
        <p:spPr>
          <a:xfrm>
            <a:off x="1363381" y="713678"/>
            <a:ext cx="9491973" cy="5586762"/>
          </a:xfr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99E2333B-3223-4F59-82AD-A618C6D04E5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Примеры наследования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4771347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Наследование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800000" cy="486000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Наследование можно разделить на: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600" dirty="0" err="1">
                <a:solidFill>
                  <a:srgbClr val="000000"/>
                </a:solidFill>
              </a:rPr>
              <a:t>Прототипное</a:t>
            </a:r>
            <a:r>
              <a:rPr lang="ru-RU" sz="1600" dirty="0">
                <a:solidFill>
                  <a:srgbClr val="000000"/>
                </a:solidFill>
              </a:rPr>
              <a:t> наследование </a:t>
            </a:r>
            <a:r>
              <a:rPr lang="en-US" sz="1600" dirty="0">
                <a:solidFill>
                  <a:srgbClr val="000000"/>
                </a:solidFill>
              </a:rPr>
              <a:t>(prototype-based inheritance);</a:t>
            </a:r>
            <a:endParaRPr lang="ru-RU" sz="1600" dirty="0">
              <a:solidFill>
                <a:srgbClr val="000000"/>
              </a:solidFill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solidFill>
                  <a:srgbClr val="000000"/>
                </a:solidFill>
              </a:rPr>
              <a:t>Наследование на основе классов </a:t>
            </a:r>
            <a:r>
              <a:rPr lang="en-US" sz="1600" dirty="0">
                <a:solidFill>
                  <a:srgbClr val="000000"/>
                </a:solidFill>
              </a:rPr>
              <a:t>(class-based inheritance</a:t>
            </a:r>
            <a:r>
              <a:rPr lang="ru-RU" sz="1600" dirty="0">
                <a:solidFill>
                  <a:srgbClr val="000000"/>
                </a:solidFill>
              </a:rPr>
              <a:t>)</a:t>
            </a:r>
            <a:r>
              <a:rPr lang="en-US" sz="1600" dirty="0">
                <a:solidFill>
                  <a:srgbClr val="000000"/>
                </a:solidFill>
              </a:rPr>
              <a:t>.</a:t>
            </a:r>
            <a:endParaRPr lang="ru-RU" sz="1600" dirty="0">
              <a:solidFill>
                <a:srgbClr val="000000"/>
              </a:solidFill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Еще можно выделить: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solidFill>
                  <a:srgbClr val="000000"/>
                </a:solidFill>
              </a:rPr>
              <a:t>Одиночное наследование. Разрешено, чтобы у класса был только один предок</a:t>
            </a:r>
            <a:r>
              <a:rPr lang="en-US" sz="1600" dirty="0">
                <a:solidFill>
                  <a:srgbClr val="000000"/>
                </a:solidFill>
              </a:rPr>
              <a:t>;</a:t>
            </a:r>
            <a:endParaRPr lang="ru-RU" sz="1600" dirty="0">
              <a:solidFill>
                <a:srgbClr val="000000"/>
              </a:solidFill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solidFill>
                  <a:srgbClr val="000000"/>
                </a:solidFill>
              </a:rPr>
              <a:t>Множественное наследование</a:t>
            </a:r>
            <a:r>
              <a:rPr lang="en-US" sz="1600" dirty="0">
                <a:solidFill>
                  <a:srgbClr val="000000"/>
                </a:solidFill>
              </a:rPr>
              <a:t>. </a:t>
            </a:r>
            <a:r>
              <a:rPr lang="ru-RU" sz="1600" dirty="0">
                <a:solidFill>
                  <a:srgbClr val="000000"/>
                </a:solidFill>
              </a:rPr>
              <a:t>Разрешено, чтобы у класса было больше одного предка. При этом свойства и методы наследуются у всех.</a:t>
            </a: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Принцип наследования – это только про создание одних классов на основе других с возможностью получения полей и методов предков с целью уменьшения дублирования кода и больше ни про что. Никаких правил и ограничений что от чего наследовать нет.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Существует так же </a:t>
            </a:r>
            <a:r>
              <a:rPr lang="ru-RU" sz="1600" dirty="0" err="1">
                <a:solidFill>
                  <a:srgbClr val="000000"/>
                </a:solidFill>
              </a:rPr>
              <a:t>Подтипизация</a:t>
            </a:r>
            <a:r>
              <a:rPr lang="ru-RU" sz="1600" dirty="0">
                <a:solidFill>
                  <a:srgbClr val="000000"/>
                </a:solidFill>
              </a:rPr>
              <a:t> (</a:t>
            </a:r>
            <a:r>
              <a:rPr lang="en-US" sz="1600" dirty="0">
                <a:solidFill>
                  <a:srgbClr val="000000"/>
                </a:solidFill>
              </a:rPr>
              <a:t>Subtyping</a:t>
            </a:r>
            <a:r>
              <a:rPr lang="ru-RU" sz="1600" dirty="0">
                <a:solidFill>
                  <a:srgbClr val="000000"/>
                </a:solidFill>
              </a:rPr>
              <a:t>)</a:t>
            </a:r>
            <a:r>
              <a:rPr lang="en-US" sz="1600" dirty="0">
                <a:solidFill>
                  <a:srgbClr val="000000"/>
                </a:solidFill>
              </a:rPr>
              <a:t> – </a:t>
            </a:r>
            <a:r>
              <a:rPr lang="ru-RU" sz="1600" dirty="0">
                <a:solidFill>
                  <a:srgbClr val="000000"/>
                </a:solidFill>
              </a:rPr>
              <a:t>процесс построении иерархии связанных типов, каждый из которых является подтипом предыдущего. Вот здесь уже существует набор правил.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Многие языки (в том числе и С++) автоматически связывают классы в иерархию типов при наследовании и нет возможности от этого отказаться. Но важно понимать, что наследование и </a:t>
            </a:r>
            <a:r>
              <a:rPr lang="ru-RU" sz="1600" dirty="0" err="1">
                <a:solidFill>
                  <a:srgbClr val="000000"/>
                </a:solidFill>
              </a:rPr>
              <a:t>подтипизация</a:t>
            </a:r>
            <a:r>
              <a:rPr lang="ru-RU" sz="1600" dirty="0">
                <a:solidFill>
                  <a:srgbClr val="000000"/>
                </a:solidFill>
              </a:rPr>
              <a:t> </a:t>
            </a:r>
            <a:r>
              <a:rPr lang="en-US" sz="1600" dirty="0">
                <a:solidFill>
                  <a:srgbClr val="000000"/>
                </a:solidFill>
              </a:rPr>
              <a:t>–</a:t>
            </a:r>
            <a:r>
              <a:rPr lang="ru-RU" sz="1600" dirty="0">
                <a:solidFill>
                  <a:srgbClr val="000000"/>
                </a:solidFill>
              </a:rPr>
              <a:t> это разные процессы и их можно использовать независимо друг от друга.</a:t>
            </a: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1531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 err="1">
                <a:solidFill>
                  <a:srgbClr val="000000"/>
                </a:solidFill>
              </a:rPr>
              <a:t>Прототипное</a:t>
            </a:r>
            <a:r>
              <a:rPr lang="ru-RU" sz="4000" dirty="0">
                <a:solidFill>
                  <a:srgbClr val="000000"/>
                </a:solidFill>
              </a:rPr>
              <a:t> наследование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800000" cy="48600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При </a:t>
            </a:r>
            <a:r>
              <a:rPr lang="ru-RU" sz="1600" dirty="0" err="1">
                <a:solidFill>
                  <a:srgbClr val="000000"/>
                </a:solidFill>
              </a:rPr>
              <a:t>прототипном</a:t>
            </a:r>
            <a:r>
              <a:rPr lang="ru-RU" sz="1600" dirty="0">
                <a:solidFill>
                  <a:srgbClr val="000000"/>
                </a:solidFill>
              </a:rPr>
              <a:t> наследовании отсутствует понятие класса, есть только объекты. У объекта может быть объект-прототип или может не быть. Если объект-прототип есть, то при обращении к свойству или методу текущего объекта выполняется поиск сначала в текущем объекте, а затем в объекте прототипе, а затем в прототипе прототипа и т.д. Объект</a:t>
            </a:r>
            <a:r>
              <a:rPr lang="en-US" sz="1600" dirty="0">
                <a:solidFill>
                  <a:srgbClr val="000000"/>
                </a:solidFill>
              </a:rPr>
              <a:t>-</a:t>
            </a:r>
            <a:r>
              <a:rPr lang="ru-RU" sz="1600" dirty="0">
                <a:solidFill>
                  <a:srgbClr val="000000"/>
                </a:solidFill>
              </a:rPr>
              <a:t>прототип может быть изменён в процессе работы программы.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CC5130E-EEB8-459F-BAEE-4E286FA4034B}"/>
              </a:ext>
            </a:extLst>
          </p:cNvPr>
          <p:cNvSpPr/>
          <p:nvPr/>
        </p:nvSpPr>
        <p:spPr>
          <a:xfrm>
            <a:off x="2075266" y="2662124"/>
            <a:ext cx="3753105" cy="3637876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animal = {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                 </a:t>
            </a:r>
            <a:r>
              <a:rPr lang="en-US" sz="11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eats: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walk() {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"Animal walk"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rabbit = {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jumps: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__proto__: animal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longEar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earLength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__proto__: rabbit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walk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взят из цепочки прототипов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longEar.walk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Animal walk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alert(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longEar.jumps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 (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 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rabbit)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4FD74AF-C486-45D5-96AB-C08E95596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3003" y="2621484"/>
            <a:ext cx="2904661" cy="363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1878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0000"/>
                </a:solidFill>
              </a:rPr>
              <a:t>Наследование на основе классов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800000" cy="48600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При наследовании на основе классов существуют классы (определяют структуру данных и поведение) и объекты (является носителем данных). Методы и структура полей наследуются через цепочку классов</a:t>
            </a:r>
            <a:r>
              <a:rPr lang="en-US" sz="1600" dirty="0">
                <a:solidFill>
                  <a:srgbClr val="000000"/>
                </a:solidFill>
              </a:rPr>
              <a:t>. </a:t>
            </a:r>
            <a:r>
              <a:rPr lang="ru-RU" sz="1600" dirty="0">
                <a:solidFill>
                  <a:srgbClr val="000000"/>
                </a:solidFill>
              </a:rPr>
              <a:t>Объект содержит данные описанные в его классе и во всех предках.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CC5130E-EEB8-459F-BAEE-4E286FA4034B}"/>
              </a:ext>
            </a:extLst>
          </p:cNvPr>
          <p:cNvSpPr/>
          <p:nvPr/>
        </p:nvSpPr>
        <p:spPr>
          <a:xfrm>
            <a:off x="1251957" y="2397512"/>
            <a:ext cx="4716965" cy="4095363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Animal {</a:t>
            </a: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eats =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walk() {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"Animal walk"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Rabbit :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Animal {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Наследование от 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Animal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jumps =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LongEar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Rabbit {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Наследование от 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Rabbit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earLength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LongEar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longEar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longEar.walk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Animal walk (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унаследовано от 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Animal)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longEar.jumps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1 (true,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унаследовано от 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Rabbit)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C0B3FE2-C538-485E-96E6-9221D5DBF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893" y="2348312"/>
            <a:ext cx="3867150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1591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163A40-FD54-EA61-7B52-7295A03440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879" y="961489"/>
            <a:ext cx="8666913" cy="5896511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2C389D2B-9C22-4786-AFF3-870773A28FF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Виды наследования в С++</a:t>
            </a:r>
          </a:p>
        </p:txBody>
      </p:sp>
    </p:spTree>
    <p:extLst>
      <p:ext uri="{BB962C8B-B14F-4D97-AF65-F5344CB8AC3E}">
        <p14:creationId xmlns:p14="http://schemas.microsoft.com/office/powerpoint/2010/main" val="8594422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6">
            <a:extLst>
              <a:ext uri="{FF2B5EF4-FFF2-40B4-BE49-F238E27FC236}">
                <a16:creationId xmlns:a16="http://schemas.microsoft.com/office/drawing/2014/main" id="{C73A64B6-88C8-6848-3A01-B221639B29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65"/>
          <a:stretch/>
        </p:blipFill>
        <p:spPr>
          <a:xfrm>
            <a:off x="1873982" y="864360"/>
            <a:ext cx="9068499" cy="5246214"/>
          </a:xfr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E8045E9-07E0-423D-A68F-7ED9FC1EF7A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Одиночное наследование в С++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58E7814E-ABAD-4B52-A653-04273BDFF0A8}"/>
              </a:ext>
            </a:extLst>
          </p:cNvPr>
          <p:cNvSpPr txBox="1">
            <a:spLocks/>
          </p:cNvSpPr>
          <p:nvPr/>
        </p:nvSpPr>
        <p:spPr>
          <a:xfrm>
            <a:off x="1282960" y="5876100"/>
            <a:ext cx="9745595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 Класс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B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получает все поля и методы класса А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 Класс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C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получает все поля и методы класса В (включая всё из класса А).</a:t>
            </a: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4091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99E4094E-A901-C140-608D-D1E6CBDC53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95"/>
          <a:stretch/>
        </p:blipFill>
        <p:spPr>
          <a:xfrm>
            <a:off x="1908870" y="1225435"/>
            <a:ext cx="9154846" cy="5122477"/>
          </a:xfr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CD67E0BC-9B29-4CFF-8999-E5AAED03017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Множественное наследование в С++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F3C3D1F0-012E-466E-8C7D-2354004D1665}"/>
              </a:ext>
            </a:extLst>
          </p:cNvPr>
          <p:cNvSpPr txBox="1">
            <a:spLocks/>
          </p:cNvSpPr>
          <p:nvPr/>
        </p:nvSpPr>
        <p:spPr>
          <a:xfrm>
            <a:off x="1282960" y="5876100"/>
            <a:ext cx="9745595" cy="72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 Класс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C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получает все поля и методы класса В и класса А.</a:t>
            </a: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5782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60772" y="368661"/>
            <a:ext cx="10741193" cy="6124214"/>
          </a:xfrm>
        </p:spPr>
        <p:txBody>
          <a:bodyPr anchor="ctr">
            <a:normAutofit/>
          </a:bodyPr>
          <a:lstStyle/>
          <a:p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Der: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Base{};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Открытое наследование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Der: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Base{};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Защищённое наследование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Der: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Base{};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Закрытое наследование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Независимо от того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Base class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или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struct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Der: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private */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Base{};</a:t>
            </a: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Der: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public */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Base{};</a:t>
            </a:r>
          </a:p>
          <a:p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Как правило используется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наследование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14A854-85EB-4323-879A-1AA835E40B2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Тип наследования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25725332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889A334A-8E5E-4288-96D7-79E23345C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302446"/>
              </p:ext>
            </p:extLst>
          </p:nvPr>
        </p:nvGraphicFramePr>
        <p:xfrm>
          <a:off x="1777541" y="1492834"/>
          <a:ext cx="8315557" cy="464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0000">
                  <a:extLst>
                    <a:ext uri="{9D8B030D-6E8A-4147-A177-3AD203B41FA5}">
                      <a16:colId xmlns:a16="http://schemas.microsoft.com/office/drawing/2014/main" val="3372775257"/>
                    </a:ext>
                  </a:extLst>
                </a:gridCol>
                <a:gridCol w="2075557">
                  <a:extLst>
                    <a:ext uri="{9D8B030D-6E8A-4147-A177-3AD203B41FA5}">
                      <a16:colId xmlns:a16="http://schemas.microsoft.com/office/drawing/2014/main" val="2987929264"/>
                    </a:ext>
                  </a:extLst>
                </a:gridCol>
                <a:gridCol w="1920000">
                  <a:extLst>
                    <a:ext uri="{9D8B030D-6E8A-4147-A177-3AD203B41FA5}">
                      <a16:colId xmlns:a16="http://schemas.microsoft.com/office/drawing/2014/main" val="1645283542"/>
                    </a:ext>
                  </a:extLst>
                </a:gridCol>
                <a:gridCol w="1920000">
                  <a:extLst>
                    <a:ext uri="{9D8B030D-6E8A-4147-A177-3AD203B41FA5}">
                      <a16:colId xmlns:a16="http://schemas.microsoft.com/office/drawing/2014/main" val="3435030559"/>
                    </a:ext>
                  </a:extLst>
                </a:gridCol>
                <a:gridCol w="1920000">
                  <a:extLst>
                    <a:ext uri="{9D8B030D-6E8A-4147-A177-3AD203B41FA5}">
                      <a16:colId xmlns:a16="http://schemas.microsoft.com/office/drawing/2014/main" val="2888287541"/>
                    </a:ext>
                  </a:extLst>
                </a:gridCol>
              </a:tblGrid>
              <a:tr h="487680">
                <a:tc rowSpan="2" gridSpan="2"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Модификатор члена базового класса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8873830"/>
                  </a:ext>
                </a:extLst>
              </a:tr>
              <a:tr h="487680">
                <a:tc gridSpan="2"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accent6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endParaRPr lang="ru-RU" sz="2400" dirty="0">
                        <a:solidFill>
                          <a:schemeClr val="accent6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protected</a:t>
                      </a:r>
                      <a:endParaRPr lang="ru-RU" sz="2400" dirty="0">
                        <a:solidFill>
                          <a:schemeClr val="accent2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private</a:t>
                      </a:r>
                      <a:endParaRPr lang="ru-RU" sz="2400" dirty="0">
                        <a:solidFill>
                          <a:srgbClr val="FF0000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1948902"/>
                  </a:ext>
                </a:extLst>
              </a:tr>
              <a:tr h="1224000">
                <a:tc rowSpan="3"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Тип наследования</a:t>
                      </a:r>
                    </a:p>
                  </a:txBody>
                  <a:tcPr marL="121920" marR="121920" marT="60960" marB="60960" vert="vert27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accent6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endParaRPr lang="ru-RU" sz="2400" dirty="0">
                        <a:solidFill>
                          <a:schemeClr val="accent6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accent6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endParaRPr lang="ru-RU" sz="2400" dirty="0">
                        <a:solidFill>
                          <a:schemeClr val="accent6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protected</a:t>
                      </a:r>
                      <a:endParaRPr lang="ru-RU" sz="24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нет доступа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9385165"/>
                  </a:ext>
                </a:extLst>
              </a:tr>
              <a:tr h="122400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protected</a:t>
                      </a:r>
                      <a:endParaRPr lang="ru-RU" sz="24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protected</a:t>
                      </a:r>
                      <a:endParaRPr lang="ru-RU" sz="24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protected</a:t>
                      </a:r>
                      <a:endParaRPr lang="ru-RU" sz="24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нет доступа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5893119"/>
                  </a:ext>
                </a:extLst>
              </a:tr>
              <a:tr h="1224000">
                <a:tc vMerge="1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private</a:t>
                      </a:r>
                      <a:endParaRPr lang="ru-RU" sz="24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private</a:t>
                      </a:r>
                      <a:endParaRPr lang="ru-RU" sz="24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private</a:t>
                      </a:r>
                      <a:endParaRPr lang="ru-RU" sz="24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нет доступа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7671407"/>
                  </a:ext>
                </a:extLst>
              </a:tr>
            </a:tbl>
          </a:graphicData>
        </a:graphic>
      </p:graphicFrame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23E03251-A207-4390-8CF5-C540D98246B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Модификатор доступа в классе наследнике</a:t>
            </a:r>
          </a:p>
        </p:txBody>
      </p:sp>
    </p:spTree>
    <p:extLst>
      <p:ext uri="{BB962C8B-B14F-4D97-AF65-F5344CB8AC3E}">
        <p14:creationId xmlns:p14="http://schemas.microsoft.com/office/powerpoint/2010/main" val="19761990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Правила поиска имён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0C89-B3A0-3AA0-0CE4-DF47549E7B34}"/>
              </a:ext>
            </a:extLst>
          </p:cNvPr>
          <p:cNvSpPr txBox="1"/>
          <p:nvPr/>
        </p:nvSpPr>
        <p:spPr>
          <a:xfrm>
            <a:off x="1263316" y="1180306"/>
            <a:ext cx="60976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10;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 = -10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3B59AFBE-4FB2-2D5F-856E-594701BF40BF}"/>
              </a:ext>
            </a:extLst>
          </p:cNvPr>
          <p:cNvSpPr/>
          <p:nvPr/>
        </p:nvSpPr>
        <p:spPr>
          <a:xfrm>
            <a:off x="6284495" y="1377065"/>
            <a:ext cx="3756259" cy="239678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4083ACB4-22EE-8932-0D5C-CF948460351C}"/>
              </a:ext>
            </a:extLst>
          </p:cNvPr>
          <p:cNvSpPr/>
          <p:nvPr/>
        </p:nvSpPr>
        <p:spPr>
          <a:xfrm>
            <a:off x="6585844" y="1843088"/>
            <a:ext cx="1672632" cy="10829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91BF1-8652-45BC-8CE0-A9F8B37926AD}"/>
              </a:ext>
            </a:extLst>
          </p:cNvPr>
          <p:cNvSpPr txBox="1"/>
          <p:nvPr/>
        </p:nvSpPr>
        <p:spPr>
          <a:xfrm>
            <a:off x="7263302" y="184308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F89FF-BACC-88DB-3664-EB1D482D35AF}"/>
              </a:ext>
            </a:extLst>
          </p:cNvPr>
          <p:cNvSpPr txBox="1"/>
          <p:nvPr/>
        </p:nvSpPr>
        <p:spPr>
          <a:xfrm>
            <a:off x="6820419" y="2209771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E2364-EB69-1AB9-5C1F-E21640AD32C0}"/>
              </a:ext>
            </a:extLst>
          </p:cNvPr>
          <p:cNvSpPr txBox="1"/>
          <p:nvPr/>
        </p:nvSpPr>
        <p:spPr>
          <a:xfrm>
            <a:off x="8003766" y="139755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350AB9-2F41-6B13-20B5-45A6559C2291}"/>
              </a:ext>
            </a:extLst>
          </p:cNvPr>
          <p:cNvSpPr txBox="1"/>
          <p:nvPr/>
        </p:nvSpPr>
        <p:spPr>
          <a:xfrm>
            <a:off x="8652718" y="2439139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7C011-D377-3FB1-6C3A-42BADCDFC8A8}"/>
              </a:ext>
            </a:extLst>
          </p:cNvPr>
          <p:cNvSpPr txBox="1"/>
          <p:nvPr/>
        </p:nvSpPr>
        <p:spPr>
          <a:xfrm>
            <a:off x="1263316" y="5755700"/>
            <a:ext cx="100904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Поиск имени выполняется начиная с класса </a:t>
            </a:r>
            <a:r>
              <a:rPr lang="en-US" sz="1600" dirty="0">
                <a:latin typeface="Consolas" panose="020B0609020204030204" pitchFamily="49" charset="0"/>
              </a:rPr>
              <a:t>B</a:t>
            </a:r>
            <a:r>
              <a:rPr lang="ru-RU" sz="1600" dirty="0"/>
              <a:t>. Т.к. имя </a:t>
            </a:r>
            <a:r>
              <a:rPr lang="en-US" sz="1600" dirty="0">
                <a:latin typeface="Consolas" panose="020B0609020204030204" pitchFamily="49" charset="0"/>
              </a:rPr>
              <a:t>name</a:t>
            </a:r>
            <a:r>
              <a:rPr lang="en-US" sz="1600" dirty="0"/>
              <a:t> </a:t>
            </a:r>
            <a:r>
              <a:rPr lang="ru-RU" sz="1600" dirty="0"/>
              <a:t>в нём есть, то дальнейший поиск не происходит и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effectLst/>
                <a:latin typeface="Consolas" panose="020B0609020204030204" pitchFamily="49" charset="0"/>
              </a:rPr>
              <a:t>object.name </a:t>
            </a:r>
            <a:r>
              <a:rPr lang="ru-RU" sz="1600" dirty="0">
                <a:effectLst/>
                <a:latin typeface="Consolas" panose="020B0609020204030204" pitchFamily="49" charset="0"/>
              </a:rPr>
              <a:t>= 5</a:t>
            </a:r>
            <a:r>
              <a:rPr lang="en-US" sz="1600" dirty="0">
                <a:effectLst/>
              </a:rPr>
              <a:t>; </a:t>
            </a:r>
            <a:r>
              <a:rPr lang="ru-RU" sz="1600" dirty="0">
                <a:effectLst/>
              </a:rPr>
              <a:t>присвоит 5 собственной переменной</a:t>
            </a:r>
            <a:r>
              <a:rPr lang="en-US" sz="1600" dirty="0">
                <a:effectLst/>
              </a:rPr>
              <a:t> </a:t>
            </a:r>
            <a:r>
              <a:rPr lang="en-US" sz="1600" dirty="0">
                <a:effectLst/>
                <a:latin typeface="Consolas" panose="020B0609020204030204" pitchFamily="49" charset="0"/>
              </a:rPr>
              <a:t>name</a:t>
            </a:r>
            <a:r>
              <a:rPr lang="en-US" sz="1600" dirty="0">
                <a:effectLst/>
              </a:rPr>
              <a:t> </a:t>
            </a:r>
            <a:r>
              <a:rPr lang="ru-RU" sz="1600" dirty="0">
                <a:effectLst/>
              </a:rPr>
              <a:t>класса </a:t>
            </a:r>
            <a:r>
              <a:rPr lang="en-US" sz="1600" dirty="0">
                <a:effectLst/>
                <a:latin typeface="Consolas" panose="020B0609020204030204" pitchFamily="49" charset="0"/>
              </a:rPr>
              <a:t>B.</a:t>
            </a:r>
          </a:p>
        </p:txBody>
      </p:sp>
      <p:cxnSp>
        <p:nvCxnSpPr>
          <p:cNvPr id="16" name="Соединитель: изогнутый 15">
            <a:extLst>
              <a:ext uri="{FF2B5EF4-FFF2-40B4-BE49-F238E27FC236}">
                <a16:creationId xmlns:a16="http://schemas.microsoft.com/office/drawing/2014/main" id="{481388C2-C3AD-117D-C692-F8F7CDC682FB}"/>
              </a:ext>
            </a:extLst>
          </p:cNvPr>
          <p:cNvCxnSpPr>
            <a:endCxn id="11" idx="2"/>
          </p:cNvCxnSpPr>
          <p:nvPr/>
        </p:nvCxnSpPr>
        <p:spPr>
          <a:xfrm flipV="1">
            <a:off x="2406316" y="2808471"/>
            <a:ext cx="6604834" cy="1418823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6981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Правила поиска имён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0C89-B3A0-3AA0-0CE4-DF47549E7B34}"/>
              </a:ext>
            </a:extLst>
          </p:cNvPr>
          <p:cNvSpPr txBox="1"/>
          <p:nvPr/>
        </p:nvSpPr>
        <p:spPr>
          <a:xfrm>
            <a:off x="1263316" y="1180306"/>
            <a:ext cx="60976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10;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other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= -10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3B59AFBE-4FB2-2D5F-856E-594701BF40BF}"/>
              </a:ext>
            </a:extLst>
          </p:cNvPr>
          <p:cNvSpPr/>
          <p:nvPr/>
        </p:nvSpPr>
        <p:spPr>
          <a:xfrm>
            <a:off x="6284495" y="1377065"/>
            <a:ext cx="3756259" cy="239678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4083ACB4-22EE-8932-0D5C-CF948460351C}"/>
              </a:ext>
            </a:extLst>
          </p:cNvPr>
          <p:cNvSpPr/>
          <p:nvPr/>
        </p:nvSpPr>
        <p:spPr>
          <a:xfrm>
            <a:off x="6585844" y="1843088"/>
            <a:ext cx="1672632" cy="10829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91BF1-8652-45BC-8CE0-A9F8B37926AD}"/>
              </a:ext>
            </a:extLst>
          </p:cNvPr>
          <p:cNvSpPr txBox="1"/>
          <p:nvPr/>
        </p:nvSpPr>
        <p:spPr>
          <a:xfrm>
            <a:off x="7263302" y="184308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F89FF-BACC-88DB-3664-EB1D482D35AF}"/>
              </a:ext>
            </a:extLst>
          </p:cNvPr>
          <p:cNvSpPr txBox="1"/>
          <p:nvPr/>
        </p:nvSpPr>
        <p:spPr>
          <a:xfrm>
            <a:off x="6820419" y="2209771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E2364-EB69-1AB9-5C1F-E21640AD32C0}"/>
              </a:ext>
            </a:extLst>
          </p:cNvPr>
          <p:cNvSpPr txBox="1"/>
          <p:nvPr/>
        </p:nvSpPr>
        <p:spPr>
          <a:xfrm>
            <a:off x="8003766" y="139755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350AB9-2F41-6B13-20B5-45A6559C2291}"/>
              </a:ext>
            </a:extLst>
          </p:cNvPr>
          <p:cNvSpPr txBox="1"/>
          <p:nvPr/>
        </p:nvSpPr>
        <p:spPr>
          <a:xfrm>
            <a:off x="8652718" y="2439139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7C011-D377-3FB1-6C3A-42BADCDFC8A8}"/>
              </a:ext>
            </a:extLst>
          </p:cNvPr>
          <p:cNvSpPr txBox="1"/>
          <p:nvPr/>
        </p:nvSpPr>
        <p:spPr>
          <a:xfrm>
            <a:off x="1263316" y="5509478"/>
            <a:ext cx="100904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Поиск имени выполняется начиная с класса </a:t>
            </a:r>
            <a:r>
              <a:rPr lang="en-US" sz="1600" dirty="0">
                <a:latin typeface="Consolas" panose="020B0609020204030204" pitchFamily="49" charset="0"/>
              </a:rPr>
              <a:t>B</a:t>
            </a:r>
            <a:r>
              <a:rPr lang="ru-RU" sz="1600" dirty="0"/>
              <a:t>. Т.к. имени </a:t>
            </a:r>
            <a:r>
              <a:rPr lang="en-US" sz="1600" dirty="0">
                <a:latin typeface="Consolas" panose="020B0609020204030204" pitchFamily="49" charset="0"/>
              </a:rPr>
              <a:t>name </a:t>
            </a:r>
            <a:r>
              <a:rPr lang="ru-RU" sz="1600" dirty="0"/>
              <a:t>в нём нет, то поиск продолжается в родительских классах, т.е. в классе </a:t>
            </a:r>
            <a:r>
              <a:rPr lang="en-US" sz="1600" dirty="0">
                <a:latin typeface="Consolas" panose="020B0609020204030204" pitchFamily="49" charset="0"/>
              </a:rPr>
              <a:t>A.</a:t>
            </a:r>
            <a:r>
              <a:rPr lang="ru-RU" sz="1600" dirty="0"/>
              <a:t> Поэтому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effectLst/>
                <a:latin typeface="Consolas" panose="020B0609020204030204" pitchFamily="49" charset="0"/>
              </a:rPr>
              <a:t>object.name </a:t>
            </a:r>
            <a:r>
              <a:rPr lang="ru-RU" sz="1600" dirty="0">
                <a:effectLst/>
                <a:latin typeface="Consolas" panose="020B0609020204030204" pitchFamily="49" charset="0"/>
              </a:rPr>
              <a:t>= 5</a:t>
            </a:r>
            <a:r>
              <a:rPr lang="en-US" sz="1600" dirty="0">
                <a:effectLst/>
              </a:rPr>
              <a:t>; </a:t>
            </a:r>
            <a:r>
              <a:rPr lang="ru-RU" sz="1600" dirty="0">
                <a:effectLst/>
              </a:rPr>
              <a:t>присвоит 5 переменной</a:t>
            </a:r>
            <a:r>
              <a:rPr lang="en-US" sz="1600" dirty="0">
                <a:effectLst/>
              </a:rPr>
              <a:t> </a:t>
            </a:r>
            <a:r>
              <a:rPr lang="en-US" sz="1600" dirty="0">
                <a:effectLst/>
                <a:latin typeface="Consolas" panose="020B0609020204030204" pitchFamily="49" charset="0"/>
              </a:rPr>
              <a:t>name </a:t>
            </a:r>
            <a:r>
              <a:rPr lang="ru-RU" sz="1600" dirty="0">
                <a:effectLst/>
              </a:rPr>
              <a:t>доставшейся классу </a:t>
            </a:r>
            <a:r>
              <a:rPr lang="en-US" sz="1600" dirty="0">
                <a:effectLst/>
                <a:latin typeface="Consolas" panose="020B0609020204030204" pitchFamily="49" charset="0"/>
              </a:rPr>
              <a:t>B</a:t>
            </a:r>
            <a:r>
              <a:rPr lang="ru-RU" sz="1600" dirty="0">
                <a:effectLst/>
              </a:rPr>
              <a:t> </a:t>
            </a:r>
            <a:r>
              <a:rPr lang="ru-RU" sz="1600" dirty="0"/>
              <a:t>от класса </a:t>
            </a:r>
            <a:r>
              <a:rPr lang="en-US" sz="1600" dirty="0">
                <a:latin typeface="Consolas" panose="020B0609020204030204" pitchFamily="49" charset="0"/>
              </a:rPr>
              <a:t>A.</a:t>
            </a:r>
            <a:r>
              <a:rPr lang="ru-RU" sz="1600" dirty="0"/>
              <a:t> </a:t>
            </a:r>
            <a:endParaRPr lang="en-US" sz="1600" dirty="0"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Соединитель: изогнутый 15">
            <a:extLst>
              <a:ext uri="{FF2B5EF4-FFF2-40B4-BE49-F238E27FC236}">
                <a16:creationId xmlns:a16="http://schemas.microsoft.com/office/drawing/2014/main" id="{481388C2-C3AD-117D-C692-F8F7CDC682FB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406316" y="2579103"/>
            <a:ext cx="4772535" cy="1648191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4173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Правила поиска имён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0C89-B3A0-3AA0-0CE4-DF47549E7B34}"/>
              </a:ext>
            </a:extLst>
          </p:cNvPr>
          <p:cNvSpPr txBox="1"/>
          <p:nvPr/>
        </p:nvSpPr>
        <p:spPr>
          <a:xfrm>
            <a:off x="1263316" y="1180306"/>
            <a:ext cx="609760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-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 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С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3B59AFBE-4FB2-2D5F-856E-594701BF40BF}"/>
              </a:ext>
            </a:extLst>
          </p:cNvPr>
          <p:cNvSpPr/>
          <p:nvPr/>
        </p:nvSpPr>
        <p:spPr>
          <a:xfrm>
            <a:off x="6284495" y="1377065"/>
            <a:ext cx="4081913" cy="239678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4083ACB4-22EE-8932-0D5C-CF948460351C}"/>
              </a:ext>
            </a:extLst>
          </p:cNvPr>
          <p:cNvSpPr/>
          <p:nvPr/>
        </p:nvSpPr>
        <p:spPr>
          <a:xfrm>
            <a:off x="6537719" y="1843088"/>
            <a:ext cx="1672632" cy="10829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91BF1-8652-45BC-8CE0-A9F8B37926AD}"/>
              </a:ext>
            </a:extLst>
          </p:cNvPr>
          <p:cNvSpPr txBox="1"/>
          <p:nvPr/>
        </p:nvSpPr>
        <p:spPr>
          <a:xfrm>
            <a:off x="7215177" y="184308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F89FF-BACC-88DB-3664-EB1D482D35AF}"/>
              </a:ext>
            </a:extLst>
          </p:cNvPr>
          <p:cNvSpPr txBox="1"/>
          <p:nvPr/>
        </p:nvSpPr>
        <p:spPr>
          <a:xfrm>
            <a:off x="6772294" y="2209771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E2364-EB69-1AB9-5C1F-E21640AD32C0}"/>
              </a:ext>
            </a:extLst>
          </p:cNvPr>
          <p:cNvSpPr txBox="1"/>
          <p:nvPr/>
        </p:nvSpPr>
        <p:spPr>
          <a:xfrm>
            <a:off x="8003766" y="13975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350AB9-2F41-6B13-20B5-45A6559C2291}"/>
              </a:ext>
            </a:extLst>
          </p:cNvPr>
          <p:cNvSpPr txBox="1"/>
          <p:nvPr/>
        </p:nvSpPr>
        <p:spPr>
          <a:xfrm>
            <a:off x="7961447" y="3078480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7C011-D377-3FB1-6C3A-42BADCDFC8A8}"/>
              </a:ext>
            </a:extLst>
          </p:cNvPr>
          <p:cNvSpPr txBox="1"/>
          <p:nvPr/>
        </p:nvSpPr>
        <p:spPr>
          <a:xfrm>
            <a:off x="1263316" y="5632805"/>
            <a:ext cx="1009048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Поиск имени выполняется начиная с класса </a:t>
            </a:r>
            <a:r>
              <a:rPr lang="en-US" sz="1600" dirty="0">
                <a:latin typeface="Consolas" panose="020B0609020204030204" pitchFamily="49" charset="0"/>
              </a:rPr>
              <a:t>C</a:t>
            </a:r>
            <a:r>
              <a:rPr lang="ru-RU" sz="1600" dirty="0"/>
              <a:t>. Т.к. имени </a:t>
            </a:r>
            <a:r>
              <a:rPr lang="en-US" sz="1600" dirty="0">
                <a:latin typeface="Consolas" panose="020B0609020204030204" pitchFamily="49" charset="0"/>
              </a:rPr>
              <a:t>name</a:t>
            </a:r>
            <a:r>
              <a:rPr lang="en-US" sz="1600" dirty="0">
                <a:latin typeface="+mj-lt"/>
              </a:rPr>
              <a:t> </a:t>
            </a:r>
            <a:r>
              <a:rPr lang="ru-RU" sz="1600" dirty="0"/>
              <a:t>в нём нет, то поиск продолжается в родительских классах, т.е. в классе </a:t>
            </a:r>
            <a:r>
              <a:rPr lang="en-US" sz="1600" dirty="0">
                <a:latin typeface="Consolas" panose="020B0609020204030204" pitchFamily="49" charset="0"/>
              </a:rPr>
              <a:t>A</a:t>
            </a:r>
            <a:r>
              <a:rPr lang="ru-RU" sz="1600" dirty="0"/>
              <a:t> и классе </a:t>
            </a:r>
            <a:r>
              <a:rPr lang="en-US" sz="1600" dirty="0">
                <a:latin typeface="Consolas" panose="020B0609020204030204" pitchFamily="49" charset="0"/>
              </a:rPr>
              <a:t>B.</a:t>
            </a:r>
            <a:r>
              <a:rPr lang="ru-RU" sz="1600" dirty="0"/>
              <a:t> Имя </a:t>
            </a:r>
            <a:r>
              <a:rPr lang="en-US" sz="1600" dirty="0">
                <a:latin typeface="Consolas" panose="020B0609020204030204" pitchFamily="49" charset="0"/>
              </a:rPr>
              <a:t>name</a:t>
            </a:r>
            <a:r>
              <a:rPr lang="ru-RU" sz="1600" dirty="0"/>
              <a:t> присутствует в обоих классах, поэтому компилятор не может выбрать какое-то одно. Т.е. такой код приведёт к ошибке. Если у класса </a:t>
            </a:r>
            <a:r>
              <a:rPr lang="en-US" sz="1600" dirty="0"/>
              <a:t>A </a:t>
            </a:r>
            <a:r>
              <a:rPr lang="ru-RU" sz="1600" dirty="0"/>
              <a:t>не будет имени </a:t>
            </a:r>
            <a:r>
              <a:rPr lang="en-US" sz="1600" dirty="0"/>
              <a:t>name</a:t>
            </a:r>
            <a:r>
              <a:rPr lang="ru-RU" sz="1600" dirty="0"/>
              <a:t>, но будет у его предка, то результат такой же.</a:t>
            </a:r>
            <a:endParaRPr lang="en-US" sz="1600" dirty="0"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Соединитель: изогнутый 15">
            <a:extLst>
              <a:ext uri="{FF2B5EF4-FFF2-40B4-BE49-F238E27FC236}">
                <a16:creationId xmlns:a16="http://schemas.microsoft.com/office/drawing/2014/main" id="{481388C2-C3AD-117D-C692-F8F7CDC682FB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396691" y="2579103"/>
            <a:ext cx="4734035" cy="2811044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Овал 4">
            <a:extLst>
              <a:ext uri="{FF2B5EF4-FFF2-40B4-BE49-F238E27FC236}">
                <a16:creationId xmlns:a16="http://schemas.microsoft.com/office/drawing/2014/main" id="{BA9D3DE2-7C90-EC1D-7091-77FDD55742F0}"/>
              </a:ext>
            </a:extLst>
          </p:cNvPr>
          <p:cNvSpPr/>
          <p:nvPr/>
        </p:nvSpPr>
        <p:spPr>
          <a:xfrm>
            <a:off x="8440069" y="1843088"/>
            <a:ext cx="1672632" cy="10829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32CF4D-0CEB-F04B-F061-CA784D8D9DEE}"/>
              </a:ext>
            </a:extLst>
          </p:cNvPr>
          <p:cNvSpPr txBox="1"/>
          <p:nvPr/>
        </p:nvSpPr>
        <p:spPr>
          <a:xfrm>
            <a:off x="9117527" y="184308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CFEF41-25F7-0DCE-B44A-F71BC3595D42}"/>
              </a:ext>
            </a:extLst>
          </p:cNvPr>
          <p:cNvSpPr txBox="1"/>
          <p:nvPr/>
        </p:nvSpPr>
        <p:spPr>
          <a:xfrm>
            <a:off x="8674644" y="2209771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  <a:endParaRPr lang="ru-RU" dirty="0"/>
          </a:p>
        </p:txBody>
      </p:sp>
      <p:cxnSp>
        <p:nvCxnSpPr>
          <p:cNvPr id="17" name="Соединитель: изогнутый 16">
            <a:extLst>
              <a:ext uri="{FF2B5EF4-FFF2-40B4-BE49-F238E27FC236}">
                <a16:creationId xmlns:a16="http://schemas.microsoft.com/office/drawing/2014/main" id="{CFFA8488-C971-3CC2-189B-9E89159C1051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2413292" y="2579103"/>
            <a:ext cx="6619784" cy="2811044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34762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Правила поиска имён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0C89-B3A0-3AA0-0CE4-DF47549E7B34}"/>
              </a:ext>
            </a:extLst>
          </p:cNvPr>
          <p:cNvSpPr txBox="1"/>
          <p:nvPr/>
        </p:nvSpPr>
        <p:spPr>
          <a:xfrm>
            <a:off x="1263316" y="1180306"/>
            <a:ext cx="609760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1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private: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-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 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С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3B59AFBE-4FB2-2D5F-856E-594701BF40BF}"/>
              </a:ext>
            </a:extLst>
          </p:cNvPr>
          <p:cNvSpPr/>
          <p:nvPr/>
        </p:nvSpPr>
        <p:spPr>
          <a:xfrm>
            <a:off x="6284495" y="1377065"/>
            <a:ext cx="4081913" cy="239678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4083ACB4-22EE-8932-0D5C-CF948460351C}"/>
              </a:ext>
            </a:extLst>
          </p:cNvPr>
          <p:cNvSpPr/>
          <p:nvPr/>
        </p:nvSpPr>
        <p:spPr>
          <a:xfrm>
            <a:off x="6537719" y="1843088"/>
            <a:ext cx="1672632" cy="10829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91BF1-8652-45BC-8CE0-A9F8B37926AD}"/>
              </a:ext>
            </a:extLst>
          </p:cNvPr>
          <p:cNvSpPr txBox="1"/>
          <p:nvPr/>
        </p:nvSpPr>
        <p:spPr>
          <a:xfrm>
            <a:off x="7215177" y="184308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F89FF-BACC-88DB-3664-EB1D482D35AF}"/>
              </a:ext>
            </a:extLst>
          </p:cNvPr>
          <p:cNvSpPr txBox="1"/>
          <p:nvPr/>
        </p:nvSpPr>
        <p:spPr>
          <a:xfrm>
            <a:off x="6772294" y="2209771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E2364-EB69-1AB9-5C1F-E21640AD32C0}"/>
              </a:ext>
            </a:extLst>
          </p:cNvPr>
          <p:cNvSpPr txBox="1"/>
          <p:nvPr/>
        </p:nvSpPr>
        <p:spPr>
          <a:xfrm>
            <a:off x="8003766" y="13975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350AB9-2F41-6B13-20B5-45A6559C2291}"/>
              </a:ext>
            </a:extLst>
          </p:cNvPr>
          <p:cNvSpPr txBox="1"/>
          <p:nvPr/>
        </p:nvSpPr>
        <p:spPr>
          <a:xfrm>
            <a:off x="7961447" y="3078480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7C011-D377-3FB1-6C3A-42BADCDFC8A8}"/>
              </a:ext>
            </a:extLst>
          </p:cNvPr>
          <p:cNvSpPr txBox="1"/>
          <p:nvPr/>
        </p:nvSpPr>
        <p:spPr>
          <a:xfrm>
            <a:off x="1263316" y="5733164"/>
            <a:ext cx="100904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effectLst/>
              </a:rPr>
              <a:t>На процесс поиска имён квалификаторы доступа не влияют. Несмотря на то, что у класса </a:t>
            </a:r>
            <a:r>
              <a:rPr lang="en-US" sz="1600" b="1" dirty="0">
                <a:effectLst/>
              </a:rPr>
              <a:t>A</a:t>
            </a:r>
            <a:r>
              <a:rPr lang="en-US" sz="1600" dirty="0">
                <a:effectLst/>
              </a:rPr>
              <a:t> </a:t>
            </a:r>
            <a:r>
              <a:rPr lang="ru-RU" sz="1600" dirty="0"/>
              <a:t>имя </a:t>
            </a:r>
            <a:r>
              <a:rPr lang="en-US" sz="1600" b="1" dirty="0"/>
              <a:t>name</a:t>
            </a:r>
            <a:r>
              <a:rPr lang="en-US" sz="1600" dirty="0"/>
              <a:t> </a:t>
            </a:r>
            <a:r>
              <a:rPr lang="ru-RU" sz="1600" dirty="0"/>
              <a:t>находится в приватной секции и 100% не может быть доступно в точке вызова, а у класса </a:t>
            </a:r>
            <a:r>
              <a:rPr lang="en-US" sz="1600" b="1" dirty="0"/>
              <a:t>B</a:t>
            </a:r>
            <a:r>
              <a:rPr lang="en-US" sz="1600" dirty="0"/>
              <a:t> </a:t>
            </a:r>
            <a:r>
              <a:rPr lang="ru-RU" sz="1600" dirty="0"/>
              <a:t>есть доступное имя </a:t>
            </a:r>
            <a:r>
              <a:rPr lang="en-US" sz="1600" b="1" dirty="0"/>
              <a:t>name</a:t>
            </a:r>
            <a:r>
              <a:rPr lang="ru-RU" sz="1600" dirty="0"/>
              <a:t>, мы получаем ошибку, по той же причине, что и на предыдущем слайде.</a:t>
            </a:r>
            <a:endParaRPr lang="en-US" sz="1600" dirty="0">
              <a:effectLst/>
            </a:endParaRPr>
          </a:p>
        </p:txBody>
      </p:sp>
      <p:cxnSp>
        <p:nvCxnSpPr>
          <p:cNvPr id="16" name="Соединитель: изогнутый 15">
            <a:extLst>
              <a:ext uri="{FF2B5EF4-FFF2-40B4-BE49-F238E27FC236}">
                <a16:creationId xmlns:a16="http://schemas.microsoft.com/office/drawing/2014/main" id="{481388C2-C3AD-117D-C692-F8F7CDC682FB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396691" y="2579103"/>
            <a:ext cx="4734035" cy="2811044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Овал 4">
            <a:extLst>
              <a:ext uri="{FF2B5EF4-FFF2-40B4-BE49-F238E27FC236}">
                <a16:creationId xmlns:a16="http://schemas.microsoft.com/office/drawing/2014/main" id="{BA9D3DE2-7C90-EC1D-7091-77FDD55742F0}"/>
              </a:ext>
            </a:extLst>
          </p:cNvPr>
          <p:cNvSpPr/>
          <p:nvPr/>
        </p:nvSpPr>
        <p:spPr>
          <a:xfrm>
            <a:off x="8440069" y="1843088"/>
            <a:ext cx="1672632" cy="10829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32CF4D-0CEB-F04B-F061-CA784D8D9DEE}"/>
              </a:ext>
            </a:extLst>
          </p:cNvPr>
          <p:cNvSpPr txBox="1"/>
          <p:nvPr/>
        </p:nvSpPr>
        <p:spPr>
          <a:xfrm>
            <a:off x="9117527" y="184308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CFEF41-25F7-0DCE-B44A-F71BC3595D42}"/>
              </a:ext>
            </a:extLst>
          </p:cNvPr>
          <p:cNvSpPr txBox="1"/>
          <p:nvPr/>
        </p:nvSpPr>
        <p:spPr>
          <a:xfrm>
            <a:off x="8674644" y="2209771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  <a:endParaRPr lang="ru-RU" dirty="0"/>
          </a:p>
        </p:txBody>
      </p:sp>
      <p:cxnSp>
        <p:nvCxnSpPr>
          <p:cNvPr id="17" name="Соединитель: изогнутый 16">
            <a:extLst>
              <a:ext uri="{FF2B5EF4-FFF2-40B4-BE49-F238E27FC236}">
                <a16:creationId xmlns:a16="http://schemas.microsoft.com/office/drawing/2014/main" id="{CFFA8488-C971-3CC2-189B-9E89159C1051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2413292" y="2579103"/>
            <a:ext cx="6619784" cy="2811044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7023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Правила поиска имён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0C89-B3A0-3AA0-0CE4-DF47549E7B34}"/>
              </a:ext>
            </a:extLst>
          </p:cNvPr>
          <p:cNvSpPr txBox="1"/>
          <p:nvPr/>
        </p:nvSpPr>
        <p:spPr>
          <a:xfrm>
            <a:off x="1263316" y="1180306"/>
            <a:ext cx="609760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(){}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 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С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3B59AFBE-4FB2-2D5F-856E-594701BF40BF}"/>
              </a:ext>
            </a:extLst>
          </p:cNvPr>
          <p:cNvSpPr/>
          <p:nvPr/>
        </p:nvSpPr>
        <p:spPr>
          <a:xfrm>
            <a:off x="6284495" y="1377065"/>
            <a:ext cx="4081913" cy="239678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4083ACB4-22EE-8932-0D5C-CF948460351C}"/>
              </a:ext>
            </a:extLst>
          </p:cNvPr>
          <p:cNvSpPr/>
          <p:nvPr/>
        </p:nvSpPr>
        <p:spPr>
          <a:xfrm>
            <a:off x="6537719" y="1843088"/>
            <a:ext cx="1672632" cy="10829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91BF1-8652-45BC-8CE0-A9F8B37926AD}"/>
              </a:ext>
            </a:extLst>
          </p:cNvPr>
          <p:cNvSpPr txBox="1"/>
          <p:nvPr/>
        </p:nvSpPr>
        <p:spPr>
          <a:xfrm>
            <a:off x="7215177" y="184308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F89FF-BACC-88DB-3664-EB1D482D35AF}"/>
              </a:ext>
            </a:extLst>
          </p:cNvPr>
          <p:cNvSpPr txBox="1"/>
          <p:nvPr/>
        </p:nvSpPr>
        <p:spPr>
          <a:xfrm>
            <a:off x="6772294" y="2209771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E2364-EB69-1AB9-5C1F-E21640AD32C0}"/>
              </a:ext>
            </a:extLst>
          </p:cNvPr>
          <p:cNvSpPr txBox="1"/>
          <p:nvPr/>
        </p:nvSpPr>
        <p:spPr>
          <a:xfrm>
            <a:off x="8003766" y="13975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350AB9-2F41-6B13-20B5-45A6559C2291}"/>
              </a:ext>
            </a:extLst>
          </p:cNvPr>
          <p:cNvSpPr txBox="1"/>
          <p:nvPr/>
        </p:nvSpPr>
        <p:spPr>
          <a:xfrm>
            <a:off x="7961447" y="3078480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7C011-D377-3FB1-6C3A-42BADCDFC8A8}"/>
              </a:ext>
            </a:extLst>
          </p:cNvPr>
          <p:cNvSpPr txBox="1"/>
          <p:nvPr/>
        </p:nvSpPr>
        <p:spPr>
          <a:xfrm>
            <a:off x="1263316" y="5733164"/>
            <a:ext cx="100904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effectLst/>
              </a:rPr>
              <a:t>На процесс поиска имён </a:t>
            </a:r>
            <a:r>
              <a:rPr lang="ru-RU" sz="1600" dirty="0"/>
              <a:t>не влияет метод мы ищем или поле, ищется просто имя</a:t>
            </a:r>
            <a:r>
              <a:rPr lang="ru-RU" sz="1600" dirty="0">
                <a:effectLst/>
              </a:rPr>
              <a:t>. Несмотря на то, что у класса </a:t>
            </a:r>
            <a:r>
              <a:rPr lang="en-US" sz="1600" b="1" dirty="0">
                <a:effectLst/>
              </a:rPr>
              <a:t>A</a:t>
            </a:r>
            <a:r>
              <a:rPr lang="en-US" sz="1600" dirty="0">
                <a:effectLst/>
              </a:rPr>
              <a:t> </a:t>
            </a:r>
            <a:r>
              <a:rPr lang="ru-RU" sz="1600" dirty="0"/>
              <a:t>имя </a:t>
            </a:r>
            <a:r>
              <a:rPr lang="en-US" sz="1600" b="1" dirty="0"/>
              <a:t>name</a:t>
            </a:r>
            <a:r>
              <a:rPr lang="en-US" sz="1600" dirty="0"/>
              <a:t> </a:t>
            </a:r>
            <a:r>
              <a:rPr lang="ru-RU" sz="1600" dirty="0"/>
              <a:t>это поле и операция присваивания возможна, а у класса </a:t>
            </a:r>
            <a:r>
              <a:rPr lang="en-US" sz="1600" b="1" dirty="0"/>
              <a:t>B</a:t>
            </a:r>
            <a:r>
              <a:rPr lang="en-US" sz="1600" dirty="0"/>
              <a:t> </a:t>
            </a:r>
            <a:r>
              <a:rPr lang="en-US" sz="1600" b="1" dirty="0"/>
              <a:t>name</a:t>
            </a:r>
            <a:r>
              <a:rPr lang="ru-RU" sz="1600" b="1" dirty="0"/>
              <a:t> </a:t>
            </a:r>
            <a:r>
              <a:rPr lang="ru-RU" sz="1600" dirty="0"/>
              <a:t>– это метод и присваивание не возможно, компилятор не может выбрать и сообщит об неопределённости.</a:t>
            </a:r>
            <a:endParaRPr lang="en-US" sz="1600" dirty="0">
              <a:effectLst/>
            </a:endParaRPr>
          </a:p>
        </p:txBody>
      </p:sp>
      <p:cxnSp>
        <p:nvCxnSpPr>
          <p:cNvPr id="16" name="Соединитель: изогнутый 15">
            <a:extLst>
              <a:ext uri="{FF2B5EF4-FFF2-40B4-BE49-F238E27FC236}">
                <a16:creationId xmlns:a16="http://schemas.microsoft.com/office/drawing/2014/main" id="{481388C2-C3AD-117D-C692-F8F7CDC682FB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396691" y="2579103"/>
            <a:ext cx="4734035" cy="2811044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Овал 4">
            <a:extLst>
              <a:ext uri="{FF2B5EF4-FFF2-40B4-BE49-F238E27FC236}">
                <a16:creationId xmlns:a16="http://schemas.microsoft.com/office/drawing/2014/main" id="{BA9D3DE2-7C90-EC1D-7091-77FDD55742F0}"/>
              </a:ext>
            </a:extLst>
          </p:cNvPr>
          <p:cNvSpPr/>
          <p:nvPr/>
        </p:nvSpPr>
        <p:spPr>
          <a:xfrm>
            <a:off x="8440069" y="1843088"/>
            <a:ext cx="1672632" cy="10829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32CF4D-0CEB-F04B-F061-CA784D8D9DEE}"/>
              </a:ext>
            </a:extLst>
          </p:cNvPr>
          <p:cNvSpPr txBox="1"/>
          <p:nvPr/>
        </p:nvSpPr>
        <p:spPr>
          <a:xfrm>
            <a:off x="9117527" y="184308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CFEF41-25F7-0DCE-B44A-F71BC3595D42}"/>
              </a:ext>
            </a:extLst>
          </p:cNvPr>
          <p:cNvSpPr txBox="1"/>
          <p:nvPr/>
        </p:nvSpPr>
        <p:spPr>
          <a:xfrm>
            <a:off x="8674644" y="2209771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  <a:endParaRPr lang="ru-RU" dirty="0"/>
          </a:p>
        </p:txBody>
      </p:sp>
      <p:cxnSp>
        <p:nvCxnSpPr>
          <p:cNvPr id="17" name="Соединитель: изогнутый 16">
            <a:extLst>
              <a:ext uri="{FF2B5EF4-FFF2-40B4-BE49-F238E27FC236}">
                <a16:creationId xmlns:a16="http://schemas.microsoft.com/office/drawing/2014/main" id="{CFFA8488-C971-3CC2-189B-9E89159C1051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2413292" y="2579103"/>
            <a:ext cx="6619784" cy="2811044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2668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Правила поиска имён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0C89-B3A0-3AA0-0CE4-DF47549E7B34}"/>
              </a:ext>
            </a:extLst>
          </p:cNvPr>
          <p:cNvSpPr txBox="1"/>
          <p:nvPr/>
        </p:nvSpPr>
        <p:spPr>
          <a:xfrm>
            <a:off x="1263316" y="1180306"/>
            <a:ext cx="609760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-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::name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3B59AFBE-4FB2-2D5F-856E-594701BF40BF}"/>
              </a:ext>
            </a:extLst>
          </p:cNvPr>
          <p:cNvSpPr/>
          <p:nvPr/>
        </p:nvSpPr>
        <p:spPr>
          <a:xfrm>
            <a:off x="6284495" y="1377065"/>
            <a:ext cx="4081913" cy="239678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4083ACB4-22EE-8932-0D5C-CF948460351C}"/>
              </a:ext>
            </a:extLst>
          </p:cNvPr>
          <p:cNvSpPr/>
          <p:nvPr/>
        </p:nvSpPr>
        <p:spPr>
          <a:xfrm>
            <a:off x="6537719" y="1843088"/>
            <a:ext cx="1672632" cy="10829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91BF1-8652-45BC-8CE0-A9F8B37926AD}"/>
              </a:ext>
            </a:extLst>
          </p:cNvPr>
          <p:cNvSpPr txBox="1"/>
          <p:nvPr/>
        </p:nvSpPr>
        <p:spPr>
          <a:xfrm>
            <a:off x="7215177" y="184308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F89FF-BACC-88DB-3664-EB1D482D35AF}"/>
              </a:ext>
            </a:extLst>
          </p:cNvPr>
          <p:cNvSpPr txBox="1"/>
          <p:nvPr/>
        </p:nvSpPr>
        <p:spPr>
          <a:xfrm>
            <a:off x="6772294" y="2209771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E2364-EB69-1AB9-5C1F-E21640AD32C0}"/>
              </a:ext>
            </a:extLst>
          </p:cNvPr>
          <p:cNvSpPr txBox="1"/>
          <p:nvPr/>
        </p:nvSpPr>
        <p:spPr>
          <a:xfrm>
            <a:off x="8003766" y="13975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350AB9-2F41-6B13-20B5-45A6559C2291}"/>
              </a:ext>
            </a:extLst>
          </p:cNvPr>
          <p:cNvSpPr txBox="1"/>
          <p:nvPr/>
        </p:nvSpPr>
        <p:spPr>
          <a:xfrm>
            <a:off x="7961447" y="3078480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7C011-D377-3FB1-6C3A-42BADCDFC8A8}"/>
              </a:ext>
            </a:extLst>
          </p:cNvPr>
          <p:cNvSpPr txBox="1"/>
          <p:nvPr/>
        </p:nvSpPr>
        <p:spPr>
          <a:xfrm>
            <a:off x="1263316" y="5733164"/>
            <a:ext cx="100904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Квалификатор </a:t>
            </a:r>
            <a:r>
              <a:rPr lang="en-US" sz="1600" dirty="0">
                <a:latin typeface="Consolas" panose="020B0609020204030204" pitchFamily="49" charset="0"/>
              </a:rPr>
              <a:t>A::</a:t>
            </a:r>
            <a:r>
              <a:rPr lang="en-US" sz="1600" dirty="0"/>
              <a:t> </a:t>
            </a:r>
            <a:r>
              <a:rPr lang="ru-RU" sz="1600" dirty="0"/>
              <a:t>однозначно определяет какое имя </a:t>
            </a:r>
            <a:r>
              <a:rPr lang="en-US" sz="1600" dirty="0">
                <a:latin typeface="Consolas" panose="020B0609020204030204" pitchFamily="49" charset="0"/>
              </a:rPr>
              <a:t>name</a:t>
            </a:r>
            <a:r>
              <a:rPr lang="en-US" sz="1600" dirty="0">
                <a:latin typeface="+mj-lt"/>
              </a:rPr>
              <a:t> </a:t>
            </a:r>
            <a:r>
              <a:rPr lang="ru-RU" sz="1600" dirty="0">
                <a:latin typeface="+mj-lt"/>
              </a:rPr>
              <a:t>нужно использовать</a:t>
            </a:r>
            <a:r>
              <a:rPr lang="ru-RU" sz="1600" dirty="0"/>
              <a:t>. Тут всё ОК</a:t>
            </a:r>
            <a:endParaRPr lang="en-US" sz="1600" dirty="0"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Соединитель: изогнутый 15">
            <a:extLst>
              <a:ext uri="{FF2B5EF4-FFF2-40B4-BE49-F238E27FC236}">
                <a16:creationId xmlns:a16="http://schemas.microsoft.com/office/drawing/2014/main" id="{481388C2-C3AD-117D-C692-F8F7CDC682FB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637322" y="2579103"/>
            <a:ext cx="4493404" cy="2791794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Овал 4">
            <a:extLst>
              <a:ext uri="{FF2B5EF4-FFF2-40B4-BE49-F238E27FC236}">
                <a16:creationId xmlns:a16="http://schemas.microsoft.com/office/drawing/2014/main" id="{BA9D3DE2-7C90-EC1D-7091-77FDD55742F0}"/>
              </a:ext>
            </a:extLst>
          </p:cNvPr>
          <p:cNvSpPr/>
          <p:nvPr/>
        </p:nvSpPr>
        <p:spPr>
          <a:xfrm>
            <a:off x="8440069" y="1843088"/>
            <a:ext cx="1672632" cy="10829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32CF4D-0CEB-F04B-F061-CA784D8D9DEE}"/>
              </a:ext>
            </a:extLst>
          </p:cNvPr>
          <p:cNvSpPr txBox="1"/>
          <p:nvPr/>
        </p:nvSpPr>
        <p:spPr>
          <a:xfrm>
            <a:off x="9117527" y="184308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CFEF41-25F7-0DCE-B44A-F71BC3595D42}"/>
              </a:ext>
            </a:extLst>
          </p:cNvPr>
          <p:cNvSpPr txBox="1"/>
          <p:nvPr/>
        </p:nvSpPr>
        <p:spPr>
          <a:xfrm>
            <a:off x="8674644" y="2209771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79407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Правила поиска имён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0C89-B3A0-3AA0-0CE4-DF47549E7B34}"/>
              </a:ext>
            </a:extLst>
          </p:cNvPr>
          <p:cNvSpPr txBox="1"/>
          <p:nvPr/>
        </p:nvSpPr>
        <p:spPr>
          <a:xfrm>
            <a:off x="1263316" y="1180306"/>
            <a:ext cx="609760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-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::name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3B59AFBE-4FB2-2D5F-856E-594701BF40BF}"/>
              </a:ext>
            </a:extLst>
          </p:cNvPr>
          <p:cNvSpPr/>
          <p:nvPr/>
        </p:nvSpPr>
        <p:spPr>
          <a:xfrm>
            <a:off x="6284495" y="1377065"/>
            <a:ext cx="4081913" cy="239678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4083ACB4-22EE-8932-0D5C-CF948460351C}"/>
              </a:ext>
            </a:extLst>
          </p:cNvPr>
          <p:cNvSpPr/>
          <p:nvPr/>
        </p:nvSpPr>
        <p:spPr>
          <a:xfrm>
            <a:off x="6537719" y="1843088"/>
            <a:ext cx="1672632" cy="10829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91BF1-8652-45BC-8CE0-A9F8B37926AD}"/>
              </a:ext>
            </a:extLst>
          </p:cNvPr>
          <p:cNvSpPr txBox="1"/>
          <p:nvPr/>
        </p:nvSpPr>
        <p:spPr>
          <a:xfrm>
            <a:off x="7215177" y="184308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F89FF-BACC-88DB-3664-EB1D482D35AF}"/>
              </a:ext>
            </a:extLst>
          </p:cNvPr>
          <p:cNvSpPr txBox="1"/>
          <p:nvPr/>
        </p:nvSpPr>
        <p:spPr>
          <a:xfrm>
            <a:off x="6772294" y="2209771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E2364-EB69-1AB9-5C1F-E21640AD32C0}"/>
              </a:ext>
            </a:extLst>
          </p:cNvPr>
          <p:cNvSpPr txBox="1"/>
          <p:nvPr/>
        </p:nvSpPr>
        <p:spPr>
          <a:xfrm>
            <a:off x="8003766" y="13975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350AB9-2F41-6B13-20B5-45A6559C2291}"/>
              </a:ext>
            </a:extLst>
          </p:cNvPr>
          <p:cNvSpPr txBox="1"/>
          <p:nvPr/>
        </p:nvSpPr>
        <p:spPr>
          <a:xfrm>
            <a:off x="7961447" y="3078480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7C011-D377-3FB1-6C3A-42BADCDFC8A8}"/>
              </a:ext>
            </a:extLst>
          </p:cNvPr>
          <p:cNvSpPr txBox="1"/>
          <p:nvPr/>
        </p:nvSpPr>
        <p:spPr>
          <a:xfrm>
            <a:off x="1263316" y="5733164"/>
            <a:ext cx="100904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Квалификатор </a:t>
            </a:r>
            <a:r>
              <a:rPr lang="en-US" sz="1600" dirty="0">
                <a:latin typeface="Consolas" panose="020B0609020204030204" pitchFamily="49" charset="0"/>
              </a:rPr>
              <a:t>A::</a:t>
            </a:r>
            <a:r>
              <a:rPr lang="en-US" sz="1600" dirty="0"/>
              <a:t> </a:t>
            </a:r>
            <a:r>
              <a:rPr lang="ru-RU" sz="1600" dirty="0"/>
              <a:t>однозначно определяет какое имя </a:t>
            </a:r>
            <a:r>
              <a:rPr lang="en-US" sz="1600" dirty="0">
                <a:latin typeface="Consolas" panose="020B0609020204030204" pitchFamily="49" charset="0"/>
              </a:rPr>
              <a:t>name</a:t>
            </a:r>
            <a:r>
              <a:rPr lang="en-US" sz="1600" dirty="0">
                <a:latin typeface="+mj-lt"/>
              </a:rPr>
              <a:t> </a:t>
            </a:r>
            <a:r>
              <a:rPr lang="ru-RU" sz="1600" dirty="0">
                <a:latin typeface="+mj-lt"/>
              </a:rPr>
              <a:t>нужно использовать</a:t>
            </a:r>
            <a:r>
              <a:rPr lang="ru-RU" sz="1600" dirty="0"/>
              <a:t>. Тут всё ОК</a:t>
            </a:r>
            <a:endParaRPr lang="en-US" sz="1600" dirty="0"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Соединитель: изогнутый 15">
            <a:extLst>
              <a:ext uri="{FF2B5EF4-FFF2-40B4-BE49-F238E27FC236}">
                <a16:creationId xmlns:a16="http://schemas.microsoft.com/office/drawing/2014/main" id="{481388C2-C3AD-117D-C692-F8F7CDC682FB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637322" y="2579103"/>
            <a:ext cx="4493404" cy="2791794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Овал 4">
            <a:extLst>
              <a:ext uri="{FF2B5EF4-FFF2-40B4-BE49-F238E27FC236}">
                <a16:creationId xmlns:a16="http://schemas.microsoft.com/office/drawing/2014/main" id="{BA9D3DE2-7C90-EC1D-7091-77FDD55742F0}"/>
              </a:ext>
            </a:extLst>
          </p:cNvPr>
          <p:cNvSpPr/>
          <p:nvPr/>
        </p:nvSpPr>
        <p:spPr>
          <a:xfrm>
            <a:off x="8440069" y="1843088"/>
            <a:ext cx="1672632" cy="10829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32CF4D-0CEB-F04B-F061-CA784D8D9DEE}"/>
              </a:ext>
            </a:extLst>
          </p:cNvPr>
          <p:cNvSpPr txBox="1"/>
          <p:nvPr/>
        </p:nvSpPr>
        <p:spPr>
          <a:xfrm>
            <a:off x="9117527" y="184308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CFEF41-25F7-0DCE-B44A-F71BC3595D42}"/>
              </a:ext>
            </a:extLst>
          </p:cNvPr>
          <p:cNvSpPr txBox="1"/>
          <p:nvPr/>
        </p:nvSpPr>
        <p:spPr>
          <a:xfrm>
            <a:off x="8674644" y="2209771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09525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Правила поиска имён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0C89-B3A0-3AA0-0CE4-DF47549E7B34}"/>
              </a:ext>
            </a:extLst>
          </p:cNvPr>
          <p:cNvSpPr txBox="1"/>
          <p:nvPr/>
        </p:nvSpPr>
        <p:spPr>
          <a:xfrm>
            <a:off x="1263316" y="1180306"/>
            <a:ext cx="60976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10;</a:t>
            </a:r>
            <a:endParaRPr lang="ru-RU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name &lt;&lt;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 = -10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3B59AFBE-4FB2-2D5F-856E-594701BF40BF}"/>
              </a:ext>
            </a:extLst>
          </p:cNvPr>
          <p:cNvSpPr/>
          <p:nvPr/>
        </p:nvSpPr>
        <p:spPr>
          <a:xfrm>
            <a:off x="6284495" y="1377065"/>
            <a:ext cx="3756259" cy="239678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4083ACB4-22EE-8932-0D5C-CF948460351C}"/>
              </a:ext>
            </a:extLst>
          </p:cNvPr>
          <p:cNvSpPr/>
          <p:nvPr/>
        </p:nvSpPr>
        <p:spPr>
          <a:xfrm>
            <a:off x="6585844" y="1843088"/>
            <a:ext cx="1672632" cy="10829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91BF1-8652-45BC-8CE0-A9F8B37926AD}"/>
              </a:ext>
            </a:extLst>
          </p:cNvPr>
          <p:cNvSpPr txBox="1"/>
          <p:nvPr/>
        </p:nvSpPr>
        <p:spPr>
          <a:xfrm>
            <a:off x="7263302" y="184308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F89FF-BACC-88DB-3664-EB1D482D35AF}"/>
              </a:ext>
            </a:extLst>
          </p:cNvPr>
          <p:cNvSpPr txBox="1"/>
          <p:nvPr/>
        </p:nvSpPr>
        <p:spPr>
          <a:xfrm>
            <a:off x="6702845" y="2089513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E2364-EB69-1AB9-5C1F-E21640AD32C0}"/>
              </a:ext>
            </a:extLst>
          </p:cNvPr>
          <p:cNvSpPr txBox="1"/>
          <p:nvPr/>
        </p:nvSpPr>
        <p:spPr>
          <a:xfrm>
            <a:off x="8003766" y="139755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350AB9-2F41-6B13-20B5-45A6559C2291}"/>
              </a:ext>
            </a:extLst>
          </p:cNvPr>
          <p:cNvSpPr txBox="1"/>
          <p:nvPr/>
        </p:nvSpPr>
        <p:spPr>
          <a:xfrm>
            <a:off x="8652718" y="2439139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7C011-D377-3FB1-6C3A-42BADCDFC8A8}"/>
              </a:ext>
            </a:extLst>
          </p:cNvPr>
          <p:cNvSpPr txBox="1"/>
          <p:nvPr/>
        </p:nvSpPr>
        <p:spPr>
          <a:xfrm>
            <a:off x="1263316" y="5755700"/>
            <a:ext cx="100904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Метод </a:t>
            </a:r>
            <a:r>
              <a:rPr lang="en-US" sz="1600" dirty="0">
                <a:latin typeface="Consolas" panose="020B0609020204030204" pitchFamily="49" charset="0"/>
              </a:rPr>
              <a:t>print</a:t>
            </a:r>
            <a:r>
              <a:rPr lang="en-US" sz="1600" dirty="0"/>
              <a:t> </a:t>
            </a:r>
            <a:r>
              <a:rPr lang="ru-RU" sz="1600" dirty="0"/>
              <a:t>из класса </a:t>
            </a:r>
            <a:r>
              <a:rPr lang="en-US" sz="1600" dirty="0">
                <a:latin typeface="Consolas" panose="020B0609020204030204" pitchFamily="49" charset="0"/>
              </a:rPr>
              <a:t>A</a:t>
            </a:r>
            <a:r>
              <a:rPr lang="en-US" sz="1600" dirty="0"/>
              <a:t> </a:t>
            </a:r>
            <a:r>
              <a:rPr lang="ru-RU" sz="1600" dirty="0"/>
              <a:t>будет начинать поиск имён со своего класса и далее в его предках. О поле </a:t>
            </a:r>
            <a:r>
              <a:rPr lang="en-US" sz="1600" dirty="0">
                <a:latin typeface="Consolas" panose="020B0609020204030204" pitchFamily="49" charset="0"/>
              </a:rPr>
              <a:t>name</a:t>
            </a:r>
            <a:r>
              <a:rPr lang="en-US" sz="1600" dirty="0"/>
              <a:t> </a:t>
            </a:r>
            <a:r>
              <a:rPr lang="ru-RU" sz="1600" dirty="0"/>
              <a:t>класса наследника, как и о наследнике в целом, он ничего не знает.</a:t>
            </a:r>
            <a:endParaRPr lang="en-US" sz="1600" dirty="0"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Соединитель: изогнутый 15">
            <a:extLst>
              <a:ext uri="{FF2B5EF4-FFF2-40B4-BE49-F238E27FC236}">
                <a16:creationId xmlns:a16="http://schemas.microsoft.com/office/drawing/2014/main" id="{481388C2-C3AD-117D-C692-F8F7CDC682FB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3119120" y="2768453"/>
            <a:ext cx="4532814" cy="2027067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489C75A-29B2-4FF9-8B59-DE216B239CC5}"/>
              </a:ext>
            </a:extLst>
          </p:cNvPr>
          <p:cNvSpPr txBox="1"/>
          <p:nvPr/>
        </p:nvSpPr>
        <p:spPr>
          <a:xfrm>
            <a:off x="7263302" y="2399121"/>
            <a:ext cx="777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print()</a:t>
            </a:r>
            <a:endParaRPr lang="ru-RU" dirty="0"/>
          </a:p>
        </p:txBody>
      </p:sp>
      <p:cxnSp>
        <p:nvCxnSpPr>
          <p:cNvPr id="17" name="Соединитель: изогнутый 16">
            <a:extLst>
              <a:ext uri="{FF2B5EF4-FFF2-40B4-BE49-F238E27FC236}">
                <a16:creationId xmlns:a16="http://schemas.microsoft.com/office/drawing/2014/main" id="{CC3C97D5-9DFE-4613-B22F-5109CD56D334}"/>
              </a:ext>
            </a:extLst>
          </p:cNvPr>
          <p:cNvCxnSpPr>
            <a:cxnSpLocks/>
            <a:stCxn id="13" idx="0"/>
            <a:endCxn id="9" idx="3"/>
          </p:cNvCxnSpPr>
          <p:nvPr/>
        </p:nvCxnSpPr>
        <p:spPr>
          <a:xfrm rot="16200000" flipV="1">
            <a:off x="7473350" y="2220537"/>
            <a:ext cx="124942" cy="232226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0404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131E07B-CE1B-F682-158F-81B99CE190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" t="18208" r="1099" b="2167"/>
          <a:stretch/>
        </p:blipFill>
        <p:spPr>
          <a:xfrm>
            <a:off x="1585519" y="1248937"/>
            <a:ext cx="8984610" cy="5470645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30A1DB4-7847-4703-9FAD-E264E96F6B63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Ромбовидное наследование</a:t>
            </a:r>
          </a:p>
        </p:txBody>
      </p:sp>
    </p:spTree>
    <p:extLst>
      <p:ext uri="{BB962C8B-B14F-4D97-AF65-F5344CB8AC3E}">
        <p14:creationId xmlns:p14="http://schemas.microsoft.com/office/powerpoint/2010/main" val="30644028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0C89-B3A0-3AA0-0CE4-DF47549E7B34}"/>
              </a:ext>
            </a:extLst>
          </p:cNvPr>
          <p:cNvSpPr txBox="1"/>
          <p:nvPr/>
        </p:nvSpPr>
        <p:spPr>
          <a:xfrm>
            <a:off x="1263316" y="1180306"/>
            <a:ext cx="609760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267F99"/>
                </a:solidFill>
                <a:latin typeface="Consolas" panose="020B0609020204030204" pitchFamily="49" charset="0"/>
              </a:rPr>
              <a:t>С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3B59AFBE-4FB2-2D5F-856E-594701BF40BF}"/>
              </a:ext>
            </a:extLst>
          </p:cNvPr>
          <p:cNvSpPr/>
          <p:nvPr/>
        </p:nvSpPr>
        <p:spPr>
          <a:xfrm>
            <a:off x="6284495" y="1377065"/>
            <a:ext cx="4081913" cy="239678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4083ACB4-22EE-8932-0D5C-CF948460351C}"/>
              </a:ext>
            </a:extLst>
          </p:cNvPr>
          <p:cNvSpPr/>
          <p:nvPr/>
        </p:nvSpPr>
        <p:spPr>
          <a:xfrm>
            <a:off x="6537719" y="1843088"/>
            <a:ext cx="1672632" cy="132556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91BF1-8652-45BC-8CE0-A9F8B37926AD}"/>
              </a:ext>
            </a:extLst>
          </p:cNvPr>
          <p:cNvSpPr txBox="1"/>
          <p:nvPr/>
        </p:nvSpPr>
        <p:spPr>
          <a:xfrm>
            <a:off x="7215177" y="184308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F89FF-BACC-88DB-3664-EB1D482D35AF}"/>
              </a:ext>
            </a:extLst>
          </p:cNvPr>
          <p:cNvSpPr txBox="1"/>
          <p:nvPr/>
        </p:nvSpPr>
        <p:spPr>
          <a:xfrm>
            <a:off x="6980539" y="2476591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E2364-EB69-1AB9-5C1F-E21640AD32C0}"/>
              </a:ext>
            </a:extLst>
          </p:cNvPr>
          <p:cNvSpPr txBox="1"/>
          <p:nvPr/>
        </p:nvSpPr>
        <p:spPr>
          <a:xfrm>
            <a:off x="8003766" y="1397556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7C011-D377-3FB1-6C3A-42BADCDFC8A8}"/>
              </a:ext>
            </a:extLst>
          </p:cNvPr>
          <p:cNvSpPr txBox="1"/>
          <p:nvPr/>
        </p:nvSpPr>
        <p:spPr>
          <a:xfrm>
            <a:off x="1263316" y="5733164"/>
            <a:ext cx="100904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effectLst/>
              </a:rPr>
              <a:t>Процесс поиска имён</a:t>
            </a:r>
            <a:r>
              <a:rPr lang="en-US" sz="1600" dirty="0">
                <a:effectLst/>
              </a:rPr>
              <a:t> </a:t>
            </a:r>
            <a:r>
              <a:rPr lang="ru-RU" sz="1600" dirty="0">
                <a:effectLst/>
              </a:rPr>
              <a:t>начинается с класса </a:t>
            </a:r>
            <a:r>
              <a:rPr lang="en-US" sz="1600" b="1" dirty="0">
                <a:effectLst/>
              </a:rPr>
              <a:t>D</a:t>
            </a:r>
            <a:r>
              <a:rPr lang="en-US" sz="1600" dirty="0">
                <a:effectLst/>
              </a:rPr>
              <a:t> </a:t>
            </a:r>
            <a:r>
              <a:rPr lang="ru-RU" sz="1600" dirty="0">
                <a:effectLst/>
              </a:rPr>
              <a:t>затем продолжается в классах </a:t>
            </a:r>
            <a:r>
              <a:rPr lang="en-US" sz="1600" b="1" dirty="0">
                <a:effectLst/>
              </a:rPr>
              <a:t>B</a:t>
            </a:r>
            <a:r>
              <a:rPr lang="en-US" sz="1600" dirty="0">
                <a:effectLst/>
              </a:rPr>
              <a:t> </a:t>
            </a:r>
            <a:r>
              <a:rPr lang="ru-RU" sz="1600" dirty="0"/>
              <a:t>и </a:t>
            </a:r>
            <a:r>
              <a:rPr lang="en-US" sz="1600" b="1" dirty="0"/>
              <a:t>C</a:t>
            </a:r>
            <a:r>
              <a:rPr lang="ru-RU" sz="1600" dirty="0"/>
              <a:t>.</a:t>
            </a:r>
            <a:r>
              <a:rPr lang="en-US" sz="1600" dirty="0"/>
              <a:t> </a:t>
            </a:r>
            <a:r>
              <a:rPr lang="ru-RU" sz="1600" dirty="0"/>
              <a:t>Т.к. и </a:t>
            </a:r>
            <a:r>
              <a:rPr lang="en-US" sz="1600" b="1" dirty="0">
                <a:effectLst/>
              </a:rPr>
              <a:t>B</a:t>
            </a:r>
            <a:r>
              <a:rPr lang="en-US" sz="1600" dirty="0">
                <a:effectLst/>
              </a:rPr>
              <a:t> </a:t>
            </a:r>
            <a:r>
              <a:rPr lang="ru-RU" sz="1600" dirty="0"/>
              <a:t>и </a:t>
            </a:r>
            <a:r>
              <a:rPr lang="en-US" sz="1600" b="1" dirty="0"/>
              <a:t>C</a:t>
            </a:r>
            <a:r>
              <a:rPr lang="ru-RU" sz="1600" dirty="0"/>
              <a:t> внутри себя содержат класс </a:t>
            </a:r>
            <a:r>
              <a:rPr lang="en-US" sz="1600" b="1" dirty="0"/>
              <a:t>A</a:t>
            </a:r>
            <a:r>
              <a:rPr lang="en-US" sz="1600" dirty="0"/>
              <a:t> </a:t>
            </a:r>
            <a:r>
              <a:rPr lang="ru-RU" sz="1600" dirty="0"/>
              <a:t>то имя </a:t>
            </a:r>
            <a:r>
              <a:rPr lang="en-US" sz="1600" b="1" dirty="0"/>
              <a:t>name</a:t>
            </a:r>
            <a:r>
              <a:rPr lang="en-US" sz="1600" dirty="0"/>
              <a:t> </a:t>
            </a:r>
            <a:r>
              <a:rPr lang="ru-RU" sz="1600" dirty="0"/>
              <a:t>будет найдено и там и там и мы получим ошибку.</a:t>
            </a:r>
            <a:endParaRPr lang="en-US" sz="1600" dirty="0">
              <a:effectLst/>
            </a:endParaRPr>
          </a:p>
        </p:txBody>
      </p:sp>
      <p:cxnSp>
        <p:nvCxnSpPr>
          <p:cNvPr id="16" name="Соединитель: изогнутый 15">
            <a:extLst>
              <a:ext uri="{FF2B5EF4-FFF2-40B4-BE49-F238E27FC236}">
                <a16:creationId xmlns:a16="http://schemas.microsoft.com/office/drawing/2014/main" id="{481388C2-C3AD-117D-C692-F8F7CDC682FB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354400" y="2845923"/>
            <a:ext cx="4984571" cy="2495511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Овал 4">
            <a:extLst>
              <a:ext uri="{FF2B5EF4-FFF2-40B4-BE49-F238E27FC236}">
                <a16:creationId xmlns:a16="http://schemas.microsoft.com/office/drawing/2014/main" id="{BA9D3DE2-7C90-EC1D-7091-77FDD55742F0}"/>
              </a:ext>
            </a:extLst>
          </p:cNvPr>
          <p:cNvSpPr/>
          <p:nvPr/>
        </p:nvSpPr>
        <p:spPr>
          <a:xfrm>
            <a:off x="8440069" y="1843087"/>
            <a:ext cx="1672632" cy="13255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32CF4D-0CEB-F04B-F061-CA784D8D9DEE}"/>
              </a:ext>
            </a:extLst>
          </p:cNvPr>
          <p:cNvSpPr txBox="1"/>
          <p:nvPr/>
        </p:nvSpPr>
        <p:spPr>
          <a:xfrm>
            <a:off x="9117527" y="184308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CFEF41-25F7-0DCE-B44A-F71BC3595D42}"/>
              </a:ext>
            </a:extLst>
          </p:cNvPr>
          <p:cNvSpPr txBox="1"/>
          <p:nvPr/>
        </p:nvSpPr>
        <p:spPr>
          <a:xfrm>
            <a:off x="8953425" y="2510854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  <a:endParaRPr lang="ru-RU" dirty="0"/>
          </a:p>
        </p:txBody>
      </p:sp>
      <p:cxnSp>
        <p:nvCxnSpPr>
          <p:cNvPr id="17" name="Соединитель: изогнутый 16">
            <a:extLst>
              <a:ext uri="{FF2B5EF4-FFF2-40B4-BE49-F238E27FC236}">
                <a16:creationId xmlns:a16="http://schemas.microsoft.com/office/drawing/2014/main" id="{CFFA8488-C971-3CC2-189B-9E89159C1051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2354400" y="2880186"/>
            <a:ext cx="6957457" cy="2461248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3D887CDD-0E03-4D1F-9E61-EEC0E6BCE5BE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Ромбовидное наследование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8564A303-7F45-4CE2-8EC3-A13541F9785F}"/>
              </a:ext>
            </a:extLst>
          </p:cNvPr>
          <p:cNvSpPr/>
          <p:nvPr/>
        </p:nvSpPr>
        <p:spPr>
          <a:xfrm>
            <a:off x="6814576" y="2174109"/>
            <a:ext cx="1091735" cy="86520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D604C7-E074-4886-9EAF-7601C316001D}"/>
              </a:ext>
            </a:extLst>
          </p:cNvPr>
          <p:cNvSpPr txBox="1"/>
          <p:nvPr/>
        </p:nvSpPr>
        <p:spPr>
          <a:xfrm>
            <a:off x="7211169" y="218610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RU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DC81A1DD-82F7-44F8-9D37-4F2C7C21DF1E}"/>
              </a:ext>
            </a:extLst>
          </p:cNvPr>
          <p:cNvSpPr/>
          <p:nvPr/>
        </p:nvSpPr>
        <p:spPr>
          <a:xfrm>
            <a:off x="8745865" y="2159434"/>
            <a:ext cx="1091735" cy="86520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E31838-0AA3-471C-9CA2-6FF73F34FD4C}"/>
              </a:ext>
            </a:extLst>
          </p:cNvPr>
          <p:cNvSpPr txBox="1"/>
          <p:nvPr/>
        </p:nvSpPr>
        <p:spPr>
          <a:xfrm>
            <a:off x="9142458" y="217143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06929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0C89-B3A0-3AA0-0CE4-DF47549E7B34}"/>
              </a:ext>
            </a:extLst>
          </p:cNvPr>
          <p:cNvSpPr txBox="1"/>
          <p:nvPr/>
        </p:nvSpPr>
        <p:spPr>
          <a:xfrm>
            <a:off x="1263316" y="1180306"/>
            <a:ext cx="609760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3B59AFBE-4FB2-2D5F-856E-594701BF40BF}"/>
              </a:ext>
            </a:extLst>
          </p:cNvPr>
          <p:cNvSpPr/>
          <p:nvPr/>
        </p:nvSpPr>
        <p:spPr>
          <a:xfrm>
            <a:off x="6284495" y="1377065"/>
            <a:ext cx="4081913" cy="239678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91BF1-8652-45BC-8CE0-A9F8B37926AD}"/>
              </a:ext>
            </a:extLst>
          </p:cNvPr>
          <p:cNvSpPr txBox="1"/>
          <p:nvPr/>
        </p:nvSpPr>
        <p:spPr>
          <a:xfrm>
            <a:off x="6951853" y="2420408"/>
            <a:ext cx="283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E2364-EB69-1AB9-5C1F-E21640AD32C0}"/>
              </a:ext>
            </a:extLst>
          </p:cNvPr>
          <p:cNvSpPr txBox="1"/>
          <p:nvPr/>
        </p:nvSpPr>
        <p:spPr>
          <a:xfrm>
            <a:off x="8171031" y="1397556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7C011-D377-3FB1-6C3A-42BADCDFC8A8}"/>
              </a:ext>
            </a:extLst>
          </p:cNvPr>
          <p:cNvSpPr txBox="1"/>
          <p:nvPr/>
        </p:nvSpPr>
        <p:spPr>
          <a:xfrm>
            <a:off x="1263316" y="5733164"/>
            <a:ext cx="100904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В случае виртуального наследования класс </a:t>
            </a:r>
            <a:r>
              <a:rPr lang="ru-RU" sz="1600" b="1" dirty="0"/>
              <a:t>А</a:t>
            </a:r>
            <a:r>
              <a:rPr lang="ru-RU" sz="1600" dirty="0"/>
              <a:t>, который наследуется виртуально, будет присутствовать в наследнике в единственном числе в виде отдельного класса (как бы третий предок) </a:t>
            </a:r>
            <a:endParaRPr lang="en-US" sz="1600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CFEF41-25F7-0DCE-B44A-F71BC3595D42}"/>
              </a:ext>
            </a:extLst>
          </p:cNvPr>
          <p:cNvSpPr txBox="1"/>
          <p:nvPr/>
        </p:nvSpPr>
        <p:spPr>
          <a:xfrm>
            <a:off x="7993596" y="2525529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  <a:endParaRPr lang="ru-RU" dirty="0"/>
          </a:p>
        </p:txBody>
      </p:sp>
      <p:cxnSp>
        <p:nvCxnSpPr>
          <p:cNvPr id="17" name="Соединитель: изогнутый 16">
            <a:extLst>
              <a:ext uri="{FF2B5EF4-FFF2-40B4-BE49-F238E27FC236}">
                <a16:creationId xmlns:a16="http://schemas.microsoft.com/office/drawing/2014/main" id="{CFFA8488-C971-3CC2-189B-9E89159C1051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2364059" y="2894861"/>
            <a:ext cx="5987969" cy="2440780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3D887CDD-0E03-4D1F-9E61-EEC0E6BCE5BE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Виртуальное наследование</a:t>
            </a: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DC81A1DD-82F7-44F8-9D37-4F2C7C21DF1E}"/>
              </a:ext>
            </a:extLst>
          </p:cNvPr>
          <p:cNvSpPr/>
          <p:nvPr/>
        </p:nvSpPr>
        <p:spPr>
          <a:xfrm>
            <a:off x="7786036" y="2174109"/>
            <a:ext cx="1091735" cy="86520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E31838-0AA3-471C-9CA2-6FF73F34FD4C}"/>
              </a:ext>
            </a:extLst>
          </p:cNvPr>
          <p:cNvSpPr txBox="1"/>
          <p:nvPr/>
        </p:nvSpPr>
        <p:spPr>
          <a:xfrm>
            <a:off x="8182629" y="218610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F77E79-8B03-49DF-9963-2EE2BE439CB5}"/>
              </a:ext>
            </a:extLst>
          </p:cNvPr>
          <p:cNvSpPr txBox="1"/>
          <p:nvPr/>
        </p:nvSpPr>
        <p:spPr>
          <a:xfrm>
            <a:off x="9470074" y="2435397"/>
            <a:ext cx="283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endParaRPr lang="ru-RU" dirty="0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E0FA447D-455C-4B20-BF42-2D3F2807FF05}"/>
              </a:ext>
            </a:extLst>
          </p:cNvPr>
          <p:cNvSpPr/>
          <p:nvPr/>
        </p:nvSpPr>
        <p:spPr>
          <a:xfrm>
            <a:off x="6546685" y="2170589"/>
            <a:ext cx="1091735" cy="86520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3B6846FD-A8DF-4A3A-BFA9-77013C4AD643}"/>
              </a:ext>
            </a:extLst>
          </p:cNvPr>
          <p:cNvSpPr/>
          <p:nvPr/>
        </p:nvSpPr>
        <p:spPr>
          <a:xfrm>
            <a:off x="9073121" y="2174954"/>
            <a:ext cx="1091735" cy="86520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40773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Переопределение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0C89-B3A0-3AA0-0CE4-DF47549E7B34}"/>
              </a:ext>
            </a:extLst>
          </p:cNvPr>
          <p:cNvSpPr txBox="1"/>
          <p:nvPr/>
        </p:nvSpPr>
        <p:spPr>
          <a:xfrm>
            <a:off x="1263316" y="1269514"/>
            <a:ext cx="6097604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10;</a:t>
            </a:r>
            <a:endParaRPr lang="ru-RU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"A" &lt;&lt;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 = -10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"B" &lt;&lt;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object.name;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-10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object.print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7C011-D377-3FB1-6C3A-42BADCDFC8A8}"/>
              </a:ext>
            </a:extLst>
          </p:cNvPr>
          <p:cNvSpPr txBox="1"/>
          <p:nvPr/>
        </p:nvSpPr>
        <p:spPr>
          <a:xfrm>
            <a:off x="6524461" y="1269514"/>
            <a:ext cx="482933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Таким образом правила поиска имён приводят к тому, что наличие метода или поля в классе наследнике </a:t>
            </a:r>
            <a:r>
              <a:rPr lang="ru-RU" sz="1600" b="1" dirty="0"/>
              <a:t>переопределяет</a:t>
            </a:r>
            <a:r>
              <a:rPr lang="ru-RU" sz="1600" dirty="0"/>
              <a:t> одноимённый метод предка.</a:t>
            </a:r>
          </a:p>
          <a:p>
            <a:r>
              <a:rPr lang="ru-RU" sz="1600" dirty="0">
                <a:effectLst/>
              </a:rPr>
              <a:t>В случае наличия в классе </a:t>
            </a:r>
            <a:r>
              <a:rPr lang="ru-RU" sz="1600" dirty="0"/>
              <a:t>предке нескольких перегрузок метода, метод в классе наследнике </a:t>
            </a:r>
            <a:r>
              <a:rPr lang="ru-RU" sz="1600" b="1" dirty="0"/>
              <a:t>переопределяет их все</a:t>
            </a:r>
            <a:r>
              <a:rPr lang="ru-RU" sz="1600" dirty="0"/>
              <a:t>. Т.е. они не будут доступны, а будет доступен только метод наследника.</a:t>
            </a:r>
            <a:endParaRPr lang="en-US" sz="1600" dirty="0"/>
          </a:p>
          <a:p>
            <a:endParaRPr lang="en-US" sz="1600" dirty="0">
              <a:effectLst/>
            </a:endParaRPr>
          </a:p>
          <a:p>
            <a:r>
              <a:rPr lang="ru-RU" sz="1600" dirty="0">
                <a:effectLst/>
              </a:rPr>
              <a:t>Иногда вместо термина "переопределяет", для НЕ виртуальных методов говорят – "перекрывает", чтобы подчеркнуть, что метод не виртуальный.</a:t>
            </a:r>
            <a:br>
              <a:rPr lang="ru-RU" sz="1600" dirty="0">
                <a:effectLst/>
              </a:rPr>
            </a:br>
            <a:r>
              <a:rPr lang="ru-RU" sz="1600" dirty="0">
                <a:effectLst/>
              </a:rPr>
              <a:t>Разница в том, что в случае каста указателя/ссылки на наследник к предку, виртуальный метод будет показывать тоже, что и раньше, а не виртуальный, покажет вывод предка (вроде как он только скрывал метод предка, а не заменял его).</a:t>
            </a:r>
          </a:p>
          <a:p>
            <a:r>
              <a:rPr lang="ru-RU" sz="1600" dirty="0"/>
              <a:t>В целом и то и то является переопределением.</a:t>
            </a:r>
            <a:endParaRPr lang="en-US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86028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Ключевое слово </a:t>
            </a:r>
            <a:r>
              <a:rPr lang="en-US" sz="4000" dirty="0"/>
              <a:t>final </a:t>
            </a:r>
            <a:r>
              <a:rPr lang="ru-RU" sz="4000" dirty="0"/>
              <a:t>при объявлении класса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0C89-B3A0-3AA0-0CE4-DF47549E7B34}"/>
              </a:ext>
            </a:extLst>
          </p:cNvPr>
          <p:cNvSpPr txBox="1"/>
          <p:nvPr/>
        </p:nvSpPr>
        <p:spPr>
          <a:xfrm>
            <a:off x="1263316" y="2663417"/>
            <a:ext cx="609760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A{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C: 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B{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Ошибка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7C011-D377-3FB1-6C3A-42BADCDFC8A8}"/>
              </a:ext>
            </a:extLst>
          </p:cNvPr>
          <p:cNvSpPr txBox="1"/>
          <p:nvPr/>
        </p:nvSpPr>
        <p:spPr>
          <a:xfrm>
            <a:off x="6524461" y="2663417"/>
            <a:ext cx="48293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Если объявить класс с ключевым словом </a:t>
            </a:r>
            <a:r>
              <a:rPr lang="en-US" sz="1600" dirty="0">
                <a:latin typeface="Consolas" panose="020B0609020204030204" pitchFamily="49" charset="0"/>
              </a:rPr>
              <a:t>final</a:t>
            </a:r>
            <a:r>
              <a:rPr lang="ru-RU" sz="1600" dirty="0"/>
              <a:t>, то наследование от данного класса будет запрещено.</a:t>
            </a:r>
            <a:endParaRPr lang="en-US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22698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Преобразование объектов в цепочке наследования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0C89-B3A0-3AA0-0CE4-DF47549E7B34}"/>
              </a:ext>
            </a:extLst>
          </p:cNvPr>
          <p:cNvSpPr txBox="1"/>
          <p:nvPr/>
        </p:nvSpPr>
        <p:spPr>
          <a:xfrm>
            <a:off x="838200" y="1169897"/>
            <a:ext cx="677164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&lt;A&gt;(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).print();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A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&lt;A&amp;&gt;(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).print();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A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&lt;A*&gt;(&amp;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)-&gt;print();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A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&lt;B&gt;(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obj_a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).print();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.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Преобразование не определено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&lt;B&amp;&gt;(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).print();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Потенциальная ошибка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&lt;B*&gt;(&amp;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)-&gt;print();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Потенциальная ошибка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48DCA460-197E-4CF8-ACB2-606088EE7E23}"/>
              </a:ext>
            </a:extLst>
          </p:cNvPr>
          <p:cNvSpPr/>
          <p:nvPr/>
        </p:nvSpPr>
        <p:spPr>
          <a:xfrm>
            <a:off x="7699666" y="1292652"/>
            <a:ext cx="3654134" cy="4904240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Преобразование объектов в цепочке наследования вверх по иерархии от наследника к любому предку безопасно, хотя и не всегда имеет смысл. Его называют </a:t>
            </a:r>
            <a:r>
              <a:rPr lang="en-US" sz="1400" dirty="0" err="1"/>
              <a:t>UpCast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ru-RU" sz="1400" dirty="0"/>
              <a:t>Преобразование объектов в цепочке наследования вниз по иерархии от предка к наследнику как правило опасно. Его называют </a:t>
            </a:r>
            <a:r>
              <a:rPr lang="en-US" sz="1400" dirty="0" err="1"/>
              <a:t>DownCast</a:t>
            </a:r>
            <a:r>
              <a:rPr lang="en-US" sz="1400" dirty="0"/>
              <a:t>.</a:t>
            </a:r>
            <a:endParaRPr lang="ru-RU" sz="1400" dirty="0"/>
          </a:p>
          <a:p>
            <a:r>
              <a:rPr lang="en-US" sz="1400" dirty="0" err="1"/>
              <a:t>DownCast</a:t>
            </a:r>
            <a:r>
              <a:rPr lang="ru-RU" sz="1400" dirty="0"/>
              <a:t> можно считать безопасным, если объект не содержит полей, а только методы или объект изначально был целевым. Т.е. был объект, выполнили </a:t>
            </a:r>
            <a:r>
              <a:rPr lang="en-US" sz="1400" dirty="0" err="1"/>
              <a:t>UpCast</a:t>
            </a:r>
            <a:r>
              <a:rPr lang="en-US" sz="1400" dirty="0"/>
              <a:t> </a:t>
            </a:r>
            <a:r>
              <a:rPr lang="ru-RU" sz="1400" dirty="0"/>
              <a:t>и затем обратно </a:t>
            </a:r>
            <a:r>
              <a:rPr lang="en-US" sz="1400" dirty="0" err="1"/>
              <a:t>DownCast</a:t>
            </a:r>
            <a:r>
              <a:rPr lang="ru-RU" sz="1400" dirty="0"/>
              <a:t>.</a:t>
            </a:r>
          </a:p>
          <a:p>
            <a:r>
              <a:rPr lang="ru-RU" sz="1400" dirty="0"/>
              <a:t>Обычно выполняют преобразования не самих объектов, а указателей/ссылок.</a:t>
            </a:r>
          </a:p>
          <a:p>
            <a:endParaRPr lang="ru-RU" sz="1400" dirty="0"/>
          </a:p>
          <a:p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ru-RU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dirty="0"/>
              <a:t>применяется к экземплярам классов без виртуальных методов. Если есть виртуальные методы, нужно использовать </a:t>
            </a:r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dynamic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_cast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580669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Преобразование объектов в цепочке наследования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0C89-B3A0-3AA0-0CE4-DF47549E7B34}"/>
              </a:ext>
            </a:extLst>
          </p:cNvPr>
          <p:cNvSpPr txBox="1"/>
          <p:nvPr/>
        </p:nvSpPr>
        <p:spPr>
          <a:xfrm>
            <a:off x="838200" y="1169897"/>
            <a:ext cx="677164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или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protected A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&lt;A&gt;(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).print();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Невозможно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&lt;A&amp;&gt;(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).print();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Невозможно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&lt;A*&gt;(&amp;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)-&gt;print();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Невозможно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&lt;B&gt;(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obj_a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).print();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Невозможно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&lt;B&amp;&gt;(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).print();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Невозможно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&lt;B*&gt;(&amp;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)-&gt;print();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Невозможно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48DCA460-197E-4CF8-ACB2-606088EE7E23}"/>
              </a:ext>
            </a:extLst>
          </p:cNvPr>
          <p:cNvSpPr/>
          <p:nvPr/>
        </p:nvSpPr>
        <p:spPr>
          <a:xfrm>
            <a:off x="7699666" y="2339162"/>
            <a:ext cx="3654134" cy="2900799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В случае приватного или защищённого наследования преобразования вверх или вниз по иерархии невозможны</a:t>
            </a:r>
            <a:r>
              <a:rPr lang="en-US" sz="1400" dirty="0"/>
              <a:t>.</a:t>
            </a:r>
          </a:p>
          <a:p>
            <a:r>
              <a:rPr lang="ru-RU" sz="1400" dirty="0"/>
              <a:t>Можно заставить компилятор это сделать при помощи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reinterpret_cast</a:t>
            </a:r>
            <a:r>
              <a:rPr lang="ru-RU" sz="1400" dirty="0"/>
              <a:t>, но не стоит этим злоупотреблять, т.к.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reinterpret_cast</a:t>
            </a:r>
            <a:r>
              <a:rPr lang="ru-RU" sz="1400" dirty="0"/>
              <a:t> не производит никаких проверок на допустимость преобразования и просто заставляет компилятор смотреть на тип как на другой.</a:t>
            </a:r>
          </a:p>
          <a:p>
            <a:endParaRPr lang="ru-RU" sz="1400" dirty="0"/>
          </a:p>
          <a:p>
            <a:r>
              <a:rPr lang="ru-RU" sz="1400" dirty="0"/>
              <a:t>Работает только с указателями и ссылками, но не со значениями.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457727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Специальные методы</a:t>
            </a:r>
          </a:p>
        </p:txBody>
      </p:sp>
    </p:spTree>
    <p:extLst>
      <p:ext uri="{BB962C8B-B14F-4D97-AF65-F5344CB8AC3E}">
        <p14:creationId xmlns:p14="http://schemas.microsoft.com/office/powerpoint/2010/main" val="11110838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Конструктор</a:t>
            </a:r>
          </a:p>
        </p:txBody>
      </p:sp>
    </p:spTree>
    <p:extLst>
      <p:ext uri="{BB962C8B-B14F-4D97-AF65-F5344CB8AC3E}">
        <p14:creationId xmlns:p14="http://schemas.microsoft.com/office/powerpoint/2010/main" val="16888432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21862"/>
            <a:ext cx="10515599" cy="4455102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Присутствует реализация конструктора от компилятора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Присутствует реализация конструктора от компилятора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</a:t>
            </a:r>
            <a:r>
              <a:rPr lang="ru-RU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699664" y="1773233"/>
            <a:ext cx="3654134" cy="1904917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Конструктор класса наследника вызывает конструктор предка </a:t>
            </a:r>
            <a:r>
              <a:rPr lang="ru-RU" sz="1400" b="1" dirty="0"/>
              <a:t>перед</a:t>
            </a:r>
            <a:r>
              <a:rPr lang="ru-RU" sz="1400" dirty="0"/>
              <a:t> тем, как отработать.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4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Если конструктор объявленный пользователем отсутствует, то вызывается конструктор по умолчанию предоставленный компилятором.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720000"/>
          </a:xfrm>
        </p:spPr>
        <p:txBody>
          <a:bodyPr/>
          <a:lstStyle/>
          <a:p>
            <a:r>
              <a:rPr lang="ru-RU" sz="4000" dirty="0"/>
              <a:t>Конструктор по умолчанию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54863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9530"/>
            <a:ext cx="10515599" cy="4467433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Присутствует реализация конструктора от компилятора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Ошибка. Конструктор класса А приватный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Конструктор по умолчанию</a:t>
            </a:r>
          </a:p>
        </p:txBody>
      </p:sp>
    </p:spTree>
    <p:extLst>
      <p:ext uri="{BB962C8B-B14F-4D97-AF65-F5344CB8AC3E}">
        <p14:creationId xmlns:p14="http://schemas.microsoft.com/office/powerpoint/2010/main" val="10931486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9530"/>
            <a:ext cx="10515599" cy="4467433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Присутствует реализация конструктора от компилятора. Ничего не выводит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Вывод: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Конструктор по умолчанию</a:t>
            </a:r>
          </a:p>
        </p:txBody>
      </p:sp>
    </p:spTree>
    <p:extLst>
      <p:ext uri="{BB962C8B-B14F-4D97-AF65-F5344CB8AC3E}">
        <p14:creationId xmlns:p14="http://schemas.microsoft.com/office/powerpoint/2010/main" val="10628005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9530"/>
            <a:ext cx="10515599" cy="4467433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B(){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Вызывается конструктор по умолчанию предка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b){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Вызывается конструктор по умолчанию предка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"B("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b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b1;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Вывод: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 B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b2(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Вывод: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 B(10)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Конструктор по умолчанию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D52728D1-BEE7-4A6F-86D8-208CD89C250F}"/>
              </a:ext>
            </a:extLst>
          </p:cNvPr>
          <p:cNvSpPr/>
          <p:nvPr/>
        </p:nvSpPr>
        <p:spPr>
          <a:xfrm>
            <a:off x="7520683" y="1773234"/>
            <a:ext cx="3833115" cy="1011064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При объявлении своего (любого) конструктора в классе наследнике, перед ним автоматически вызывается конструктор по умолчанию класса предка.</a:t>
            </a:r>
          </a:p>
        </p:txBody>
      </p:sp>
    </p:spTree>
    <p:extLst>
      <p:ext uri="{BB962C8B-B14F-4D97-AF65-F5344CB8AC3E}">
        <p14:creationId xmlns:p14="http://schemas.microsoft.com/office/powerpoint/2010/main" val="31428080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9530"/>
            <a:ext cx="10515599" cy="4467433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"A("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a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"B("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b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b1;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Ошибка. Отсутствует конструктор по умолчанию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b2(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Ошибка. Отсутствует конструктор по умолчанию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Конструктор с параметром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D52728D1-BEE7-4A6F-86D8-208CD89C250F}"/>
              </a:ext>
            </a:extLst>
          </p:cNvPr>
          <p:cNvSpPr/>
          <p:nvPr/>
        </p:nvSpPr>
        <p:spPr>
          <a:xfrm>
            <a:off x="7520683" y="1773234"/>
            <a:ext cx="3833115" cy="1011064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В случае отсутствия конструктора по умолчанию в классе предке, другой конструктор наследником не вызывается, даже если он есть.</a:t>
            </a:r>
          </a:p>
        </p:txBody>
      </p:sp>
    </p:spTree>
    <p:extLst>
      <p:ext uri="{BB962C8B-B14F-4D97-AF65-F5344CB8AC3E}">
        <p14:creationId xmlns:p14="http://schemas.microsoft.com/office/powerpoint/2010/main" val="36997558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9530"/>
            <a:ext cx="10515599" cy="4467433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"A("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a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B():A(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b):A(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"B("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b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b1;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A(0) B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b2(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A(1) B(10)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Конструктор явный вызов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D52728D1-BEE7-4A6F-86D8-208CD89C250F}"/>
              </a:ext>
            </a:extLst>
          </p:cNvPr>
          <p:cNvSpPr/>
          <p:nvPr/>
        </p:nvSpPr>
        <p:spPr>
          <a:xfrm>
            <a:off x="7520683" y="1773234"/>
            <a:ext cx="3833115" cy="848046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В конструкторе наследника можно/нужно вызвать любой конструктор предка указав его явно в списке инициализаторов.</a:t>
            </a:r>
          </a:p>
        </p:txBody>
      </p:sp>
    </p:spTree>
    <p:extLst>
      <p:ext uri="{BB962C8B-B14F-4D97-AF65-F5344CB8AC3E}">
        <p14:creationId xmlns:p14="http://schemas.microsoft.com/office/powerpoint/2010/main" val="13480803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9530"/>
            <a:ext cx="10515599" cy="4467433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C: B{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A B C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Конструктор в цепочке наследования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D52728D1-BEE7-4A6F-86D8-208CD89C250F}"/>
              </a:ext>
            </a:extLst>
          </p:cNvPr>
          <p:cNvSpPr/>
          <p:nvPr/>
        </p:nvSpPr>
        <p:spPr>
          <a:xfrm>
            <a:off x="7520683" y="1773234"/>
            <a:ext cx="3833115" cy="726126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В случае цепочки предков они отрабатывают от самого первого предка последовательно к наследнику.</a:t>
            </a:r>
          </a:p>
        </p:txBody>
      </p:sp>
    </p:spTree>
    <p:extLst>
      <p:ext uri="{BB962C8B-B14F-4D97-AF65-F5344CB8AC3E}">
        <p14:creationId xmlns:p14="http://schemas.microsoft.com/office/powerpoint/2010/main" val="18854552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9530"/>
            <a:ext cx="10515599" cy="4467433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C: A, B{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A B C  </a:t>
            </a:r>
            <a:r>
              <a:rPr lang="en-US" sz="1050" dirty="0">
                <a:solidFill>
                  <a:srgbClr val="008000"/>
                </a:solidFill>
                <a:latin typeface="Consolas" panose="020B0609020204030204" pitchFamily="49" charset="0"/>
              </a:rPr>
              <a:t>&lt;----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Конструктор порядок вызова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D52728D1-BEE7-4A6F-86D8-208CD89C250F}"/>
              </a:ext>
            </a:extLst>
          </p:cNvPr>
          <p:cNvSpPr/>
          <p:nvPr/>
        </p:nvSpPr>
        <p:spPr>
          <a:xfrm>
            <a:off x="8430375" y="1659255"/>
            <a:ext cx="2949537" cy="4567981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В случае нескольких предков, и без явного вызова конструкторов, будут вызываться конструкторы предков в порядке их перечисления в списке наследования.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4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В случае нескольких предков, с явным вызовом их конструкторов, они всё равно будут вызваны в порядке их перечисления в списке наследования, а не в том, в котором они будут указаны в списке инициализаторов.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400" dirty="0"/>
          </a:p>
          <a:p>
            <a:r>
              <a:rPr lang="ru-RU" sz="1400" dirty="0"/>
              <a:t>Такое же поведение в списке инициализаторов для полей класса, т.е. порядок инициализации определяется порядком перечисления полей в объявлении класса.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AD0E575-302F-4A4E-B04E-7E634939099B}"/>
              </a:ext>
            </a:extLst>
          </p:cNvPr>
          <p:cNvSpPr txBox="1">
            <a:spLocks/>
          </p:cNvSpPr>
          <p:nvPr/>
        </p:nvSpPr>
        <p:spPr>
          <a:xfrm>
            <a:off x="3411021" y="1709530"/>
            <a:ext cx="2520593" cy="4467433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&lt;string&gt;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b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    std::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"A 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b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B{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    std::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"B 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b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C: B,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C(){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    std::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"C"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b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C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050" dirty="0">
                <a:solidFill>
                  <a:srgbClr val="008000"/>
                </a:solidFill>
                <a:latin typeface="Consolas" panose="020B0609020204030204" pitchFamily="49" charset="0"/>
              </a:rPr>
              <a:t>     // B A C  &lt;----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F19CE5B6-FF41-4FAE-815B-50CDC337FFC1}"/>
              </a:ext>
            </a:extLst>
          </p:cNvPr>
          <p:cNvSpPr txBox="1">
            <a:spLocks/>
          </p:cNvSpPr>
          <p:nvPr/>
        </p:nvSpPr>
        <p:spPr>
          <a:xfrm>
            <a:off x="5983843" y="1709530"/>
            <a:ext cx="2520593" cy="4467433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C: B,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C():A(), B(){   </a:t>
            </a:r>
            <a:r>
              <a:rPr lang="en-US" sz="1050" dirty="0">
                <a:solidFill>
                  <a:srgbClr val="008000"/>
                </a:solidFill>
                <a:latin typeface="Consolas" panose="020B0609020204030204" pitchFamily="49" charset="0"/>
              </a:rPr>
              <a:t>// &lt;----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050" dirty="0">
                <a:solidFill>
                  <a:srgbClr val="008000"/>
                </a:solidFill>
                <a:latin typeface="Consolas" panose="020B0609020204030204" pitchFamily="49" charset="0"/>
              </a:rPr>
              <a:t>// B A C  &lt;----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42941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9530"/>
            <a:ext cx="10515599" cy="4467433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Zero{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Zero(){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"Zero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A: Zero{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Zero{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C: B,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C():A(), 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Zero B Zero A C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Конструктор при виртуальном наследовании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D52728D1-BEE7-4A6F-86D8-208CD89C250F}"/>
              </a:ext>
            </a:extLst>
          </p:cNvPr>
          <p:cNvSpPr/>
          <p:nvPr/>
        </p:nvSpPr>
        <p:spPr>
          <a:xfrm>
            <a:off x="8404261" y="1773233"/>
            <a:ext cx="2949537" cy="2490541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В случае обычного ромбовидного наследования, конструктор общего предка отработает 2 раза, будучи вызванным каждым из его непосредственных наследников.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4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В случае виртуального ромбовидного наследования, конструктор общего предка отработает один раз, причём его вызовет последний наследник.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AD0E575-302F-4A4E-B04E-7E634939099B}"/>
              </a:ext>
            </a:extLst>
          </p:cNvPr>
          <p:cNvSpPr txBox="1">
            <a:spLocks/>
          </p:cNvSpPr>
          <p:nvPr/>
        </p:nvSpPr>
        <p:spPr>
          <a:xfrm>
            <a:off x="3411021" y="1709530"/>
            <a:ext cx="2520593" cy="4467433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Zero{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Zero(){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"Zero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A: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Zero{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Zero{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C: B,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C():A(), 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Zero B A C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F19CE5B6-FF41-4FAE-815B-50CDC337FFC1}"/>
              </a:ext>
            </a:extLst>
          </p:cNvPr>
          <p:cNvSpPr txBox="1">
            <a:spLocks/>
          </p:cNvSpPr>
          <p:nvPr/>
        </p:nvSpPr>
        <p:spPr>
          <a:xfrm>
            <a:off x="5983843" y="1709530"/>
            <a:ext cx="2520593" cy="4467433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Zero{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Zero(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A: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Zero{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A(): Zero(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Zero{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B(): Zero(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C: B,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C(): A(), 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Ошибка. У 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Zero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нет конструктора по умолчанию 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20579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Конструктор при виртуальном наследовании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4185AE14-7D9C-433F-A1F4-5E11ABFD4529}"/>
              </a:ext>
            </a:extLst>
          </p:cNvPr>
          <p:cNvSpPr txBox="1">
            <a:spLocks/>
          </p:cNvSpPr>
          <p:nvPr/>
        </p:nvSpPr>
        <p:spPr>
          <a:xfrm>
            <a:off x="2861354" y="1462471"/>
            <a:ext cx="2520593" cy="4467433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Zero{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Zero(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A: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Zero{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A(): Zero(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Zero{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B(): Zero(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C: B,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C():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Zero(10),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A(), 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Ошибка. </a:t>
            </a:r>
            <a:r>
              <a:rPr lang="ru-RU" sz="900" dirty="0">
                <a:solidFill>
                  <a:srgbClr val="008000"/>
                </a:solidFill>
                <a:latin typeface="Consolas" panose="020B0609020204030204" pitchFamily="49" charset="0"/>
              </a:rPr>
              <a:t>Конструктор 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Zero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не доступен из-за приватного наследования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37F0C7A1-BF0B-4A58-9566-4410BCD59E3F}"/>
              </a:ext>
            </a:extLst>
          </p:cNvPr>
          <p:cNvSpPr txBox="1">
            <a:spLocks/>
          </p:cNvSpPr>
          <p:nvPr/>
        </p:nvSpPr>
        <p:spPr>
          <a:xfrm>
            <a:off x="6602005" y="1462471"/>
            <a:ext cx="2520593" cy="4467433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Zero{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Zero(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A: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Zero{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A(): Zero(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Zero{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B(): Zero(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B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C: B,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C(): Zero(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A(), 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 B A C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755745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21862"/>
            <a:ext cx="10515599" cy="4455102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904480" y="1773233"/>
            <a:ext cx="3449318" cy="451807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Конструктор НЕ может быть виртуальным.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720000"/>
          </a:xfrm>
        </p:spPr>
        <p:txBody>
          <a:bodyPr/>
          <a:lstStyle/>
          <a:p>
            <a:r>
              <a:rPr lang="ru-RU" sz="4000" dirty="0"/>
              <a:t>Виртуальный конструктор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74196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Деструктор</a:t>
            </a:r>
          </a:p>
        </p:txBody>
      </p:sp>
    </p:spTree>
    <p:extLst>
      <p:ext uri="{BB962C8B-B14F-4D97-AF65-F5344CB8AC3E}">
        <p14:creationId xmlns:p14="http://schemas.microsoft.com/office/powerpoint/2010/main" val="7685748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21862"/>
            <a:ext cx="10515599" cy="4455102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Присутствует реализация деструктора от компилятора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Присутствует реализация деструктора от компилятора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</a:t>
            </a:r>
            <a:r>
              <a:rPr lang="ru-RU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699664" y="1773233"/>
            <a:ext cx="3654134" cy="1904917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Деструктор класса наследника сначала отрабатывает сам, а затем вызывает деструктор предка.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4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Если деструктор объявленный пользователем отсутствует, то вызывается деструктор по умолчанию предоставленный компилятором.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720000"/>
          </a:xfrm>
        </p:spPr>
        <p:txBody>
          <a:bodyPr/>
          <a:lstStyle/>
          <a:p>
            <a:r>
              <a:rPr lang="ru-RU" sz="4000" dirty="0"/>
              <a:t>Деструктор по умолчанию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3547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9530"/>
            <a:ext cx="10515599" cy="4467433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~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~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Присутствует реализация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деструктора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от компилятора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Ошибка. Деструктор класса А приватный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Деструктор по умолчанию</a:t>
            </a:r>
          </a:p>
        </p:txBody>
      </p:sp>
    </p:spTree>
    <p:extLst>
      <p:ext uri="{BB962C8B-B14F-4D97-AF65-F5344CB8AC3E}">
        <p14:creationId xmlns:p14="http://schemas.microsoft.com/office/powerpoint/2010/main" val="271581361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9530"/>
            <a:ext cx="10515599" cy="4467433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"~A"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Присутствует реализация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деструктора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от компилятора. Ничего не выводит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Вывод: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~A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Деструктор по умолчанию</a:t>
            </a:r>
          </a:p>
        </p:txBody>
      </p:sp>
    </p:spTree>
    <p:extLst>
      <p:ext uri="{BB962C8B-B14F-4D97-AF65-F5344CB8AC3E}">
        <p14:creationId xmlns:p14="http://schemas.microsoft.com/office/powerpoint/2010/main" val="11541448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9530"/>
            <a:ext cx="10515599" cy="4467433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"~A 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~B(){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Вызывается деструктор по умолчанию предка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"~B 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b1;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Вывод: ~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 ~A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Деструктор по умолчанию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D52728D1-BEE7-4A6F-86D8-208CD89C250F}"/>
              </a:ext>
            </a:extLst>
          </p:cNvPr>
          <p:cNvSpPr/>
          <p:nvPr/>
        </p:nvSpPr>
        <p:spPr>
          <a:xfrm>
            <a:off x="7520683" y="1773234"/>
            <a:ext cx="3833115" cy="1508446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При объявлении своего деструктора в классе наследнике, всё равно автоматически вызывается деструктор по умолчанию класса предка после него.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Явно вызвать деструктор класса предка нельзя.</a:t>
            </a:r>
          </a:p>
        </p:txBody>
      </p:sp>
    </p:spTree>
    <p:extLst>
      <p:ext uri="{BB962C8B-B14F-4D97-AF65-F5344CB8AC3E}">
        <p14:creationId xmlns:p14="http://schemas.microsoft.com/office/powerpoint/2010/main" val="205903889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9530"/>
            <a:ext cx="10515599" cy="4467433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"~A 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"~B 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C: B{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~C(){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"~C 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~C ~B ~A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Деструктор в цепочке наследования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D52728D1-BEE7-4A6F-86D8-208CD89C250F}"/>
              </a:ext>
            </a:extLst>
          </p:cNvPr>
          <p:cNvSpPr/>
          <p:nvPr/>
        </p:nvSpPr>
        <p:spPr>
          <a:xfrm>
            <a:off x="7520683" y="1773234"/>
            <a:ext cx="3833115" cy="715966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В случае цепочки предков деструкторы отработают в порядке от наследника к предку и т.д.</a:t>
            </a:r>
          </a:p>
        </p:txBody>
      </p:sp>
    </p:spTree>
    <p:extLst>
      <p:ext uri="{BB962C8B-B14F-4D97-AF65-F5344CB8AC3E}">
        <p14:creationId xmlns:p14="http://schemas.microsoft.com/office/powerpoint/2010/main" val="135360615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9530"/>
            <a:ext cx="10515599" cy="4467433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"~A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"~B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C: A, B{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~C(){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"~C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~C ~B ~A &lt; ---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Деструктор порядок вызова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D52728D1-BEE7-4A6F-86D8-208CD89C250F}"/>
              </a:ext>
            </a:extLst>
          </p:cNvPr>
          <p:cNvSpPr/>
          <p:nvPr/>
        </p:nvSpPr>
        <p:spPr>
          <a:xfrm>
            <a:off x="7520683" y="1709531"/>
            <a:ext cx="3833115" cy="1013122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В случае нескольких предков, будут вызываться деструкторы предков в </a:t>
            </a:r>
            <a:r>
              <a:rPr lang="ru-RU" sz="1400" b="1" dirty="0"/>
              <a:t>обратном</a:t>
            </a:r>
            <a:r>
              <a:rPr lang="ru-RU" sz="1400" dirty="0"/>
              <a:t> порядке их перечисления в списке наследования.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AD0E575-302F-4A4E-B04E-7E634939099B}"/>
              </a:ext>
            </a:extLst>
          </p:cNvPr>
          <p:cNvSpPr txBox="1">
            <a:spLocks/>
          </p:cNvSpPr>
          <p:nvPr/>
        </p:nvSpPr>
        <p:spPr>
          <a:xfrm>
            <a:off x="3863080" y="1709530"/>
            <a:ext cx="2520593" cy="4467433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"~A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"~B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C: B,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~C(){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"~C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~C ~A ~B &lt; ---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3356122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9530"/>
            <a:ext cx="10515599" cy="4467433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Zero{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~Zero(){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"~Zero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A: Zero{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"~A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Zero{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"~B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C: B,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~C(){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"~C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~C ~A ~Zero ~B ~Zero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Деструктор при виртуальном наследовании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AD0E575-302F-4A4E-B04E-7E634939099B}"/>
              </a:ext>
            </a:extLst>
          </p:cNvPr>
          <p:cNvSpPr txBox="1">
            <a:spLocks/>
          </p:cNvSpPr>
          <p:nvPr/>
        </p:nvSpPr>
        <p:spPr>
          <a:xfrm>
            <a:off x="3935001" y="1709530"/>
            <a:ext cx="2520593" cy="4467433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Zero{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~Zero(){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"~Zero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A: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Zero{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"~A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Zero{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"~B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C: B,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~C(){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"~C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~C ~A ~B ~Zero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Скругленный прямоугольник 4">
            <a:extLst>
              <a:ext uri="{FF2B5EF4-FFF2-40B4-BE49-F238E27FC236}">
                <a16:creationId xmlns:a16="http://schemas.microsoft.com/office/drawing/2014/main" id="{3FFCB5EB-C96E-4E24-AAF1-0CDCF47C0756}"/>
              </a:ext>
            </a:extLst>
          </p:cNvPr>
          <p:cNvSpPr/>
          <p:nvPr/>
        </p:nvSpPr>
        <p:spPr>
          <a:xfrm>
            <a:off x="8404261" y="1773233"/>
            <a:ext cx="2949537" cy="2490541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В случае обычного ромбовидного наследования, деструктор общего предка отработает 2 раза, будучи вызванным каждым из его непосредственных наследников.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4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В случае виртуального ромбовидного наследования, деструктор общего предка отработает один раз, причём его вызовет последний наследник.</a:t>
            </a:r>
          </a:p>
        </p:txBody>
      </p:sp>
    </p:spTree>
    <p:extLst>
      <p:ext uri="{BB962C8B-B14F-4D97-AF65-F5344CB8AC3E}">
        <p14:creationId xmlns:p14="http://schemas.microsoft.com/office/powerpoint/2010/main" val="390481353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21862"/>
            <a:ext cx="3877639" cy="4455102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"~A 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"~B 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~B ~A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A* a =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&lt;A*&gt;(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699664" y="1773232"/>
            <a:ext cx="3654134" cy="2439171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Виртуальный деструктор необходим, если ваш класс владеет ресурсом, т.е. выделяет его вручную, например при помощи </a:t>
            </a:r>
            <a:r>
              <a:rPr lang="en-US" sz="1400" dirty="0">
                <a:latin typeface="Consolas" panose="020B0609020204030204" pitchFamily="49" charset="0"/>
              </a:rPr>
              <a:t>new</a:t>
            </a:r>
            <a:r>
              <a:rPr lang="en-US" sz="1400" dirty="0"/>
              <a:t>. </a:t>
            </a:r>
            <a:r>
              <a:rPr lang="ru-RU" sz="1400" dirty="0"/>
              <a:t>В противном случае классу не нужен никакой деструктор.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4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Виртуальный деструктор работает также как и не виртуальный. Отличие заключается в том, кокой деструктор будет вызван в случае каста объекта к предку через указатель или ссылку.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720000"/>
          </a:xfrm>
        </p:spPr>
        <p:txBody>
          <a:bodyPr/>
          <a:lstStyle/>
          <a:p>
            <a:r>
              <a:rPr lang="ru-RU" sz="4000" dirty="0"/>
              <a:t>Виртуальный деструктор</a:t>
            </a:r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6D8B7988-25E9-4304-B822-28BC77EEF4F7}"/>
              </a:ext>
            </a:extLst>
          </p:cNvPr>
          <p:cNvSpPr txBox="1">
            <a:spLocks/>
          </p:cNvSpPr>
          <p:nvPr/>
        </p:nvSpPr>
        <p:spPr>
          <a:xfrm>
            <a:off x="4503523" y="1773232"/>
            <a:ext cx="3877639" cy="4455102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&lt;string&gt;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A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~A(){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std::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"~A 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B: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~B(){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std::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"~B 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B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  // ~B ~A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A* a = </a:t>
            </a:r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dynamic_cast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&lt;A*&gt;(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B);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  //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</a:rPr>
              <a:t>Всё равно  ~</a:t>
            </a: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B ~A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5878862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2047036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Конструктор копирования, перемещения и оператор присваивания</a:t>
            </a:r>
          </a:p>
        </p:txBody>
      </p:sp>
    </p:spTree>
    <p:extLst>
      <p:ext uri="{BB962C8B-B14F-4D97-AF65-F5344CB8AC3E}">
        <p14:creationId xmlns:p14="http://schemas.microsoft.com/office/powerpoint/2010/main" val="30551417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5790"/>
            <a:ext cx="2511176" cy="4401173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other){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"copy A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b1;    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 B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b2(b1);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copy A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8663686" y="1610591"/>
            <a:ext cx="3121624" cy="4566370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Конструктор копирования – отвечает за корректное копирование объекта</a:t>
            </a:r>
            <a:r>
              <a:rPr lang="en-US" sz="1200" dirty="0"/>
              <a:t>;</a:t>
            </a:r>
            <a:endParaRPr lang="ru-RU" sz="1200" dirty="0"/>
          </a:p>
          <a:p>
            <a:pPr marL="0" indent="0">
              <a:lnSpc>
                <a:spcPct val="100000"/>
              </a:lnSpc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Конструктор копирования автоматически вызывается в тех местах, где требуется создать копию объекта: при инициализации одного объекта другим, передача в функцию по значению, возврат из функции по значению</a:t>
            </a:r>
            <a:r>
              <a:rPr lang="en-US" sz="12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В случае наследования и отсутствия явно объявленного конструктора копирования, версия предоставленная компилятором вызывает </a:t>
            </a:r>
            <a:r>
              <a:rPr lang="ru-RU" sz="1200" b="1" dirty="0"/>
              <a:t>перед собой </a:t>
            </a:r>
            <a:r>
              <a:rPr lang="ru-RU" sz="1200" dirty="0"/>
              <a:t>конструкторы копирования предков, а те своих и т.д. до самого первого.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200" dirty="0"/>
          </a:p>
          <a:p>
            <a:r>
              <a:rPr lang="ru-RU" sz="1200" dirty="0"/>
              <a:t>В случае наследования и явно объявленного конструктора копирования, он ведёт себя как обычный конструктор, т.е. вызывает </a:t>
            </a:r>
            <a:r>
              <a:rPr lang="ru-RU" sz="1200" b="1" dirty="0"/>
              <a:t>обычные</a:t>
            </a:r>
            <a:r>
              <a:rPr lang="ru-RU" sz="1200" dirty="0"/>
              <a:t> конструкторы по умолчанию классов предков, поэтому вызывать конструкторы копирования классов предков нужно явно.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Конструктор копирования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4868801-154A-4A35-BEE8-094033ADD351}"/>
              </a:ext>
            </a:extLst>
          </p:cNvPr>
          <p:cNvSpPr txBox="1">
            <a:spLocks/>
          </p:cNvSpPr>
          <p:nvPr/>
        </p:nvSpPr>
        <p:spPr>
          <a:xfrm>
            <a:off x="3394757" y="1775788"/>
            <a:ext cx="2511176" cy="4401173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other){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"copy A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other){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"copy B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b1;    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 B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b2(b1);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A copy B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F2A1E064-B6DC-41FE-867F-70EF70D88FDE}"/>
              </a:ext>
            </a:extLst>
          </p:cNvPr>
          <p:cNvSpPr txBox="1">
            <a:spLocks/>
          </p:cNvSpPr>
          <p:nvPr/>
        </p:nvSpPr>
        <p:spPr>
          <a:xfrm>
            <a:off x="5988125" y="1775789"/>
            <a:ext cx="2593369" cy="4401173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other){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"copy A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other): A(other){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"copy B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b1;    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 B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b2(b1);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copy A copy B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0050331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5790"/>
            <a:ext cx="2932416" cy="4401173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other){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"copy A 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 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other): A(other){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"copy B 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print(A obj){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b1;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A B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print(b1);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copy A &lt;-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срезка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636271" y="1610591"/>
            <a:ext cx="3121624" cy="4882284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Если передать объект наследник в функцию или вернуть из функции по значению, и при этом функция ожидает/возвращает класс предок, то это допустимый, с точки зрения синтаксиса код.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Компилятор вызовет конструктор копирования того класса который указан в параметрах или как возвращаемое значение и передаст туда объект наследник.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Конструктор копирования предка выполнит копирование только той части класса которая относится к предку (очевидно). Таким образом часть данных (если они есть) относящаяся к наследнику будет проигнорирована, иначе говоря срезана.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Срезка так же произойдёт, в случае инициализации объекта предка при помощи объекта наследника.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При передаче объекта по ссылке или по указателю никакого копирования не происходит и соответственно срезки тоже.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Конструктор копирования</a:t>
            </a:r>
            <a:r>
              <a:rPr lang="en-US" sz="4000" dirty="0"/>
              <a:t> - </a:t>
            </a:r>
            <a:r>
              <a:rPr lang="ru-RU" sz="4000" dirty="0"/>
              <a:t>срезка</a:t>
            </a:r>
          </a:p>
        </p:txBody>
      </p:sp>
    </p:spTree>
    <p:extLst>
      <p:ext uri="{BB962C8B-B14F-4D97-AF65-F5344CB8AC3E}">
        <p14:creationId xmlns:p14="http://schemas.microsoft.com/office/powerpoint/2010/main" val="25535980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Конструктор перемещения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dirty="0"/>
              <a:t>Конструктор перемещения – отвечает за корректное копирование объекта который вот-вот должен быть уничтожен (т.е. временного объекта)</a:t>
            </a:r>
            <a:r>
              <a:rPr lang="en-US" sz="1600" dirty="0"/>
              <a:t>;</a:t>
            </a:r>
            <a:endParaRPr lang="ru-RU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dirty="0"/>
              <a:t>Если в теле класса не объявлен конструктор перемещения, то компилятор предоставляет реализацию по умолчанию. Если объявлен конструктор копирования, то конструктор перемещения компилятором не создаётся.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dirty="0"/>
              <a:t>Подробнее данный конструктор будет рассмотрен на следующих лекциях.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dirty="0"/>
              <a:t>В случае наследования конструктор перемещения ведёт себя также как и конструктор копирования.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/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копирующий конструктор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перемещающий конструктор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35557807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004" y="1775790"/>
            <a:ext cx="2712372" cy="4401173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operator=(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other){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"A=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b1;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A B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b2;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A B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b2 = b1;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A=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9062778" y="486926"/>
            <a:ext cx="2845084" cy="5884148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Оператор присваивания – отвечает за корректное освобождение данных текущего объекта и копирование в него данных другого объекта в процессе присваивания</a:t>
            </a:r>
            <a:r>
              <a:rPr lang="en-US" sz="1200" dirty="0"/>
              <a:t>;</a:t>
            </a:r>
            <a:endParaRPr lang="ru-RU" sz="1200" dirty="0"/>
          </a:p>
          <a:p>
            <a:pPr marL="0" indent="0">
              <a:lnSpc>
                <a:spcPct val="100000"/>
              </a:lnSpc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Оператор присваивания автоматически вызывается в тех местах, где происходит присваивание (но не инициализация)</a:t>
            </a:r>
            <a:r>
              <a:rPr lang="en-US" sz="1200" dirty="0"/>
              <a:t>;</a:t>
            </a:r>
            <a:r>
              <a:rPr lang="ru-RU" sz="1200" dirty="0"/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В случае наследования и отсутствия явно объявленного оператора присваивания, вызывается версия предоставленная компилятором. Она вызывает операторы присваивания предков начиная с самого дальнего предка к т.д. к наследнику, а поля текущего объекта присваивает </a:t>
            </a:r>
            <a:r>
              <a:rPr lang="ru-RU" sz="1200" dirty="0" err="1"/>
              <a:t>почленно</a:t>
            </a:r>
            <a:r>
              <a:rPr lang="ru-RU" sz="1200" dirty="0"/>
              <a:t>. Для простых типов </a:t>
            </a:r>
            <a:r>
              <a:rPr lang="ru-RU" sz="1200" dirty="0" err="1"/>
              <a:t>побайтово</a:t>
            </a:r>
            <a:r>
              <a:rPr lang="ru-RU" sz="1200" dirty="0"/>
              <a:t>, а для объектов – вызывая их операторы присваивания.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200" dirty="0"/>
          </a:p>
          <a:p>
            <a:r>
              <a:rPr lang="ru-RU" sz="1200" dirty="0"/>
              <a:t>В случае наследования и явно объявленного оператора присваивания, он НЕ вызывает оператор присваивания предка и его нужно явно вызывать в коде оператора присваивания наследника</a:t>
            </a:r>
            <a:r>
              <a:rPr lang="en-US" sz="1200" dirty="0"/>
              <a:t> </a:t>
            </a:r>
            <a:r>
              <a:rPr lang="ru-RU" sz="1200" dirty="0"/>
              <a:t>в начале.</a:t>
            </a:r>
          </a:p>
          <a:p>
            <a:endParaRPr lang="ru-RU" sz="1200" dirty="0"/>
          </a:p>
          <a:p>
            <a:r>
              <a:rPr lang="ru-RU" sz="1200" dirty="0"/>
              <a:t>Если класс владеет данными, нужно делать виртуальным.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Оператор присваивания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4868801-154A-4A35-BEE8-094033ADD351}"/>
              </a:ext>
            </a:extLst>
          </p:cNvPr>
          <p:cNvSpPr txBox="1">
            <a:spLocks/>
          </p:cNvSpPr>
          <p:nvPr/>
        </p:nvSpPr>
        <p:spPr>
          <a:xfrm>
            <a:off x="3287732" y="1775788"/>
            <a:ext cx="2556557" cy="4401173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operator=(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other){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"A= 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 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operator=(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other){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"B= 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b1;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A B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b2;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A B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b2 = b1;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en-US" sz="1000" dirty="0">
                <a:solidFill>
                  <a:srgbClr val="008000"/>
                </a:solidFill>
                <a:latin typeface="Consolas" panose="020B0609020204030204" pitchFamily="49" charset="0"/>
              </a:rPr>
              <a:t>B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F2A1E064-B6DC-41FE-867F-70EF70D88FDE}"/>
              </a:ext>
            </a:extLst>
          </p:cNvPr>
          <p:cNvSpPr txBox="1">
            <a:spLocks/>
          </p:cNvSpPr>
          <p:nvPr/>
        </p:nvSpPr>
        <p:spPr>
          <a:xfrm>
            <a:off x="5792919" y="1775789"/>
            <a:ext cx="3371632" cy="4401173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operator=(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other){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"A=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operator=(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other){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A::operator=(other);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Вызываем у предка</a:t>
            </a:r>
            <a:endParaRPr lang="ru-RU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"B=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b1;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A B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b2;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A B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b2 = b1;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A=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B=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083461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 err="1"/>
              <a:t>Подтипизация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50133109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Динамическое связывание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Идея взаимодействующих посредством сообщений объектов расширяется идеей возможности динамической замены одного объекта на другой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ru-RU" sz="1600" dirty="0">
                <a:solidFill>
                  <a:srgbClr val="000000"/>
                </a:solidFill>
              </a:rPr>
              <a:t>прямо во время работы системы, при условии, что другой объект умеет обрабатывать все сообщения также как это делал первый, т.е. при условии сохранения контракта. Новый объект может быть по-другому устроен внутри или обладать дополнительным функционалом по сравнению со старым.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791BAE-852A-4908-8EF6-CD048C5C3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0225" y="2845139"/>
            <a:ext cx="859155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81575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218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Контракт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E64645BC-E694-47EE-9A4E-80AB3725D2AD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</a:rPr>
              <a:t>При замене одного объекта на другой мы должны обеспечить исполнение Контракта.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</a:rPr>
              <a:t>Не считается нарушением контракта: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>
                <a:solidFill>
                  <a:srgbClr val="000000"/>
                </a:solidFill>
              </a:rPr>
              <a:t>Ослабление предусловий (</a:t>
            </a:r>
            <a:r>
              <a:rPr lang="en-US" sz="2000" dirty="0">
                <a:solidFill>
                  <a:srgbClr val="000000"/>
                </a:solidFill>
              </a:rPr>
              <a:t>requirements)</a:t>
            </a:r>
            <a:r>
              <a:rPr lang="ru-RU" sz="2000" dirty="0">
                <a:solidFill>
                  <a:srgbClr val="000000"/>
                </a:solidFill>
              </a:rPr>
              <a:t> – набор требований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000000"/>
                </a:solidFill>
              </a:rPr>
              <a:t>нового объекта может быть менее жёстким. Т.е. раньше мы могли принимать на вход только текст в формате </a:t>
            </a:r>
            <a:r>
              <a:rPr lang="en-US" sz="2000" dirty="0">
                <a:solidFill>
                  <a:srgbClr val="000000"/>
                </a:solidFill>
              </a:rPr>
              <a:t>JSON</a:t>
            </a:r>
            <a:r>
              <a:rPr lang="ru-RU" sz="2000" dirty="0">
                <a:solidFill>
                  <a:srgbClr val="000000"/>
                </a:solidFill>
              </a:rPr>
              <a:t>, то новый объект может </a:t>
            </a:r>
            <a:r>
              <a:rPr lang="ru-RU" sz="2000" b="1" dirty="0">
                <a:solidFill>
                  <a:srgbClr val="000000"/>
                </a:solidFill>
              </a:rPr>
              <a:t>дополнительно</a:t>
            </a:r>
            <a:r>
              <a:rPr lang="ru-RU" sz="2000" dirty="0">
                <a:solidFill>
                  <a:srgbClr val="000000"/>
                </a:solidFill>
              </a:rPr>
              <a:t> принимать и </a:t>
            </a:r>
            <a:r>
              <a:rPr lang="en-US" sz="2000" dirty="0">
                <a:solidFill>
                  <a:srgbClr val="000000"/>
                </a:solidFill>
              </a:rPr>
              <a:t>YAML</a:t>
            </a:r>
            <a:r>
              <a:rPr lang="ru-RU" sz="2000" dirty="0">
                <a:solidFill>
                  <a:srgbClr val="000000"/>
                </a:solidFill>
              </a:rPr>
              <a:t>. Т.е. менее жёсткие требования</a:t>
            </a:r>
            <a:r>
              <a:rPr lang="en-US" sz="2000" dirty="0">
                <a:solidFill>
                  <a:srgbClr val="000000"/>
                </a:solidFill>
              </a:rPr>
              <a:t>;</a:t>
            </a:r>
            <a:endParaRPr lang="ru-RU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>
                <a:solidFill>
                  <a:srgbClr val="000000"/>
                </a:solidFill>
              </a:rPr>
              <a:t>Усиление постусловий </a:t>
            </a:r>
            <a:r>
              <a:rPr lang="en-US" sz="2000" dirty="0">
                <a:solidFill>
                  <a:srgbClr val="000000"/>
                </a:solidFill>
              </a:rPr>
              <a:t>(guarantees)</a:t>
            </a:r>
            <a:r>
              <a:rPr lang="ru-RU" sz="2000" dirty="0">
                <a:solidFill>
                  <a:srgbClr val="000000"/>
                </a:solidFill>
              </a:rPr>
              <a:t> – набор гарантий со стороны нового объекта может быть более жёстким. Т.е. ранее время исполнения метода определялось квадратичной сложностью, а теперь линейной. Т.е. метод стал работать быстрее, вкладываясь в более жёсткие рамки по времени</a:t>
            </a:r>
            <a:r>
              <a:rPr lang="en-US" sz="2000" dirty="0">
                <a:solidFill>
                  <a:srgbClr val="000000"/>
                </a:solidFill>
              </a:rPr>
              <a:t>;</a:t>
            </a:r>
            <a:endParaRPr lang="ru-RU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>
                <a:solidFill>
                  <a:srgbClr val="000000"/>
                </a:solidFill>
              </a:rPr>
              <a:t>Сохранение инвариантов класса. Чтобы там ни было мы должны сохранять инварианты и проектировать контракт.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09338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err="1"/>
              <a:t>Подтипизация</a:t>
            </a:r>
            <a:endParaRPr lang="ru-RU" sz="4000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В компилируемых языках часто используется статическая типизация и обычные типы, как правило не совместимы друг с другом. Переменная (или параметр функции) связывается с некоторым фиксированным типом и не может изменить его до момента своего уничтожения. Поэтому динамическое связывание реализуется через </a:t>
            </a:r>
            <a:r>
              <a:rPr lang="ru-RU" sz="1600" dirty="0" err="1">
                <a:solidFill>
                  <a:srgbClr val="000000"/>
                </a:solidFill>
              </a:rPr>
              <a:t>Подтипизацию</a:t>
            </a:r>
            <a:r>
              <a:rPr lang="ru-RU" sz="1600" dirty="0">
                <a:solidFill>
                  <a:srgbClr val="000000"/>
                </a:solidFill>
              </a:rPr>
              <a:t> т.е. построение связанной иерархии типов, которые допускают неявное преобразование друг в друга. Если объекты связаны в иерархию типов, то их можно использовать для замены друг друга.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    // Делает что-то важное в системе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Type1()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// Сначала был одним объектом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Type2()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// Хотим заменить на другой. Для разных типов такое запрещено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ОК,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</a:rPr>
              <a:t>если типы связаны в иерархию типов</a:t>
            </a:r>
            <a:endParaRPr lang="ru-RU" sz="15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В интерпретируемых языках, часто используется динамическая типизация, поэтому переменная (и др.) может, во время работы программы, менять свой тип и поэтому динамическое связывание идёт здесь из коробки и не требует дополнительных телодвижений.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500" dirty="0">
              <a:solidFill>
                <a:srgbClr val="000000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Type1()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Сначала был одним объектом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Type2()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Хотим заменить на другой. Ок, без проблем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just">
              <a:lnSpc>
                <a:spcPct val="110000"/>
              </a:lnSpc>
              <a:spcBef>
                <a:spcPts val="120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40873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err="1"/>
              <a:t>Подтипизация</a:t>
            </a:r>
            <a:endParaRPr lang="ru-RU" sz="4000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Встречается: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solidFill>
                  <a:srgbClr val="000000"/>
                </a:solidFill>
              </a:rPr>
              <a:t>Номинальная </a:t>
            </a:r>
            <a:r>
              <a:rPr lang="ru-RU" sz="1600" dirty="0" err="1">
                <a:solidFill>
                  <a:srgbClr val="000000"/>
                </a:solidFill>
              </a:rPr>
              <a:t>подтипизация</a:t>
            </a:r>
            <a:r>
              <a:rPr lang="ru-RU" sz="1600" dirty="0">
                <a:solidFill>
                  <a:srgbClr val="000000"/>
                </a:solidFill>
              </a:rPr>
              <a:t>, при которой только типы, объявленные определенным образом, могут быть подтипами друг друга (</a:t>
            </a:r>
            <a:r>
              <a:rPr lang="en-US" sz="1600" dirty="0">
                <a:solidFill>
                  <a:srgbClr val="000000"/>
                </a:solidFill>
              </a:rPr>
              <a:t>C++, Java</a:t>
            </a:r>
            <a:r>
              <a:rPr lang="ru-RU" sz="1600" dirty="0">
                <a:solidFill>
                  <a:srgbClr val="000000"/>
                </a:solidFill>
              </a:rPr>
              <a:t>)</a:t>
            </a:r>
            <a:r>
              <a:rPr lang="en-US" sz="1600" dirty="0">
                <a:solidFill>
                  <a:srgbClr val="000000"/>
                </a:solidFill>
              </a:rPr>
              <a:t>;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solidFill>
                  <a:srgbClr val="000000"/>
                </a:solidFill>
              </a:rPr>
              <a:t>Структурная </a:t>
            </a:r>
            <a:r>
              <a:rPr lang="ru-RU" sz="1600" dirty="0" err="1">
                <a:solidFill>
                  <a:srgbClr val="000000"/>
                </a:solidFill>
              </a:rPr>
              <a:t>подтипизация</a:t>
            </a:r>
            <a:r>
              <a:rPr lang="ru-RU" sz="1600" dirty="0">
                <a:solidFill>
                  <a:srgbClr val="000000"/>
                </a:solidFill>
              </a:rPr>
              <a:t>, при которой структура двух типов определяет, является ли один подтип подтипом другого</a:t>
            </a:r>
            <a:r>
              <a:rPr lang="en-US" sz="1600" dirty="0">
                <a:solidFill>
                  <a:srgbClr val="000000"/>
                </a:solidFill>
              </a:rPr>
              <a:t> (Go)</a:t>
            </a:r>
            <a:r>
              <a:rPr lang="ru-RU" sz="1600" dirty="0">
                <a:solidFill>
                  <a:srgbClr val="000000"/>
                </a:solidFill>
              </a:rPr>
              <a:t>. Это так называемая утиная типизация.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Тип данных (тип) — множество значений и операций над этими значениями </a:t>
            </a:r>
            <a:r>
              <a:rPr lang="en-US" sz="1600" dirty="0">
                <a:solidFill>
                  <a:srgbClr val="000000"/>
                </a:solidFill>
              </a:rPr>
              <a:t>[</a:t>
            </a:r>
            <a:r>
              <a:rPr lang="en-US" sz="1600" dirty="0">
                <a:solidFill>
                  <a:srgbClr val="000000"/>
                </a:solidFill>
                <a:hlinkClick r:id="rId2"/>
              </a:rPr>
              <a:t>https://ru.wikipedia.org/wiki/</a:t>
            </a:r>
            <a:r>
              <a:rPr lang="ru-RU" sz="1600" dirty="0" err="1">
                <a:solidFill>
                  <a:srgbClr val="000000"/>
                </a:solidFill>
                <a:hlinkClick r:id="rId2"/>
              </a:rPr>
              <a:t>Тип_данных</a:t>
            </a:r>
            <a:r>
              <a:rPr lang="en-US" sz="1600" dirty="0">
                <a:solidFill>
                  <a:srgbClr val="000000"/>
                </a:solidFill>
              </a:rPr>
              <a:t>].</a:t>
            </a: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Подтип. Если S является подтипом T, то отношение подтипов (записывается как S &lt;: T или S ≤: T, например Собака &lt;: Животное) означает, что любой элемент типа S может безопасно использоваться в любом контексте, где ожидается термин типа T </a:t>
            </a:r>
            <a:r>
              <a:rPr lang="en-US" sz="1600" dirty="0">
                <a:solidFill>
                  <a:srgbClr val="000000"/>
                </a:solidFill>
              </a:rPr>
              <a:t>[</a:t>
            </a:r>
            <a:r>
              <a:rPr lang="en-US" sz="1600" dirty="0">
                <a:solidFill>
                  <a:srgbClr val="000000"/>
                </a:solidFill>
                <a:hlinkClick r:id="rId3"/>
              </a:rPr>
              <a:t>https://en.wikipedia.org/wiki/Subtyping</a:t>
            </a:r>
            <a:r>
              <a:rPr lang="en-US" sz="1600" dirty="0">
                <a:solidFill>
                  <a:srgbClr val="000000"/>
                </a:solidFill>
              </a:rPr>
              <a:t>]. </a:t>
            </a:r>
            <a:r>
              <a:rPr lang="ru-RU" sz="1600" dirty="0">
                <a:solidFill>
                  <a:srgbClr val="000000"/>
                </a:solidFill>
              </a:rPr>
              <a:t>Этот принцип организации подтипов был предложен </a:t>
            </a:r>
            <a:r>
              <a:rPr lang="ru-RU" sz="1600" dirty="0" err="1">
                <a:solidFill>
                  <a:srgbClr val="000000"/>
                </a:solidFill>
              </a:rPr>
              <a:t>Барборой</a:t>
            </a:r>
            <a:r>
              <a:rPr lang="ru-RU" sz="1600" dirty="0">
                <a:solidFill>
                  <a:srgbClr val="000000"/>
                </a:solidFill>
              </a:rPr>
              <a:t> Лисков в 1987 году и дальнейшей был включён в набор принципов </a:t>
            </a:r>
            <a:r>
              <a:rPr lang="en-US" sz="1600" dirty="0">
                <a:solidFill>
                  <a:srgbClr val="000000"/>
                </a:solidFill>
              </a:rPr>
              <a:t>SOLID </a:t>
            </a:r>
            <a:r>
              <a:rPr lang="ru-RU" sz="1600" dirty="0">
                <a:solidFill>
                  <a:srgbClr val="000000"/>
                </a:solidFill>
              </a:rPr>
              <a:t>как принцип </a:t>
            </a:r>
            <a:r>
              <a:rPr lang="ru-RU" sz="1600" dirty="0">
                <a:solidFill>
                  <a:srgbClr val="000000"/>
                </a:solidFill>
                <a:hlinkClick r:id="rId4"/>
              </a:rPr>
              <a:t>подстановки Барбары Лисков</a:t>
            </a:r>
            <a:r>
              <a:rPr lang="ru-RU" sz="1600" dirty="0">
                <a:solidFill>
                  <a:srgbClr val="000000"/>
                </a:solidFill>
              </a:rPr>
              <a:t> </a:t>
            </a:r>
            <a:r>
              <a:rPr lang="en-US" sz="1600" dirty="0">
                <a:solidFill>
                  <a:srgbClr val="000000"/>
                </a:solidFill>
              </a:rPr>
              <a:t>(LSP)</a:t>
            </a:r>
            <a:r>
              <a:rPr lang="ru-RU" sz="1600" dirty="0">
                <a:solidFill>
                  <a:srgbClr val="000000"/>
                </a:solidFill>
              </a:rPr>
              <a:t>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98778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Полиморфизм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Полиморфизм – </a:t>
            </a:r>
            <a:r>
              <a:rPr lang="ru-RU" sz="1600" dirty="0"/>
              <a:t>третий принцип ООП.</a:t>
            </a: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Если функция способна обрабатывать только один тип данных – это мономорфная функция. Например в </a:t>
            </a:r>
            <a:r>
              <a:rPr lang="en-US" sz="1600" dirty="0">
                <a:solidFill>
                  <a:srgbClr val="000000"/>
                </a:solidFill>
              </a:rPr>
              <a:t>Go </a:t>
            </a:r>
            <a:r>
              <a:rPr lang="ru-RU" sz="1600" dirty="0">
                <a:solidFill>
                  <a:srgbClr val="000000"/>
                </a:solidFill>
              </a:rPr>
              <a:t>нет перегрузки (про дженерики и интерфейсы пока забываем), поэтому все функции </a:t>
            </a:r>
            <a:r>
              <a:rPr lang="ru-RU" sz="1600" b="1" dirty="0">
                <a:solidFill>
                  <a:srgbClr val="000000"/>
                </a:solidFill>
              </a:rPr>
              <a:t>мономорфны </a:t>
            </a:r>
            <a:r>
              <a:rPr lang="ru-RU" sz="1600" dirty="0">
                <a:solidFill>
                  <a:srgbClr val="000000"/>
                </a:solidFill>
              </a:rPr>
              <a:t>(</a:t>
            </a:r>
            <a:r>
              <a:rPr lang="en-US" sz="1600" dirty="0">
                <a:solidFill>
                  <a:srgbClr val="000000"/>
                </a:solidFill>
              </a:rPr>
              <a:t>mono</a:t>
            </a:r>
            <a:r>
              <a:rPr lang="ru-RU" sz="1600" dirty="0">
                <a:solidFill>
                  <a:srgbClr val="000000"/>
                </a:solidFill>
              </a:rPr>
              <a:t> - один).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Полиморфизм (</a:t>
            </a:r>
            <a:r>
              <a:rPr lang="en-US" sz="1600" dirty="0">
                <a:solidFill>
                  <a:srgbClr val="000000"/>
                </a:solidFill>
              </a:rPr>
              <a:t>poly</a:t>
            </a:r>
            <a:r>
              <a:rPr lang="ru-RU" sz="1600" dirty="0">
                <a:solidFill>
                  <a:srgbClr val="000000"/>
                </a:solidFill>
              </a:rPr>
              <a:t> – много, </a:t>
            </a:r>
            <a:r>
              <a:rPr lang="en-US" sz="1600" dirty="0" err="1">
                <a:solidFill>
                  <a:srgbClr val="000000"/>
                </a:solidFill>
              </a:rPr>
              <a:t>morphe</a:t>
            </a:r>
            <a:r>
              <a:rPr lang="ru-RU" sz="1600" dirty="0">
                <a:solidFill>
                  <a:srgbClr val="000000"/>
                </a:solidFill>
              </a:rPr>
              <a:t> -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ru-RU" sz="1600" dirty="0">
                <a:solidFill>
                  <a:srgbClr val="000000"/>
                </a:solidFill>
              </a:rPr>
              <a:t>форма) – возможность функции/метода обрабатывать объекты разных типов данных. Здесь важно то, как вы воспринимаете слово «функция». Его нужно понимать как в математике: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Т.е. если у вас в коде будет несколько функций, с одним и тем же именем, то смотреть на это нужно как на одну функцию, просто её поведение меняется в зависимости от количества параметров, типов и т.д. и вы прописали не разные функции, а просто поведение одной функции в зависимости от условий.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Другое определение полиморфизма – один интерфейс, множество реализаций </a:t>
            </a:r>
            <a:r>
              <a:rPr lang="en-US" sz="1600" dirty="0">
                <a:solidFill>
                  <a:srgbClr val="000000"/>
                </a:solidFill>
              </a:rPr>
              <a:t>[</a:t>
            </a:r>
            <a:r>
              <a:rPr lang="ru-RU" sz="1600" dirty="0">
                <a:solidFill>
                  <a:srgbClr val="000000"/>
                </a:solidFill>
              </a:rPr>
              <a:t>Б. Страуструп</a:t>
            </a:r>
            <a:r>
              <a:rPr lang="en-US" sz="1600" dirty="0">
                <a:solidFill>
                  <a:srgbClr val="000000"/>
                </a:solidFill>
              </a:rPr>
              <a:t>]</a:t>
            </a:r>
            <a:r>
              <a:rPr lang="ru-RU" sz="1600" dirty="0">
                <a:solidFill>
                  <a:srgbClr val="000000"/>
                </a:solidFill>
              </a:rPr>
              <a:t>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0A464AA-A9D8-44A8-B4E0-D68B2008A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419" y="3475159"/>
            <a:ext cx="1867161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82375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Полиморфизм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solidFill>
                  <a:srgbClr val="000000"/>
                </a:solidFill>
              </a:rPr>
              <a:t>Параметрический. В С++ реализуется при помощи шаблонов. Тип является параметром, в зависимости от которого функция обрабатывает данные по разному:</a:t>
            </a:r>
            <a:endParaRPr lang="en-US" sz="1600" dirty="0">
              <a:solidFill>
                <a:srgbClr val="000000"/>
              </a:solidFill>
            </a:endParaRPr>
          </a:p>
          <a:p>
            <a:pPr marL="179705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fr-F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fr-F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T&gt;</a:t>
            </a:r>
          </a:p>
          <a:p>
            <a:pPr marL="179705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 </a:t>
            </a:r>
            <a:r>
              <a:rPr lang="fr-F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fr-F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 a, T b){</a:t>
            </a:r>
          </a:p>
          <a:p>
            <a:pPr marL="179705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+ b;</a:t>
            </a:r>
          </a:p>
          <a:p>
            <a:pPr marL="179705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dirty="0">
                <a:solidFill>
                  <a:srgbClr val="000000"/>
                </a:solidFill>
              </a:rPr>
              <a:t>ad-hoc. </a:t>
            </a:r>
            <a:r>
              <a:rPr lang="ru-RU" sz="1600" dirty="0">
                <a:solidFill>
                  <a:srgbClr val="000000"/>
                </a:solidFill>
              </a:rPr>
              <a:t>В С++ реализуется при помощи перегрузки. "Одна и та же" функция ведёт себя по разному в зависимости от типа и/или количества аргументов (здесь нет параметра определяющего тип):</a:t>
            </a:r>
            <a:endParaRPr lang="en-US" sz="1600" dirty="0">
              <a:solidFill>
                <a:srgbClr val="000000"/>
              </a:solidFill>
            </a:endParaRPr>
          </a:p>
          <a:p>
            <a:pPr marL="179705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b,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с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+ b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с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 marL="179705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b){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+ b; }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solidFill>
                  <a:srgbClr val="000000"/>
                </a:solidFill>
              </a:rPr>
              <a:t>Полиморфизм подтипов. В С++ реализуется посредством виртуальных функций и наследования. Объекты входящие в одну иерархию наследования можно преобразовывать друг в друга, а точнее указатели и ссылки на эти объекты. Поэтому функция будет работать по разному в зависимости от фактического типа переданного ей:</a:t>
            </a:r>
          </a:p>
          <a:p>
            <a:pPr marL="179705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179705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speak(){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 am A"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 marL="179705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179705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A {</a:t>
            </a:r>
          </a:p>
          <a:p>
            <a:pPr marL="179705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speak(){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 am B"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 marL="179705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179705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greet(A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obj){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obj.speak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}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B81B4F76-0E5F-4AE6-B6C1-72E1277A5258}"/>
              </a:ext>
            </a:extLst>
          </p:cNvPr>
          <p:cNvSpPr/>
          <p:nvPr/>
        </p:nvSpPr>
        <p:spPr>
          <a:xfrm>
            <a:off x="6096000" y="1967023"/>
            <a:ext cx="5542201" cy="544432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ru-RU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&lt;int&gt;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30 - Функция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складывает числа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&lt;string&gt;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"10"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"20"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1020 - Функция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склеивает строки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Скругленный прямоугольник 4">
            <a:extLst>
              <a:ext uri="{FF2B5EF4-FFF2-40B4-BE49-F238E27FC236}">
                <a16:creationId xmlns:a16="http://schemas.microsoft.com/office/drawing/2014/main" id="{10BE1F75-39BE-44A7-9BD9-6298CE037D71}"/>
              </a:ext>
            </a:extLst>
          </p:cNvPr>
          <p:cNvSpPr/>
          <p:nvPr/>
        </p:nvSpPr>
        <p:spPr>
          <a:xfrm>
            <a:off x="6684031" y="3178696"/>
            <a:ext cx="4954169" cy="544432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, 3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- Функция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складывает числа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"1"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"2"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12 - Функция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склеивает строки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Скругленный прямоугольник 4">
            <a:extLst>
              <a:ext uri="{FF2B5EF4-FFF2-40B4-BE49-F238E27FC236}">
                <a16:creationId xmlns:a16="http://schemas.microsoft.com/office/drawing/2014/main" id="{9E36C905-010B-4A21-B396-4453B8595038}"/>
              </a:ext>
            </a:extLst>
          </p:cNvPr>
          <p:cNvSpPr/>
          <p:nvPr/>
        </p:nvSpPr>
        <p:spPr>
          <a:xfrm>
            <a:off x="6684031" y="5096100"/>
            <a:ext cx="4954169" cy="836867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greet(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 типа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вывод: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 am A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greet(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 типа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поведение другое: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 am B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55023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Абстракция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838200" y="1439999"/>
            <a:ext cx="10800000" cy="505287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Как правило, выстраивая иерархию подтипов руководствуются принципом – от наиболее абстрактного к более конкретному. 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В качестве примера абстракций может быть: форма, цвет, возможность нажать (нажимаемое), пишущее и т.д. Т.е. мы выделяем нужный нам набор свойств, а остальные игнорируем.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Таким образом на вершине иерархии типов обычно находится тип с наименьшим количеством свойств, например: животное. Ниже по иерархии (наследники) типы с некоторыми доп. свойствами, например: млекопитающие, птицы, … . Ещё ниже типы (наследники наследников) с ещё большим количеством свойств: кошки, собаки, люди. И т.д. по мере необходимости, каждый раз переходя от более абстрактного типа к более конкретному.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Важно, чтобы в иерархии подтипов, каждый новый уровень добавлял новые свойства, но не нарушал старые. Если такое происходит, возможно вы неправильно определили уровень абстракции или типы вообще не связаны.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3F6103-7650-4D15-9314-B877115C6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92" y="2158320"/>
            <a:ext cx="7297168" cy="1762371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468DDF9-3B4D-4897-A748-1AB9AF5E7A39}"/>
              </a:ext>
            </a:extLst>
          </p:cNvPr>
          <p:cNvSpPr/>
          <p:nvPr/>
        </p:nvSpPr>
        <p:spPr>
          <a:xfrm>
            <a:off x="8804952" y="2154114"/>
            <a:ext cx="1931542" cy="17623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Виноградов, Логика : Учебник логики : учебник для сред. школы, 1954 г.</a:t>
            </a:r>
          </a:p>
        </p:txBody>
      </p:sp>
    </p:spTree>
    <p:extLst>
      <p:ext uri="{BB962C8B-B14F-4D97-AF65-F5344CB8AC3E}">
        <p14:creationId xmlns:p14="http://schemas.microsoft.com/office/powerpoint/2010/main" val="73543435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Абстракция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838200" y="4607135"/>
            <a:ext cx="5799122" cy="188574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100" i="0" dirty="0">
                <a:solidFill>
                  <a:srgbClr val="25262C"/>
                </a:solidFill>
                <a:effectLst/>
                <a:latin typeface="Circe"/>
              </a:rPr>
              <a:t>У детей способность абстрактно мыслить присутствует не с самого рождения, а развивается с возрастом.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endParaRPr lang="ru-RU" sz="1100" b="1" dirty="0">
              <a:solidFill>
                <a:srgbClr val="25262C"/>
              </a:solidFill>
              <a:latin typeface="Circe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100" b="1" i="0" dirty="0">
                <a:solidFill>
                  <a:srgbClr val="25262C"/>
                </a:solidFill>
                <a:effectLst/>
                <a:latin typeface="Circe"/>
              </a:rPr>
              <a:t>Феномены Жана Пиаже. </a:t>
            </a:r>
            <a:r>
              <a:rPr lang="ru-RU" sz="1100" b="0" i="0" dirty="0">
                <a:solidFill>
                  <a:srgbClr val="25262C"/>
                </a:solidFill>
                <a:effectLst/>
                <a:latin typeface="Circe"/>
              </a:rPr>
              <a:t>Перед ребёнком ставят две одинаковые прозрачные ёмкости с равным количеством воды. Взрослый спрашивает: «В какой стакан налито больше?» Ребёнок отвечает, что количество воды в обеих ёмкостях одинаковое.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100" b="0" i="0" dirty="0">
                <a:solidFill>
                  <a:srgbClr val="25262C"/>
                </a:solidFill>
                <a:effectLst/>
                <a:latin typeface="Circe"/>
              </a:rPr>
              <a:t>Взрослый берёт одну из ёмкостей и, на глазах у ребёнка, выливает из неё воду в третий стакан меньшего диаметра. В этом стакане, поскольку он более вытянутый, уровень воды выше.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100" b="0" i="0" dirty="0">
                <a:solidFill>
                  <a:srgbClr val="25262C"/>
                </a:solidFill>
                <a:effectLst/>
                <a:latin typeface="Circe"/>
              </a:rPr>
              <a:t>Ребёнок полагает, что количество воды теперь неодинаково. Раз в одном из стаканов уровень воды выше — значит, там её больше.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38D8E28-C24B-4A03-AFDB-D5AC1B6D2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322" y="4790905"/>
            <a:ext cx="4716478" cy="1518198"/>
          </a:xfrm>
          <a:prstGeom prst="rect">
            <a:avLst/>
          </a:prstGeom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C0C8E447-BBFC-4E82-A876-2C2AA5DBB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1079" y="2753525"/>
            <a:ext cx="1922721" cy="1922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Объект 2">
            <a:extLst>
              <a:ext uri="{FF2B5EF4-FFF2-40B4-BE49-F238E27FC236}">
                <a16:creationId xmlns:a16="http://schemas.microsoft.com/office/drawing/2014/main" id="{D3482495-E7AB-4D72-8455-1587794F897D}"/>
              </a:ext>
            </a:extLst>
          </p:cNvPr>
          <p:cNvSpPr txBox="1">
            <a:spLocks/>
          </p:cNvSpPr>
          <p:nvPr/>
        </p:nvSpPr>
        <p:spPr>
          <a:xfrm>
            <a:off x="838200" y="1445193"/>
            <a:ext cx="7444160" cy="316194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endParaRPr lang="ru-RU" sz="1100" dirty="0">
              <a:solidFill>
                <a:srgbClr val="25262C"/>
              </a:solidFill>
              <a:latin typeface="Circe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endParaRPr lang="ru-RU" sz="1100" dirty="0">
              <a:solidFill>
                <a:srgbClr val="25262C"/>
              </a:solidFill>
              <a:latin typeface="Circe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endParaRPr lang="ru-RU" sz="1100" dirty="0">
              <a:solidFill>
                <a:srgbClr val="25262C"/>
              </a:solidFill>
              <a:latin typeface="Circe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endParaRPr lang="ru-RU" sz="1100" dirty="0">
              <a:solidFill>
                <a:srgbClr val="25262C"/>
              </a:solidFill>
              <a:latin typeface="Circe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endParaRPr lang="ru-RU" sz="1100" dirty="0">
              <a:solidFill>
                <a:srgbClr val="25262C"/>
              </a:solidFill>
              <a:latin typeface="Circe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endParaRPr lang="ru-RU" sz="1100" dirty="0">
              <a:solidFill>
                <a:srgbClr val="25262C"/>
              </a:solidFill>
              <a:latin typeface="Circe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endParaRPr lang="ru-RU" sz="1100" dirty="0">
              <a:solidFill>
                <a:srgbClr val="25262C"/>
              </a:solidFill>
              <a:latin typeface="Circe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endParaRPr lang="ru-RU" sz="1100" dirty="0">
              <a:solidFill>
                <a:srgbClr val="25262C"/>
              </a:solidFill>
              <a:latin typeface="Circe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endParaRPr lang="ru-RU" sz="1100" dirty="0">
              <a:solidFill>
                <a:srgbClr val="25262C"/>
              </a:solidFill>
              <a:latin typeface="Circe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endParaRPr lang="ru-RU" sz="1100" dirty="0">
              <a:solidFill>
                <a:srgbClr val="25262C"/>
              </a:solidFill>
              <a:latin typeface="Circe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endParaRPr lang="ru-RU" sz="1100" dirty="0">
              <a:solidFill>
                <a:srgbClr val="25262C"/>
              </a:solidFill>
              <a:latin typeface="Circe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endParaRPr lang="ru-RU" sz="1100" dirty="0">
              <a:solidFill>
                <a:srgbClr val="25262C"/>
              </a:solidFill>
              <a:latin typeface="Circe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100" dirty="0">
                <a:solidFill>
                  <a:srgbClr val="25262C"/>
                </a:solidFill>
                <a:latin typeface="Circe"/>
              </a:rPr>
              <a:t>Таких котов не существует, но несмотря на это, любой ответит, что на картине изображён кот. Здесь мы обращаем внимание только на </a:t>
            </a:r>
            <a:r>
              <a:rPr lang="ru-RU" sz="1100" b="1" dirty="0">
                <a:solidFill>
                  <a:srgbClr val="25262C"/>
                </a:solidFill>
                <a:latin typeface="Circe"/>
              </a:rPr>
              <a:t>часть</a:t>
            </a:r>
            <a:r>
              <a:rPr lang="ru-RU" sz="1100" dirty="0">
                <a:solidFill>
                  <a:srgbClr val="25262C"/>
                </a:solidFill>
                <a:latin typeface="Circe"/>
              </a:rPr>
              <a:t> характерных </a:t>
            </a:r>
            <a:r>
              <a:rPr lang="ru-RU" sz="1100" b="1" dirty="0">
                <a:solidFill>
                  <a:srgbClr val="25262C"/>
                </a:solidFill>
                <a:latin typeface="Circe"/>
              </a:rPr>
              <a:t>признаков</a:t>
            </a:r>
            <a:r>
              <a:rPr lang="ru-RU" sz="1100" dirty="0">
                <a:solidFill>
                  <a:srgbClr val="25262C"/>
                </a:solidFill>
                <a:latin typeface="Circe"/>
              </a:rPr>
              <a:t> кота, а остальные игнорируем, т.е. используем абстракцию.</a:t>
            </a:r>
            <a:endParaRPr lang="ru-RU" sz="1100" b="0" i="0" dirty="0">
              <a:solidFill>
                <a:srgbClr val="25262C"/>
              </a:solidFill>
              <a:effectLst/>
              <a:latin typeface="Circe"/>
            </a:endParaRPr>
          </a:p>
        </p:txBody>
      </p:sp>
      <p:pic>
        <p:nvPicPr>
          <p:cNvPr id="14" name="Объект 5">
            <a:extLst>
              <a:ext uri="{FF2B5EF4-FFF2-40B4-BE49-F238E27FC236}">
                <a16:creationId xmlns:a16="http://schemas.microsoft.com/office/drawing/2014/main" id="{DE310992-6ED9-4530-9B93-A9B51D3F88F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6" b="10628"/>
          <a:stretch/>
        </p:blipFill>
        <p:spPr>
          <a:xfrm>
            <a:off x="1057373" y="1140422"/>
            <a:ext cx="3112668" cy="1885741"/>
          </a:xfrm>
          <a:prstGeom prst="rect">
            <a:avLst/>
          </a:prstGeom>
        </p:spPr>
      </p:pic>
      <p:pic>
        <p:nvPicPr>
          <p:cNvPr id="15" name="Объект 4">
            <a:extLst>
              <a:ext uri="{FF2B5EF4-FFF2-40B4-BE49-F238E27FC236}">
                <a16:creationId xmlns:a16="http://schemas.microsoft.com/office/drawing/2014/main" id="{1333A902-62E4-4CA2-A7F6-7F44A8E1C11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70" b="11453"/>
          <a:stretch/>
        </p:blipFill>
        <p:spPr>
          <a:xfrm>
            <a:off x="5111156" y="1085125"/>
            <a:ext cx="3580759" cy="210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59757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Интерфейс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838200" y="1439999"/>
            <a:ext cx="10800000" cy="50528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Интерфейс – это часть контракта определяющая способ взаимодействия систем друг с другом.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Функция – это код расположенный где-то в памяти компьютера. Прототип/сигнатура функции – это интерфейс определяющий способ обратиться к этому фрагменту кода, передать ему данные и получить данные в ответ. Прототип не описывает ожидание функции от данных или гарантии результата: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1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findIndex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(vector&lt;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array,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value);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А если не найден?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Электрическая сети дома позволяет получить электроэнергию. Розетка – это интерфейс, определяющий способ подключения к электрической сети для электроприборов. Розетка не описывает частоту, напряжение, предельную мощность и другие моменты входящие в состав контракта взаимодействия с электрической сетью.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E9761BD-0883-4777-A895-FB2E869BE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934" y="4395897"/>
            <a:ext cx="2106133" cy="209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97649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Интерфейс</a:t>
            </a:r>
            <a:r>
              <a:rPr lang="en-US" sz="4000" dirty="0"/>
              <a:t> </a:t>
            </a:r>
            <a:r>
              <a:rPr lang="ru-RU" sz="4000" dirty="0"/>
              <a:t>класса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838200" y="1439999"/>
            <a:ext cx="10800000" cy="50528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Интерфейсом класса обычно называют список его публичных методов. Но если вы разместите поле в публичной секции, то формально оно тоже станет частью интерфейса.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Если разобраться ещё более детально, то методы и поля размещённые в секции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protected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ru-RU" sz="1600" dirty="0">
                <a:solidFill>
                  <a:srgbClr val="000000"/>
                </a:solidFill>
              </a:rPr>
              <a:t>также можно отнести к интерфейсу класса. Хоть они и не доступны всем, но всё-таки позволяют наследникам вмешиваться в работу класса и рассчитывать на то, что эти методы не будут изменены в будущем.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Дружественные функции – также можно назвать частью интерфейса класса.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Обычной практикой является стремление к уменьшению интерфейса на сколько это возможно. В идеале интерфейс должен состоять из одного метода.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Например в </a:t>
            </a:r>
            <a:r>
              <a:rPr lang="en-US" sz="1600" dirty="0">
                <a:solidFill>
                  <a:srgbClr val="000000"/>
                </a:solidFill>
              </a:rPr>
              <a:t>Java: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interface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Runnable{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run();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80748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Интерфейс</a:t>
            </a:r>
            <a:r>
              <a:rPr lang="en-US" sz="4000" dirty="0"/>
              <a:t> </a:t>
            </a:r>
            <a:r>
              <a:rPr lang="ru-RU" sz="4000" dirty="0"/>
              <a:t>класса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838200" y="1439999"/>
            <a:ext cx="10800000" cy="50528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В С++ отсутствует специальное ключевое слово для обозначения интерфейсов, поэтому эквивалентом можно назвать классы содержащие только публичные чистые виртуальные методы:</a:t>
            </a: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Класс у которого есть хотя бы один чистый виртуальный метод можно назвать абстрактным классом. Экземпляр такого класса создать нельзя. От него можно только наследоваться, и если определить реализацию для всех чистых виртуальных методов, то экземпляр создать можно будет. Обычно, абстрактные классы служат для предоставления базового функционала для классов-наследников, о они в свою очередь переопределяют нужные методы.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459224C3-7345-44ED-8078-D4FF853F7359}"/>
              </a:ext>
            </a:extLst>
          </p:cNvPr>
          <p:cNvSpPr/>
          <p:nvPr/>
        </p:nvSpPr>
        <p:spPr>
          <a:xfrm>
            <a:off x="2943546" y="2765563"/>
            <a:ext cx="2874977" cy="1168828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C++</a:t>
            </a: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Runnable{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run()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Скругленный прямоугольник 4">
            <a:extLst>
              <a:ext uri="{FF2B5EF4-FFF2-40B4-BE49-F238E27FC236}">
                <a16:creationId xmlns:a16="http://schemas.microsoft.com/office/drawing/2014/main" id="{A9EA01EB-85C6-42A6-AD40-EE92592A69D8}"/>
              </a:ext>
            </a:extLst>
          </p:cNvPr>
          <p:cNvSpPr/>
          <p:nvPr/>
        </p:nvSpPr>
        <p:spPr>
          <a:xfrm>
            <a:off x="6096000" y="2765562"/>
            <a:ext cx="2874977" cy="1168827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Java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interface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Runnable{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run();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2644337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Наследование реализации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В С++ нет возможность наследования реализации без наследования интерфейса. Это можно сделать при помощи обходного пути: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"+"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plus(){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 сути тот же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print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только под другим имен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или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A::print();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object;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object.print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object.plus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ОК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75637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Наследование интерфейса и реализации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Обычно интерфейс наследуется вместе с реализацией: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"+"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object;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object.print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ОК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При обычном наследовании, без намеренного построения иерархии подтипов,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к унаследованному интерфейсу стоит относится как к просто похожему.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DDF2E56-FC15-4B31-845F-8C357B092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200" y="4040111"/>
            <a:ext cx="3600000" cy="2536484"/>
          </a:xfrm>
          <a:prstGeom prst="rect">
            <a:avLst/>
          </a:prstGeom>
        </p:spPr>
      </p:pic>
      <p:pic>
        <p:nvPicPr>
          <p:cNvPr id="13314" name="Picture 2" descr="Picture background">
            <a:extLst>
              <a:ext uri="{FF2B5EF4-FFF2-40B4-BE49-F238E27FC236}">
                <a16:creationId xmlns:a16="http://schemas.microsoft.com/office/drawing/2014/main" id="{10604D18-5670-47D8-944E-D408257FF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8200" y="1564977"/>
            <a:ext cx="3600000" cy="2401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47655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Создание иерархии типов через наследование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При целенаправленном построении иерархии типов следует пользоваться двумя проверочными правилами: </a:t>
            </a:r>
            <a:r>
              <a:rPr lang="en-US" sz="1600" dirty="0">
                <a:solidFill>
                  <a:srgbClr val="000000"/>
                </a:solidFill>
              </a:rPr>
              <a:t>is-a (</a:t>
            </a:r>
            <a:r>
              <a:rPr lang="ru-RU" sz="1600" dirty="0">
                <a:solidFill>
                  <a:srgbClr val="000000"/>
                </a:solidFill>
              </a:rPr>
              <a:t>является</a:t>
            </a:r>
            <a:r>
              <a:rPr lang="en-US" sz="1600" dirty="0">
                <a:solidFill>
                  <a:srgbClr val="000000"/>
                </a:solidFill>
              </a:rPr>
              <a:t>)</a:t>
            </a:r>
            <a:r>
              <a:rPr lang="ru-RU" sz="1600" dirty="0">
                <a:solidFill>
                  <a:srgbClr val="000000"/>
                </a:solidFill>
              </a:rPr>
              <a:t> и правилом подстановки Барбары Лисков.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Если при подстановке в выражение: «класс-наследник </a:t>
            </a:r>
            <a:r>
              <a:rPr lang="ru-RU" sz="1600" i="1" dirty="0">
                <a:solidFill>
                  <a:srgbClr val="000000"/>
                </a:solidFill>
              </a:rPr>
              <a:t>является</a:t>
            </a:r>
            <a:r>
              <a:rPr lang="ru-RU" sz="1600" dirty="0">
                <a:solidFill>
                  <a:srgbClr val="000000"/>
                </a:solidFill>
              </a:rPr>
              <a:t> классом-предком», вы получаете явное противоречие, то классы точно не следует объединять в иерархию типов. Например: кот является коробкой</a:t>
            </a:r>
            <a:r>
              <a:rPr lang="en-US" sz="1600" dirty="0">
                <a:solidFill>
                  <a:srgbClr val="000000"/>
                </a:solidFill>
              </a:rPr>
              <a:t>;</a:t>
            </a:r>
            <a:r>
              <a:rPr lang="ru-RU" sz="1600" dirty="0">
                <a:solidFill>
                  <a:srgbClr val="000000"/>
                </a:solidFill>
              </a:rPr>
              <a:t> вода является кувшином. Здесь понятно, что кот не является подтипом коробки, а вода не является подтипом кувшина, поэтому с точки зрения </a:t>
            </a:r>
            <a:r>
              <a:rPr lang="ru-RU" sz="1600" dirty="0" err="1">
                <a:solidFill>
                  <a:srgbClr val="000000"/>
                </a:solidFill>
              </a:rPr>
              <a:t>подтипизации</a:t>
            </a:r>
            <a:r>
              <a:rPr lang="ru-RU" sz="1600" dirty="0">
                <a:solidFill>
                  <a:srgbClr val="000000"/>
                </a:solidFill>
              </a:rPr>
              <a:t> неправильно наследовать кота от коробки, и воду от кувшина.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Если при подстановке, вы получаете осмысленное выражение, то есть вероятность, что классы являются подтипами. В этом случае следует воспользоваться правилом подстановки Барбары Лисков. В одной из формулировок оно звучит как: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"Функции, которые используют базовый тип, должны иметь возможность использовать подтипы базового типа, не зная об этом".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Нужно понимать, что однозначного ответа что правильно, а что нет – не существует(. Ситуация полностью определяется </a:t>
            </a:r>
            <a:r>
              <a:rPr lang="ru-RU" sz="1600" b="1" dirty="0">
                <a:solidFill>
                  <a:srgbClr val="000000"/>
                </a:solidFill>
              </a:rPr>
              <a:t>контрактом</a:t>
            </a:r>
            <a:r>
              <a:rPr lang="ru-RU" sz="1600" dirty="0">
                <a:solidFill>
                  <a:srgbClr val="000000"/>
                </a:solidFill>
              </a:rPr>
              <a:t>, который вы определите. Именно поэтому очень важно его чётко прописать.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17670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E0234453-E727-8E54-FB83-64C7CDFD0A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7" r="13201"/>
          <a:stretch/>
        </p:blipFill>
        <p:spPr>
          <a:xfrm>
            <a:off x="3212059" y="1285679"/>
            <a:ext cx="6052281" cy="4616611"/>
          </a:xfr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7EB7CB3-B780-458A-9FD4-1B0A3B0EE55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Кто кому предок?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6136CDBC-1202-49F7-81C9-AEF4F342C79B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Эквивалентная задача: задача о круге и эллипсе.</a:t>
            </a:r>
          </a:p>
        </p:txBody>
      </p:sp>
    </p:spTree>
    <p:extLst>
      <p:ext uri="{BB962C8B-B14F-4D97-AF65-F5344CB8AC3E}">
        <p14:creationId xmlns:p14="http://schemas.microsoft.com/office/powerpoint/2010/main" val="17261900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3F8092BE-03E2-16DD-2827-3E15581C8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350" y="1405211"/>
            <a:ext cx="5123300" cy="5188483"/>
          </a:xfr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0597ECC-DFDE-4EEC-B60C-4FDD96D2443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Как вариант?</a:t>
            </a:r>
          </a:p>
        </p:txBody>
      </p:sp>
    </p:spTree>
    <p:extLst>
      <p:ext uri="{BB962C8B-B14F-4D97-AF65-F5344CB8AC3E}">
        <p14:creationId xmlns:p14="http://schemas.microsoft.com/office/powerpoint/2010/main" val="117847206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Квадрат подтип прямоугольника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700" dirty="0">
                <a:solidFill>
                  <a:srgbClr val="000000"/>
                </a:solidFill>
              </a:rPr>
              <a:t>С точки зрения математики, квадрат – это прямоугольник у которого высота и ширина равны друг другу. Как видно, правило </a:t>
            </a:r>
            <a:r>
              <a:rPr lang="en-US" sz="1700" i="1" dirty="0">
                <a:solidFill>
                  <a:srgbClr val="000000"/>
                </a:solidFill>
              </a:rPr>
              <a:t>is-a </a:t>
            </a:r>
            <a:r>
              <a:rPr lang="ru-RU" sz="1700" dirty="0">
                <a:solidFill>
                  <a:srgbClr val="000000"/>
                </a:solidFill>
              </a:rPr>
              <a:t>соблюдено.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700" dirty="0">
                <a:solidFill>
                  <a:srgbClr val="000000"/>
                </a:solidFill>
              </a:rPr>
              <a:t>Распишем контракты для обоих классов: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700" dirty="0">
                <a:solidFill>
                  <a:srgbClr val="000000"/>
                </a:solidFill>
              </a:rPr>
              <a:t>Как видно, требования в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getArea</a:t>
            </a:r>
            <a:r>
              <a:rPr lang="ru-RU" sz="1700" dirty="0">
                <a:solidFill>
                  <a:srgbClr val="000000"/>
                </a:solidFill>
              </a:rPr>
              <a:t> квадрата усилены, что является нарушением контракта. В данном конкретном случае, мы можем это пропустить. Если класс прямоугольник не планируется расширять, то </a:t>
            </a:r>
            <a:r>
              <a:rPr lang="ru-RU" sz="1700" dirty="0">
                <a:solidFill>
                  <a:schemeClr val="accent6">
                    <a:lumMod val="75000"/>
                  </a:schemeClr>
                </a:solidFill>
              </a:rPr>
              <a:t>такая система типов допустима</a:t>
            </a:r>
            <a:r>
              <a:rPr lang="ru-RU" sz="1700" dirty="0">
                <a:solidFill>
                  <a:srgbClr val="000000"/>
                </a:solidFill>
              </a:rPr>
              <a:t>. Даже если мы определим метод расчёта площади квадрата через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width</a:t>
            </a:r>
            <a:r>
              <a:rPr lang="ru-RU" sz="1700" dirty="0">
                <a:solidFill>
                  <a:srgbClr val="000000"/>
                </a:solidFill>
              </a:rPr>
              <a:t> , здесь всё будет ОК.</a:t>
            </a:r>
          </a:p>
        </p:txBody>
      </p:sp>
      <p:graphicFrame>
        <p:nvGraphicFramePr>
          <p:cNvPr id="5" name="Таблица 7">
            <a:extLst>
              <a:ext uri="{FF2B5EF4-FFF2-40B4-BE49-F238E27FC236}">
                <a16:creationId xmlns:a16="http://schemas.microsoft.com/office/drawing/2014/main" id="{2E781FCD-E2F5-49D0-B96F-38DCE71FB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312953"/>
              </p:ext>
            </p:extLst>
          </p:nvPr>
        </p:nvGraphicFramePr>
        <p:xfrm>
          <a:off x="947205" y="2494058"/>
          <a:ext cx="9294377" cy="2834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94377">
                  <a:extLst>
                    <a:ext uri="{9D8B030D-6E8A-4147-A177-3AD203B41FA5}">
                      <a16:colId xmlns:a16="http://schemas.microsoft.com/office/drawing/2014/main" val="2683322829"/>
                    </a:ext>
                  </a:extLst>
                </a:gridCol>
                <a:gridCol w="4500000">
                  <a:extLst>
                    <a:ext uri="{9D8B030D-6E8A-4147-A177-3AD203B41FA5}">
                      <a16:colId xmlns:a16="http://schemas.microsoft.com/office/drawing/2014/main" val="854653060"/>
                    </a:ext>
                  </a:extLst>
                </a:gridCol>
              </a:tblGrid>
              <a:tr h="262800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Rectangle{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Прямоугольник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/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protected:</a:t>
                      </a:r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width;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Ширина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/>
                      <a: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height;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Высота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/>
                      <a:b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Rectangle(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w,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h): width(w), height(h) {}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/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virtual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getArea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(){ </a:t>
                      </a:r>
                    </a:p>
                    <a:p>
                      <a:pPr algn="l"/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Контракт: определяет площадь фигуры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/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Требования: ширина и высота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/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Гарантии: результат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/>
                      <a: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width * height;</a:t>
                      </a:r>
                    </a:p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Square: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Rectangle{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Квадрат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/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Инвариант: ширина и высота равны друг другу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/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Square(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side): Rectangle(side, side) {}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/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virtual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getArea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(){ </a:t>
                      </a:r>
                    </a:p>
                    <a:p>
                      <a:pPr algn="l"/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Контракт: определяет площадь фигуры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/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Требования: ширина и высота равны и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/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Гарантии: результат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/>
                      <a: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width * height;</a:t>
                      </a:r>
                    </a:p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  <a:p>
                      <a:pPr algn="l"/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449420"/>
                  </a:ext>
                </a:extLst>
              </a:tr>
            </a:tbl>
          </a:graphicData>
        </a:graphic>
      </p:graphicFrame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71B852EE-C150-4F23-BEF1-96B4799582A1}"/>
              </a:ext>
            </a:extLst>
          </p:cNvPr>
          <p:cNvGrpSpPr/>
          <p:nvPr/>
        </p:nvGrpSpPr>
        <p:grpSpPr>
          <a:xfrm>
            <a:off x="10498745" y="2494058"/>
            <a:ext cx="1278586" cy="1952060"/>
            <a:chOff x="10498745" y="2706713"/>
            <a:chExt cx="1278586" cy="1952060"/>
          </a:xfrm>
        </p:grpSpPr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18CD016A-4A3F-41C2-A8B0-C27BBBFDBFF3}"/>
                </a:ext>
              </a:extLst>
            </p:cNvPr>
            <p:cNvSpPr/>
            <p:nvPr/>
          </p:nvSpPr>
          <p:spPr>
            <a:xfrm>
              <a:off x="10498745" y="2706713"/>
              <a:ext cx="1278586" cy="5847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200" dirty="0"/>
                <a:t>Прямоугольник</a:t>
              </a: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4CE7A637-3EE3-4E71-BCA8-D21D022EE398}"/>
                </a:ext>
              </a:extLst>
            </p:cNvPr>
            <p:cNvSpPr/>
            <p:nvPr/>
          </p:nvSpPr>
          <p:spPr>
            <a:xfrm>
              <a:off x="10498745" y="4073983"/>
              <a:ext cx="1278586" cy="5847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200" dirty="0"/>
                <a:t>Квадрат</a:t>
              </a:r>
            </a:p>
          </p:txBody>
        </p:sp>
        <p:sp>
          <p:nvSpPr>
            <p:cNvPr id="10" name="Равнобедренный треугольник 9">
              <a:extLst>
                <a:ext uri="{FF2B5EF4-FFF2-40B4-BE49-F238E27FC236}">
                  <a16:creationId xmlns:a16="http://schemas.microsoft.com/office/drawing/2014/main" id="{227E0923-D381-4B59-A1EF-AC8AE08E09E9}"/>
                </a:ext>
              </a:extLst>
            </p:cNvPr>
            <p:cNvSpPr/>
            <p:nvPr/>
          </p:nvSpPr>
          <p:spPr>
            <a:xfrm>
              <a:off x="11071368" y="3291502"/>
              <a:ext cx="133340" cy="137497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5ED1C074-EB45-4FC5-AE1B-70B8B6CFBD3D}"/>
                </a:ext>
              </a:extLst>
            </p:cNvPr>
            <p:cNvCxnSpPr>
              <a:stCxn id="6" idx="0"/>
              <a:endCxn id="10" idx="3"/>
            </p:cNvCxnSpPr>
            <p:nvPr/>
          </p:nvCxnSpPr>
          <p:spPr>
            <a:xfrm flipV="1">
              <a:off x="11138038" y="3428999"/>
              <a:ext cx="0" cy="6449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918603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Квадрат подтип прямоугольника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838199" y="1439999"/>
            <a:ext cx="10953307" cy="505287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Если мы добавим в класс предок метод изменяющий ширину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etWidth</a:t>
            </a:r>
            <a:r>
              <a:rPr lang="ru-RU" sz="1600" dirty="0">
                <a:solidFill>
                  <a:srgbClr val="000000"/>
                </a:solidFill>
              </a:rPr>
              <a:t>, то метод наследника будет явно нарушать контракт ослабляя гарантии метода предка. Таким образом, если будет функция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f</a:t>
            </a:r>
            <a:r>
              <a:rPr lang="ru-RU" sz="1600" dirty="0">
                <a:solidFill>
                  <a:srgbClr val="000000"/>
                </a:solidFill>
              </a:rPr>
              <a:t> ожидающая на вход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ru-RU" sz="1600" dirty="0">
                <a:solidFill>
                  <a:srgbClr val="000000"/>
                </a:solidFill>
              </a:rPr>
              <a:t> и изменяющая его ширину, и она получит на вход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ru-RU" sz="1600" dirty="0">
                <a:solidFill>
                  <a:srgbClr val="000000"/>
                </a:solidFill>
              </a:rPr>
              <a:t>, то результат будет непредсказуем, т.к. мы нарушаем гарантии обещанные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ru-RU" sz="1600" dirty="0">
                <a:solidFill>
                  <a:srgbClr val="000000"/>
                </a:solidFill>
              </a:rPr>
              <a:t>, а код функции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f</a:t>
            </a:r>
            <a:r>
              <a:rPr lang="ru-RU" sz="1600" dirty="0">
                <a:solidFill>
                  <a:srgbClr val="000000"/>
                </a:solidFill>
              </a:rPr>
              <a:t> может на эти гарантии рассчитывать.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ru-RU" sz="1600" dirty="0">
                <a:solidFill>
                  <a:srgbClr val="FF0000"/>
                </a:solidFill>
              </a:rPr>
              <a:t>Т.е. объединять их в одну иерархию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ru-RU" sz="1600" dirty="0">
                <a:solidFill>
                  <a:srgbClr val="FF0000"/>
                </a:solidFill>
              </a:rPr>
              <a:t>таким образом – сомнительное решение.</a:t>
            </a:r>
            <a:endParaRPr lang="en-US" sz="1600" dirty="0">
              <a:solidFill>
                <a:srgbClr val="FF0000"/>
              </a:solidFill>
            </a:endParaRPr>
          </a:p>
        </p:txBody>
      </p:sp>
      <p:graphicFrame>
        <p:nvGraphicFramePr>
          <p:cNvPr id="5" name="Таблица 7">
            <a:extLst>
              <a:ext uri="{FF2B5EF4-FFF2-40B4-BE49-F238E27FC236}">
                <a16:creationId xmlns:a16="http://schemas.microsoft.com/office/drawing/2014/main" id="{2E781FCD-E2F5-49D0-B96F-38DCE71FB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397530"/>
              </p:ext>
            </p:extLst>
          </p:nvPr>
        </p:nvGraphicFramePr>
        <p:xfrm>
          <a:off x="947205" y="1398910"/>
          <a:ext cx="9546377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94377">
                  <a:extLst>
                    <a:ext uri="{9D8B030D-6E8A-4147-A177-3AD203B41FA5}">
                      <a16:colId xmlns:a16="http://schemas.microsoft.com/office/drawing/2014/main" val="2683322829"/>
                    </a:ext>
                  </a:extLst>
                </a:gridCol>
                <a:gridCol w="4752000">
                  <a:extLst>
                    <a:ext uri="{9D8B030D-6E8A-4147-A177-3AD203B41FA5}">
                      <a16:colId xmlns:a16="http://schemas.microsoft.com/office/drawing/2014/main" val="854653060"/>
                    </a:ext>
                  </a:extLst>
                </a:gridCol>
              </a:tblGrid>
              <a:tr h="3955278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Rectangle{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Прямоугольник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protected:</a:t>
                      </a:r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width;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Ширина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height;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Высота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b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Rectangle(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w,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h): width(w), height(h) {}</a:t>
                      </a:r>
                    </a:p>
                    <a:p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virtual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getArea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(){ </a:t>
                      </a:r>
                    </a:p>
                    <a:p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Контракт: определяет площадь фигуры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Требования: ширина и высота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Гарантии: результат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width * height;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b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virtual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setWidth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w){ </a:t>
                      </a:r>
                    </a:p>
                    <a:p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Контракт: изменяет ширину фигуры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Требования: новая ширина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Гарантии: изменяется только ширина фигуры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width = w;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Square: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Rectangle{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Квадрат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Инвариант: ширина и высота равны друг другу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Square(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side): Rectangle(side, side) {}</a:t>
                      </a:r>
                    </a:p>
                    <a:p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virtual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getArea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(){ </a:t>
                      </a:r>
                    </a:p>
                    <a:p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Контракт: определяет площадь фигуры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Требования: ширина и высота равны и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Гарантии: результат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width * height;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virtual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setWidth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w){ </a:t>
                      </a:r>
                    </a:p>
                    <a:p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Контракт: изменяет ширину и высоту фигуры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Требования: новая ширина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Гарантии: изменяется ширина и высота фигуры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width = w;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height = w;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  <a:p>
                      <a:pPr algn="l"/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449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38303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Прямоугольник подтип квадрата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700" dirty="0">
                <a:solidFill>
                  <a:srgbClr val="000000"/>
                </a:solidFill>
              </a:rPr>
              <a:t>Прямоугольник – это квадрат у которого ширина и высота различны. Как видно, правило </a:t>
            </a:r>
            <a:r>
              <a:rPr lang="en-US" sz="1700" i="1" dirty="0">
                <a:solidFill>
                  <a:srgbClr val="000000"/>
                </a:solidFill>
              </a:rPr>
              <a:t>is-a </a:t>
            </a:r>
            <a:r>
              <a:rPr lang="ru-RU" sz="1700" dirty="0">
                <a:solidFill>
                  <a:srgbClr val="000000"/>
                </a:solidFill>
              </a:rPr>
              <a:t>уже звучит не очень хорошо.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700" dirty="0">
                <a:solidFill>
                  <a:srgbClr val="000000"/>
                </a:solidFill>
              </a:rPr>
              <a:t>Распишем контракты для обоих классов: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800" dirty="0">
                <a:solidFill>
                  <a:srgbClr val="000000"/>
                </a:solidFill>
              </a:rPr>
              <a:t>Как видно, код тоже получился странноват, по крайней мере с точки зрения имён полей. Если посмотреть на метод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getArea</a:t>
            </a:r>
            <a:r>
              <a:rPr lang="ru-RU" sz="1800" dirty="0">
                <a:solidFill>
                  <a:srgbClr val="000000"/>
                </a:solidFill>
              </a:rPr>
              <a:t>, то мы видим, что контракт не нарушается, т.к. предусловие ослаблено (стороны могут быть и равны и не равны). Но здесь есть проблема посерьёзнее. Конструктор класса 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ru-RU" sz="1800" dirty="0">
                <a:solidFill>
                  <a:srgbClr val="000000"/>
                </a:solidFill>
              </a:rPr>
              <a:t> позволяет создавать объекты нарушающие инвариант 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u-RU" sz="1800" dirty="0">
                <a:solidFill>
                  <a:srgbClr val="000000"/>
                </a:solidFill>
              </a:rPr>
              <a:t> Если класс квадрат не планируется расширять, то </a:t>
            </a:r>
            <a:r>
              <a:rPr lang="ru-RU" sz="1800" dirty="0">
                <a:solidFill>
                  <a:schemeClr val="accent6">
                    <a:lumMod val="75000"/>
                  </a:schemeClr>
                </a:solidFill>
              </a:rPr>
              <a:t>такая система типов допустима</a:t>
            </a:r>
            <a:r>
              <a:rPr lang="ru-RU" sz="1800" dirty="0">
                <a:solidFill>
                  <a:srgbClr val="000000"/>
                </a:solidFill>
              </a:rPr>
              <a:t>.</a:t>
            </a:r>
          </a:p>
        </p:txBody>
      </p:sp>
      <p:graphicFrame>
        <p:nvGraphicFramePr>
          <p:cNvPr id="5" name="Таблица 7">
            <a:extLst>
              <a:ext uri="{FF2B5EF4-FFF2-40B4-BE49-F238E27FC236}">
                <a16:creationId xmlns:a16="http://schemas.microsoft.com/office/drawing/2014/main" id="{2E781FCD-E2F5-49D0-B96F-38DCE71FB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434946"/>
              </p:ext>
            </p:extLst>
          </p:nvPr>
        </p:nvGraphicFramePr>
        <p:xfrm>
          <a:off x="947205" y="2494058"/>
          <a:ext cx="9294377" cy="3017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94377">
                  <a:extLst>
                    <a:ext uri="{9D8B030D-6E8A-4147-A177-3AD203B41FA5}">
                      <a16:colId xmlns:a16="http://schemas.microsoft.com/office/drawing/2014/main" val="2683322829"/>
                    </a:ext>
                  </a:extLst>
                </a:gridCol>
                <a:gridCol w="4500000">
                  <a:extLst>
                    <a:ext uri="{9D8B030D-6E8A-4147-A177-3AD203B41FA5}">
                      <a16:colId xmlns:a16="http://schemas.microsoft.com/office/drawing/2014/main" val="854653060"/>
                    </a:ext>
                  </a:extLst>
                </a:gridCol>
              </a:tblGrid>
              <a:tr h="2628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Square{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 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Квадрат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protected:</a:t>
                      </a:r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side;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 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Размер стороны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Инвариант: ширина и высота равны друг другу</a:t>
                      </a:r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Square(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s): side(s) {}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virtual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getArea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(){ </a:t>
                      </a:r>
                    </a:p>
                    <a:p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Контракт: определяет площадь фигуры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Требования: ширина и высота равны и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Гарантии: результат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side * side;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Rectangle: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Square{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Прямоугольник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protected:</a:t>
                      </a:r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 side    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Ширина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side2;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Высота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b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Rectangle(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w,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h): Square(w), side2(h) {}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virtual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getArea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(){ </a:t>
                      </a:r>
                    </a:p>
                    <a:p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Контракт: определяет площадь фигуры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Требования: ширина и высота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Гарантии: результат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side * side2;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  <a:p>
                      <a:pPr algn="l"/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449420"/>
                  </a:ext>
                </a:extLst>
              </a:tr>
            </a:tbl>
          </a:graphicData>
        </a:graphic>
      </p:graphicFrame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71B852EE-C150-4F23-BEF1-96B4799582A1}"/>
              </a:ext>
            </a:extLst>
          </p:cNvPr>
          <p:cNvGrpSpPr/>
          <p:nvPr/>
        </p:nvGrpSpPr>
        <p:grpSpPr>
          <a:xfrm>
            <a:off x="10498745" y="2494058"/>
            <a:ext cx="1278586" cy="1952060"/>
            <a:chOff x="10498745" y="2706713"/>
            <a:chExt cx="1278586" cy="1952060"/>
          </a:xfrm>
        </p:grpSpPr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18CD016A-4A3F-41C2-A8B0-C27BBBFDBFF3}"/>
                </a:ext>
              </a:extLst>
            </p:cNvPr>
            <p:cNvSpPr/>
            <p:nvPr/>
          </p:nvSpPr>
          <p:spPr>
            <a:xfrm>
              <a:off x="10498745" y="2706713"/>
              <a:ext cx="1278586" cy="5847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200" dirty="0"/>
                <a:t>Квадрат</a:t>
              </a: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4CE7A637-3EE3-4E71-BCA8-D21D022EE398}"/>
                </a:ext>
              </a:extLst>
            </p:cNvPr>
            <p:cNvSpPr/>
            <p:nvPr/>
          </p:nvSpPr>
          <p:spPr>
            <a:xfrm>
              <a:off x="10498745" y="4073983"/>
              <a:ext cx="1278586" cy="5847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200" dirty="0"/>
                <a:t>Прямоугольник</a:t>
              </a:r>
            </a:p>
          </p:txBody>
        </p:sp>
        <p:sp>
          <p:nvSpPr>
            <p:cNvPr id="10" name="Равнобедренный треугольник 9">
              <a:extLst>
                <a:ext uri="{FF2B5EF4-FFF2-40B4-BE49-F238E27FC236}">
                  <a16:creationId xmlns:a16="http://schemas.microsoft.com/office/drawing/2014/main" id="{227E0923-D381-4B59-A1EF-AC8AE08E09E9}"/>
                </a:ext>
              </a:extLst>
            </p:cNvPr>
            <p:cNvSpPr/>
            <p:nvPr/>
          </p:nvSpPr>
          <p:spPr>
            <a:xfrm>
              <a:off x="11071368" y="3291502"/>
              <a:ext cx="133340" cy="137497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5ED1C074-EB45-4FC5-AE1B-70B8B6CFBD3D}"/>
                </a:ext>
              </a:extLst>
            </p:cNvPr>
            <p:cNvCxnSpPr>
              <a:stCxn id="6" idx="0"/>
              <a:endCxn id="10" idx="3"/>
            </p:cNvCxnSpPr>
            <p:nvPr/>
          </p:nvCxnSpPr>
          <p:spPr>
            <a:xfrm flipV="1">
              <a:off x="11138038" y="3428999"/>
              <a:ext cx="0" cy="6449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316234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Прямоугольник подтип квадрата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838200" y="1439999"/>
            <a:ext cx="10800000" cy="505287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Здесь при подстановке прямоугольника в оператор </a:t>
            </a:r>
            <a:r>
              <a:rPr lang="en-US" sz="1600" dirty="0">
                <a:solidFill>
                  <a:srgbClr val="000000"/>
                </a:solidFill>
              </a:rPr>
              <a:t>&gt; </a:t>
            </a:r>
            <a:r>
              <a:rPr lang="ru-RU" sz="1600" dirty="0">
                <a:solidFill>
                  <a:srgbClr val="000000"/>
                </a:solidFill>
              </a:rPr>
              <a:t>будет выполнено сравнение</a:t>
            </a: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только по ширине, игнорируя высоту прямоугольника, в результате мы получим</a:t>
            </a: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неправильно сравнение</a:t>
            </a:r>
            <a:r>
              <a:rPr lang="en-US" sz="1600" dirty="0">
                <a:solidFill>
                  <a:srgbClr val="000000"/>
                </a:solidFill>
              </a:rPr>
              <a:t>.</a:t>
            </a:r>
            <a:r>
              <a:rPr lang="ru-RU" sz="1600" dirty="0">
                <a:solidFill>
                  <a:srgbClr val="000000"/>
                </a:solidFill>
              </a:rPr>
              <a:t> </a:t>
            </a:r>
            <a:r>
              <a:rPr lang="ru-RU" sz="1600" dirty="0">
                <a:solidFill>
                  <a:srgbClr val="FF0000"/>
                </a:solidFill>
              </a:rPr>
              <a:t>Т.е. объединять их в одну иерархию таким образом – сомнительное решение.</a:t>
            </a:r>
            <a:endParaRPr lang="en-US" sz="1600" dirty="0">
              <a:solidFill>
                <a:srgbClr val="FF0000"/>
              </a:solidFill>
            </a:endParaRPr>
          </a:p>
        </p:txBody>
      </p:sp>
      <p:graphicFrame>
        <p:nvGraphicFramePr>
          <p:cNvPr id="5" name="Таблица 7">
            <a:extLst>
              <a:ext uri="{FF2B5EF4-FFF2-40B4-BE49-F238E27FC236}">
                <a16:creationId xmlns:a16="http://schemas.microsoft.com/office/drawing/2014/main" id="{2E781FCD-E2F5-49D0-B96F-38DCE71FB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899064"/>
              </p:ext>
            </p:extLst>
          </p:nvPr>
        </p:nvGraphicFramePr>
        <p:xfrm>
          <a:off x="957837" y="1440000"/>
          <a:ext cx="10116000" cy="3749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16000">
                  <a:extLst>
                    <a:ext uri="{9D8B030D-6E8A-4147-A177-3AD203B41FA5}">
                      <a16:colId xmlns:a16="http://schemas.microsoft.com/office/drawing/2014/main" val="2683322829"/>
                    </a:ext>
                  </a:extLst>
                </a:gridCol>
                <a:gridCol w="4500000">
                  <a:extLst>
                    <a:ext uri="{9D8B030D-6E8A-4147-A177-3AD203B41FA5}">
                      <a16:colId xmlns:a16="http://schemas.microsoft.com/office/drawing/2014/main" val="854653060"/>
                    </a:ext>
                  </a:extLst>
                </a:gridCol>
              </a:tblGrid>
              <a:tr h="2988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Square{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 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Квадрат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protected:</a:t>
                      </a:r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side;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 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Размер стороны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Инвариант: ширина и высота равны друг другу</a:t>
                      </a:r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Square(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s): side(s) {}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virtual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getArea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(){ </a:t>
                      </a:r>
                    </a:p>
                    <a:p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Контракт: определяет площадь фигуры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Требования: ширина и высота равны и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Гарантии: результат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side * side;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    friend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bool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operator&gt;(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Square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lhs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Square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rhs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  <a:p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bool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operator&gt;(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Square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lhs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Square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rhs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){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lhs.side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&gt; </a:t>
                      </a:r>
                      <a:r>
                        <a:rPr lang="en-US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rhs.side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Rectangle: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Square{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Прямоугольник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protected:</a:t>
                      </a:r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 side    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Ширина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side2;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Высота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b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Rectangle(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w,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h): Square(w), side2(h) {}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virtual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getArea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(){ </a:t>
                      </a:r>
                    </a:p>
                    <a:p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Контракт: определяет площадь фигуры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Требования: ширина и высота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Гарантии: результат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side * side2;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449420"/>
                  </a:ext>
                </a:extLst>
              </a:tr>
            </a:tbl>
          </a:graphicData>
        </a:graphic>
      </p:graphicFrame>
      <p:sp>
        <p:nvSpPr>
          <p:cNvPr id="11" name="Скругленный прямоугольник 4">
            <a:extLst>
              <a:ext uri="{FF2B5EF4-FFF2-40B4-BE49-F238E27FC236}">
                <a16:creationId xmlns:a16="http://schemas.microsoft.com/office/drawing/2014/main" id="{16CB9267-F269-4F55-9FC1-7B5CFC4B1816}"/>
              </a:ext>
            </a:extLst>
          </p:cNvPr>
          <p:cNvSpPr/>
          <p:nvPr/>
        </p:nvSpPr>
        <p:spPr>
          <a:xfrm>
            <a:off x="8438806" y="5575813"/>
            <a:ext cx="3065622" cy="472061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Rectangle r1(</a:t>
            </a:r>
            <a:r>
              <a:rPr lang="pt-B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r2(</a:t>
            </a:r>
            <a:r>
              <a:rPr lang="pt-B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 &lt;&lt; (r1 &gt; r2);</a:t>
            </a:r>
            <a:r>
              <a:rPr lang="pt-B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0</a:t>
            </a:r>
            <a:endParaRPr lang="pt-B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82396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Квадрат прямоугольник классы одного уровня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700" dirty="0">
              <a:solidFill>
                <a:srgbClr val="000000"/>
              </a:solidFill>
            </a:endParaRPr>
          </a:p>
        </p:txBody>
      </p:sp>
      <p:graphicFrame>
        <p:nvGraphicFramePr>
          <p:cNvPr id="5" name="Таблица 7">
            <a:extLst>
              <a:ext uri="{FF2B5EF4-FFF2-40B4-BE49-F238E27FC236}">
                <a16:creationId xmlns:a16="http://schemas.microsoft.com/office/drawing/2014/main" id="{2E781FCD-E2F5-49D0-B96F-38DCE71FB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383284"/>
              </p:ext>
            </p:extLst>
          </p:nvPr>
        </p:nvGraphicFramePr>
        <p:xfrm>
          <a:off x="884721" y="1440000"/>
          <a:ext cx="9648000" cy="4937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8000">
                  <a:extLst>
                    <a:ext uri="{9D8B030D-6E8A-4147-A177-3AD203B41FA5}">
                      <a16:colId xmlns:a16="http://schemas.microsoft.com/office/drawing/2014/main" val="2683322829"/>
                    </a:ext>
                  </a:extLst>
                </a:gridCol>
                <a:gridCol w="4500000">
                  <a:extLst>
                    <a:ext uri="{9D8B030D-6E8A-4147-A177-3AD203B41FA5}">
                      <a16:colId xmlns:a16="http://schemas.microsoft.com/office/drawing/2014/main" val="854653060"/>
                    </a:ext>
                  </a:extLst>
                </a:gridCol>
              </a:tblGrid>
              <a:tr h="1332000">
                <a:tc gridSpan="2"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Shape{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Интерфейсный класс Форма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virtual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getArea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 = </a:t>
                      </a:r>
                      <a:r>
                        <a:rPr lang="en-US" sz="12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Чистый виртуальный метод</a:t>
                      </a: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  // Контракт: определяет площадь фигуры</a:t>
                      </a: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  // Требования: -</a:t>
                      </a: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  // Гарантии: результат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  <a:p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446917"/>
                  </a:ext>
                </a:extLst>
              </a:tr>
              <a:tr h="2448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Square: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Shape{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 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Квадрат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side;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 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Размер стороны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Инвариант: ширина и высота равны друг другу и равны 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side</a:t>
                      </a:r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Square(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s): side(s) {}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virtual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getArea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(){ </a:t>
                      </a:r>
                    </a:p>
                    <a:p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Контракт: определяет площадь фигуры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Требования: ширина и высота равны и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Гарантии: результат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side * side;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Rectangle: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Shape{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Прямоугольник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width;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Ширина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height;</a:t>
                      </a:r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Высота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b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Rectangle(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w,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h): width(w), height(h) {}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virtual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getArea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(){ </a:t>
                      </a:r>
                    </a:p>
                    <a:p>
                      <a:r>
                        <a:rPr lang="en-US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</a:t>
                      </a:r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Контракт: определяет площадь фигуры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Требования: ширина и высота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Гарантии: результат &gt; 0</a:t>
                      </a:r>
                      <a:endParaRPr lang="ru-RU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width * height;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449420"/>
                  </a:ext>
                </a:extLst>
              </a:tr>
            </a:tbl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8CD016A-4A3F-41C2-A8B0-C27BBBFDBFF3}"/>
              </a:ext>
            </a:extLst>
          </p:cNvPr>
          <p:cNvSpPr/>
          <p:nvPr/>
        </p:nvSpPr>
        <p:spPr>
          <a:xfrm>
            <a:off x="8102205" y="1481051"/>
            <a:ext cx="1278586" cy="584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Форма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CE7A637-3EE3-4E71-BCA8-D21D022EE398}"/>
              </a:ext>
            </a:extLst>
          </p:cNvPr>
          <p:cNvSpPr/>
          <p:nvPr/>
        </p:nvSpPr>
        <p:spPr>
          <a:xfrm>
            <a:off x="8808168" y="2848322"/>
            <a:ext cx="1278586" cy="584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Квадрат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EA4CB46D-1D71-4378-8CA6-78E7D3B9BB07}"/>
              </a:ext>
            </a:extLst>
          </p:cNvPr>
          <p:cNvGrpSpPr/>
          <p:nvPr/>
        </p:nvGrpSpPr>
        <p:grpSpPr>
          <a:xfrm>
            <a:off x="8800540" y="2075378"/>
            <a:ext cx="635284" cy="769368"/>
            <a:chOff x="8750273" y="2072208"/>
            <a:chExt cx="635284" cy="769368"/>
          </a:xfrm>
        </p:grpSpPr>
        <p:sp>
          <p:nvSpPr>
            <p:cNvPr id="10" name="Равнобедренный треугольник 9">
              <a:extLst>
                <a:ext uri="{FF2B5EF4-FFF2-40B4-BE49-F238E27FC236}">
                  <a16:creationId xmlns:a16="http://schemas.microsoft.com/office/drawing/2014/main" id="{227E0923-D381-4B59-A1EF-AC8AE08E09E9}"/>
                </a:ext>
              </a:extLst>
            </p:cNvPr>
            <p:cNvSpPr/>
            <p:nvPr/>
          </p:nvSpPr>
          <p:spPr>
            <a:xfrm rot="19256259">
              <a:off x="8750273" y="2072208"/>
              <a:ext cx="133340" cy="137497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5ED1C074-EB45-4FC5-AE1B-70B8B6CFBD3D}"/>
                </a:ext>
              </a:extLst>
            </p:cNvPr>
            <p:cNvCxnSpPr>
              <a:cxnSpLocks/>
              <a:endCxn id="10" idx="3"/>
            </p:cNvCxnSpPr>
            <p:nvPr/>
          </p:nvCxnSpPr>
          <p:spPr>
            <a:xfrm flipH="1" flipV="1">
              <a:off x="8860266" y="2194337"/>
              <a:ext cx="525291" cy="647239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2D9FCB3-CBE7-4FEA-BB69-8B6666924D84}"/>
              </a:ext>
            </a:extLst>
          </p:cNvPr>
          <p:cNvSpPr/>
          <p:nvPr/>
        </p:nvSpPr>
        <p:spPr>
          <a:xfrm>
            <a:off x="7443267" y="2845445"/>
            <a:ext cx="1278586" cy="584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Прямоугольник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CF5BC7F0-2241-4223-AB49-D1F1A5FADF61}"/>
              </a:ext>
            </a:extLst>
          </p:cNvPr>
          <p:cNvGrpSpPr/>
          <p:nvPr/>
        </p:nvGrpSpPr>
        <p:grpSpPr>
          <a:xfrm flipH="1">
            <a:off x="8061813" y="2075378"/>
            <a:ext cx="635284" cy="769368"/>
            <a:chOff x="8750273" y="2072208"/>
            <a:chExt cx="635284" cy="769368"/>
          </a:xfrm>
        </p:grpSpPr>
        <p:sp>
          <p:nvSpPr>
            <p:cNvPr id="17" name="Равнобедренный треугольник 16">
              <a:extLst>
                <a:ext uri="{FF2B5EF4-FFF2-40B4-BE49-F238E27FC236}">
                  <a16:creationId xmlns:a16="http://schemas.microsoft.com/office/drawing/2014/main" id="{1FE3537D-A626-4D09-9E9A-B526E4228D69}"/>
                </a:ext>
              </a:extLst>
            </p:cNvPr>
            <p:cNvSpPr/>
            <p:nvPr/>
          </p:nvSpPr>
          <p:spPr>
            <a:xfrm rot="19256259">
              <a:off x="8750273" y="2072208"/>
              <a:ext cx="133340" cy="137497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1E2747E7-EA68-4213-88CB-35202BDA498A}"/>
                </a:ext>
              </a:extLst>
            </p:cNvPr>
            <p:cNvCxnSpPr>
              <a:cxnSpLocks/>
              <a:endCxn id="17" idx="3"/>
            </p:cNvCxnSpPr>
            <p:nvPr/>
          </p:nvCxnSpPr>
          <p:spPr>
            <a:xfrm flipH="1" flipV="1">
              <a:off x="8860266" y="2194337"/>
              <a:ext cx="525291" cy="647239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8687107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Пример – ослабление требований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687572" y="1439999"/>
            <a:ext cx="10950628" cy="46737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Наследник может обрабатывать как все запросы, которые может обрабатывать предок, так и дополнительный вариант при котором количество равно нулю, поэтому требования к вводу ослаблены и контракт не нарушен.</a:t>
            </a:r>
            <a:endParaRPr lang="en-US" sz="1600" dirty="0">
              <a:solidFill>
                <a:srgbClr val="FF0000"/>
              </a:solidFill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664ADFE6-F6CE-4C13-B65A-74AAE4AE7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083056"/>
              </p:ext>
            </p:extLst>
          </p:nvPr>
        </p:nvGraphicFramePr>
        <p:xfrm>
          <a:off x="632833" y="1604091"/>
          <a:ext cx="11480643" cy="2103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16880">
                  <a:extLst>
                    <a:ext uri="{9D8B030D-6E8A-4147-A177-3AD203B41FA5}">
                      <a16:colId xmlns:a16="http://schemas.microsoft.com/office/drawing/2014/main" val="2683322829"/>
                    </a:ext>
                  </a:extLst>
                </a:gridCol>
                <a:gridCol w="5963763">
                  <a:extLst>
                    <a:ext uri="{9D8B030D-6E8A-4147-A177-3AD203B41FA5}">
                      <a16:colId xmlns:a16="http://schemas.microsoft.com/office/drawing/2014/main" val="854653060"/>
                    </a:ext>
                  </a:extLst>
                </a:gridCol>
              </a:tblGrid>
              <a:tr h="1908000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PaymentProcessor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virtual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bool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process(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double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amount) {</a:t>
                      </a:r>
                    </a:p>
                    <a:p>
                      <a:r>
                        <a:rPr 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</a:t>
                      </a:r>
                      <a:r>
                        <a:rPr lang="ru-RU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Предусловие: </a:t>
                      </a:r>
                      <a:r>
                        <a:rPr 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amount &gt; 0</a:t>
                      </a:r>
                      <a:endParaRPr lang="ru-RU" sz="1100" b="0" dirty="0">
                        <a:solidFill>
                          <a:srgbClr val="008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(amount &lt;= </a:t>
                      </a:r>
                      <a:r>
                        <a:rPr lang="en-US" sz="11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{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throw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std::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invalid_argument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1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ru-RU" sz="11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Сумма должна быть положительной"</a:t>
                      </a:r>
                      <a:r>
                        <a:rPr lang="ru-RU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ru-RU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ru-RU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Выполняем обработку</a:t>
                      </a:r>
                      <a:endParaRPr lang="ru-RU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true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}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DiscountPaymentProcessor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PaymentProcessor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bool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process(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double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amount)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override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</a:t>
                      </a:r>
                      <a:r>
                        <a:rPr lang="ru-RU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Предусловие ослаблено: </a:t>
                      </a:r>
                      <a:r>
                        <a:rPr 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amount &gt;</a:t>
                      </a:r>
                      <a:r>
                        <a:rPr lang="ru-RU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0</a:t>
                      </a:r>
                      <a:endParaRPr lang="ru-RU" sz="1100" b="0" dirty="0">
                        <a:solidFill>
                          <a:srgbClr val="008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(amount &lt; </a:t>
                      </a:r>
                      <a:r>
                        <a:rPr lang="en-US" sz="11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{</a:t>
                      </a:r>
                      <a:r>
                        <a:rPr 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</a:t>
                      </a:r>
                      <a:r>
                        <a:rPr lang="ru-RU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Теперь 0 тоже допустимое количество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throw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std::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invalid_argument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1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ru-RU" sz="11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Сумма не может быть отрицательной"</a:t>
                      </a:r>
                      <a:r>
                        <a:rPr lang="ru-RU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ru-RU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ru-RU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Выполняем обработку</a:t>
                      </a:r>
                      <a:endParaRPr lang="ru-RU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true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endParaRPr lang="ru-RU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}</a:t>
                      </a:r>
                    </a:p>
                    <a:p>
                      <a:r>
                        <a:rPr lang="ru-RU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449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736660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Пример – ослабление требований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687572" y="1439999"/>
            <a:ext cx="10950628" cy="495016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Наследник может обрабатывать как файлы без имён, так и файлы большего размера. Тут нужно быть внимательным. Исключение при пустом имени может быть как частью требования, так и частью гарантий. Зависит от вас, но это должно быть чётко прописано.</a:t>
            </a:r>
            <a:endParaRPr lang="en-US" sz="1600" dirty="0">
              <a:solidFill>
                <a:srgbClr val="FF0000"/>
              </a:solidFill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664ADFE6-F6CE-4C13-B65A-74AAE4AE7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403457"/>
              </p:ext>
            </p:extLst>
          </p:nvPr>
        </p:nvGraphicFramePr>
        <p:xfrm>
          <a:off x="632833" y="1604091"/>
          <a:ext cx="11480643" cy="3947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16880">
                  <a:extLst>
                    <a:ext uri="{9D8B030D-6E8A-4147-A177-3AD203B41FA5}">
                      <a16:colId xmlns:a16="http://schemas.microsoft.com/office/drawing/2014/main" val="2683322829"/>
                    </a:ext>
                  </a:extLst>
                </a:gridCol>
                <a:gridCol w="5963763">
                  <a:extLst>
                    <a:ext uri="{9D8B030D-6E8A-4147-A177-3AD203B41FA5}">
                      <a16:colId xmlns:a16="http://schemas.microsoft.com/office/drawing/2014/main" val="854653060"/>
                    </a:ext>
                  </a:extLst>
                </a:gridCol>
              </a:tblGrid>
              <a:tr h="1908000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FileUploader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virtual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upload(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string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filename,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fileSize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{</a:t>
                      </a:r>
                    </a:p>
                    <a:p>
                      <a:r>
                        <a:rPr 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</a:t>
                      </a:r>
                      <a:r>
                        <a:rPr lang="ru-RU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Исходные требования:</a:t>
                      </a:r>
                      <a:endParaRPr lang="ru-RU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1. Имя файла не пустое</a:t>
                      </a:r>
                      <a:endParaRPr lang="ru-RU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2. Размер &gt; 0 и ≤ 10</a:t>
                      </a:r>
                      <a:r>
                        <a:rPr 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MB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filename.empty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()) {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throw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invalid_argument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1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"Filename cannot be empty"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}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fileSize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&lt;= </a:t>
                      </a:r>
                      <a:r>
                        <a:rPr lang="en-US" sz="11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{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throw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invalid_argument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1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"File must have positive size"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}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fileSize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&gt; </a:t>
                      </a:r>
                      <a:r>
                        <a:rPr lang="en-US" sz="11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10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* </a:t>
                      </a:r>
                      <a:r>
                        <a:rPr lang="en-US" sz="11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1024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* </a:t>
                      </a:r>
                      <a:r>
                        <a:rPr lang="en-US" sz="11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1024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{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throw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invalid_argument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1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"File too large (max 10MB)"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}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11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"Uploading file: "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filename &lt;&lt;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endl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  <a:p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PremiumFileUploader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: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FileUploader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upload(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string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filename,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fileSize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override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</a:t>
                      </a:r>
                      <a:r>
                        <a:rPr lang="ru-RU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Ослабление требований:</a:t>
                      </a:r>
                      <a:endParaRPr lang="ru-RU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1. Имя файла может быть пустым (</a:t>
                      </a:r>
                      <a:r>
                        <a:rPr lang="ru-RU" sz="11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автогенерация</a:t>
                      </a:r>
                      <a:r>
                        <a:rPr lang="ru-RU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ru-RU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2. Размер &gt; 0 и ≤ 50</a:t>
                      </a:r>
                      <a:r>
                        <a:rPr 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MB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string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actualName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filename.empty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 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? </a:t>
                      </a:r>
                      <a:r>
                        <a:rPr lang="en-US" sz="11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sz="11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auto_generated</a:t>
                      </a:r>
                      <a:r>
                        <a:rPr lang="en-US" sz="11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_"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+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to_string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(rand())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: filename;</a:t>
                      </a:r>
                    </a:p>
                    <a:p>
                      <a:b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fileSize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&lt;= </a:t>
                      </a:r>
                      <a:r>
                        <a:rPr lang="en-US" sz="11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{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throw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invalid_argument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1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"File must have positive size"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}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fileSize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&gt; </a:t>
                      </a:r>
                      <a:r>
                        <a:rPr lang="en-US" sz="11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50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* </a:t>
                      </a:r>
                      <a:r>
                        <a:rPr lang="en-US" sz="11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1024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* </a:t>
                      </a:r>
                      <a:r>
                        <a:rPr lang="en-US" sz="11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1024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{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throw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invalid_argument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1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"File too large (max 50MB)"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}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11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"Uploading premium file: "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actualName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endl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449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67082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Пример – усиления гарантий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687572" y="1439999"/>
            <a:ext cx="10950628" cy="467372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Наследники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Dog</a:t>
            </a:r>
            <a:r>
              <a:rPr lang="ru-RU" sz="1600" dirty="0">
                <a:solidFill>
                  <a:srgbClr val="000000"/>
                </a:solidFill>
              </a:rPr>
              <a:t> и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Cat</a:t>
            </a:r>
            <a:r>
              <a:rPr lang="ru-RU" sz="1600" dirty="0">
                <a:solidFill>
                  <a:srgbClr val="000000"/>
                </a:solidFill>
              </a:rPr>
              <a:t> усиливают гарантии, т.к. гарантия базового класса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Animal</a:t>
            </a:r>
            <a:r>
              <a:rPr lang="ru-RU" sz="1600" dirty="0">
                <a:solidFill>
                  <a:srgbClr val="000000"/>
                </a:solidFill>
              </a:rPr>
              <a:t> – это звук который издаёт любое животное, а у них конкретный звук принадлежащий этому множеству звуков. Контракт не нарушен.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Класс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Fox</a:t>
            </a:r>
            <a:r>
              <a:rPr lang="ru-RU" sz="1600" dirty="0">
                <a:solidFill>
                  <a:srgbClr val="000000"/>
                </a:solidFill>
              </a:rPr>
              <a:t> ослабляет гарантии, т.к. возвращает символы не принадлежащие множеству звуков издаваемых животными, тем самым расширяя исходное множество и нарушая контракт.</a:t>
            </a:r>
            <a:endParaRPr lang="en-US" sz="1600" dirty="0">
              <a:solidFill>
                <a:srgbClr val="FF0000"/>
              </a:solidFill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664ADFE6-F6CE-4C13-B65A-74AAE4AE7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275633"/>
              </p:ext>
            </p:extLst>
          </p:nvPr>
        </p:nvGraphicFramePr>
        <p:xfrm>
          <a:off x="632833" y="1604091"/>
          <a:ext cx="11480643" cy="2606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93809">
                  <a:extLst>
                    <a:ext uri="{9D8B030D-6E8A-4147-A177-3AD203B41FA5}">
                      <a16:colId xmlns:a16="http://schemas.microsoft.com/office/drawing/2014/main" val="2683322829"/>
                    </a:ext>
                  </a:extLst>
                </a:gridCol>
                <a:gridCol w="6286834">
                  <a:extLst>
                    <a:ext uri="{9D8B030D-6E8A-4147-A177-3AD203B41FA5}">
                      <a16:colId xmlns:a16="http://schemas.microsoft.com/office/drawing/2014/main" val="854653060"/>
                    </a:ext>
                  </a:extLst>
                </a:gridCol>
              </a:tblGrid>
              <a:tr h="1908000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Animal {</a:t>
                      </a:r>
                    </a:p>
                    <a:p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</a:t>
                      </a:r>
                      <a:r>
                        <a:rPr lang="ru-RU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Контракт: Возвращает звук животного</a:t>
                      </a:r>
                      <a:endParaRPr lang="ru-RU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Гарантии: Возвращает строку - звук какого-либо животного</a:t>
                      </a:r>
                      <a:endParaRPr lang="ru-RU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virtual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std::string say()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11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  <a:p>
                      <a:b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Dog: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Animal {</a:t>
                      </a:r>
                    </a:p>
                    <a:p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</a:t>
                      </a:r>
                      <a:r>
                        <a:rPr lang="ru-RU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Гарантии усилены: теперь звук конкретного животного "</a:t>
                      </a:r>
                      <a:r>
                        <a:rPr 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Woof"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std::string say()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override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"Woof"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Cat: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Animal {</a:t>
                      </a:r>
                    </a:p>
                    <a:p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</a:t>
                      </a:r>
                      <a:r>
                        <a:rPr lang="ru-RU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Гарантии усилены: теперь звук конкретного животного "</a:t>
                      </a:r>
                      <a:r>
                        <a:rPr 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Meow"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std::string say()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override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"Meow"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  <a:p>
                      <a:b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Fox: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Animal {</a:t>
                      </a:r>
                    </a:p>
                    <a:p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</a:t>
                      </a:r>
                      <a:r>
                        <a:rPr lang="ru-RU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Гарантии ОСЛАБЛЕНЫ: теперь это не звук животного</a:t>
                      </a:r>
                      <a:endParaRPr lang="ru-RU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std::string say()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override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"???"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449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319483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Пример – усиления гарантий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687572" y="1439999"/>
            <a:ext cx="10950628" cy="4673722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Наследники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EvenNumberGenerator</a:t>
            </a:r>
            <a:r>
              <a:rPr lang="ru-RU" sz="1600" dirty="0">
                <a:solidFill>
                  <a:srgbClr val="000000"/>
                </a:solidFill>
              </a:rPr>
              <a:t> и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PrimeNumberGenerator</a:t>
            </a:r>
            <a:r>
              <a:rPr lang="ru-RU" sz="1600" dirty="0">
                <a:solidFill>
                  <a:srgbClr val="000000"/>
                </a:solidFill>
              </a:rPr>
              <a:t> усиливают гарантии, т.к. возвращают результат в диапазоне гарантированном классам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NumberGenerator</a:t>
            </a:r>
            <a:r>
              <a:rPr lang="ru-RU" sz="1600" dirty="0">
                <a:solidFill>
                  <a:srgbClr val="000000"/>
                </a:solidFill>
              </a:rPr>
              <a:t>, но при этом на результат накладывается дополнительные ограничения.</a:t>
            </a:r>
            <a:endParaRPr lang="en-US" sz="1600" dirty="0">
              <a:solidFill>
                <a:srgbClr val="FF0000"/>
              </a:solidFill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664ADFE6-F6CE-4C13-B65A-74AAE4AE7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546421"/>
              </p:ext>
            </p:extLst>
          </p:nvPr>
        </p:nvGraphicFramePr>
        <p:xfrm>
          <a:off x="632833" y="1604091"/>
          <a:ext cx="11480643" cy="3520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3418">
                  <a:extLst>
                    <a:ext uri="{9D8B030D-6E8A-4147-A177-3AD203B41FA5}">
                      <a16:colId xmlns:a16="http://schemas.microsoft.com/office/drawing/2014/main" val="2683322829"/>
                    </a:ext>
                  </a:extLst>
                </a:gridCol>
                <a:gridCol w="5957225">
                  <a:extLst>
                    <a:ext uri="{9D8B030D-6E8A-4147-A177-3AD203B41FA5}">
                      <a16:colId xmlns:a16="http://schemas.microsoft.com/office/drawing/2014/main" val="854653060"/>
                    </a:ext>
                  </a:extLst>
                </a:gridCol>
              </a:tblGrid>
              <a:tr h="1908000">
                <a:tc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NumberGenerator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Контракт: Генерирует случайное число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Гарантии: число в диапазоне [0, 100]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virtual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generate()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std::mt19937 gen(std::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random_device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{}());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uniform_int_distribution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&lt;&gt;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dist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9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9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100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dist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(gen);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  <a:p>
                      <a:b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EvenNumberGenerator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: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NumberGenerator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Гарантии усилены: возвращает четное число в диапазоне [0, 100]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generate()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override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number;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do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number =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NumberGenerator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::generate();</a:t>
                      </a:r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//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Используем базовую реализацию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}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(number % </a:t>
                      </a:r>
                      <a:r>
                        <a:rPr lang="en-US" sz="9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!= </a:t>
                      </a:r>
                      <a:r>
                        <a:rPr lang="en-US" sz="9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//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Гарантируем четность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number;</a:t>
                      </a:r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//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Всегда четное число в [0, 100]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  <a:p>
                      <a:b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class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PrimeNumberGenerator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: 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public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NumberGenerator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public: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   // </a:t>
                      </a:r>
                      <a:r>
                        <a:rPr kumimoji="0" lang="ru-RU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Гарантии усилены: возвращает только простые числа в диапазоне [0, 100]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   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generate() 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const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override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       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number;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       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do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           number =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NumberGenerator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::generate();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 // </a:t>
                      </a:r>
                      <a:r>
                        <a:rPr kumimoji="0" lang="ru-RU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Используем базовую реализацию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       } 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while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(!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isPrime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(number));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      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       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return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number;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 // </a:t>
                      </a:r>
                      <a:r>
                        <a:rPr kumimoji="0" lang="ru-RU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Всегда простое число в [0, 100]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   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449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623565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Вызов метода статического типа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0C89-B3A0-3AA0-0CE4-DF47549E7B34}"/>
              </a:ext>
            </a:extLst>
          </p:cNvPr>
          <p:cNvSpPr txBox="1"/>
          <p:nvPr/>
        </p:nvSpPr>
        <p:spPr>
          <a:xfrm>
            <a:off x="838200" y="1169897"/>
            <a:ext cx="699277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dirty="0">
                <a:solidFill>
                  <a:srgbClr val="000000"/>
                </a:solidFill>
                <a:effectLst/>
              </a:rPr>
              <a:t>Как мы ви</a:t>
            </a:r>
            <a:r>
              <a:rPr lang="ru-RU" sz="1600" dirty="0">
                <a:solidFill>
                  <a:srgbClr val="000000"/>
                </a:solidFill>
              </a:rPr>
              <a:t>дели ранее преобразование/копирование/присваивание: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00000"/>
                </a:solidFill>
              </a:rPr>
              <a:t>объекта-наследника к объекту-предку вызывает эффект срезки (формально преобразование не вызывает срезку, но эффект похожий)</a:t>
            </a:r>
            <a:r>
              <a:rPr lang="en-US" sz="1600" dirty="0">
                <a:solidFill>
                  <a:srgbClr val="000000"/>
                </a:solidFill>
              </a:rPr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600" b="0" dirty="0">
                <a:solidFill>
                  <a:srgbClr val="000000"/>
                </a:solidFill>
                <a:effectLst/>
              </a:rPr>
              <a:t>ссылки на объект-наследник к ссылке на объект-предок приводит к тому, что вызываются методы предка, т.е. статического типа к которому </a:t>
            </a:r>
            <a:r>
              <a:rPr lang="ru-RU" sz="1600" b="0" dirty="0" err="1">
                <a:solidFill>
                  <a:srgbClr val="000000"/>
                </a:solidFill>
                <a:effectLst/>
              </a:rPr>
              <a:t>кастуем</a:t>
            </a:r>
            <a:r>
              <a:rPr lang="en-US" sz="1600" b="0" dirty="0">
                <a:solidFill>
                  <a:srgbClr val="000000"/>
                </a:solidFill>
                <a:effectLst/>
              </a:rPr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600" b="0" dirty="0">
                <a:solidFill>
                  <a:srgbClr val="000000"/>
                </a:solidFill>
                <a:effectLst/>
              </a:rPr>
              <a:t>указателя на объект-наследник к указателю на объект-предок приводит к тому, что вызываются методы предка, т.е. статического типа к которому </a:t>
            </a:r>
            <a:r>
              <a:rPr lang="ru-RU" sz="1600" b="0" dirty="0" err="1">
                <a:solidFill>
                  <a:srgbClr val="000000"/>
                </a:solidFill>
                <a:effectLst/>
              </a:rPr>
              <a:t>кастуем</a:t>
            </a:r>
            <a:r>
              <a:rPr lang="en-US" sz="1600" b="0" dirty="0">
                <a:solidFill>
                  <a:srgbClr val="000000"/>
                </a:solidFill>
                <a:effectLst/>
              </a:rPr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600" b="0" dirty="0">
              <a:solidFill>
                <a:srgbClr val="000000"/>
              </a:solidFill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600" b="0" dirty="0">
              <a:solidFill>
                <a:srgbClr val="000000"/>
              </a:solidFill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600" dirty="0">
              <a:solidFill>
                <a:srgbClr val="00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600" b="0" dirty="0">
              <a:solidFill>
                <a:srgbClr val="000000"/>
              </a:solidFill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600" dirty="0">
              <a:solidFill>
                <a:srgbClr val="00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600" b="0" dirty="0">
              <a:solidFill>
                <a:srgbClr val="000000"/>
              </a:solidFill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600" b="0" dirty="0">
              <a:solidFill>
                <a:srgbClr val="000000"/>
              </a:solidFill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600" b="0" dirty="0">
              <a:solidFill>
                <a:srgbClr val="000000"/>
              </a:solidFill>
              <a:effectLst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</a:rPr>
              <a:t>Кроме всего прочего это может вызвать проблемы, в </a:t>
            </a:r>
            <a:r>
              <a:rPr lang="ru-RU" sz="1600" dirty="0">
                <a:solidFill>
                  <a:srgbClr val="000000"/>
                </a:solidFill>
              </a:rPr>
              <a:t>случае если объект владеет ресурсом. В данном случае будет вызван деструктор класса А и как следствие ресурс </a:t>
            </a:r>
            <a:r>
              <a:rPr lang="en-US" sz="1600" dirty="0">
                <a:solidFill>
                  <a:srgbClr val="000000"/>
                </a:solidFill>
              </a:rPr>
              <a:t>res </a:t>
            </a:r>
            <a:r>
              <a:rPr lang="ru-RU" sz="1600" dirty="0">
                <a:solidFill>
                  <a:srgbClr val="000000"/>
                </a:solidFill>
              </a:rPr>
              <a:t>не будет освобождён, что приведёт к утечке памяти.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Скругленный прямоугольник 4">
            <a:extLst>
              <a:ext uri="{FF2B5EF4-FFF2-40B4-BE49-F238E27FC236}">
                <a16:creationId xmlns:a16="http://schemas.microsoft.com/office/drawing/2014/main" id="{C531335F-062E-489B-9463-FAA4711555CD}"/>
              </a:ext>
            </a:extLst>
          </p:cNvPr>
          <p:cNvSpPr/>
          <p:nvPr/>
        </p:nvSpPr>
        <p:spPr>
          <a:xfrm>
            <a:off x="7983377" y="1079999"/>
            <a:ext cx="3606111" cy="4204381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res;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value): res(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(value)){}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~B(){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res;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&lt;A&gt;(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).print();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A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&lt;A&amp;&gt;(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).print();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A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&lt;A*&gt;(&amp;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)-&gt;print();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A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Скругленный прямоугольник 4">
            <a:extLst>
              <a:ext uri="{FF2B5EF4-FFF2-40B4-BE49-F238E27FC236}">
                <a16:creationId xmlns:a16="http://schemas.microsoft.com/office/drawing/2014/main" id="{D5B5D473-5C5F-4C25-8146-842BAAACBB2E}"/>
              </a:ext>
            </a:extLst>
          </p:cNvPr>
          <p:cNvSpPr/>
          <p:nvPr/>
        </p:nvSpPr>
        <p:spPr>
          <a:xfrm>
            <a:off x="7983376" y="5517100"/>
            <a:ext cx="3606112" cy="522193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A* </a:t>
            </a:r>
            <a:r>
              <a:rPr lang="ru-RU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B(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Вызывается деструктор 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48847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Вызов метода динамического типа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0C89-B3A0-3AA0-0CE4-DF47549E7B34}"/>
              </a:ext>
            </a:extLst>
          </p:cNvPr>
          <p:cNvSpPr txBox="1"/>
          <p:nvPr/>
        </p:nvSpPr>
        <p:spPr>
          <a:xfrm>
            <a:off x="838200" y="1052936"/>
            <a:ext cx="699277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dirty="0">
                <a:solidFill>
                  <a:srgbClr val="000000"/>
                </a:solidFill>
                <a:effectLst/>
              </a:rPr>
              <a:t>Если метод класса наследника НЕ отмечен ключевым методом</a:t>
            </a:r>
            <a:r>
              <a:rPr lang="en-US" sz="1600" b="0" dirty="0">
                <a:solidFill>
                  <a:srgbClr val="000000"/>
                </a:solidFill>
                <a:effectLst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ru-RU" sz="1600" b="0" dirty="0">
                <a:solidFill>
                  <a:srgbClr val="000000"/>
                </a:solidFill>
                <a:effectLst/>
              </a:rPr>
              <a:t>, и мы получаем к нему доступ через указатель/ссылку на класс предка, то реализация метода будет взята у предка. Что в коде написано такой и класс</a:t>
            </a:r>
            <a:r>
              <a:rPr lang="ru-RU" sz="1600" dirty="0">
                <a:solidFill>
                  <a:srgbClr val="000000"/>
                </a:solidFill>
              </a:rPr>
              <a:t>:</a:t>
            </a:r>
            <a:endParaRPr lang="ru-RU" sz="1600" b="0" dirty="0">
              <a:solidFill>
                <a:srgbClr val="000000"/>
              </a:solidFill>
              <a:effectLst/>
            </a:endParaRPr>
          </a:p>
          <a:p>
            <a:endParaRPr lang="ru-RU" sz="1600" dirty="0">
              <a:solidFill>
                <a:srgbClr val="000000"/>
              </a:solidFill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B* b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A* a = b;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b-&gt;print();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B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a-&gt;print();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A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600" b="0" dirty="0">
              <a:solidFill>
                <a:srgbClr val="000000"/>
              </a:solidFill>
              <a:effectLst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</a:rPr>
              <a:t>Если метод класса отмечен ключевым методом</a:t>
            </a:r>
            <a:r>
              <a:rPr lang="en-US" sz="1600" b="0" dirty="0">
                <a:solidFill>
                  <a:srgbClr val="000000"/>
                </a:solidFill>
                <a:effectLst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ru-RU" sz="1600" b="0" dirty="0">
                <a:solidFill>
                  <a:srgbClr val="000000"/>
                </a:solidFill>
                <a:effectLst/>
              </a:rPr>
              <a:t>, и мы получаем к нему доступ через указатель/ссылку на класс предка, то реализация метода будет определена при помощи таблицы виртуальных методов. Виртуальная таблица методов всегда указывает на методы </a:t>
            </a:r>
            <a:r>
              <a:rPr lang="ru-RU" sz="1600" b="1" dirty="0">
                <a:solidFill>
                  <a:srgbClr val="000000"/>
                </a:solidFill>
                <a:effectLst/>
              </a:rPr>
              <a:t>реального</a:t>
            </a:r>
            <a:r>
              <a:rPr lang="ru-RU" sz="1600" b="0" dirty="0">
                <a:solidFill>
                  <a:srgbClr val="000000"/>
                </a:solidFill>
                <a:effectLst/>
              </a:rPr>
              <a:t> объекта, независимо от того через какой указатель/ссылку мы получаем к нему доступ:</a:t>
            </a:r>
            <a:endParaRPr lang="en-US" sz="1600" b="0" dirty="0">
              <a:solidFill>
                <a:srgbClr val="000000"/>
              </a:solidFill>
              <a:effectLst/>
            </a:endParaRPr>
          </a:p>
          <a:p>
            <a:endParaRPr lang="en-US" sz="1600" dirty="0">
              <a:solidFill>
                <a:srgbClr val="000000"/>
              </a:solidFill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B* b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A* a = b;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b-&gt;print();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B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a-&gt;print();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B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sz="1600" b="0" dirty="0">
              <a:solidFill>
                <a:srgbClr val="000000"/>
              </a:solidFill>
              <a:effectLst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</a:rPr>
              <a:t>Поиск имён для виртуальных методов происходит также как и для не виртуальных.</a:t>
            </a:r>
            <a:endParaRPr lang="en-US" sz="1600" b="0" dirty="0">
              <a:solidFill>
                <a:srgbClr val="000000"/>
              </a:solidFill>
              <a:effectLst/>
            </a:endParaRPr>
          </a:p>
        </p:txBody>
      </p:sp>
      <p:sp>
        <p:nvSpPr>
          <p:cNvPr id="8" name="Скругленный прямоугольник 4">
            <a:extLst>
              <a:ext uri="{FF2B5EF4-FFF2-40B4-BE49-F238E27FC236}">
                <a16:creationId xmlns:a16="http://schemas.microsoft.com/office/drawing/2014/main" id="{C531335F-062E-489B-9463-FAA4711555CD}"/>
              </a:ext>
            </a:extLst>
          </p:cNvPr>
          <p:cNvSpPr/>
          <p:nvPr/>
        </p:nvSpPr>
        <p:spPr>
          <a:xfrm>
            <a:off x="7983377" y="1079999"/>
            <a:ext cx="3797497" cy="4395768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virtual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~A() 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 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res;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value): res(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(value)){}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~B(){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res;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 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A* </a:t>
            </a:r>
            <a:r>
              <a:rPr lang="ru-RU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B();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-&gt;print();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Вызывается деструктор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15686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Вызов метода динамического типа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0C89-B3A0-3AA0-0CE4-DF47549E7B34}"/>
              </a:ext>
            </a:extLst>
          </p:cNvPr>
          <p:cNvSpPr txBox="1"/>
          <p:nvPr/>
        </p:nvSpPr>
        <p:spPr>
          <a:xfrm>
            <a:off x="838200" y="1052936"/>
            <a:ext cx="699277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1600" dirty="0">
              <a:solidFill>
                <a:srgbClr val="000000"/>
              </a:solidFill>
            </a:endParaRPr>
          </a:p>
          <a:p>
            <a:r>
              <a:rPr lang="ru-RU" sz="1600" dirty="0">
                <a:solidFill>
                  <a:srgbClr val="000000"/>
                </a:solidFill>
              </a:rPr>
              <a:t>Тут есть нюанс. Метод может быть в предках НЕ виртуальный, а в наследниках стать виртуальным. Перестать быть виртуальным уже нельзя.</a:t>
            </a:r>
          </a:p>
          <a:p>
            <a:r>
              <a:rPr lang="ru-RU" sz="1600" dirty="0">
                <a:solidFill>
                  <a:srgbClr val="000000"/>
                </a:solidFill>
              </a:rPr>
              <a:t>Если наследник будет преобразован к указателю/ссылке на предка, у которого метод ещё не был виртуальным, то он будет подчинятся правилам НЕ виртуальных методов. Поэтому не рекомендуется делать виртуальными уже существующие НЕ виртуальные методы.</a:t>
            </a:r>
          </a:p>
          <a:p>
            <a:endParaRPr lang="ru-RU" sz="1600" b="0" dirty="0">
              <a:solidFill>
                <a:srgbClr val="000000"/>
              </a:solidFill>
              <a:effectLst/>
            </a:endParaRPr>
          </a:p>
          <a:p>
            <a:r>
              <a:rPr lang="ru-RU" sz="1600" dirty="0">
                <a:solidFill>
                  <a:srgbClr val="000000"/>
                </a:solidFill>
              </a:rPr>
              <a:t>Т.к. метод НЕ может перестать быть виртуальным после того как в любом предке был отмечен ключевым словом </a:t>
            </a:r>
            <a:r>
              <a:rPr lang="en-US" sz="1600" b="0" dirty="0">
                <a:solidFill>
                  <a:srgbClr val="000000"/>
                </a:solidFill>
                <a:effectLst/>
              </a:rPr>
              <a:t>virtual</a:t>
            </a:r>
            <a:r>
              <a:rPr lang="ru-RU" sz="1600" b="0" dirty="0">
                <a:solidFill>
                  <a:srgbClr val="000000"/>
                </a:solidFill>
                <a:effectLst/>
              </a:rPr>
              <a:t>, то в наследниках слово </a:t>
            </a:r>
            <a:r>
              <a:rPr lang="en-US" sz="1600" b="0" dirty="0">
                <a:solidFill>
                  <a:srgbClr val="000000"/>
                </a:solidFill>
                <a:effectLst/>
              </a:rPr>
              <a:t>virtual</a:t>
            </a:r>
            <a:r>
              <a:rPr lang="ru-RU" sz="1600" b="0" dirty="0">
                <a:solidFill>
                  <a:srgbClr val="000000"/>
                </a:solidFill>
                <a:effectLst/>
              </a:rPr>
              <a:t>  можно не писать, метод всё равно будет виртуальным.</a:t>
            </a:r>
            <a:endParaRPr lang="en-US" sz="1600" b="0" dirty="0">
              <a:solidFill>
                <a:srgbClr val="000000"/>
              </a:solidFill>
              <a:effectLst/>
            </a:endParaRPr>
          </a:p>
        </p:txBody>
      </p:sp>
      <p:sp>
        <p:nvSpPr>
          <p:cNvPr id="8" name="Скругленный прямоугольник 4">
            <a:extLst>
              <a:ext uri="{FF2B5EF4-FFF2-40B4-BE49-F238E27FC236}">
                <a16:creationId xmlns:a16="http://schemas.microsoft.com/office/drawing/2014/main" id="{C531335F-062E-489B-9463-FAA4711555CD}"/>
              </a:ext>
            </a:extLst>
          </p:cNvPr>
          <p:cNvSpPr/>
          <p:nvPr/>
        </p:nvSpPr>
        <p:spPr>
          <a:xfrm>
            <a:off x="7983377" y="1079999"/>
            <a:ext cx="3797497" cy="5412876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C: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C* c 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B* b = c;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A* a = c;</a:t>
            </a:r>
          </a:p>
          <a:p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c-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&gt;print();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C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b-&gt;print();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C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a-&gt;print();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A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99513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Таблица виртуальных методов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0C89-B3A0-3AA0-0CE4-DF47549E7B34}"/>
              </a:ext>
            </a:extLst>
          </p:cNvPr>
          <p:cNvSpPr txBox="1"/>
          <p:nvPr/>
        </p:nvSpPr>
        <p:spPr>
          <a:xfrm>
            <a:off x="838200" y="1106099"/>
            <a:ext cx="677164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print(){}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print(){}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(A) &lt;&lt;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1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8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8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5318C807-EF20-499B-8413-D9FBAD2A3DB2}"/>
              </a:ext>
            </a:extLst>
          </p:cNvPr>
          <p:cNvSpPr/>
          <p:nvPr/>
        </p:nvSpPr>
        <p:spPr>
          <a:xfrm>
            <a:off x="7609840" y="1441599"/>
            <a:ext cx="3654134" cy="4438206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Для обеспечения функционала виртуальных методов, в объект, класс </a:t>
            </a:r>
            <a:r>
              <a:rPr lang="ru-RU" sz="1400" dirty="0" err="1"/>
              <a:t>котороый</a:t>
            </a:r>
            <a:r>
              <a:rPr lang="ru-RU" sz="1400" dirty="0"/>
              <a:t> содержит хотя бы один виртуальный метод добавляется указатель на таблицу виртуальных методов.</a:t>
            </a:r>
          </a:p>
          <a:p>
            <a:endParaRPr lang="ru-RU" sz="1400" dirty="0"/>
          </a:p>
          <a:p>
            <a:r>
              <a:rPr lang="ru-RU" sz="1400" dirty="0"/>
              <a:t>Эта таблица создаётся для класса и содержит список всех виртуальных методов класса. Каждый объекта этого класса содержит указатель на эту таблицу.</a:t>
            </a:r>
          </a:p>
          <a:p>
            <a:endParaRPr lang="ru-RU" sz="1400" dirty="0"/>
          </a:p>
          <a:p>
            <a:r>
              <a:rPr lang="ru-RU" sz="1400" dirty="0"/>
              <a:t>В процессе вызова метода, компилятор переходит в эту таблицу и ищет запрашиваемый метод, если он там есть, то компилятор берёт адрес метода из таблицы и идёт его исполнять.</a:t>
            </a:r>
          </a:p>
          <a:p>
            <a:endParaRPr lang="ru-RU" sz="1400" dirty="0"/>
          </a:p>
          <a:p>
            <a:r>
              <a:rPr lang="ru-RU" sz="1400" dirty="0"/>
              <a:t>Если метода в таблице нет, то компилятор "смотрит в код" на тип указателя/ссылки и берёт метод из этого класса.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6897516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Таблица виртуальных методов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0C89-B3A0-3AA0-0CE4-DF47549E7B34}"/>
              </a:ext>
            </a:extLst>
          </p:cNvPr>
          <p:cNvSpPr txBox="1"/>
          <p:nvPr/>
        </p:nvSpPr>
        <p:spPr>
          <a:xfrm>
            <a:off x="838200" y="1106099"/>
            <a:ext cx="677164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Figure{</a:t>
            </a:r>
          </a:p>
          <a:p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ru-RU" sz="9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9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info() {};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show() =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hide(){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move(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x,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y){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Circle: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Figure{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centerX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centerY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radius;</a:t>
            </a:r>
          </a:p>
          <a:p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</a:p>
          <a:p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void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info() {};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show()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hide()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Face: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Circle{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eyeColor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show()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hide()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closeEye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close){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Circle c1, c2;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Face f1;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Figure*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cPtr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&amp;c1;</a:t>
            </a:r>
          </a:p>
          <a:p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cPtr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-&gt;show();</a:t>
            </a:r>
            <a:r>
              <a:rPr lang="ru-RU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Виртуальный. Смотрим по таблице </a:t>
            </a:r>
            <a:r>
              <a:rPr lang="ru-RU" sz="9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vtable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cPtr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-&gt;info();</a:t>
            </a:r>
            <a:r>
              <a:rPr lang="ru-RU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Не виртуальный. Смотрим на тип указателя в коде</a:t>
            </a:r>
            <a:endParaRPr lang="ru-RU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F0B2EE2-7329-4FEA-AF06-A8B0444E7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612" y="1027906"/>
            <a:ext cx="6182588" cy="537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5094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Проверка переопределения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0C89-B3A0-3AA0-0CE4-DF47549E7B34}"/>
              </a:ext>
            </a:extLst>
          </p:cNvPr>
          <p:cNvSpPr txBox="1"/>
          <p:nvPr/>
        </p:nvSpPr>
        <p:spPr>
          <a:xfrm>
            <a:off x="838200" y="1052936"/>
            <a:ext cx="699277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b="0" dirty="0">
              <a:solidFill>
                <a:srgbClr val="000000"/>
              </a:solidFill>
              <a:effectLst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</a:rPr>
              <a:t>Т.к. в С++ разрешена перегрузка метода</a:t>
            </a:r>
            <a:r>
              <a:rPr lang="en-US" sz="1600" b="0" dirty="0">
                <a:solidFill>
                  <a:srgbClr val="000000"/>
                </a:solidFill>
                <a:effectLst/>
              </a:rPr>
              <a:t>;</a:t>
            </a:r>
            <a:r>
              <a:rPr lang="ru-RU" sz="1600" b="0" dirty="0">
                <a:solidFill>
                  <a:srgbClr val="000000"/>
                </a:solidFill>
                <a:effectLst/>
              </a:rPr>
              <a:t> возможны опечатки</a:t>
            </a:r>
            <a:r>
              <a:rPr lang="ru-RU" sz="1600" dirty="0">
                <a:solidFill>
                  <a:srgbClr val="000000"/>
                </a:solidFill>
              </a:rPr>
              <a:t>, со стороны программиста</a:t>
            </a:r>
            <a:r>
              <a:rPr lang="en-US" sz="1600" dirty="0">
                <a:solidFill>
                  <a:srgbClr val="000000"/>
                </a:solidFill>
              </a:rPr>
              <a:t>;</a:t>
            </a:r>
            <a:r>
              <a:rPr lang="ru-RU" sz="1600" dirty="0">
                <a:solidFill>
                  <a:srgbClr val="000000"/>
                </a:solidFill>
              </a:rPr>
              <a:t> или вы просто переименовали метод, но не везде и т.д. вы можете получить НЕ переопределение метода, а его перегрузку или просто новый метод с похожим именем.</a:t>
            </a:r>
            <a:endParaRPr lang="en-US" sz="1600" dirty="0">
              <a:solidFill>
                <a:srgbClr val="000000"/>
              </a:solidFill>
            </a:endParaRPr>
          </a:p>
          <a:p>
            <a:endParaRPr lang="en-US" sz="1600" dirty="0">
              <a:solidFill>
                <a:srgbClr val="000000"/>
              </a:solidFill>
            </a:endParaRPr>
          </a:p>
          <a:p>
            <a:r>
              <a:rPr lang="ru-RU" sz="1600" dirty="0">
                <a:solidFill>
                  <a:srgbClr val="000000"/>
                </a:solidFill>
              </a:rPr>
              <a:t>Язык предоставляет возможность проверить, что в предке действительно присутствует переопределяемый метод и он виртуальный.</a:t>
            </a:r>
          </a:p>
          <a:p>
            <a:r>
              <a:rPr lang="ru-RU" sz="1600" b="0" dirty="0">
                <a:solidFill>
                  <a:srgbClr val="000000"/>
                </a:solidFill>
                <a:effectLst/>
              </a:rPr>
              <a:t>Если после имени </a:t>
            </a:r>
            <a:r>
              <a:rPr lang="ru-RU" sz="1600" dirty="0">
                <a:solidFill>
                  <a:srgbClr val="000000"/>
                </a:solidFill>
              </a:rPr>
              <a:t>виртуального метода указать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ru-RU" sz="1600" dirty="0">
                <a:solidFill>
                  <a:srgbClr val="000000"/>
                </a:solidFill>
              </a:rPr>
              <a:t>ключевое слово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ru-RU" sz="1600" dirty="0">
                <a:solidFill>
                  <a:srgbClr val="000000"/>
                </a:solidFill>
              </a:rPr>
              <a:t>, то</a:t>
            </a:r>
            <a:r>
              <a:rPr lang="en-US" sz="1600" dirty="0">
                <a:solidFill>
                  <a:srgbClr val="000000"/>
                </a:solidFill>
              </a:rPr>
              <a:t>, </a:t>
            </a:r>
            <a:r>
              <a:rPr lang="ru-RU" sz="1600" b="0" dirty="0">
                <a:solidFill>
                  <a:srgbClr val="000000"/>
                </a:solidFill>
                <a:effectLst/>
              </a:rPr>
              <a:t>если у предка нет такого метода или он не виртуальных, будет получена ошибка компиляции.</a:t>
            </a:r>
            <a:endParaRPr lang="en-US" sz="1600" b="0" dirty="0">
              <a:solidFill>
                <a:srgbClr val="000000"/>
              </a:solidFill>
              <a:effectLst/>
            </a:endParaRPr>
          </a:p>
          <a:p>
            <a:endParaRPr lang="en-US" sz="1600" dirty="0">
              <a:solidFill>
                <a:srgbClr val="000000"/>
              </a:solidFill>
            </a:endParaRPr>
          </a:p>
          <a:p>
            <a:r>
              <a:rPr lang="ru-RU" sz="1600" dirty="0">
                <a:solidFill>
                  <a:srgbClr val="000000"/>
                </a:solidFill>
              </a:rPr>
              <a:t>Присутствие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ru-RU" sz="1600" dirty="0">
                <a:solidFill>
                  <a:srgbClr val="000000"/>
                </a:solidFill>
              </a:rPr>
              <a:t> не является обязательным, но считается хорошим тоном, как с точки зрения безопасности, так и с точки зрения обозначения, что данный метод является виртуальным, т.к. ключевое слово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ru-RU" sz="1600" dirty="0">
                <a:solidFill>
                  <a:srgbClr val="000000"/>
                </a:solidFill>
              </a:rPr>
              <a:t> обычно не пишут в наследниках.</a:t>
            </a:r>
            <a:endParaRPr lang="en-US" sz="1600" b="0" dirty="0">
              <a:solidFill>
                <a:srgbClr val="000000"/>
              </a:solidFill>
              <a:effectLst/>
            </a:endParaRPr>
          </a:p>
        </p:txBody>
      </p:sp>
      <p:sp>
        <p:nvSpPr>
          <p:cNvPr id="8" name="Скругленный прямоугольник 4">
            <a:extLst>
              <a:ext uri="{FF2B5EF4-FFF2-40B4-BE49-F238E27FC236}">
                <a16:creationId xmlns:a16="http://schemas.microsoft.com/office/drawing/2014/main" id="{C531335F-062E-489B-9463-FAA4711555CD}"/>
              </a:ext>
            </a:extLst>
          </p:cNvPr>
          <p:cNvSpPr/>
          <p:nvPr/>
        </p:nvSpPr>
        <p:spPr>
          <a:xfrm>
            <a:off x="7983377" y="1079999"/>
            <a:ext cx="3797497" cy="5161313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info(){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B1: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"B1"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B2: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"B2"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info()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"B2"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75328956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Запрет переопределения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0C89-B3A0-3AA0-0CE4-DF47549E7B34}"/>
              </a:ext>
            </a:extLst>
          </p:cNvPr>
          <p:cNvSpPr txBox="1"/>
          <p:nvPr/>
        </p:nvSpPr>
        <p:spPr>
          <a:xfrm>
            <a:off x="838200" y="1052936"/>
            <a:ext cx="699277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1600" b="0" dirty="0">
              <a:solidFill>
                <a:srgbClr val="000000"/>
              </a:solidFill>
              <a:effectLst/>
            </a:endParaRPr>
          </a:p>
          <a:p>
            <a:endParaRPr lang="ru-RU" sz="1600" dirty="0">
              <a:solidFill>
                <a:srgbClr val="000000"/>
              </a:solidFill>
            </a:endParaRPr>
          </a:p>
          <a:p>
            <a:endParaRPr lang="ru-RU" sz="1600" b="0" dirty="0">
              <a:solidFill>
                <a:srgbClr val="000000"/>
              </a:solidFill>
              <a:effectLst/>
            </a:endParaRPr>
          </a:p>
          <a:p>
            <a:endParaRPr lang="ru-RU" sz="1600" dirty="0">
              <a:solidFill>
                <a:srgbClr val="000000"/>
              </a:solidFill>
            </a:endParaRPr>
          </a:p>
          <a:p>
            <a:endParaRPr lang="ru-RU" sz="1600" b="0" dirty="0">
              <a:solidFill>
                <a:srgbClr val="000000"/>
              </a:solidFill>
              <a:effectLst/>
            </a:endParaRPr>
          </a:p>
          <a:p>
            <a:endParaRPr lang="ru-RU" sz="1600" dirty="0">
              <a:solidFill>
                <a:srgbClr val="000000"/>
              </a:solidFill>
            </a:endParaRPr>
          </a:p>
          <a:p>
            <a:endParaRPr lang="en-US" sz="1600" b="0" dirty="0">
              <a:solidFill>
                <a:srgbClr val="000000"/>
              </a:solidFill>
              <a:effectLst/>
            </a:endParaRPr>
          </a:p>
          <a:p>
            <a:r>
              <a:rPr lang="ru-RU" sz="1600" dirty="0">
                <a:solidFill>
                  <a:srgbClr val="000000"/>
                </a:solidFill>
              </a:rPr>
              <a:t>Виртуальный метод можно отметить ключевым словом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ru-RU" sz="1600" dirty="0">
                <a:solidFill>
                  <a:srgbClr val="000000"/>
                </a:solidFill>
              </a:rPr>
              <a:t>, в этом случае наследоваться от класса по прежнему можно, но переопределять метод нельзя.</a:t>
            </a:r>
          </a:p>
          <a:p>
            <a:endParaRPr lang="ru-RU" sz="1600" b="0" dirty="0">
              <a:solidFill>
                <a:srgbClr val="000000"/>
              </a:solidFill>
              <a:effectLst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</a:rPr>
              <a:t>С НЕ виртуальными методами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ru-RU" sz="1600" b="0" dirty="0">
                <a:solidFill>
                  <a:srgbClr val="000000"/>
                </a:solidFill>
                <a:effectLst/>
              </a:rPr>
              <a:t> использовать нельзя.</a:t>
            </a:r>
            <a:endParaRPr lang="en-US" sz="1600" b="0" dirty="0">
              <a:solidFill>
                <a:srgbClr val="000000"/>
              </a:solidFill>
              <a:effectLst/>
            </a:endParaRPr>
          </a:p>
        </p:txBody>
      </p:sp>
      <p:sp>
        <p:nvSpPr>
          <p:cNvPr id="8" name="Скругленный прямоугольник 4">
            <a:extLst>
              <a:ext uri="{FF2B5EF4-FFF2-40B4-BE49-F238E27FC236}">
                <a16:creationId xmlns:a16="http://schemas.microsoft.com/office/drawing/2014/main" id="{C531335F-062E-489B-9463-FAA4711555CD}"/>
              </a:ext>
            </a:extLst>
          </p:cNvPr>
          <p:cNvSpPr/>
          <p:nvPr/>
        </p:nvSpPr>
        <p:spPr>
          <a:xfrm>
            <a:off x="7983377" y="1537200"/>
            <a:ext cx="3797497" cy="4565889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info()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"B1"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C: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68545469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Ковариантность возвращаемых типов</a:t>
            </a:r>
          </a:p>
        </p:txBody>
      </p:sp>
      <p:sp>
        <p:nvSpPr>
          <p:cNvPr id="8" name="Скругленный прямоугольник 4">
            <a:extLst>
              <a:ext uri="{FF2B5EF4-FFF2-40B4-BE49-F238E27FC236}">
                <a16:creationId xmlns:a16="http://schemas.microsoft.com/office/drawing/2014/main" id="{C531335F-062E-489B-9463-FAA4711555CD}"/>
              </a:ext>
            </a:extLst>
          </p:cNvPr>
          <p:cNvSpPr/>
          <p:nvPr/>
        </p:nvSpPr>
        <p:spPr>
          <a:xfrm>
            <a:off x="1721909" y="3853042"/>
            <a:ext cx="3797497" cy="2737088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get(){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</a:p>
          <a:p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ОК. Типы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ковариантны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get()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9CEB7531-4254-4383-BCA7-E51533E12182}"/>
              </a:ext>
            </a:extLst>
          </p:cNvPr>
          <p:cNvSpPr/>
          <p:nvPr/>
        </p:nvSpPr>
        <p:spPr>
          <a:xfrm>
            <a:off x="6537854" y="3857526"/>
            <a:ext cx="3797497" cy="2737088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std::vector&lt;A*&gt; get(){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A};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Ошибка. Типы не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ковариантны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std::vector&lt;B*&gt; get()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B};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9" name="Скругленный прямоугольник 4">
            <a:extLst>
              <a:ext uri="{FF2B5EF4-FFF2-40B4-BE49-F238E27FC236}">
                <a16:creationId xmlns:a16="http://schemas.microsoft.com/office/drawing/2014/main" id="{5F50E6F5-46BC-4250-A1B8-E9A6BDED2BB3}"/>
              </a:ext>
            </a:extLst>
          </p:cNvPr>
          <p:cNvSpPr/>
          <p:nvPr/>
        </p:nvSpPr>
        <p:spPr>
          <a:xfrm>
            <a:off x="6537854" y="984307"/>
            <a:ext cx="3797497" cy="2737088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get(A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a){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get(B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0" name="Скругленный прямоугольник 4">
            <a:extLst>
              <a:ext uri="{FF2B5EF4-FFF2-40B4-BE49-F238E27FC236}">
                <a16:creationId xmlns:a16="http://schemas.microsoft.com/office/drawing/2014/main" id="{07C73F67-8A4E-4354-8F27-B8A285AF0543}"/>
              </a:ext>
            </a:extLst>
          </p:cNvPr>
          <p:cNvSpPr/>
          <p:nvPr/>
        </p:nvSpPr>
        <p:spPr>
          <a:xfrm>
            <a:off x="1721909" y="984307"/>
            <a:ext cx="3797497" cy="2737088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int*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get(){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Ошибка. Типы не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ковариантны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double*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get()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75660348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990600" y="360000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Преобразование объектов в цепочке наследования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0C89-B3A0-3AA0-0CE4-DF47549E7B34}"/>
              </a:ext>
            </a:extLst>
          </p:cNvPr>
          <p:cNvSpPr txBox="1"/>
          <p:nvPr/>
        </p:nvSpPr>
        <p:spPr>
          <a:xfrm>
            <a:off x="838200" y="1169897"/>
            <a:ext cx="677164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&lt;A&gt;(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).print();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A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&lt;A&amp;&gt;(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).print();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B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&lt;A*&gt;(&amp;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)-&gt;print();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B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&lt;A&amp;&gt;(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).print();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B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&lt;B*&gt;(&amp;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)-&gt;print();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A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(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&lt;B*&gt;(&amp;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obj_a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1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48DCA460-197E-4CF8-ACB2-606088EE7E23}"/>
              </a:ext>
            </a:extLst>
          </p:cNvPr>
          <p:cNvSpPr/>
          <p:nvPr/>
        </p:nvSpPr>
        <p:spPr>
          <a:xfrm>
            <a:off x="7609840" y="1441599"/>
            <a:ext cx="3654134" cy="4438206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Преобразование объектов в цепочке наследования вверх по иерархии от наследника к любому предку безопасно, хотя и не всегда имеет смысл. Его называют </a:t>
            </a:r>
            <a:r>
              <a:rPr lang="en-US" sz="1400" dirty="0" err="1"/>
              <a:t>UpCast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ru-RU" sz="1400" dirty="0"/>
              <a:t>Преобразование объектов в цепочке наследования вниз по иерархии от предка к наследнику как правило опасно. Его называют </a:t>
            </a:r>
            <a:r>
              <a:rPr lang="en-US" sz="1400" dirty="0" err="1"/>
              <a:t>DownCast</a:t>
            </a:r>
            <a:r>
              <a:rPr lang="en-US" sz="1400" dirty="0"/>
              <a:t>.</a:t>
            </a:r>
            <a:endParaRPr lang="ru-RU" sz="1400" dirty="0"/>
          </a:p>
          <a:p>
            <a:endParaRPr lang="ru-RU" sz="1400" dirty="0"/>
          </a:p>
          <a:p>
            <a:r>
              <a:rPr lang="ru-RU" sz="1400" dirty="0"/>
              <a:t>Если</a:t>
            </a:r>
            <a:r>
              <a:rPr lang="en-US" sz="1400" dirty="0"/>
              <a:t> </a:t>
            </a:r>
            <a:r>
              <a:rPr lang="ru-RU" sz="1400" dirty="0"/>
              <a:t>в классе есть виртуальные методы, нужно использовать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dynamic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_cast</a:t>
            </a:r>
            <a:r>
              <a:rPr lang="en-US" sz="1400" dirty="0">
                <a:solidFill>
                  <a:srgbClr val="0000FF"/>
                </a:solidFill>
              </a:rPr>
              <a:t>.</a:t>
            </a:r>
            <a:r>
              <a:rPr lang="ru-RU" sz="1400" dirty="0">
                <a:solidFill>
                  <a:srgbClr val="0000FF"/>
                </a:solidFill>
              </a:rPr>
              <a:t> </a:t>
            </a:r>
            <a:r>
              <a:rPr lang="ru-RU" sz="1400" dirty="0"/>
              <a:t>Если</a:t>
            </a:r>
            <a:r>
              <a:rPr lang="en-US" sz="1400" dirty="0"/>
              <a:t> </a:t>
            </a:r>
            <a:r>
              <a:rPr lang="ru-RU" sz="1400" dirty="0"/>
              <a:t>выполнять преобразование указателей, то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dynamic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_cast</a:t>
            </a:r>
            <a:r>
              <a:rPr lang="ru-RU" sz="1400" dirty="0"/>
              <a:t> выдаст нулевой указатель в случае, если преобразование некорректно, т.е. фактический тип объекта не совпадает с целевым</a:t>
            </a:r>
            <a:r>
              <a:rPr lang="en-US" sz="1400" dirty="0"/>
              <a:t>.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400" dirty="0"/>
              <a:t> </a:t>
            </a:r>
            <a:r>
              <a:rPr lang="ru-RU" sz="1400" dirty="0"/>
              <a:t>при этом выполнит преобразование, главное чтобы типы находятся в одной иерархии.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9577036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Агрегаций и композиция</a:t>
            </a:r>
          </a:p>
        </p:txBody>
      </p:sp>
    </p:spTree>
    <p:extLst>
      <p:ext uri="{BB962C8B-B14F-4D97-AF65-F5344CB8AC3E}">
        <p14:creationId xmlns:p14="http://schemas.microsoft.com/office/powerpoint/2010/main" val="184061342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err="1"/>
              <a:t>Переиспользование</a:t>
            </a:r>
            <a:r>
              <a:rPr lang="ru-RU" sz="4000" dirty="0"/>
              <a:t> функционала класса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72F7A7A-95BA-4808-9D1E-FA53C2E04CBE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7614684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Одной из причин наследования является желание </a:t>
            </a:r>
            <a:r>
              <a:rPr lang="ru-RU" sz="1600" dirty="0" err="1">
                <a:solidFill>
                  <a:srgbClr val="000000"/>
                </a:solidFill>
              </a:rPr>
              <a:t>переиспользование</a:t>
            </a:r>
            <a:r>
              <a:rPr lang="ru-RU" sz="1600" dirty="0">
                <a:solidFill>
                  <a:srgbClr val="000000"/>
                </a:solidFill>
              </a:rPr>
              <a:t> функционала существующего класса. Наследование – это не единственный способ достичь поставленной цели: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Наследование (</a:t>
            </a:r>
            <a:r>
              <a:rPr lang="ru-RU" sz="1600" dirty="0" err="1">
                <a:solidFill>
                  <a:srgbClr val="000000"/>
                </a:solidFill>
              </a:rPr>
              <a:t>Inheritance</a:t>
            </a:r>
            <a:r>
              <a:rPr lang="ru-RU" sz="1600" dirty="0">
                <a:solidFill>
                  <a:srgbClr val="000000"/>
                </a:solidFill>
              </a:rPr>
              <a:t>) — отношение «является» (</a:t>
            </a:r>
            <a:r>
              <a:rPr lang="ru-RU" sz="1600" dirty="0" err="1">
                <a:solidFill>
                  <a:srgbClr val="000000"/>
                </a:solidFill>
              </a:rPr>
              <a:t>is</a:t>
            </a:r>
            <a:r>
              <a:rPr lang="ru-RU" sz="1600" dirty="0">
                <a:solidFill>
                  <a:srgbClr val="000000"/>
                </a:solidFill>
              </a:rPr>
              <a:t>-a). Класс-потомок наследует структуру и поведение родительского класса и расширяет или изменяет его.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i="1" dirty="0">
                <a:solidFill>
                  <a:srgbClr val="000000"/>
                </a:solidFill>
              </a:rPr>
              <a:t>Пример: </a:t>
            </a:r>
            <a:r>
              <a:rPr lang="ru-RU" sz="1600" i="1" dirty="0" err="1">
                <a:solidFill>
                  <a:srgbClr val="000000"/>
                </a:solidFill>
              </a:rPr>
              <a:t>Dog</a:t>
            </a:r>
            <a:r>
              <a:rPr lang="ru-RU" sz="1600" i="1" dirty="0">
                <a:solidFill>
                  <a:srgbClr val="000000"/>
                </a:solidFill>
              </a:rPr>
              <a:t> наследует от </a:t>
            </a:r>
            <a:r>
              <a:rPr lang="ru-RU" sz="1600" i="1" dirty="0" err="1">
                <a:solidFill>
                  <a:srgbClr val="000000"/>
                </a:solidFill>
              </a:rPr>
              <a:t>Animal</a:t>
            </a:r>
            <a:r>
              <a:rPr lang="ru-RU" sz="1600" i="1" dirty="0">
                <a:solidFill>
                  <a:srgbClr val="000000"/>
                </a:solidFill>
              </a:rPr>
              <a:t>. Собака является животным.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Композиция (</a:t>
            </a:r>
            <a:r>
              <a:rPr lang="ru-RU" sz="1600" dirty="0" err="1">
                <a:solidFill>
                  <a:srgbClr val="000000"/>
                </a:solidFill>
              </a:rPr>
              <a:t>Composition</a:t>
            </a:r>
            <a:r>
              <a:rPr lang="ru-RU" sz="1600" dirty="0">
                <a:solidFill>
                  <a:srgbClr val="000000"/>
                </a:solidFill>
              </a:rPr>
              <a:t>) — отношение «имеет» (</a:t>
            </a:r>
            <a:r>
              <a:rPr lang="ru-RU" sz="1600" dirty="0" err="1">
                <a:solidFill>
                  <a:srgbClr val="000000"/>
                </a:solidFill>
              </a:rPr>
              <a:t>has</a:t>
            </a:r>
            <a:r>
              <a:rPr lang="ru-RU" sz="1600" dirty="0">
                <a:solidFill>
                  <a:srgbClr val="000000"/>
                </a:solidFill>
              </a:rPr>
              <a:t>-a) с жестким контролем жизненного цикла. Объект-часть не может существовать без объекта-целого.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i="1" dirty="0">
                <a:solidFill>
                  <a:srgbClr val="000000"/>
                </a:solidFill>
              </a:rPr>
              <a:t>Пример: У Car есть Engine. Двигатель создается и уничтожается вместе с автомобилем. Без автомобиля двигатель в этом контексте не существует.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Агрегация (</a:t>
            </a:r>
            <a:r>
              <a:rPr lang="ru-RU" sz="1600" dirty="0" err="1">
                <a:solidFill>
                  <a:srgbClr val="000000"/>
                </a:solidFill>
              </a:rPr>
              <a:t>Aggregation</a:t>
            </a:r>
            <a:r>
              <a:rPr lang="ru-RU" sz="1600" dirty="0">
                <a:solidFill>
                  <a:srgbClr val="000000"/>
                </a:solidFill>
              </a:rPr>
              <a:t>) — более слабая форма отношения «имеет». Объект-часть может существовать независимо от объекта-целого и обычно передается ему извне.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i="1" dirty="0">
                <a:solidFill>
                  <a:srgbClr val="000000"/>
                </a:solidFill>
              </a:rPr>
              <a:t>Пример: В University работает </a:t>
            </a:r>
            <a:r>
              <a:rPr lang="ru-RU" sz="1600" i="1" dirty="0" err="1">
                <a:solidFill>
                  <a:srgbClr val="000000"/>
                </a:solidFill>
              </a:rPr>
              <a:t>Professor</a:t>
            </a:r>
            <a:r>
              <a:rPr lang="ru-RU" sz="1600" i="1" dirty="0">
                <a:solidFill>
                  <a:srgbClr val="000000"/>
                </a:solidFill>
              </a:rPr>
              <a:t>. Профессор существует независимо от университета и может работать в другом месте.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2FFCC73-80DE-4006-8738-2E93F6AC1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7284" y="1457769"/>
            <a:ext cx="1181100" cy="206692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5FEB1DA-C299-4AB2-A807-D164DEB21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884" y="5091333"/>
            <a:ext cx="3457575" cy="88582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7AB0779-45F8-446B-9207-8A3745208C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309" y="3751632"/>
            <a:ext cx="272415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00217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861615CE-8E8D-46AE-8066-D204EF2DF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648454"/>
              </p:ext>
            </p:extLst>
          </p:nvPr>
        </p:nvGraphicFramePr>
        <p:xfrm>
          <a:off x="632833" y="1178789"/>
          <a:ext cx="11480643" cy="5120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3418">
                  <a:extLst>
                    <a:ext uri="{9D8B030D-6E8A-4147-A177-3AD203B41FA5}">
                      <a16:colId xmlns:a16="http://schemas.microsoft.com/office/drawing/2014/main" val="2683322829"/>
                    </a:ext>
                  </a:extLst>
                </a:gridCol>
                <a:gridCol w="5957225">
                  <a:extLst>
                    <a:ext uri="{9D8B030D-6E8A-4147-A177-3AD203B41FA5}">
                      <a16:colId xmlns:a16="http://schemas.microsoft.com/office/drawing/2014/main" val="854653060"/>
                    </a:ext>
                  </a:extLst>
                </a:gridCol>
              </a:tblGrid>
              <a:tr h="3823096">
                <a:tc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Animal {</a:t>
                      </a:r>
                    </a:p>
                    <a:p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protected:</a:t>
                      </a:r>
                      <a:endParaRPr lang="en-US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std::string name;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age;</a:t>
                      </a:r>
                    </a:p>
                    <a:p>
                      <a:b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Animal(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std::string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name,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age) : name(name), age(age)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"Animal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name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created (age: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age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")\n"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b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Виртуальный метод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virtual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makeSound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name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makes a generic animal sound\n"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b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Обычный метод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eat()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name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is eating\n"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b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sleep()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name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is sleeping\n"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b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Виртуальный деструктор – здесь не обязательно, чисто чтобы был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virtual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~Animal()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"Animal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name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destroyed\n"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b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Геттер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std::string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getName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name;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  <a:b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Dog :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Animal {</a:t>
                      </a:r>
                    </a:p>
                    <a:p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private:</a:t>
                      </a:r>
                      <a:endParaRPr lang="en-US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std::string breed;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bool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isTrained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b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Конструктор </a:t>
                      </a:r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Dog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вызывает конструктор </a:t>
                      </a:r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Animal</a:t>
                      </a:r>
                      <a:endParaRPr lang="en-US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Dog(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std::string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name,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age,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std::string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breed,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bool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trained)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: Animal(name, age), breed(breed),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isTrained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(trained)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"Dog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name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created, breed: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breed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b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Переопределяем звук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makeSound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override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name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says: Woof! Woof!\n"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b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Специфичный для </a:t>
                      </a:r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Dog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метод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fetch(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std::string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item)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name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is fetching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item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b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wagTail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name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is wagging its tail happily!\n"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b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Переопределение деструктора (не обязательно, но показательно)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~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Dog()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override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"Dog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name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destroyed\n"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449420"/>
                  </a:ext>
                </a:extLst>
              </a:tr>
              <a:tr h="487333">
                <a:tc gridSpan="2">
                  <a:txBody>
                    <a:bodyPr/>
                    <a:lstStyle/>
                    <a:p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Создаем объект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Dog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myDog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"Buddy"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ru-RU" sz="9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"Golden Retriever"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true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778491"/>
                  </a:ext>
                </a:extLst>
              </a:tr>
            </a:tbl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Наследование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2FFCC73-80DE-4006-8738-2E93F6AC1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678" y="2705646"/>
            <a:ext cx="1181100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14823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861615CE-8E8D-46AE-8066-D204EF2DF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893397"/>
              </p:ext>
            </p:extLst>
          </p:nvPr>
        </p:nvGraphicFramePr>
        <p:xfrm>
          <a:off x="632833" y="1178789"/>
          <a:ext cx="11480643" cy="5532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3418">
                  <a:extLst>
                    <a:ext uri="{9D8B030D-6E8A-4147-A177-3AD203B41FA5}">
                      <a16:colId xmlns:a16="http://schemas.microsoft.com/office/drawing/2014/main" val="2683322829"/>
                    </a:ext>
                  </a:extLst>
                </a:gridCol>
                <a:gridCol w="5957225">
                  <a:extLst>
                    <a:ext uri="{9D8B030D-6E8A-4147-A177-3AD203B41FA5}">
                      <a16:colId xmlns:a16="http://schemas.microsoft.com/office/drawing/2014/main" val="854653060"/>
                    </a:ext>
                  </a:extLst>
                </a:gridCol>
              </a:tblGrid>
              <a:tr h="3823096">
                <a:tc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Car {</a:t>
                      </a:r>
                    </a:p>
                    <a:p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private:</a:t>
                      </a:r>
                      <a:endParaRPr lang="en-US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std::string model;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year;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Engine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engine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//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Композиция по значению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</a:p>
                    <a:p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Конструктор инициализирует все части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Car(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std::string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model,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year,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engineHP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: model(model), year(year), 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engine(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engineHP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"gasoline"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),</a:t>
                      </a:r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// Engine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создается здесь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}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"Car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model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year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created\n"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start()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"Starting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model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"...\n"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engine.start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drive()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model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is driving with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   &lt;&lt;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engine.getHorsepower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HP\n"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</a:p>
                    <a:p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Деструктор: все части уничтожаются автоматически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~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Car()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"Car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model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destroyed\n"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Engine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уничтожается автоматически здесь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</a:p>
                    <a:p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НЕТ методов для передачи </a:t>
                      </a:r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Engine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извне!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Он создаётся и управляются только внутри </a:t>
                      </a:r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Car</a:t>
                      </a:r>
                      <a:endParaRPr lang="en-US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  <a:p>
                      <a:b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Engine {</a:t>
                      </a:r>
                    </a:p>
                    <a:p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private:</a:t>
                      </a:r>
                      <a:endParaRPr lang="en-US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horsepower;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std::string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fuelType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bool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isRunning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b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Engine(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hp,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std::string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fuel) 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: horsepower(hp),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fuelType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(fuel),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isRunning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false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"Engine created: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horsepower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HP,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fuelType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start()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(!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isRunning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isRunning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true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"Engine started. Vroom!\n"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}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else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"Engine is already running\n"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stop()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isRunning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isRunning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false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"Engine stopped\n"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getHorsepower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horsepower;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~Engine()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"Engine destroyed\n"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449420"/>
                  </a:ext>
                </a:extLst>
              </a:tr>
              <a:tr h="487333">
                <a:tc gridSpan="2">
                  <a:txBody>
                    <a:bodyPr/>
                    <a:lstStyle/>
                    <a:p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Создаем объект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fr-FR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Car </a:t>
                      </a:r>
                      <a:r>
                        <a:rPr lang="fr-FR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myCar</a:t>
                      </a:r>
                      <a:r>
                        <a:rPr lang="fr-FR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fr-FR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"Toyota </a:t>
                      </a:r>
                      <a:r>
                        <a:rPr lang="fr-FR" sz="9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Camry</a:t>
                      </a:r>
                      <a:r>
                        <a:rPr lang="fr-FR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fr-FR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fr-FR" sz="9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2023</a:t>
                      </a:r>
                      <a:r>
                        <a:rPr lang="fr-FR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fr-FR" sz="9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203</a:t>
                      </a:r>
                      <a:r>
                        <a:rPr lang="fr-FR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  <a:endParaRPr lang="en-US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778491"/>
                  </a:ext>
                </a:extLst>
              </a:tr>
            </a:tbl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>
                <a:solidFill>
                  <a:srgbClr val="000000"/>
                </a:solidFill>
              </a:rPr>
              <a:t>Композиция</a:t>
            </a:r>
            <a:endParaRPr lang="ru-RU" sz="4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A7BCC2B-17A9-45BD-9580-5BE7EC16EB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839" y="1121171"/>
            <a:ext cx="272415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82255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861615CE-8E8D-46AE-8066-D204EF2DF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186913"/>
              </p:ext>
            </p:extLst>
          </p:nvPr>
        </p:nvGraphicFramePr>
        <p:xfrm>
          <a:off x="632833" y="1178789"/>
          <a:ext cx="11480643" cy="571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7846">
                  <a:extLst>
                    <a:ext uri="{9D8B030D-6E8A-4147-A177-3AD203B41FA5}">
                      <a16:colId xmlns:a16="http://schemas.microsoft.com/office/drawing/2014/main" val="2683322829"/>
                    </a:ext>
                  </a:extLst>
                </a:gridCol>
                <a:gridCol w="5882797">
                  <a:extLst>
                    <a:ext uri="{9D8B030D-6E8A-4147-A177-3AD203B41FA5}">
                      <a16:colId xmlns:a16="http://schemas.microsoft.com/office/drawing/2014/main" val="854653060"/>
                    </a:ext>
                  </a:extLst>
                </a:gridCol>
              </a:tblGrid>
              <a:tr h="5445295">
                <a:tc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University {</a:t>
                      </a:r>
                    </a:p>
                    <a:p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private:</a:t>
                      </a:r>
                      <a:endParaRPr lang="en-US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std::string name;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std::string location;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</a:p>
                    <a:p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Агрегация: указатели/ссылки на существующие объекты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std::vector&lt;Professor*&gt; professors;    </a:t>
                      </a:r>
                    </a:p>
                    <a:p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University(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std::string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name,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std::string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location)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: name(name), location(location)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"University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name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established in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location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</a:p>
                    <a:p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Метод для добавления существующих объектов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hireProfessor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(Professor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prof)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(prof)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professors.push_back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(prof);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prof-&gt;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getName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hired by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name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displayInfo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"\n===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name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Information ===\n"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"Location: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location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"Professors ("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professors.size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"):\n"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auto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prof : professors)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 -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prof-&gt;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getName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("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prof-&gt;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getSpecialty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")\n"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</a:p>
                    <a:p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//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ВАЖНО: деструктор НЕ удаляет агрегированные объекты, т.к. не владеет ими!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~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University()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"University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name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closed\n"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НЕ делаем </a:t>
                      </a:r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delete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для </a:t>
                      </a:r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professors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!</a:t>
                      </a:r>
                      <a:endParaRPr lang="en-US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        //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Они управляются кем-то другим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ru-RU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Professor {</a:t>
                      </a:r>
                    </a:p>
                    <a:p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private:</a:t>
                      </a:r>
                      <a:endParaRPr lang="en-US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std::string name;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std::string specialty;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yearsExperience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b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public:</a:t>
                      </a:r>
                      <a:endParaRPr lang="en-US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Professor(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std::string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name,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std::string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specialty,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years)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: name(name), specialty(specialty),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yearsExperience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(years)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"Professor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name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created\n"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teach(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std::string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course)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name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is teaching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course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doResearch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name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is conducting research in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specialty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std::string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getName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name;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std::string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getSpecialty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 </a:t>
                      </a:r>
                      <a:r>
                        <a:rPr lang="en-US" sz="9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specialty;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~Professor() {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std::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cout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"Professor 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&lt;&lt; name &lt;&lt;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 destroyed\n"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Создаем независимые объекты (части)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Professor prof1(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"Dr. Smith"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"Computer Science"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9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15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Professor prof2(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"Dr. Johnson"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"Mathematics"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9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20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</a:p>
                    <a:p>
                      <a:r>
                        <a:rPr lang="en-US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Создаем университет (целое)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University </a:t>
                      </a:r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mit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"MIT"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9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"Cambridge, MA"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endParaRPr lang="ru-RU" sz="900" b="0" dirty="0">
                        <a:solidFill>
                          <a:srgbClr val="008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9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Агрегируем существующие объекты</a:t>
                      </a:r>
                      <a:endParaRPr lang="ru-RU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mit.hireProfessor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(&amp;prof1);</a:t>
                      </a:r>
                    </a:p>
                    <a:p>
                      <a:r>
                        <a:rPr lang="en-US" sz="9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mit.hireProfessor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(&amp;prof2);</a:t>
                      </a:r>
                    </a:p>
                    <a:p>
                      <a:endParaRPr lang="en-US" sz="9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449420"/>
                  </a:ext>
                </a:extLst>
              </a:tr>
            </a:tbl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>
                <a:solidFill>
                  <a:srgbClr val="000000"/>
                </a:solidFill>
              </a:rPr>
              <a:t>Агрегация</a:t>
            </a:r>
            <a:endParaRPr lang="ru-RU" sz="4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A70045-C8D8-431D-B3B0-607EBCBDB7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5901" y="1128644"/>
            <a:ext cx="345757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644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97C552-F4E6-3DC6-9EB4-FC09D63B47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239F2-9660-5D8B-D93F-010EE6272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>
                <a:solidFill>
                  <a:srgbClr val="000000"/>
                </a:solidFill>
              </a:rPr>
              <a:t>Сравнение</a:t>
            </a:r>
            <a:endParaRPr lang="ru-RU" sz="4000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7BB5487-BDB2-4808-AB92-3F2253290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281816"/>
              </p:ext>
            </p:extLst>
          </p:nvPr>
        </p:nvGraphicFramePr>
        <p:xfrm>
          <a:off x="1419758" y="1210778"/>
          <a:ext cx="9035426" cy="513680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564616">
                  <a:extLst>
                    <a:ext uri="{9D8B030D-6E8A-4147-A177-3AD203B41FA5}">
                      <a16:colId xmlns:a16="http://schemas.microsoft.com/office/drawing/2014/main" val="2299093629"/>
                    </a:ext>
                  </a:extLst>
                </a:gridCol>
                <a:gridCol w="2490270">
                  <a:extLst>
                    <a:ext uri="{9D8B030D-6E8A-4147-A177-3AD203B41FA5}">
                      <a16:colId xmlns:a16="http://schemas.microsoft.com/office/drawing/2014/main" val="3546099487"/>
                    </a:ext>
                  </a:extLst>
                </a:gridCol>
                <a:gridCol w="2490270">
                  <a:extLst>
                    <a:ext uri="{9D8B030D-6E8A-4147-A177-3AD203B41FA5}">
                      <a16:colId xmlns:a16="http://schemas.microsoft.com/office/drawing/2014/main" val="161471579"/>
                    </a:ext>
                  </a:extLst>
                </a:gridCol>
                <a:gridCol w="2490270">
                  <a:extLst>
                    <a:ext uri="{9D8B030D-6E8A-4147-A177-3AD203B41FA5}">
                      <a16:colId xmlns:a16="http://schemas.microsoft.com/office/drawing/2014/main" val="3542977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endParaRPr lang="ru-RU" sz="1300" b="1" dirty="0">
                        <a:effectLst/>
                        <a:latin typeface="+mn-lt"/>
                      </a:endParaRPr>
                    </a:p>
                  </a:txBody>
                  <a:tcPr marL="82620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 dirty="0">
                          <a:effectLst/>
                          <a:latin typeface="+mn-lt"/>
                        </a:rPr>
                        <a:t>Наследование</a:t>
                      </a:r>
                    </a:p>
                  </a:txBody>
                  <a:tcPr marL="137701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effectLst/>
                          <a:latin typeface="+mn-lt"/>
                        </a:rPr>
                        <a:t>Композиция</a:t>
                      </a:r>
                      <a:endParaRPr lang="ru-RU" sz="1300" b="1" dirty="0">
                        <a:effectLst/>
                        <a:latin typeface="+mn-lt"/>
                      </a:endParaRPr>
                    </a:p>
                  </a:txBody>
                  <a:tcPr marL="137701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 dirty="0">
                          <a:effectLst/>
                          <a:latin typeface="+mn-lt"/>
                        </a:rPr>
                        <a:t>Агрегация</a:t>
                      </a:r>
                    </a:p>
                  </a:txBody>
                  <a:tcPr marL="137701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4701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sz="1300" b="1" dirty="0">
                          <a:effectLst/>
                          <a:latin typeface="+mn-lt"/>
                        </a:rPr>
                        <a:t>Отношение</a:t>
                      </a:r>
                    </a:p>
                  </a:txBody>
                  <a:tcPr marL="82620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  <a:latin typeface="+mn-lt"/>
                        </a:rPr>
                        <a:t>"является" (</a:t>
                      </a:r>
                      <a:r>
                        <a:rPr lang="en-US" sz="1300" b="0" dirty="0">
                          <a:effectLst/>
                          <a:latin typeface="+mn-lt"/>
                        </a:rPr>
                        <a:t>is-a)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+mn-lt"/>
                        </a:rPr>
                        <a:t>"имеет" (</a:t>
                      </a:r>
                      <a:r>
                        <a:rPr lang="en-US" sz="1300" b="0">
                          <a:effectLst/>
                          <a:latin typeface="+mn-lt"/>
                        </a:rPr>
                        <a:t>has-a) </a:t>
                      </a:r>
                      <a:r>
                        <a:rPr lang="ru-RU" sz="1300" b="0">
                          <a:effectLst/>
                          <a:latin typeface="+mn-lt"/>
                        </a:rPr>
                        <a:t>с владением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  <a:latin typeface="+mn-lt"/>
                        </a:rPr>
                        <a:t>"имеет" (</a:t>
                      </a:r>
                      <a:r>
                        <a:rPr lang="en-US" sz="1300" b="0" dirty="0">
                          <a:effectLst/>
                          <a:latin typeface="+mn-lt"/>
                        </a:rPr>
                        <a:t>has-a) </a:t>
                      </a:r>
                      <a:r>
                        <a:rPr lang="ru-RU" sz="1300" b="0" dirty="0">
                          <a:effectLst/>
                          <a:latin typeface="+mn-lt"/>
                        </a:rPr>
                        <a:t>без владения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4984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300" b="1">
                          <a:effectLst/>
                          <a:latin typeface="+mn-lt"/>
                        </a:rPr>
                        <a:t>Сила связи</a:t>
                      </a:r>
                      <a:endParaRPr lang="ru-RU" sz="1300" b="1" dirty="0">
                        <a:effectLst/>
                        <a:latin typeface="+mn-lt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  <a:latin typeface="+mn-lt"/>
                        </a:rPr>
                        <a:t>⭐⭐⭐⭐⭐</a:t>
                      </a:r>
                    </a:p>
                    <a:p>
                      <a:r>
                        <a:rPr lang="ru-RU" sz="1300" b="0" dirty="0">
                          <a:effectLst/>
                          <a:latin typeface="+mn-lt"/>
                        </a:rPr>
                        <a:t>Очень высокая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  <a:latin typeface="+mn-lt"/>
                        </a:rPr>
                        <a:t>⭐⭐⭐⭐</a:t>
                      </a:r>
                    </a:p>
                    <a:p>
                      <a:r>
                        <a:rPr lang="ru-RU" sz="1300" b="0" dirty="0">
                          <a:effectLst/>
                          <a:latin typeface="+mn-lt"/>
                        </a:rPr>
                        <a:t>Высокая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  <a:latin typeface="+mn-lt"/>
                        </a:rPr>
                        <a:t>⭐⭐</a:t>
                      </a:r>
                    </a:p>
                    <a:p>
                      <a:r>
                        <a:rPr lang="ru-RU" sz="1300" b="0" dirty="0">
                          <a:effectLst/>
                          <a:latin typeface="+mn-lt"/>
                        </a:rPr>
                        <a:t>Средняя/Низкая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3795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300" b="1" dirty="0">
                          <a:effectLst/>
                          <a:latin typeface="+mn-lt"/>
                        </a:rPr>
                        <a:t>Возможность модификации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+mn-lt"/>
                        </a:rPr>
                        <a:t>Ограниченная (через переопределение)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+mn-lt"/>
                        </a:rPr>
                        <a:t>Полная (через замену компонента)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  <a:latin typeface="+mn-lt"/>
                        </a:rPr>
                        <a:t>Полная (динамическая замена)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1698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300" b="1" dirty="0">
                          <a:effectLst/>
                          <a:latin typeface="+mn-lt"/>
                        </a:rPr>
                        <a:t>Связь</a:t>
                      </a:r>
                    </a:p>
                  </a:txBody>
                  <a:tcPr marL="82620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effectLst/>
                          <a:latin typeface="+mn-lt"/>
                        </a:rPr>
                        <a:t>B надстройка поверх А</a:t>
                      </a:r>
                    </a:p>
                  </a:txBody>
                  <a:tcPr marL="137701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+mn-lt"/>
                        </a:rPr>
                        <a:t>A содержит B как член</a:t>
                      </a:r>
                      <a:endParaRPr lang="ru-RU" sz="1300" b="0" dirty="0">
                        <a:effectLst/>
                        <a:latin typeface="+mn-lt"/>
                      </a:endParaRPr>
                    </a:p>
                  </a:txBody>
                  <a:tcPr marL="137701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+mn-lt"/>
                        </a:rPr>
                        <a:t>A ссылается на B</a:t>
                      </a:r>
                      <a:endParaRPr lang="ru-RU" sz="1300" b="0" dirty="0">
                        <a:effectLst/>
                        <a:latin typeface="+mn-lt"/>
                      </a:endParaRPr>
                    </a:p>
                  </a:txBody>
                  <a:tcPr marL="137701" marR="82620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8671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300" b="1" dirty="0">
                          <a:effectLst/>
                          <a:latin typeface="+mn-lt"/>
                        </a:rPr>
                        <a:t>Время жизни</a:t>
                      </a:r>
                    </a:p>
                  </a:txBody>
                  <a:tcPr marL="82620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+mn-lt"/>
                        </a:rPr>
                        <a:t>Совпадает</a:t>
                      </a:r>
                      <a:endParaRPr lang="ru-RU" sz="1300" b="0" dirty="0">
                        <a:effectLst/>
                        <a:latin typeface="+mn-lt"/>
                      </a:endParaRPr>
                    </a:p>
                  </a:txBody>
                  <a:tcPr marL="137701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+mn-lt"/>
                        </a:rPr>
                        <a:t>Часть создается/уничтожается с целым</a:t>
                      </a:r>
                      <a:endParaRPr lang="ru-RU" sz="1300" b="0" dirty="0">
                        <a:effectLst/>
                        <a:latin typeface="+mn-lt"/>
                      </a:endParaRPr>
                    </a:p>
                  </a:txBody>
                  <a:tcPr marL="137701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+mn-lt"/>
                        </a:rPr>
                        <a:t>Независимое</a:t>
                      </a:r>
                    </a:p>
                  </a:txBody>
                  <a:tcPr marL="137701" marR="82620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936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300" b="1" dirty="0">
                          <a:effectLst/>
                          <a:latin typeface="+mn-lt"/>
                        </a:rPr>
                        <a:t>Владение</a:t>
                      </a:r>
                    </a:p>
                  </a:txBody>
                  <a:tcPr marL="82620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+mn-lt"/>
                        </a:rPr>
                        <a:t>Не применимо</a:t>
                      </a:r>
                      <a:endParaRPr lang="ru-RU" sz="1300" b="0" dirty="0">
                        <a:effectLst/>
                        <a:latin typeface="+mn-lt"/>
                      </a:endParaRPr>
                    </a:p>
                  </a:txBody>
                  <a:tcPr marL="137701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+mn-lt"/>
                        </a:rPr>
                        <a:t>Строгое владение</a:t>
                      </a:r>
                      <a:endParaRPr lang="ru-RU" sz="1300" b="0" dirty="0">
                        <a:effectLst/>
                        <a:latin typeface="+mn-lt"/>
                      </a:endParaRPr>
                    </a:p>
                  </a:txBody>
                  <a:tcPr marL="137701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+mn-lt"/>
                        </a:rPr>
                        <a:t>Нет владения</a:t>
                      </a:r>
                      <a:endParaRPr lang="ru-RU" sz="1300" b="0" dirty="0">
                        <a:effectLst/>
                        <a:latin typeface="+mn-lt"/>
                      </a:endParaRPr>
                    </a:p>
                  </a:txBody>
                  <a:tcPr marL="137701" marR="82620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0773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300" b="1" dirty="0">
                          <a:effectLst/>
                          <a:latin typeface="+mn-lt"/>
                        </a:rPr>
                        <a:t>Получение</a:t>
                      </a:r>
                    </a:p>
                  </a:txBody>
                  <a:tcPr marL="82620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+mn-lt"/>
                        </a:rPr>
                        <a:t>Не требуется</a:t>
                      </a:r>
                      <a:endParaRPr lang="ru-RU" sz="1300" b="0" dirty="0">
                        <a:effectLst/>
                        <a:latin typeface="+mn-lt"/>
                      </a:endParaRPr>
                    </a:p>
                  </a:txBody>
                  <a:tcPr marL="137701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+mn-lt"/>
                        </a:rPr>
                        <a:t>Создается внутри</a:t>
                      </a:r>
                    </a:p>
                  </a:txBody>
                  <a:tcPr marL="137701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+mn-lt"/>
                        </a:rPr>
                        <a:t>Передается извне</a:t>
                      </a:r>
                    </a:p>
                  </a:txBody>
                  <a:tcPr marL="137701" marR="82620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2277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300" b="1" dirty="0">
                          <a:effectLst/>
                          <a:latin typeface="+mn-lt"/>
                        </a:rPr>
                        <a:t>Отсутствие</a:t>
                      </a:r>
                      <a:endParaRPr lang="en-US" sz="1300" b="1" dirty="0">
                        <a:effectLst/>
                        <a:latin typeface="+mn-lt"/>
                      </a:endParaRPr>
                    </a:p>
                  </a:txBody>
                  <a:tcPr marL="82620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+mn-lt"/>
                        </a:rPr>
                        <a:t>Невозможно</a:t>
                      </a:r>
                      <a:endParaRPr lang="ru-RU" sz="1300" b="0" dirty="0">
                        <a:effectLst/>
                        <a:latin typeface="+mn-lt"/>
                      </a:endParaRPr>
                    </a:p>
                  </a:txBody>
                  <a:tcPr marL="137701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+mn-lt"/>
                        </a:rPr>
                        <a:t>Невозможно</a:t>
                      </a:r>
                      <a:endParaRPr lang="ru-RU" sz="1300" b="0" dirty="0">
                        <a:effectLst/>
                        <a:latin typeface="+mn-lt"/>
                      </a:endParaRPr>
                    </a:p>
                  </a:txBody>
                  <a:tcPr marL="137701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  <a:latin typeface="+mn-lt"/>
                        </a:rPr>
                        <a:t>Возможно (указатели)</a:t>
                      </a:r>
                    </a:p>
                  </a:txBody>
                  <a:tcPr marL="137701" marR="82620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7280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300" b="1" dirty="0">
                          <a:effectLst/>
                          <a:latin typeface="+mn-lt"/>
                        </a:rPr>
                        <a:t>Полиморфизм</a:t>
                      </a:r>
                    </a:p>
                  </a:txBody>
                  <a:tcPr marL="82620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  <a:latin typeface="+mn-lt"/>
                        </a:rPr>
                        <a:t>Да (виртуальные функции)</a:t>
                      </a:r>
                    </a:p>
                  </a:txBody>
                  <a:tcPr marL="137701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Нет (если не через интерфейсы)</a:t>
                      </a:r>
                      <a:endParaRPr lang="ru-RU" sz="1300" b="0" dirty="0">
                        <a:effectLst/>
                        <a:latin typeface="+mn-lt"/>
                      </a:endParaRPr>
                    </a:p>
                  </a:txBody>
                  <a:tcPr marL="137701" marR="137701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Нет (если не через интерфейсы)</a:t>
                      </a:r>
                      <a:endParaRPr lang="ru-RU" sz="1300" b="0" dirty="0">
                        <a:effectLst/>
                        <a:latin typeface="+mn-lt"/>
                      </a:endParaRPr>
                    </a:p>
                  </a:txBody>
                  <a:tcPr marL="137701" marR="82620" marT="86063" marB="86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4930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300" b="1" dirty="0">
                          <a:effectLst/>
                          <a:latin typeface="+mn-lt"/>
                        </a:rPr>
                        <a:t>Тестируемость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+mn-lt"/>
                        </a:rPr>
                        <a:t>Сложная (жёсткая связь)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+mn-lt"/>
                        </a:rPr>
                        <a:t>Средняя (можно mock через интерфейсы)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  <a:latin typeface="+mn-lt"/>
                        </a:rPr>
                        <a:t>Высокая (легко подменять зависимости)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009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37617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8873</TotalTime>
  <Words>21115</Words>
  <Application>Microsoft Office PowerPoint</Application>
  <PresentationFormat>Широкоэкранный</PresentationFormat>
  <Paragraphs>2724</Paragraphs>
  <Slides>120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120</vt:i4>
      </vt:variant>
    </vt:vector>
  </HeadingPairs>
  <TitlesOfParts>
    <vt:vector size="126" baseType="lpstr">
      <vt:lpstr>Arial</vt:lpstr>
      <vt:lpstr>Calibri</vt:lpstr>
      <vt:lpstr>Calibri Light</vt:lpstr>
      <vt:lpstr>Circe</vt:lpstr>
      <vt:lpstr>Consolas</vt:lpstr>
      <vt:lpstr>Тема Office</vt:lpstr>
      <vt:lpstr>Алгоритмизация и программирование</vt:lpstr>
      <vt:lpstr>Объектно-ориентрованная модель</vt:lpstr>
      <vt:lpstr>Классическая модель (сильная связность)</vt:lpstr>
      <vt:lpstr>Объектная модель (слабая связность)</vt:lpstr>
      <vt:lpstr>Объектная модель (слабая связность)</vt:lpstr>
      <vt:lpstr>Презентация PowerPoint</vt:lpstr>
      <vt:lpstr>Инкапсуляция</vt:lpstr>
      <vt:lpstr>Объект – био аналогия</vt:lpstr>
      <vt:lpstr>Инкапсуляция</vt:lpstr>
      <vt:lpstr>Состояние</vt:lpstr>
      <vt:lpstr>Инвариант</vt:lpstr>
      <vt:lpstr>Сообщения</vt:lpstr>
      <vt:lpstr>Сообщения - интерфейс</vt:lpstr>
      <vt:lpstr>Интерфейс клетки (реагирует только на опред. сообщения)</vt:lpstr>
      <vt:lpstr>Сообщения - реализация</vt:lpstr>
      <vt:lpstr>Контракт</vt:lpstr>
      <vt:lpstr>Контракт</vt:lpstr>
      <vt:lpstr>Инкапсуляция в С++</vt:lpstr>
      <vt:lpstr>Инкапсуляция в С++</vt:lpstr>
      <vt:lpstr>Инкапсуляция в С++</vt:lpstr>
      <vt:lpstr>Идиома Pimpl (Pointer to Implementation) в C++</vt:lpstr>
      <vt:lpstr>Инкапсуляция в С++</vt:lpstr>
      <vt:lpstr>Нотация UML</vt:lpstr>
      <vt:lpstr>Презентация PowerPoint</vt:lpstr>
      <vt:lpstr>Презентация PowerPoint</vt:lpstr>
      <vt:lpstr>Наследование</vt:lpstr>
      <vt:lpstr>Презентация PowerPoint</vt:lpstr>
      <vt:lpstr>Презентация PowerPoint</vt:lpstr>
      <vt:lpstr>Презентация PowerPoint</vt:lpstr>
      <vt:lpstr>Наследование</vt:lpstr>
      <vt:lpstr>Прототипное наследование</vt:lpstr>
      <vt:lpstr>Наследование на основе классов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Конструктор по умолчанию</vt:lpstr>
      <vt:lpstr>Конструктор по умолчанию</vt:lpstr>
      <vt:lpstr>Конструктор по умолчанию</vt:lpstr>
      <vt:lpstr>Конструктор по умолчанию</vt:lpstr>
      <vt:lpstr>Конструктор с параметром</vt:lpstr>
      <vt:lpstr>Конструктор явный вызов</vt:lpstr>
      <vt:lpstr>Конструктор в цепочке наследования</vt:lpstr>
      <vt:lpstr>Конструктор порядок вызова</vt:lpstr>
      <vt:lpstr>Конструктор при виртуальном наследовании</vt:lpstr>
      <vt:lpstr>Конструктор при виртуальном наследовании</vt:lpstr>
      <vt:lpstr>Виртуальный конструктор</vt:lpstr>
      <vt:lpstr>Презентация PowerPoint</vt:lpstr>
      <vt:lpstr>Деструктор по умолчанию</vt:lpstr>
      <vt:lpstr>Деструктор по умолчанию</vt:lpstr>
      <vt:lpstr>Деструктор по умолчанию</vt:lpstr>
      <vt:lpstr>Деструктор по умолчанию</vt:lpstr>
      <vt:lpstr>Деструктор в цепочке наследования</vt:lpstr>
      <vt:lpstr>Деструктор порядок вызова</vt:lpstr>
      <vt:lpstr>Деструктор при виртуальном наследовании</vt:lpstr>
      <vt:lpstr>Виртуальный деструктор</vt:lpstr>
      <vt:lpstr>Презентация PowerPoint</vt:lpstr>
      <vt:lpstr>Конструктор копирования</vt:lpstr>
      <vt:lpstr>Конструктор копирования - срезка</vt:lpstr>
      <vt:lpstr>Конструктор перемещения</vt:lpstr>
      <vt:lpstr>Оператор присваивания</vt:lpstr>
      <vt:lpstr>Презентация PowerPoint</vt:lpstr>
      <vt:lpstr>Презентация PowerPoint</vt:lpstr>
      <vt:lpstr>Контракт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Professional</dc:creator>
  <cp:lastModifiedBy>Professional</cp:lastModifiedBy>
  <cp:revision>1175</cp:revision>
  <dcterms:created xsi:type="dcterms:W3CDTF">2022-09-17T16:00:43Z</dcterms:created>
  <dcterms:modified xsi:type="dcterms:W3CDTF">2025-12-08T20:52:33Z</dcterms:modified>
</cp:coreProperties>
</file>